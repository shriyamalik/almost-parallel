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Poddar" userId="ff0244784684506c" providerId="LiveId" clId="{756DBCCA-1FC0-45FB-A0E7-FC946107CF52}"/>
    <pc:docChg chg="undo custSel modSld sldOrd">
      <pc:chgData name="Abhishek Poddar" userId="ff0244784684506c" providerId="LiveId" clId="{756DBCCA-1FC0-45FB-A0E7-FC946107CF52}" dt="2026-06-29T04:32:46.004" v="403"/>
      <pc:docMkLst>
        <pc:docMk/>
      </pc:docMkLst>
      <pc:sldChg chg="addSp delSp modSp mod">
        <pc:chgData name="Abhishek Poddar" userId="ff0244784684506c" providerId="LiveId" clId="{756DBCCA-1FC0-45FB-A0E7-FC946107CF52}" dt="2026-06-29T03:14:55.164" v="151" actId="255"/>
        <pc:sldMkLst>
          <pc:docMk/>
          <pc:sldMk cId="0" sldId="256"/>
        </pc:sldMkLst>
        <pc:spChg chg="del">
          <ac:chgData name="Abhishek Poddar" userId="ff0244784684506c" providerId="LiveId" clId="{756DBCCA-1FC0-45FB-A0E7-FC946107CF52}" dt="2026-06-29T02:58:20.011" v="0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Abhishek Poddar" userId="ff0244784684506c" providerId="LiveId" clId="{756DBCCA-1FC0-45FB-A0E7-FC946107CF52}" dt="2026-06-29T02:58:23.604" v="1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2:20.612" v="72" actId="1076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Abhishek Poddar" userId="ff0244784684506c" providerId="LiveId" clId="{756DBCCA-1FC0-45FB-A0E7-FC946107CF52}" dt="2026-06-29T03:14:55.164" v="151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2:04.603" v="48" actId="20577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Abhishek Poddar" userId="ff0244784684506c" providerId="LiveId" clId="{756DBCCA-1FC0-45FB-A0E7-FC946107CF52}" dt="2026-06-29T03:01:45.525" v="4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1:45.525" v="46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3:54.548" v="144" actId="1076"/>
          <ac:spMkLst>
            <pc:docMk/>
            <pc:sldMk cId="0" sldId="256"/>
            <ac:spMk id="25" creationId="{00000000-0000-0000-0000-000000000000}"/>
          </ac:spMkLst>
        </pc:spChg>
        <pc:picChg chg="mod">
          <ac:chgData name="Abhishek Poddar" userId="ff0244784684506c" providerId="LiveId" clId="{756DBCCA-1FC0-45FB-A0E7-FC946107CF52}" dt="2026-06-29T03:13:50.985" v="143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Abhishek Poddar" userId="ff0244784684506c" providerId="LiveId" clId="{756DBCCA-1FC0-45FB-A0E7-FC946107CF52}" dt="2026-06-29T03:38:51.473" v="382" actId="20577"/>
        <pc:sldMkLst>
          <pc:docMk/>
          <pc:sldMk cId="0" sldId="257"/>
        </pc:sldMkLst>
        <pc:spChg chg="mod">
          <ac:chgData name="Abhishek Poddar" userId="ff0244784684506c" providerId="LiveId" clId="{756DBCCA-1FC0-45FB-A0E7-FC946107CF52}" dt="2026-06-29T03:07:39.626" v="114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28.149" v="175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56.442" v="126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34.757" v="176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9:02.236" v="127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40.388" v="177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4:13.891" v="147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4:33.667" v="149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4:38.286" v="150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8:51.473" v="382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3:04.158" v="73" actId="255"/>
          <ac:spMkLst>
            <pc:docMk/>
            <pc:sldMk cId="0" sldId="257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29T03:18:05.726" v="183" actId="255"/>
        <pc:sldMkLst>
          <pc:docMk/>
          <pc:sldMk cId="0" sldId="258"/>
        </pc:sldMkLst>
        <pc:spChg chg="mod">
          <ac:chgData name="Abhishek Poddar" userId="ff0244784684506c" providerId="LiveId" clId="{756DBCCA-1FC0-45FB-A0E7-FC946107CF52}" dt="2026-06-29T03:06:41.657" v="103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5:32.404" v="101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05.726" v="183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09.535" v="117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05.522" v="182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18.627" v="122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7:04.639" v="107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25.633" v="123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7:09.183" v="108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30.880" v="124" actId="25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7:13.249" v="109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08:36.862" v="125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3:27.431" v="141" actId="255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29T03:25:32.438" v="262" actId="255"/>
        <pc:sldMkLst>
          <pc:docMk/>
          <pc:sldMk cId="0" sldId="259"/>
        </pc:sldMkLst>
        <pc:spChg chg="mod">
          <ac:chgData name="Abhishek Poddar" userId="ff0244784684506c" providerId="LiveId" clId="{756DBCCA-1FC0-45FB-A0E7-FC946107CF52}" dt="2026-06-29T03:06:30.476" v="102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15.916" v="152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21.498" v="153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30.492" v="156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36.268" v="157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53.278" v="158" actId="25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5:55.261" v="159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00.117" v="160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08.664" v="161" actId="25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13.200" v="162" actId="255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22.692" v="163" actId="255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33.580" v="167" actId="255"/>
          <ac:spMkLst>
            <pc:docMk/>
            <pc:sldMk cId="0" sldId="259"/>
            <ac:spMk id="3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53.634" v="171" actId="25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38.819" v="168" actId="255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58.001" v="172" actId="255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44.060" v="169" actId="255"/>
          <ac:spMkLst>
            <pc:docMk/>
            <pc:sldMk cId="0" sldId="259"/>
            <ac:spMk id="3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02.905" v="173" actId="255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6:48.924" v="170" actId="255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7:09.869" v="174" actId="255"/>
          <ac:spMkLst>
            <pc:docMk/>
            <pc:sldMk cId="0" sldId="259"/>
            <ac:spMk id="3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5:32.438" v="262" actId="255"/>
          <ac:spMkLst>
            <pc:docMk/>
            <pc:sldMk cId="0" sldId="259"/>
            <ac:spMk id="38" creationId="{00000000-0000-0000-0000-000000000000}"/>
          </ac:spMkLst>
        </pc:spChg>
      </pc:sldChg>
      <pc:sldChg chg="modSp mod ord">
        <pc:chgData name="Abhishek Poddar" userId="ff0244784684506c" providerId="LiveId" clId="{756DBCCA-1FC0-45FB-A0E7-FC946107CF52}" dt="2026-06-29T04:32:46.004" v="403"/>
        <pc:sldMkLst>
          <pc:docMk/>
          <pc:sldMk cId="0" sldId="260"/>
        </pc:sldMkLst>
        <pc:spChg chg="mod">
          <ac:chgData name="Abhishek Poddar" userId="ff0244784684506c" providerId="LiveId" clId="{756DBCCA-1FC0-45FB-A0E7-FC946107CF52}" dt="2026-06-29T03:24:18.957" v="260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9:22.132" v="192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18.615" v="184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52.963" v="190" actId="2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9:22.132" v="192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8:33.558" v="189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19:00.665" v="191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2:03.682" v="194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2:08.727" v="195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4:00.446" v="259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4:29.704" v="261" actId="25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1:51.784" v="193" actId="25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5:43.263" v="263" actId="255"/>
          <ac:spMkLst>
            <pc:docMk/>
            <pc:sldMk cId="0" sldId="260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29T03:28:40.364" v="301" actId="255"/>
        <pc:sldMkLst>
          <pc:docMk/>
          <pc:sldMk cId="0" sldId="261"/>
        </pc:sldMkLst>
        <pc:spChg chg="mod">
          <ac:chgData name="Abhishek Poddar" userId="ff0244784684506c" providerId="LiveId" clId="{756DBCCA-1FC0-45FB-A0E7-FC946107CF52}" dt="2026-06-29T03:26:42.033" v="272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20.305" v="264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31.409" v="266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26.835" v="265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37.847" v="271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33.170" v="280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58.549" v="274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28.328" v="279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05.279" v="275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22.303" v="278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12.564" v="276" actId="25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7:17.924" v="277" actId="25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8:40.364" v="301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6:48.741" v="273" actId="255"/>
          <ac:spMkLst>
            <pc:docMk/>
            <pc:sldMk cId="0" sldId="261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29T03:45:33.816" v="390" actId="20577"/>
        <pc:sldMkLst>
          <pc:docMk/>
          <pc:sldMk cId="0" sldId="262"/>
        </pc:sldMkLst>
        <pc:spChg chg="mod">
          <ac:chgData name="Abhishek Poddar" userId="ff0244784684506c" providerId="LiveId" clId="{756DBCCA-1FC0-45FB-A0E7-FC946107CF52}" dt="2026-06-29T03:30:05.450" v="303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19.664" v="384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36.737" v="310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54.542" v="314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25.614" v="386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42.156" v="311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58.657" v="315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28.666" v="388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45.952" v="312" actId="25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02.996" v="316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5:33.816" v="390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0:50.168" v="313" actId="25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13.807" v="319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35.289" v="326" actId="255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30.033" v="325" actId="255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40.021" v="327" actId="255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1:21.952" v="320" actId="255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29:58.369" v="302" actId="255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Abhishek Poddar" userId="ff0244784684506c" providerId="LiveId" clId="{756DBCCA-1FC0-45FB-A0E7-FC946107CF52}" dt="2026-06-29T03:46:55.516" v="401" actId="1036"/>
        <pc:sldMkLst>
          <pc:docMk/>
          <pc:sldMk cId="0" sldId="263"/>
        </pc:sldMkLst>
        <pc:spChg chg="mod">
          <ac:chgData name="Abhishek Poddar" userId="ff0244784684506c" providerId="LiveId" clId="{756DBCCA-1FC0-45FB-A0E7-FC946107CF52}" dt="2026-06-29T03:32:01.101" v="328" actId="255"/>
          <ac:spMkLst>
            <pc:docMk/>
            <pc:sldMk cId="0" sldId="263"/>
            <ac:spMk id="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42.065" v="331" actId="255"/>
          <ac:spMkLst>
            <pc:docMk/>
            <pc:sldMk cId="0" sldId="263"/>
            <ac:spMk id="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23.768" v="344" actId="255"/>
          <ac:spMkLst>
            <pc:docMk/>
            <pc:sldMk cId="0" sldId="263"/>
            <ac:spMk id="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46.832" v="332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28.080" v="345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18.548" v="343" actId="10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32.015" v="346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14.566" v="342" actId="25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41.789" v="347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52.555" v="348" actId="25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6:55.516" v="401" actId="10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3:57.546" v="349" actId="25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6:55.516" v="401" actId="103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4:02.988" v="350" actId="255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6:55.516" v="401" actId="10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4:08.317" v="351" actId="255"/>
          <ac:spMkLst>
            <pc:docMk/>
            <pc:sldMk cId="0" sldId="263"/>
            <ac:spMk id="23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46:55.516" v="401" actId="103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4:12.532" v="352" actId="255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21.893" v="330" actId="255"/>
          <ac:spMkLst>
            <pc:docMk/>
            <pc:sldMk cId="0" sldId="263"/>
            <ac:spMk id="27" creationId="{00000000-0000-0000-0000-000000000000}"/>
          </ac:spMkLst>
        </pc:spChg>
        <pc:spChg chg="mod">
          <ac:chgData name="Abhishek Poddar" userId="ff0244784684506c" providerId="LiveId" clId="{756DBCCA-1FC0-45FB-A0E7-FC946107CF52}" dt="2026-06-29T03:32:11.756" v="329" actId="255"/>
          <ac:spMkLst>
            <pc:docMk/>
            <pc:sldMk cId="0" sldId="263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61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56248"/>
            <a:ext cx="11292840" cy="0"/>
          </a:xfrm>
          <a:prstGeom prst="line">
            <a:avLst/>
          </a:prstGeom>
          <a:noFill/>
          <a:ln w="7620">
            <a:solidFill>
              <a:srgbClr val="B8C4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1111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26070"/>
                </a:solidFill>
              </a:rPr>
              <a:t>COMP4601 Project Plan - JPEG-style grayscale image compression on Kria KV260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ly_detailed_sci_tech_concept_illustration_wi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70224" y="-140783"/>
            <a:ext cx="8556047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JPEG-Style Grayscale Image Compression Acceleration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476448" y="44348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5E7FF"/>
                </a:solidFill>
              </a:rPr>
              <a:t>8x8 DCT + </a:t>
            </a:r>
            <a:r>
              <a:rPr lang="en-US" sz="1200" b="1" dirty="0" err="1">
                <a:solidFill>
                  <a:srgbClr val="D5E7FF"/>
                </a:solidFill>
              </a:rPr>
              <a:t>Quantisation</a:t>
            </a:r>
            <a:r>
              <a:rPr lang="en-US" sz="1200" b="1" dirty="0">
                <a:solidFill>
                  <a:srgbClr val="D5E7FF"/>
                </a:solidFill>
              </a:rPr>
              <a:t> + Zigzag Scan + Zero RLE on the Kria KV260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3044952"/>
            <a:ext cx="5440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017766" y="5566559"/>
            <a:ext cx="6446520" cy="774865"/>
          </a:xfrm>
          <a:prstGeom prst="roundRect">
            <a:avLst>
              <a:gd name="adj" fmla="val 8333"/>
            </a:avLst>
          </a:prstGeom>
          <a:solidFill>
            <a:srgbClr val="0F2C52">
              <a:alpha val="95000"/>
            </a:srgbClr>
          </a:solidFill>
          <a:ln w="6350">
            <a:solidFill>
              <a:srgbClr val="5CB7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8291" y="5776871"/>
            <a:ext cx="9415827" cy="383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5FF"/>
                </a:solidFill>
              </a:rPr>
              <a:t>Scope: Simplified JPEG-style block compression, not a full .jpg file encoder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5111" y="655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lang="en-US" sz="1200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outline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36070"/>
                </a:solidFill>
              </a:rPr>
              <a:t>Why image </a:t>
            </a:r>
            <a:r>
              <a:rPr lang="en-US" sz="1000" dirty="0">
                <a:solidFill>
                  <a:srgbClr val="536070"/>
                </a:solidFill>
              </a:rPr>
              <a:t>compression</a:t>
            </a:r>
            <a:r>
              <a:rPr lang="en-US" sz="930" dirty="0">
                <a:solidFill>
                  <a:srgbClr val="536070"/>
                </a:solidFill>
              </a:rPr>
              <a:t> is a suitable compute-acceleration task for COMP4601</a:t>
            </a:r>
            <a:endParaRPr lang="en-US" sz="930" dirty="0"/>
          </a:p>
        </p:txBody>
      </p:sp>
      <p:pic>
        <p:nvPicPr>
          <p:cNvPr id="4" name="Image 0" descr="/mnt/data/a_clean_infographic_style_diagram_on_a_white_backg_batch_2.png"/>
          <p:cNvPicPr>
            <a:picLocks noChangeAspect="1"/>
          </p:cNvPicPr>
          <p:nvPr/>
        </p:nvPicPr>
        <p:blipFill>
          <a:blip r:embed="rId3"/>
          <a:srcRect t="182" b="182"/>
          <a:stretch/>
        </p:blipFill>
        <p:spPr>
          <a:xfrm>
            <a:off x="6720840" y="1143000"/>
            <a:ext cx="489204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1704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2D39"/>
                </a:solidFill>
              </a:rPr>
              <a:t>The software bottleneck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481328"/>
            <a:ext cx="306324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JPEG-style compression repeatedly applies an 8x8 transform to every block of the image. The direct DCT contains many multiply-add operations, making it slow on a sequential CPU baseline.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40480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7F5F"/>
                </a:solidFill>
              </a:rPr>
              <a:t>The hardware opportunity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0" y="1481328"/>
            <a:ext cx="246888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Each 8x8 block is independent, fixed-size, and processed with the same arithmetic pattern. This is well matched to FPGA pipelines, local buffers, loop unrolling, and array partitioning.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" y="2834640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3FF"/>
                </a:solidFill>
              </a:rPr>
              <a:t>The project constraint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3145536"/>
            <a:ext cx="5650992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We avoid full JPEG file-format complexity. The project focuses on the core compression-side kernel: DCT, quantisation, zigzag ordering, and zero run-length encoding.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4462272"/>
            <a:ext cx="5715000" cy="1207008"/>
          </a:xfrm>
          <a:prstGeom prst="roundRect">
            <a:avLst>
              <a:gd name="adj" fmla="val 3788"/>
            </a:avLst>
          </a:prstGeom>
          <a:solidFill>
            <a:srgbClr val="EAF2FF"/>
          </a:solidFill>
          <a:ln w="8890">
            <a:solidFill>
              <a:srgbClr val="AAC2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46634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Expected output of the project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" y="501091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A working KV260 accelerator with CPU baseline, FPGA kernel timing, end-to-end timing, compression ratio, PSNR/MSE quality metrics, resource usage, and risk-aware discussion of transfer overhead.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4430620"/>
            <a:ext cx="4480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Key design decision: </a:t>
            </a:r>
          </a:p>
          <a:p>
            <a:pPr marL="0" indent="0">
              <a:buNone/>
            </a:pPr>
            <a:endParaRPr lang="en-US" sz="1000" b="1" dirty="0">
              <a:solidFill>
                <a:srgbClr val="172033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Use: Grayscale PGM/raw images first. </a:t>
            </a:r>
          </a:p>
          <a:p>
            <a:pPr marL="0" indent="0">
              <a:buNone/>
            </a:pPr>
            <a:endParaRPr lang="en-US" sz="1000" dirty="0">
              <a:solidFill>
                <a:srgbClr val="172033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Avoid: RGB, YCbCr, chroma subsampling, Huffman coding, and JPEG headers.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2</a:t>
            </a:fld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Project-specific aims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A realistic target is a complete compression-side accelerator plus software verification</a:t>
            </a:r>
            <a:endParaRPr lang="en-US" sz="1000" dirty="0"/>
          </a:p>
        </p:txBody>
      </p:sp>
      <p:pic>
        <p:nvPicPr>
          <p:cNvPr id="4" name="Image 0" descr="/mnt/data/a_modern_electronics_engineering_workspace_scene_p_batch_4.png"/>
          <p:cNvPicPr>
            <a:picLocks noChangeAspect="1"/>
          </p:cNvPicPr>
          <p:nvPr/>
        </p:nvPicPr>
        <p:blipFill>
          <a:blip r:embed="rId3"/>
          <a:srcRect l="14217" r="14217"/>
          <a:stretch/>
        </p:blipFill>
        <p:spPr>
          <a:xfrm>
            <a:off x="6812280" y="1170432"/>
            <a:ext cx="470916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5138928"/>
            <a:ext cx="4709160" cy="749808"/>
          </a:xfrm>
          <a:prstGeom prst="roundRect">
            <a:avLst>
              <a:gd name="adj" fmla="val 4878"/>
            </a:avLst>
          </a:prstGeom>
          <a:solidFill>
            <a:srgbClr val="F0F6FF"/>
          </a:solidFill>
          <a:ln w="8890">
            <a:solidFill>
              <a:srgbClr val="B9CB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68312" y="5385816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Primary target: 10x-30x kernel speedup over a naive CPU baseline, with 3x-10x end-to-end if transfer overhead is controlled.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" y="1170432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3FF"/>
                </a:solidFill>
              </a:rPr>
              <a:t>Functional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11680" y="115214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CPU baseline and FPGA kernel produce compatible quantised/RLE output.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3232" y="1517904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95681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5F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011680" y="19385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Measure kernel-only and end-to-end runtimes on the KV260.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" y="2304288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743200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72F"/>
                </a:solidFill>
              </a:rPr>
              <a:t>Compression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011680" y="27249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 RLE pair counts to calculate actual compressed size.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3232" y="3090672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529584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55D9"/>
                </a:solidFill>
              </a:rPr>
              <a:t>Quality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011680" y="35112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 inverse path in software to calculate MSE and PSNR.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13232" y="3877056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315968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2D39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011680" y="42976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Show HLS resources: LUT, FF, BRAM, DSP, latency and II.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3232" y="4663440"/>
            <a:ext cx="5532120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3</a:t>
            </a:fld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to be accelerated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Compression side runs on FPGA; decompression remains in software for verification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E4EAF3"/>
          </a:solidFill>
          <a:ln w="10160">
            <a:solidFill>
              <a:srgbClr val="AFC1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Load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PGM/raw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64792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47672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D9E9FF"/>
          </a:solidFill>
          <a:ln w="10160">
            <a:solidFill>
              <a:srgbClr val="AFC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39112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8x8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blocks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9544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92424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D9E9FF"/>
          </a:solidFill>
          <a:ln w="10160">
            <a:solidFill>
              <a:srgbClr val="AFC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Level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shift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54296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37176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CFE2FF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2D DCT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48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81928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DAEDDF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Quantise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43800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FFF0D7"/>
          </a:solidFill>
          <a:ln w="10160">
            <a:solidFill>
              <a:srgbClr val="1463FF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20" name="Text 18"/>
          <p:cNvSpPr/>
          <p:nvPr/>
        </p:nvSpPr>
        <p:spPr>
          <a:xfrm>
            <a:off x="7818120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Zigzag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88552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71432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FFE2DE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62872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Zero RLE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433304" y="1847088"/>
            <a:ext cx="146304" cy="0"/>
          </a:xfrm>
          <a:prstGeom prst="line">
            <a:avLst/>
          </a:prstGeom>
          <a:noFill/>
          <a:ln w="127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616184" y="1417320"/>
            <a:ext cx="1261872" cy="859536"/>
          </a:xfrm>
          <a:prstGeom prst="roundRect">
            <a:avLst>
              <a:gd name="adj" fmla="val 5319"/>
            </a:avLst>
          </a:prstGeom>
          <a:solidFill>
            <a:srgbClr val="E8DDFB"/>
          </a:solidFill>
          <a:ln w="10160">
            <a:solidFill>
              <a:srgbClr val="14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07624" y="1508760"/>
            <a:ext cx="1078992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Compressed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blocks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2633472"/>
            <a:ext cx="11018520" cy="0"/>
          </a:xfrm>
          <a:prstGeom prst="line">
            <a:avLst/>
          </a:prstGeom>
          <a:noFill/>
          <a:ln w="12700">
            <a:solidFill>
              <a:srgbClr val="B7C5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2734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63FF"/>
                </a:solidFill>
              </a:rPr>
              <a:t>FPGA accelerated compression kernel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79776" y="3090672"/>
            <a:ext cx="6537960" cy="0"/>
          </a:xfrm>
          <a:prstGeom prst="line">
            <a:avLst/>
          </a:prstGeom>
          <a:noFill/>
          <a:ln w="25400">
            <a:solidFill>
              <a:srgbClr val="1463FF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13232" y="370332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3FF"/>
                </a:solidFill>
              </a:rPr>
              <a:t>Input representation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" y="4014216"/>
            <a:ext cx="2331720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 fixed-size grayscale arrays, e.g. 256x256 or 512x512. Each pixel is 8-bit and all blocks are independent.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37033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7F5F"/>
                </a:solidFill>
              </a:rPr>
              <a:t>Core transform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46120" y="4014216"/>
            <a:ext cx="248716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A separable DCT applies 1D DCT across rows, then columns. This replaces the direct 2D formula with a more efficient structure.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61888" y="37033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72F"/>
                </a:solidFill>
              </a:rPr>
              <a:t>Compression mechanism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61888" y="4014216"/>
            <a:ext cx="248716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Quantisation creates zeros, zigzag groups them toward the end, and RLE stores zero runs plus non-zero coefficients.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59368" y="370332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55D9"/>
                </a:solidFill>
              </a:rPr>
              <a:t>Verification path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59368" y="4014216"/>
            <a:ext cx="257860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Software decodes RLE, inverse-zigzags, inverse-quantises, applies IDCT, reconstructs pixels, and measures PSNR/MSE.</a:t>
            </a:r>
            <a:endParaRPr lang="en-US" sz="1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4</a:t>
            </a:fld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compression works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The pipeline turns spatial pixels into a sparse coefficient stream</a:t>
            </a:r>
            <a:endParaRPr lang="en-US" sz="1000" dirty="0"/>
          </a:p>
        </p:txBody>
      </p:sp>
      <p:pic>
        <p:nvPicPr>
          <p:cNvPr id="4" name="Image 0" descr="/mnt/data/a_clean_infographic_style_diagram_on_a_white_backg_batch_2.png"/>
          <p:cNvPicPr>
            <a:picLocks noChangeAspect="1"/>
          </p:cNvPicPr>
          <p:nvPr/>
        </p:nvPicPr>
        <p:blipFill>
          <a:blip r:embed="rId3"/>
          <a:srcRect t="8829" b="8829"/>
          <a:stretch/>
        </p:blipFill>
        <p:spPr>
          <a:xfrm>
            <a:off x="658368" y="1024128"/>
            <a:ext cx="5623560" cy="2606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108" y="384048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3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8992" y="384048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3FF"/>
                </a:solidFill>
              </a:rPr>
              <a:t>DCT: pixels to frequencies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8992" y="4151376"/>
            <a:ext cx="5074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The 8x8 block is converted into 64 frequency coefficients. The top-left DC coefficient holds average brightness; later AC coefficients represent increasing detail.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4108" y="491032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7F5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8992" y="491032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D7F5F"/>
                </a:solidFill>
              </a:rPr>
              <a:t>Quantisation</a:t>
            </a:r>
            <a:r>
              <a:rPr lang="en-US" sz="1200" b="1" dirty="0">
                <a:solidFill>
                  <a:srgbClr val="1D7F5F"/>
                </a:solidFill>
              </a:rPr>
              <a:t>: controlled loss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8992" y="5221224"/>
            <a:ext cx="5074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Each coefficient is divided by an 8x8 quantisation matrix. High-frequency coefficients use larger values, so many become zero.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29400" y="1078992"/>
            <a:ext cx="4572000" cy="960120"/>
          </a:xfrm>
          <a:prstGeom prst="roundRect">
            <a:avLst>
              <a:gd name="adj" fmla="val 3810"/>
            </a:avLst>
          </a:prstGeom>
          <a:solidFill>
            <a:srgbClr val="F9FBFF"/>
          </a:solidFill>
          <a:ln w="8890">
            <a:solidFill>
              <a:srgbClr val="BDD0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76288" y="1261872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Zigzag scan order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022592" y="158191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Low frequency first, high frequency last - this pushes long zero runs toward the end of the 64-value list.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2395728"/>
            <a:ext cx="2240280" cy="1993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0   1   5   6   14  15  27  28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2   4   7   13  16  26  29  42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3   8   12  17  25  30  41  43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9   11  18  24  31  40  44  53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10  19  23  32  39  45  52  54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20  22  33  38  46  51  55  60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21  34  37  47  50  56  59  61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35  36  48  49  57  58  62  63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9400032" y="3127248"/>
            <a:ext cx="411480" cy="0"/>
          </a:xfrm>
          <a:prstGeom prst="line">
            <a:avLst/>
          </a:prstGeom>
          <a:noFill/>
          <a:ln w="17780">
            <a:solidFill>
              <a:srgbClr val="1463FF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9966960" y="2313432"/>
            <a:ext cx="132588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 = 52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-4)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-2)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EOB / num_pairs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30568" y="4846320"/>
            <a:ext cx="44348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Compressed block format: DC coefficient + number of RLE pairs + repeated (zero_run, value) pairs. Fixed max 63 pairs per block keeps HLS output simple.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5</a:t>
            </a:fld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Acceleration model and expected performance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Measure both kernel-only speedup and end-to-end speedup including memory transfers</a:t>
            </a:r>
            <a:endParaRPr lang="en-US" sz="1000" dirty="0"/>
          </a:p>
        </p:txBody>
      </p:sp>
      <p:pic>
        <p:nvPicPr>
          <p:cNvPr id="4" name="Image 0" descr="/mnt/data/a_clean_technical_diagram_infographic_style_imag_batch_3.png"/>
          <p:cNvPicPr>
            <a:picLocks noChangeAspect="1"/>
          </p:cNvPicPr>
          <p:nvPr/>
        </p:nvPicPr>
        <p:blipFill>
          <a:blip r:embed="rId3"/>
          <a:srcRect t="1977" b="1977"/>
          <a:stretch/>
        </p:blipFill>
        <p:spPr>
          <a:xfrm>
            <a:off x="603504" y="1170432"/>
            <a:ext cx="50749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2793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2D39"/>
                </a:solidFill>
              </a:rPr>
              <a:t>Software baseline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4590288"/>
            <a:ext cx="342900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Naive C++ CPU direct 2D DCT + quantisation + zigzag + RLE. This is the slowest valid baseline. Also compare against a fair separable-DCT CPU version.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315968" y="42793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7F5F"/>
                </a:solidFill>
              </a:rPr>
              <a:t>Most accelerated design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15968" y="4590288"/>
            <a:ext cx="329184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FPGA fixed-point separable DCT with precomputed constants, pipelining, loop unrolling, local array partitioning, and optional dataflow across stages.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028432" y="1097280"/>
            <a:ext cx="3310128" cy="452628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0160">
            <a:solidFill>
              <a:srgbClr val="CAD6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75320" y="1353312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Expected acceleration range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84464" y="19385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vs naive CPU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75320" y="2231136"/>
            <a:ext cx="1691640" cy="256032"/>
          </a:xfrm>
          <a:prstGeom prst="rect">
            <a:avLst/>
          </a:prstGeom>
          <a:solidFill>
            <a:srgbClr val="1463FF"/>
          </a:solidFill>
          <a:ln w="12700">
            <a:solidFill>
              <a:srgbClr val="1463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12680" y="218541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20x-100x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84464" y="28712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vs optimised CPU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75320" y="3163824"/>
            <a:ext cx="1188720" cy="256032"/>
          </a:xfrm>
          <a:prstGeom prst="rect">
            <a:avLst/>
          </a:prstGeom>
          <a:solidFill>
            <a:srgbClr val="1D7F5F"/>
          </a:solidFill>
          <a:ln w="12700">
            <a:solidFill>
              <a:srgbClr val="1D7F5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12680" y="311810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5x-30x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84464" y="38039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end-to-end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75320" y="4096512"/>
            <a:ext cx="749808" cy="256032"/>
          </a:xfrm>
          <a:prstGeom prst="rect">
            <a:avLst/>
          </a:prstGeom>
          <a:solidFill>
            <a:srgbClr val="E0772F"/>
          </a:solidFill>
          <a:ln w="12700">
            <a:solidFill>
              <a:srgbClr val="E0772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12680" y="40507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2033"/>
                </a:solidFill>
              </a:rPr>
              <a:t>2x-15x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321040" y="4864608"/>
            <a:ext cx="2743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A conservative project target is 10x-30x kernel speedup and 3x-10x overall speedup after transfer overhead.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6</a:t>
            </a:fld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Investigation so far and project plan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Four-week implementation path from CPU reference to KV260 measurements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5840" y="2066544"/>
            <a:ext cx="10012680" cy="0"/>
          </a:xfrm>
          <a:prstGeom prst="line">
            <a:avLst/>
          </a:prstGeom>
          <a:noFill/>
          <a:ln w="16510">
            <a:solidFill>
              <a:srgbClr val="B4C1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892808"/>
            <a:ext cx="347472" cy="347472"/>
          </a:xfrm>
          <a:prstGeom prst="ellipse">
            <a:avLst/>
          </a:prstGeom>
          <a:solidFill>
            <a:srgbClr val="1463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3FF"/>
                </a:solidFill>
              </a:rPr>
              <a:t>Software reference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" y="2889504"/>
            <a:ext cx="2240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PGM/raw image loader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CPU DCT + quant + zigzag + RLE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Decompression + PSNR/MSE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22192" y="1892808"/>
            <a:ext cx="347472" cy="347472"/>
          </a:xfrm>
          <a:prstGeom prst="ellipse">
            <a:avLst/>
          </a:prstGeom>
          <a:solidFill>
            <a:srgbClr val="1D7F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7F5F"/>
                </a:solidFill>
              </a:rPr>
              <a:t>HLS kernel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62072" y="2889504"/>
            <a:ext cx="2240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C simulation and testbench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DCT + quant first, then zigzag/RLE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Inspect latency, II and resources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0256" y="1892808"/>
            <a:ext cx="347472" cy="347472"/>
          </a:xfrm>
          <a:prstGeom prst="ellipse">
            <a:avLst/>
          </a:prstGeom>
          <a:solidFill>
            <a:srgbClr val="E077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15584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72F"/>
                </a:solidFill>
              </a:rPr>
              <a:t>KV260 integration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0136" y="2889504"/>
            <a:ext cx="22402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Build xclbin and host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AXI buffer transfer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Run on board and verify 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18320" y="1892808"/>
            <a:ext cx="347472" cy="347472"/>
          </a:xfrm>
          <a:prstGeom prst="ellipse">
            <a:avLst/>
          </a:prstGeom>
          <a:solidFill>
            <a:srgbClr val="6955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13533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Week 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13648" y="24871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955D9"/>
                </a:solidFill>
              </a:rPr>
              <a:t>Optimisation + report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99585" y="2889504"/>
            <a:ext cx="23774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Pipeline, unroll, partition, fixed 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Collect speedup, compression and energy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2033"/>
                </a:solidFill>
              </a:rPr>
              <a:t>Prepare demo, slides and report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" y="48097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Investigation completed / decisions made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166360"/>
            <a:ext cx="489204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00" dirty="0">
                <a:solidFill>
                  <a:srgbClr val="172033"/>
                </a:solidFill>
              </a:rPr>
              <a:t>Use grayscale images to avoid RGB and </a:t>
            </a:r>
            <a:r>
              <a:rPr lang="en-US" sz="1000" dirty="0" err="1">
                <a:solidFill>
                  <a:srgbClr val="172033"/>
                </a:solidFill>
              </a:rPr>
              <a:t>colour</a:t>
            </a:r>
            <a:r>
              <a:rPr lang="en-US" sz="1000" dirty="0">
                <a:solidFill>
                  <a:srgbClr val="172033"/>
                </a:solidFill>
              </a:rPr>
              <a:t>-space complexity.</a:t>
            </a:r>
            <a:endParaRPr lang="en-US" sz="1000" dirty="0"/>
          </a:p>
          <a:p>
            <a:r>
              <a:rPr lang="en-US" sz="1000" dirty="0">
                <a:solidFill>
                  <a:srgbClr val="172033"/>
                </a:solidFill>
              </a:rPr>
              <a:t>Use simplified JPEG-style pipeline rather than full JPEG bitstream.</a:t>
            </a:r>
            <a:endParaRPr lang="en-US" sz="1000" dirty="0"/>
          </a:p>
          <a:p>
            <a:r>
              <a:rPr lang="en-US" sz="1000" dirty="0">
                <a:solidFill>
                  <a:srgbClr val="172033"/>
                </a:solidFill>
              </a:rPr>
              <a:t>Use fixed maximum RLE output per block to avoid dynamic memory in HLS.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4809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Planned evidence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5166360"/>
            <a:ext cx="48006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000" dirty="0">
                <a:solidFill>
                  <a:srgbClr val="172033"/>
                </a:solidFill>
              </a:rPr>
              <a:t>CPU vs FPGA runtime table for 256x256 and 512x512 images.</a:t>
            </a:r>
            <a:endParaRPr lang="en-US" sz="1000" dirty="0"/>
          </a:p>
          <a:p>
            <a:r>
              <a:rPr lang="en-US" sz="1000" dirty="0">
                <a:solidFill>
                  <a:srgbClr val="172033"/>
                </a:solidFill>
              </a:rPr>
              <a:t>Compression ratio vs PSNR for multiple quantisation scales.</a:t>
            </a:r>
            <a:endParaRPr lang="en-US" sz="1000" dirty="0"/>
          </a:p>
          <a:p>
            <a:r>
              <a:rPr lang="en-US" sz="1000" dirty="0">
                <a:solidFill>
                  <a:srgbClr val="172033"/>
                </a:solidFill>
              </a:rPr>
              <a:t>Resource usage and transfer-overhead discussion.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7</a:t>
            </a:fld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contingencies and team roles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070"/>
                </a:solidFill>
              </a:rPr>
              <a:t>Keep the scope tight: DCT + quantisation first, then zigzag, then RLE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11704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2D39"/>
                </a:solidFill>
              </a:rPr>
              <a:t>RLE variable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16352" y="114300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Use fixed 63-pair slots per block and store num_pairs; report actual compressed size separately from allocated buffer.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673352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751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72F"/>
                </a:solidFill>
              </a:rPr>
              <a:t>DCT numerical mismatch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16352" y="194767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Start with CPU float reference, then fixed-point HLS. Use tolerances and PSNR rather than exact coefficient equality.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478024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8563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3FF"/>
                </a:solidFill>
              </a:rPr>
              <a:t>Transfer overhead hides speedup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275234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Measure kernel-only and end-to-end times; test larger images such as 512x512 or 1024x1024 if stable.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" y="3282696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5844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55D9"/>
                </a:solidFill>
              </a:rPr>
              <a:t>Schedule risk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16352" y="355701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Minimum fallback: FPGA accelerates DCT + quantisation; zigzag/RLE can run in software if integration time is tight.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4087368"/>
            <a:ext cx="5788152" cy="2286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097280"/>
            <a:ext cx="4434840" cy="4279392"/>
          </a:xfrm>
          <a:prstGeom prst="roundRect">
            <a:avLst>
              <a:gd name="adj" fmla="val 1068"/>
            </a:avLst>
          </a:prstGeom>
          <a:solidFill>
            <a:srgbClr val="FFFFFF"/>
          </a:solidFill>
          <a:ln w="9525">
            <a:solidFill>
              <a:srgbClr val="C5D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137160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Proposed team roles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05472" y="190383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63FF"/>
                </a:solidFill>
              </a:rPr>
              <a:t>Member 1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1463FF"/>
                </a:solidFill>
              </a:rPr>
              <a:t>zid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11312" y="1847088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Software baseline, image I/O, inverse path, PSNR/MSE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05472" y="261706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5F"/>
                </a:solidFill>
              </a:rPr>
              <a:t>Member 2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1D7F5F"/>
                </a:solidFill>
              </a:rPr>
              <a:t>zid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11312" y="256032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HLS DCT + quantisation kernel and fixed-point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05472" y="333029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72F"/>
                </a:solidFill>
              </a:rPr>
              <a:t>Member 3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E0772F"/>
                </a:solidFill>
              </a:rPr>
              <a:t>zid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11312" y="3273552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Zigzag/RLE format, compression ratio, test vectors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05472" y="404352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55D9"/>
                </a:solidFill>
              </a:rPr>
              <a:t>Member 4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6955D9"/>
                </a:solidFill>
              </a:rPr>
              <a:t>Zid</a:t>
            </a:r>
            <a:endParaRPr lang="en-US" sz="1000" b="1" dirty="0">
              <a:solidFill>
                <a:srgbClr val="6955D9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11312" y="398678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2033"/>
                </a:solidFill>
              </a:rPr>
              <a:t>KV260 integration, host code, timing, resource/energy results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" y="5532120"/>
            <a:ext cx="10561320" cy="512064"/>
          </a:xfrm>
          <a:prstGeom prst="roundRect">
            <a:avLst>
              <a:gd name="adj" fmla="val 5357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687568"/>
            <a:ext cx="10149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 deliverable: a working FPGA-assisted compressor with measured speedup, quality loss, compression ratio, resources, and a clear explanation of limitations.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260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200" b="0"/>
              <a:t>8</a:t>
            </a:fld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1151</Words>
  <Application>Microsoft Office PowerPoint</Application>
  <PresentationFormat>Widescreen</PresentationFormat>
  <Paragraphs>163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COMP4601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JPEG-Style Grayscale Image Compression Acceleration on Kria KV260</dc:title>
  <dc:subject>COMP4601 project plan</dc:subject>
  <dc:creator>OpenAI</dc:creator>
  <cp:lastModifiedBy>Abhishek Poddar</cp:lastModifiedBy>
  <cp:revision>1</cp:revision>
  <dcterms:created xsi:type="dcterms:W3CDTF">2026-06-29T02:31:37Z</dcterms:created>
  <dcterms:modified xsi:type="dcterms:W3CDTF">2026-06-29T05:51:34Z</dcterms:modified>
</cp:coreProperties>
</file>