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6" r:id="rId2"/>
    <p:sldId id="256" r:id="rId3"/>
    <p:sldId id="257" r:id="rId4"/>
    <p:sldId id="258" r:id="rId5"/>
    <p:sldId id="259" r:id="rId6"/>
    <p:sldId id="260" r:id="rId7"/>
    <p:sldId id="261" r:id="rId8"/>
    <p:sldId id="262" r:id="rId9"/>
    <p:sldId id="263" r:id="rId10"/>
    <p:sldId id="264" r:id="rId11"/>
    <p:sldId id="265"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885" autoAdjust="0"/>
    <p:restoredTop sz="94610"/>
  </p:normalViewPr>
  <p:slideViewPr>
    <p:cSldViewPr snapToGrid="0" snapToObjects="1">
      <p:cViewPr varScale="1">
        <p:scale>
          <a:sx n="117" d="100"/>
          <a:sy n="117" d="100"/>
        </p:scale>
        <p:origin x="176" y="3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60774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75EAA-F266-A64F-AFF1-9490AE18E3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3D6D99-3988-BAC7-35DA-C6F1979FB0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71E7E3-3986-82D8-2D66-58841F4EF361}"/>
              </a:ext>
            </a:extLst>
          </p:cNvPr>
          <p:cNvSpPr>
            <a:spLocks noGrp="1"/>
          </p:cNvSpPr>
          <p:nvPr>
            <p:ph type="body" idx="1"/>
          </p:nvPr>
        </p:nvSpPr>
        <p:spPr/>
        <p:txBody>
          <a:bodyPr/>
          <a:lstStyle/>
          <a:p>
            <a:r>
              <a:rPr lang="en-US" dirty="0"/>
              <a:t>This project investigates whether a JPEG-style grayscale image compressor can be accelerated on the programmable logic of the Kria KV260. The complete compression path uses 8 by 8 blocks, level shifting, a two-dimensional discrete cosine transform, quantisation, zigzag traversal, and packed run-length encoding. We benchmarked the implementation on 41 fixed 512 by 512 PGM images: 30 supplied natural images and 11 deterministic synthetic stress tests.
The most important result is deliberately stated on the title slide. The FPGA did accelerate the arithmetic stages that looked expensive in the CPU profile. The DCT became about 1.22 times faster, and quantisation became about 5.18 times faster. However, the variable-length encoding stage consumed nearly 78 percent of FPGA kernel time. Therefore, the complete FPGA kernel averaged 42.65 milliseconds per image, while the CPU completed the full software run in 33.26 milliseconds.
This is still a valuable engineering result. It demonstrates a complete working accelerator, preserves essentially the same compression effectiveness, and identifies the real bottleneck for the next design iteration.</a:t>
            </a:r>
          </a:p>
        </p:txBody>
      </p:sp>
      <p:sp>
        <p:nvSpPr>
          <p:cNvPr id="4" name="Slide Number Placeholder 3">
            <a:extLst>
              <a:ext uri="{FF2B5EF4-FFF2-40B4-BE49-F238E27FC236}">
                <a16:creationId xmlns:a16="http://schemas.microsoft.com/office/drawing/2014/main" id="{0B380315-D88A-7206-13F8-07CADBCDA30A}"/>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8387613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investigates whether a JPEG-style grayscale image compressor can be accelerated on the programmable logic of the Kria KV260. The complete compression path uses 8 by 8 blocks, level shifting, a two-dimensional discrete cosine transform, quantisation, zigzag traversal, and packed run-length encoding. We benchmarked the implementation on 41 fixed 512 by 512 PGM images: 30 supplied natural images and 11 deterministic synthetic stress tests.
The most important result is deliberately stated on the title slide. The FPGA did accelerate the arithmetic stages that looked expensive in the CPU profile. The DCT became about 1.22 times faster, and quantisation became about 5.18 times faster. However, the variable-length encoding stage consumed nearly 78 percent of FPGA kernel time. Therefore, the complete FPGA kernel averaged 42.65 milliseconds per image, while the CPU completed the full software run in 33.26 milliseconds.
This is still a valuable engineering result. It demonstrates a complete working accelerator, preserves essentially the same compression effectiveness, and identifies the real bottleneck for the next design iteration.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aim was broader than accelerating one mathematical function. We wanted a complete image-compression solution that could read an image, process every 8 by 8 block, produce a compact encoded output, and be measured fairly against a software baseline.
Each input is a 512 by 512, 8-bit binary PGM image. That gives 262,144 pixels and 4,096 blocks per image. Across the 41-image benchmark, the system processed 167,936 blocks. We included both natural images and synthetic patterns because compression algorithms behave very differently on smooth, repetitive and noisy content.
We defined success using three criteria. First, the accelerator had to complete the entire compression pipeline rather than only DCT or quantisation. Second, compressed size had to remain useful and comparable to the CPU baseline. Third, performance evaluation had to include stage-level measurements and data movement, so that a large kernel-only number could not hide application overhead.
The outcome is mixed but informative. The hardware implementation completed the full benchmark and improved the regular arithmetic stages. Compression effectiveness was essentially maintained. The missing objective was full-system speedup, and the measurements clearly explain why.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algorithm follows the main ideas used in JPEG, adapted to grayscale PGM images and a custom packed output format. Each image is divided into 8 by 8 blocks. First, subtracting 128 moves the unsigned pixel range around zero, which is convenient for the transform.
The two-dimensional DCT then converts the block from 64 pixel values into 64 frequency coefficients. Low frequencies describe smooth brightness changes, while high frequencies describe sharp detail. The DCT itself does not compress the data. Its purpose is to concentrate visually important information into fewer coefficients.
Quantisation is the lossy stage. Each coefficient is divided by a value from a quantisation matrix and rounded. High-frequency coefficients use larger divisors and therefore frequently become zero. Zigzag traversal then visits low frequencies first and high frequencies later, so these zeros form long consecutive runs.
Finally, the encoder stores the DC coefficient separately and represents AC coefficients using JPEG-style RUN and SIZE symbols, including zero-run-length and end-of-block markers. The symbols and amplitudes are packed into bytes. The key design tension is visible here: DCT and quantisation have fixed work for every block, but the encoder performs data-dependent work based on how many non-zero coefficients remain.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is split between the processing system and the programmable logic. The ARM processor runs Linux and handles the tasks that are awkward or unnecessary to synthesize: reading PGM files, allocating XRT buffers, launching the kernel, synchronising transfers, writing the compressed file and recording measurements.
The image pixels and output arrays reside in shared external memory. AXI master interfaces move the large data buffers, while AXI-Lite carries control arguments and kernel status. The hardware kernel receives the full image and iterates over all 4,096 blocks. For each block it loads and level-shifts the pixels, performs the separable DCT, quantises the coefficients, traverses them in standard zigzag order, and produces a packed AC bitstream together with the DC value and valid bit count.
This partition keeps file-system code and dynamic host control in software, while the regular inner computation is implemented as a dedicated datapath. It also makes performance interpretation important: the kernel can be measured separately, but an application still pays for loading, host preparation, host-to-device transfer, device-to-host transfer and file writing. The HLS configuration requested a 200 megahertz clock, but the presentation does not claim post-route timing or resource results because those reports were not part of the supplied benchmark data.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HLS implementation contains several deliberate optimisations. Floating-point arithmetic was replaced with fixed-point and integer types sized for the pixel, intermediate DCT and quantised coefficient ranges. This reduces operator cost and gives HLS more predictable hardware.
The DCT is separable. Instead of calculating every output directly from all 64 pixels, the design performs two sets of one-dimensional transforms. Local 8 by 8 arrays are fully partitioned, so values can be read in parallel. The eight-term inner sums are fully unrolled, and the surrounding output loops are pipelined with an initiation interval of one. These choices are exactly why the DCT and quantisation stages show real acceleration in the measurements.
The entropy coder is more difficult. Zigzag lookup is regular, but the number of zeros, non-zero coefficients, zero-run markers, amplitude bits and output bytes changes from block to block. The current design therefore builds each variable-length stream sequentially and writes the valid bytes for one block before continuing.
The conceptual schedule at the bottom highlights the difference. Arithmetic stages have a known amount of work and can be deeply scheduled. Encoding grows with data complexity, so its execution time tracks compressed output size. This limitation becomes the central result of the performance analysis.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evaluation was designed to avoid comparing incompatible numbers. Every image in the accelerated CSV is 512 by 512 and therefore contains the same number of pixels and blocks. The suite combines natural images with synthetic patterns such as flat fields, gradients, checkerboards, an impulse and fixed-seed random noise.
The CPU screenshot records a complete batch of 41 images. It reports the total compressed size, overall compression ratio and average time spent in image loading, level shifting, DCT, quantisation, zigzag, RLE and bit encoding, file writing and other overhead. Its average complete time is 33.260 milliseconds per image.
For hardware, each row reports one warm-up and ten timed runs. We use the average stage fields for load and shift, DCT, quantisation, encoding and total kernel time. Minimum and maximum values are also retained to check stability. Host loading, copy, transfer and file-writing fields let us estimate a single application run.
One important caveat is shown explicitly. The raw end-to-end field in the supplied CSV is a cumulative profiling-session measurement rather than a per-run application latency. We therefore do not divide the CPU time by that field. Instead, comparisons use the per-run averages and, where an application estimate is needed, add one load, host copy, transfer, kernel, return transfer and file write.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discussing speed, we first check whether the accelerator still performs useful compression. The CPU baseline compressed 10,747,904 raw bytes to 2,659,049 bytes, which is an overall ratio of 4.042 to one. The hardware profile compressed the same total raw size to 2,639,243 bytes, giving 4.072 to one. The hardware output is about 0.75 percent smaller. This difference is small, but it also means we should describe the implementations as having essentially the same compression effectiveness rather than claiming bit-identical output.
All 41 accelerated rows report status zero, so the benchmark completed successfully for every input.
The sorted chart shows why a single average ratio does not tell the whole story. Uniform and strongly repetitive synthetic images reach 12.71 to one. Natural images occupy the middle of the range, with a median of 4.38 to one. Fixed-seed random noise compresses to only 1.09 to one because random pixel changes create high-frequency DCT coefficients throughout the block. Quantisation cannot turn many of those coefficients into zero, so the encoder must emit far more symbols and bytes.
This data dependence is expected for transform compression, but it also becomes a performance issue because the FPGA encoder performs more work when the compressed output is larger.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main performance comparison. The stage bars use average milliseconds per image. Level shifting is slightly slower in hardware, giving a speedup below one. The DCT improves from 7.760 milliseconds on the CPU to 6.361 milliseconds in the FPGA, or about 1.22 times faster. Quantisation is the strongest result: 7.724 milliseconds becomes 1.491 milliseconds, a 5.18 times acceleration.
For coding, the CPU values for zigzag and RLE are combined because the FPGA CSV reports a single encode stage. The CPU requires 12.402 milliseconds, while the FPGA requires 33.239 milliseconds. That is only 0.37 times the CPU performance, or about 2.68 times slower. This single loss is larger than the savings from DCT and quantisation.
The whole-pipeline cards make the consequence clear. The CPU complete run is 33.26 milliseconds. The FPGA kernel alone is 42.65 milliseconds, so even before transfers and file operations it is about 28 percent slower. Adding one average PGM load, host copy, H2D transfer, kernel run, D2H transfer and file write gives an estimated application path of 48.08 milliseconds.
Therefore, the correct conclusion is not that FPGA acceleration failed generally. The arithmetic datapath worked. The architecture failed to accelerate the dominant variable-length stage.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bottleneck analysis compares the composition of the fixed compute stages. On the CPU, coding accounts for about 42.7 percent of level shift, DCT, quantisation and entropy-coding time. In the FPGA kernel, encoding expands to approximately 77.9 percent. DCT and quantisation occupy much smaller shares because those stages were successfully parallelised.
The scatter plot provides stronger evidence than a single average. Each point is one image, with compressed output size on the horizontal axis and FPGA encoding time on the vertical axis. The correlation is 0.9995, which is almost perfect. Uniform images produce about 20 kilobytes and take roughly 18.46 milliseconds to encode. The fixed-seed noise image produces about 235 kilobytes and takes about 96.08 milliseconds.
This relationship indicates that the encoder performs work proportional to the number of symbols and bytes it emits. A serial bit writer, repeated zero-run decisions and per-byte output loops therefore dominate complex images.
The result is not caused by unstable profiling. Across the ten timed runs, the average minimum-to-maximum spread for total kernel time is only about 0.03 percent. The measurements are highly repeatable. The next design should therefore change the encoder architecture rather than simply collect more repetitions or make small changes to the already-fast DCT and quantisation stages.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achieved several important objectives. We implemented a complete FPGA compression pipeline and successfully processed all 41 benchmark images. The DCT and quantisation results confirm that fixed-point arithmetic, array partitioning, unrolling and pipelining can accelerate regular image-processing stages. The aggregate compression ratio stayed essentially unchanged, so the accelerated path remained useful as a compressor.
The main objective that was not achieved is end-to-end speedup. The current kernel is slower than the complete CPU baseline because packed variable-length encoding became dominant. This is a classic optimisation effect: once the arithmetic stages improve, the bottleneck moves to a stage that previously looked less important.
With more time, the first priority would be a new encoder. A byte reservoir should append complete symbols and amplitudes rather than writing one bit per loop iteration. Output should be compact and contiguous so only valid bytes are transferred. DATAFLOW could overlap load, transform, quantisation and encoding where dependencies allow. Multiple block lanes or compute units could process independent image regions, and batching several images could amortise launch and transfer overhead.
Finally, a complete engineering evaluation would add post-route timing closure, FPGA resource utilisation, board power and energy per image. The central conclusion is that successful acceleration requires designing for the entire pipeline and its data movement, not only the mathematically expensive stage.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DARK">
    <p:bg>
      <p:bgPr>
        <a:solidFill>
          <a:srgbClr val="07111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73952"/>
            <a:ext cx="438912"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7890A4"/>
                </a:solidFill>
                <a:latin typeface="Inter"/>
                <a:ea typeface="Inter"/>
                <a:cs typeface="Inter"/>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73952"/>
            <a:ext cx="438912"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7890A4"/>
                </a:solidFill>
                <a:latin typeface="Inter"/>
                <a:ea typeface="Inter"/>
                <a:cs typeface="Inter"/>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a:extLst>
            <a:ext uri="{FF2B5EF4-FFF2-40B4-BE49-F238E27FC236}">
              <a16:creationId xmlns:a16="http://schemas.microsoft.com/office/drawing/2014/main" id="{2742912F-6974-C13A-0089-6A4E032E346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00D1FAF-66D3-1CBF-C028-35F34EF27CB5}"/>
              </a:ext>
            </a:extLst>
          </p:cNvPr>
          <p:cNvSpPr/>
          <p:nvPr/>
        </p:nvSpPr>
        <p:spPr>
          <a:xfrm>
            <a:off x="9802368" y="0"/>
            <a:ext cx="2386584" cy="2971800"/>
          </a:xfrm>
          <a:prstGeom prst="ellipse">
            <a:avLst/>
          </a:prstGeom>
          <a:solidFill>
            <a:srgbClr val="38D9E6">
              <a:alpha val="8000"/>
            </a:srgbClr>
          </a:solidFill>
          <a:ln w="12700">
            <a:solidFill>
              <a:srgbClr val="38D9E6">
                <a:alpha val="0"/>
              </a:srgbClr>
            </a:solidFill>
            <a:prstDash val="solid"/>
          </a:ln>
        </p:spPr>
        <p:txBody>
          <a:bodyPr/>
          <a:lstStyle/>
          <a:p>
            <a:endParaRPr lang="en-US"/>
          </a:p>
        </p:txBody>
      </p:sp>
      <p:sp>
        <p:nvSpPr>
          <p:cNvPr id="3" name="Shape 1">
            <a:extLst>
              <a:ext uri="{FF2B5EF4-FFF2-40B4-BE49-F238E27FC236}">
                <a16:creationId xmlns:a16="http://schemas.microsoft.com/office/drawing/2014/main" id="{D24ED42E-860C-4F3C-A4FC-C4B3CB63719E}"/>
              </a:ext>
            </a:extLst>
          </p:cNvPr>
          <p:cNvSpPr/>
          <p:nvPr/>
        </p:nvSpPr>
        <p:spPr>
          <a:xfrm>
            <a:off x="0" y="5230368"/>
            <a:ext cx="2395728" cy="1627632"/>
          </a:xfrm>
          <a:prstGeom prst="ellipse">
            <a:avLst/>
          </a:prstGeom>
          <a:solidFill>
            <a:srgbClr val="668EFF">
              <a:alpha val="6000"/>
            </a:srgbClr>
          </a:solidFill>
          <a:ln w="12700">
            <a:solidFill>
              <a:srgbClr val="668EFF">
                <a:alpha val="0"/>
              </a:srgbClr>
            </a:solidFill>
            <a:prstDash val="solid"/>
          </a:ln>
        </p:spPr>
        <p:txBody>
          <a:bodyPr/>
          <a:lstStyle/>
          <a:p>
            <a:endParaRPr lang="en-US"/>
          </a:p>
        </p:txBody>
      </p:sp>
      <p:sp>
        <p:nvSpPr>
          <p:cNvPr id="4" name="Shape 2">
            <a:extLst>
              <a:ext uri="{FF2B5EF4-FFF2-40B4-BE49-F238E27FC236}">
                <a16:creationId xmlns:a16="http://schemas.microsoft.com/office/drawing/2014/main" id="{62B1929D-FF03-0EB3-46FF-BCDEF218EA9F}"/>
              </a:ext>
            </a:extLst>
          </p:cNvPr>
          <p:cNvSpPr/>
          <p:nvPr/>
        </p:nvSpPr>
        <p:spPr>
          <a:xfrm>
            <a:off x="457200" y="0"/>
            <a:ext cx="0" cy="6858000"/>
          </a:xfrm>
          <a:prstGeom prst="line">
            <a:avLst/>
          </a:prstGeom>
          <a:noFill/>
          <a:ln w="5080">
            <a:solidFill>
              <a:srgbClr val="22384E">
                <a:alpha val="6000"/>
              </a:srgbClr>
            </a:solidFill>
            <a:prstDash val="solid"/>
          </a:ln>
        </p:spPr>
        <p:txBody>
          <a:bodyPr/>
          <a:lstStyle/>
          <a:p>
            <a:endParaRPr lang="en-US"/>
          </a:p>
        </p:txBody>
      </p:sp>
      <p:sp>
        <p:nvSpPr>
          <p:cNvPr id="5" name="Shape 3">
            <a:extLst>
              <a:ext uri="{FF2B5EF4-FFF2-40B4-BE49-F238E27FC236}">
                <a16:creationId xmlns:a16="http://schemas.microsoft.com/office/drawing/2014/main" id="{2E2927D9-B265-D5FC-153E-B71243681E4E}"/>
              </a:ext>
            </a:extLst>
          </p:cNvPr>
          <p:cNvSpPr/>
          <p:nvPr/>
        </p:nvSpPr>
        <p:spPr>
          <a:xfrm>
            <a:off x="960120" y="0"/>
            <a:ext cx="0" cy="6858000"/>
          </a:xfrm>
          <a:prstGeom prst="line">
            <a:avLst/>
          </a:prstGeom>
          <a:noFill/>
          <a:ln w="5080">
            <a:solidFill>
              <a:srgbClr val="22384E">
                <a:alpha val="6000"/>
              </a:srgbClr>
            </a:solidFill>
            <a:prstDash val="solid"/>
          </a:ln>
        </p:spPr>
        <p:txBody>
          <a:bodyPr/>
          <a:lstStyle/>
          <a:p>
            <a:endParaRPr lang="en-US"/>
          </a:p>
        </p:txBody>
      </p:sp>
      <p:sp>
        <p:nvSpPr>
          <p:cNvPr id="6" name="Shape 4">
            <a:extLst>
              <a:ext uri="{FF2B5EF4-FFF2-40B4-BE49-F238E27FC236}">
                <a16:creationId xmlns:a16="http://schemas.microsoft.com/office/drawing/2014/main" id="{5BD74E17-9B93-9A72-5044-127F3125AF0C}"/>
              </a:ext>
            </a:extLst>
          </p:cNvPr>
          <p:cNvSpPr/>
          <p:nvPr/>
        </p:nvSpPr>
        <p:spPr>
          <a:xfrm>
            <a:off x="1463040" y="0"/>
            <a:ext cx="0" cy="6858000"/>
          </a:xfrm>
          <a:prstGeom prst="line">
            <a:avLst/>
          </a:prstGeom>
          <a:noFill/>
          <a:ln w="5080">
            <a:solidFill>
              <a:srgbClr val="22384E">
                <a:alpha val="6000"/>
              </a:srgbClr>
            </a:solidFill>
            <a:prstDash val="solid"/>
          </a:ln>
        </p:spPr>
        <p:txBody>
          <a:bodyPr/>
          <a:lstStyle/>
          <a:p>
            <a:endParaRPr lang="en-US"/>
          </a:p>
        </p:txBody>
      </p:sp>
      <p:sp>
        <p:nvSpPr>
          <p:cNvPr id="7" name="Shape 5">
            <a:extLst>
              <a:ext uri="{FF2B5EF4-FFF2-40B4-BE49-F238E27FC236}">
                <a16:creationId xmlns:a16="http://schemas.microsoft.com/office/drawing/2014/main" id="{D11E61F9-697F-0249-A178-B67508B6B237}"/>
              </a:ext>
            </a:extLst>
          </p:cNvPr>
          <p:cNvSpPr/>
          <p:nvPr/>
        </p:nvSpPr>
        <p:spPr>
          <a:xfrm>
            <a:off x="2675020" y="1097280"/>
            <a:ext cx="0" cy="6858000"/>
          </a:xfrm>
          <a:prstGeom prst="line">
            <a:avLst/>
          </a:prstGeom>
          <a:noFill/>
          <a:ln w="5080">
            <a:solidFill>
              <a:srgbClr val="22384E">
                <a:alpha val="6000"/>
              </a:srgbClr>
            </a:solidFill>
            <a:prstDash val="solid"/>
          </a:ln>
        </p:spPr>
        <p:txBody>
          <a:bodyPr/>
          <a:lstStyle/>
          <a:p>
            <a:endParaRPr lang="en-US"/>
          </a:p>
        </p:txBody>
      </p:sp>
      <p:sp>
        <p:nvSpPr>
          <p:cNvPr id="8" name="Shape 6">
            <a:extLst>
              <a:ext uri="{FF2B5EF4-FFF2-40B4-BE49-F238E27FC236}">
                <a16:creationId xmlns:a16="http://schemas.microsoft.com/office/drawing/2014/main" id="{31060A4E-9A84-6E76-093E-4216894218D3}"/>
              </a:ext>
            </a:extLst>
          </p:cNvPr>
          <p:cNvSpPr/>
          <p:nvPr/>
        </p:nvSpPr>
        <p:spPr>
          <a:xfrm>
            <a:off x="2468880" y="0"/>
            <a:ext cx="0" cy="6858000"/>
          </a:xfrm>
          <a:prstGeom prst="line">
            <a:avLst/>
          </a:prstGeom>
          <a:noFill/>
          <a:ln w="5080">
            <a:solidFill>
              <a:srgbClr val="22384E">
                <a:alpha val="6000"/>
              </a:srgbClr>
            </a:solidFill>
            <a:prstDash val="solid"/>
          </a:ln>
        </p:spPr>
        <p:txBody>
          <a:bodyPr/>
          <a:lstStyle/>
          <a:p>
            <a:endParaRPr lang="en-US"/>
          </a:p>
        </p:txBody>
      </p:sp>
      <p:sp>
        <p:nvSpPr>
          <p:cNvPr id="9" name="Shape 7">
            <a:extLst>
              <a:ext uri="{FF2B5EF4-FFF2-40B4-BE49-F238E27FC236}">
                <a16:creationId xmlns:a16="http://schemas.microsoft.com/office/drawing/2014/main" id="{40F89BE9-4B53-6F69-F6E7-CEE2E1DE4EB1}"/>
              </a:ext>
            </a:extLst>
          </p:cNvPr>
          <p:cNvSpPr/>
          <p:nvPr/>
        </p:nvSpPr>
        <p:spPr>
          <a:xfrm>
            <a:off x="2971800" y="0"/>
            <a:ext cx="0" cy="6858000"/>
          </a:xfrm>
          <a:prstGeom prst="line">
            <a:avLst/>
          </a:prstGeom>
          <a:noFill/>
          <a:ln w="5080">
            <a:solidFill>
              <a:srgbClr val="22384E">
                <a:alpha val="6000"/>
              </a:srgbClr>
            </a:solidFill>
            <a:prstDash val="solid"/>
          </a:ln>
        </p:spPr>
        <p:txBody>
          <a:bodyPr/>
          <a:lstStyle/>
          <a:p>
            <a:endParaRPr lang="en-US"/>
          </a:p>
        </p:txBody>
      </p:sp>
      <p:sp>
        <p:nvSpPr>
          <p:cNvPr id="10" name="Shape 8">
            <a:extLst>
              <a:ext uri="{FF2B5EF4-FFF2-40B4-BE49-F238E27FC236}">
                <a16:creationId xmlns:a16="http://schemas.microsoft.com/office/drawing/2014/main" id="{014A5FE1-7EBC-ACB5-FC9B-28F230845CEF}"/>
              </a:ext>
            </a:extLst>
          </p:cNvPr>
          <p:cNvSpPr/>
          <p:nvPr/>
        </p:nvSpPr>
        <p:spPr>
          <a:xfrm>
            <a:off x="3474720" y="0"/>
            <a:ext cx="0" cy="6858000"/>
          </a:xfrm>
          <a:prstGeom prst="line">
            <a:avLst/>
          </a:prstGeom>
          <a:noFill/>
          <a:ln w="5080">
            <a:solidFill>
              <a:srgbClr val="22384E">
                <a:alpha val="6000"/>
              </a:srgbClr>
            </a:solidFill>
            <a:prstDash val="solid"/>
          </a:ln>
        </p:spPr>
        <p:txBody>
          <a:bodyPr/>
          <a:lstStyle/>
          <a:p>
            <a:endParaRPr lang="en-US"/>
          </a:p>
        </p:txBody>
      </p:sp>
      <p:sp>
        <p:nvSpPr>
          <p:cNvPr id="11" name="Shape 9">
            <a:extLst>
              <a:ext uri="{FF2B5EF4-FFF2-40B4-BE49-F238E27FC236}">
                <a16:creationId xmlns:a16="http://schemas.microsoft.com/office/drawing/2014/main" id="{038A7AC5-7211-8907-4CCA-030028BB4357}"/>
              </a:ext>
            </a:extLst>
          </p:cNvPr>
          <p:cNvSpPr/>
          <p:nvPr/>
        </p:nvSpPr>
        <p:spPr>
          <a:xfrm>
            <a:off x="3977640" y="0"/>
            <a:ext cx="0" cy="6858000"/>
          </a:xfrm>
          <a:prstGeom prst="line">
            <a:avLst/>
          </a:prstGeom>
          <a:noFill/>
          <a:ln w="5080">
            <a:solidFill>
              <a:srgbClr val="22384E">
                <a:alpha val="6000"/>
              </a:srgbClr>
            </a:solidFill>
            <a:prstDash val="solid"/>
          </a:ln>
        </p:spPr>
        <p:txBody>
          <a:bodyPr/>
          <a:lstStyle/>
          <a:p>
            <a:endParaRPr lang="en-US"/>
          </a:p>
        </p:txBody>
      </p:sp>
      <p:sp>
        <p:nvSpPr>
          <p:cNvPr id="12" name="Shape 10">
            <a:extLst>
              <a:ext uri="{FF2B5EF4-FFF2-40B4-BE49-F238E27FC236}">
                <a16:creationId xmlns:a16="http://schemas.microsoft.com/office/drawing/2014/main" id="{716D5B0B-367B-56F5-AEC9-42F02B5FA325}"/>
              </a:ext>
            </a:extLst>
          </p:cNvPr>
          <p:cNvSpPr/>
          <p:nvPr/>
        </p:nvSpPr>
        <p:spPr>
          <a:xfrm>
            <a:off x="4480560" y="0"/>
            <a:ext cx="0" cy="6858000"/>
          </a:xfrm>
          <a:prstGeom prst="line">
            <a:avLst/>
          </a:prstGeom>
          <a:noFill/>
          <a:ln w="5080">
            <a:solidFill>
              <a:srgbClr val="22384E">
                <a:alpha val="6000"/>
              </a:srgbClr>
            </a:solidFill>
            <a:prstDash val="solid"/>
          </a:ln>
        </p:spPr>
        <p:txBody>
          <a:bodyPr/>
          <a:lstStyle/>
          <a:p>
            <a:endParaRPr lang="en-US"/>
          </a:p>
        </p:txBody>
      </p:sp>
      <p:sp>
        <p:nvSpPr>
          <p:cNvPr id="13" name="Shape 11">
            <a:extLst>
              <a:ext uri="{FF2B5EF4-FFF2-40B4-BE49-F238E27FC236}">
                <a16:creationId xmlns:a16="http://schemas.microsoft.com/office/drawing/2014/main" id="{6E005AFD-83F2-2AE0-C1E9-5C6F3B581818}"/>
              </a:ext>
            </a:extLst>
          </p:cNvPr>
          <p:cNvSpPr/>
          <p:nvPr/>
        </p:nvSpPr>
        <p:spPr>
          <a:xfrm>
            <a:off x="4983480" y="0"/>
            <a:ext cx="0" cy="6858000"/>
          </a:xfrm>
          <a:prstGeom prst="line">
            <a:avLst/>
          </a:prstGeom>
          <a:noFill/>
          <a:ln w="5080">
            <a:solidFill>
              <a:srgbClr val="22384E">
                <a:alpha val="6000"/>
              </a:srgbClr>
            </a:solidFill>
            <a:prstDash val="solid"/>
          </a:ln>
        </p:spPr>
        <p:txBody>
          <a:bodyPr/>
          <a:lstStyle/>
          <a:p>
            <a:endParaRPr lang="en-US"/>
          </a:p>
        </p:txBody>
      </p:sp>
      <p:sp>
        <p:nvSpPr>
          <p:cNvPr id="14" name="Shape 12">
            <a:extLst>
              <a:ext uri="{FF2B5EF4-FFF2-40B4-BE49-F238E27FC236}">
                <a16:creationId xmlns:a16="http://schemas.microsoft.com/office/drawing/2014/main" id="{0525EA25-D4B1-4B48-515C-DFC9005BE3B1}"/>
              </a:ext>
            </a:extLst>
          </p:cNvPr>
          <p:cNvSpPr/>
          <p:nvPr/>
        </p:nvSpPr>
        <p:spPr>
          <a:xfrm>
            <a:off x="5486400" y="0"/>
            <a:ext cx="0" cy="6858000"/>
          </a:xfrm>
          <a:prstGeom prst="line">
            <a:avLst/>
          </a:prstGeom>
          <a:noFill/>
          <a:ln w="5080">
            <a:solidFill>
              <a:srgbClr val="22384E">
                <a:alpha val="6000"/>
              </a:srgbClr>
            </a:solidFill>
            <a:prstDash val="solid"/>
          </a:ln>
        </p:spPr>
        <p:txBody>
          <a:bodyPr/>
          <a:lstStyle/>
          <a:p>
            <a:endParaRPr lang="en-US"/>
          </a:p>
        </p:txBody>
      </p:sp>
      <p:sp>
        <p:nvSpPr>
          <p:cNvPr id="15" name="Shape 13">
            <a:extLst>
              <a:ext uri="{FF2B5EF4-FFF2-40B4-BE49-F238E27FC236}">
                <a16:creationId xmlns:a16="http://schemas.microsoft.com/office/drawing/2014/main" id="{B9C5B96A-7046-F23F-6674-8EFE0A1C9015}"/>
              </a:ext>
            </a:extLst>
          </p:cNvPr>
          <p:cNvSpPr/>
          <p:nvPr/>
        </p:nvSpPr>
        <p:spPr>
          <a:xfrm>
            <a:off x="5989320" y="0"/>
            <a:ext cx="0" cy="6858000"/>
          </a:xfrm>
          <a:prstGeom prst="line">
            <a:avLst/>
          </a:prstGeom>
          <a:noFill/>
          <a:ln w="5080">
            <a:solidFill>
              <a:srgbClr val="22384E">
                <a:alpha val="6000"/>
              </a:srgbClr>
            </a:solidFill>
            <a:prstDash val="solid"/>
          </a:ln>
        </p:spPr>
        <p:txBody>
          <a:bodyPr/>
          <a:lstStyle/>
          <a:p>
            <a:endParaRPr lang="en-US"/>
          </a:p>
        </p:txBody>
      </p:sp>
      <p:sp>
        <p:nvSpPr>
          <p:cNvPr id="16" name="Shape 14">
            <a:extLst>
              <a:ext uri="{FF2B5EF4-FFF2-40B4-BE49-F238E27FC236}">
                <a16:creationId xmlns:a16="http://schemas.microsoft.com/office/drawing/2014/main" id="{875D36C7-769F-FDC7-BF3C-DCD92462000E}"/>
              </a:ext>
            </a:extLst>
          </p:cNvPr>
          <p:cNvSpPr/>
          <p:nvPr/>
        </p:nvSpPr>
        <p:spPr>
          <a:xfrm>
            <a:off x="6492240" y="0"/>
            <a:ext cx="0" cy="6858000"/>
          </a:xfrm>
          <a:prstGeom prst="line">
            <a:avLst/>
          </a:prstGeom>
          <a:noFill/>
          <a:ln w="5080">
            <a:solidFill>
              <a:srgbClr val="22384E">
                <a:alpha val="6000"/>
              </a:srgbClr>
            </a:solidFill>
            <a:prstDash val="solid"/>
          </a:ln>
        </p:spPr>
        <p:txBody>
          <a:bodyPr/>
          <a:lstStyle/>
          <a:p>
            <a:endParaRPr lang="en-US"/>
          </a:p>
        </p:txBody>
      </p:sp>
      <p:sp>
        <p:nvSpPr>
          <p:cNvPr id="17" name="Shape 15">
            <a:extLst>
              <a:ext uri="{FF2B5EF4-FFF2-40B4-BE49-F238E27FC236}">
                <a16:creationId xmlns:a16="http://schemas.microsoft.com/office/drawing/2014/main" id="{FFCE8D51-0868-CD30-490F-85D882BE5E12}"/>
              </a:ext>
            </a:extLst>
          </p:cNvPr>
          <p:cNvSpPr/>
          <p:nvPr/>
        </p:nvSpPr>
        <p:spPr>
          <a:xfrm>
            <a:off x="6995160" y="0"/>
            <a:ext cx="0" cy="6858000"/>
          </a:xfrm>
          <a:prstGeom prst="line">
            <a:avLst/>
          </a:prstGeom>
          <a:noFill/>
          <a:ln w="5080">
            <a:solidFill>
              <a:srgbClr val="22384E">
                <a:alpha val="6000"/>
              </a:srgbClr>
            </a:solidFill>
            <a:prstDash val="solid"/>
          </a:ln>
        </p:spPr>
        <p:txBody>
          <a:bodyPr/>
          <a:lstStyle/>
          <a:p>
            <a:endParaRPr lang="en-US"/>
          </a:p>
        </p:txBody>
      </p:sp>
      <p:sp>
        <p:nvSpPr>
          <p:cNvPr id="18" name="Shape 16">
            <a:extLst>
              <a:ext uri="{FF2B5EF4-FFF2-40B4-BE49-F238E27FC236}">
                <a16:creationId xmlns:a16="http://schemas.microsoft.com/office/drawing/2014/main" id="{C135FD6A-1C76-8676-4FFA-F025A92EA86C}"/>
              </a:ext>
            </a:extLst>
          </p:cNvPr>
          <p:cNvSpPr/>
          <p:nvPr/>
        </p:nvSpPr>
        <p:spPr>
          <a:xfrm>
            <a:off x="7498080" y="0"/>
            <a:ext cx="0" cy="6858000"/>
          </a:xfrm>
          <a:prstGeom prst="line">
            <a:avLst/>
          </a:prstGeom>
          <a:noFill/>
          <a:ln w="5080">
            <a:solidFill>
              <a:srgbClr val="22384E">
                <a:alpha val="6000"/>
              </a:srgbClr>
            </a:solidFill>
            <a:prstDash val="solid"/>
          </a:ln>
        </p:spPr>
        <p:txBody>
          <a:bodyPr/>
          <a:lstStyle/>
          <a:p>
            <a:endParaRPr lang="en-US"/>
          </a:p>
        </p:txBody>
      </p:sp>
      <p:sp>
        <p:nvSpPr>
          <p:cNvPr id="19" name="Shape 17">
            <a:extLst>
              <a:ext uri="{FF2B5EF4-FFF2-40B4-BE49-F238E27FC236}">
                <a16:creationId xmlns:a16="http://schemas.microsoft.com/office/drawing/2014/main" id="{98A5972B-3F54-D8A4-6620-ED439BE92BB3}"/>
              </a:ext>
            </a:extLst>
          </p:cNvPr>
          <p:cNvSpPr/>
          <p:nvPr/>
        </p:nvSpPr>
        <p:spPr>
          <a:xfrm>
            <a:off x="8001000" y="0"/>
            <a:ext cx="0" cy="6858000"/>
          </a:xfrm>
          <a:prstGeom prst="line">
            <a:avLst/>
          </a:prstGeom>
          <a:noFill/>
          <a:ln w="5080">
            <a:solidFill>
              <a:srgbClr val="22384E">
                <a:alpha val="6000"/>
              </a:srgbClr>
            </a:solidFill>
            <a:prstDash val="solid"/>
          </a:ln>
        </p:spPr>
        <p:txBody>
          <a:bodyPr/>
          <a:lstStyle/>
          <a:p>
            <a:endParaRPr lang="en-US"/>
          </a:p>
        </p:txBody>
      </p:sp>
      <p:sp>
        <p:nvSpPr>
          <p:cNvPr id="20" name="Shape 18">
            <a:extLst>
              <a:ext uri="{FF2B5EF4-FFF2-40B4-BE49-F238E27FC236}">
                <a16:creationId xmlns:a16="http://schemas.microsoft.com/office/drawing/2014/main" id="{5685E018-DFBF-F7D6-CA12-992BA0AF1E37}"/>
              </a:ext>
            </a:extLst>
          </p:cNvPr>
          <p:cNvSpPr/>
          <p:nvPr/>
        </p:nvSpPr>
        <p:spPr>
          <a:xfrm>
            <a:off x="8503920" y="0"/>
            <a:ext cx="0" cy="6858000"/>
          </a:xfrm>
          <a:prstGeom prst="line">
            <a:avLst/>
          </a:prstGeom>
          <a:noFill/>
          <a:ln w="5080">
            <a:solidFill>
              <a:srgbClr val="22384E">
                <a:alpha val="6000"/>
              </a:srgbClr>
            </a:solidFill>
            <a:prstDash val="solid"/>
          </a:ln>
        </p:spPr>
        <p:txBody>
          <a:bodyPr/>
          <a:lstStyle/>
          <a:p>
            <a:endParaRPr lang="en-US"/>
          </a:p>
        </p:txBody>
      </p:sp>
      <p:sp>
        <p:nvSpPr>
          <p:cNvPr id="21" name="Shape 19">
            <a:extLst>
              <a:ext uri="{FF2B5EF4-FFF2-40B4-BE49-F238E27FC236}">
                <a16:creationId xmlns:a16="http://schemas.microsoft.com/office/drawing/2014/main" id="{40FC72AC-922F-4AD9-5952-8997548BD3DE}"/>
              </a:ext>
            </a:extLst>
          </p:cNvPr>
          <p:cNvSpPr/>
          <p:nvPr/>
        </p:nvSpPr>
        <p:spPr>
          <a:xfrm>
            <a:off x="9006840" y="0"/>
            <a:ext cx="0" cy="6858000"/>
          </a:xfrm>
          <a:prstGeom prst="line">
            <a:avLst/>
          </a:prstGeom>
          <a:noFill/>
          <a:ln w="5080">
            <a:solidFill>
              <a:srgbClr val="22384E">
                <a:alpha val="6000"/>
              </a:srgbClr>
            </a:solidFill>
            <a:prstDash val="solid"/>
          </a:ln>
        </p:spPr>
        <p:txBody>
          <a:bodyPr/>
          <a:lstStyle/>
          <a:p>
            <a:endParaRPr lang="en-US"/>
          </a:p>
        </p:txBody>
      </p:sp>
      <p:sp>
        <p:nvSpPr>
          <p:cNvPr id="22" name="Shape 20">
            <a:extLst>
              <a:ext uri="{FF2B5EF4-FFF2-40B4-BE49-F238E27FC236}">
                <a16:creationId xmlns:a16="http://schemas.microsoft.com/office/drawing/2014/main" id="{C14CCEAE-D4A9-F767-ED54-51836C6DB52C}"/>
              </a:ext>
            </a:extLst>
          </p:cNvPr>
          <p:cNvSpPr/>
          <p:nvPr/>
        </p:nvSpPr>
        <p:spPr>
          <a:xfrm>
            <a:off x="9388542" y="0"/>
            <a:ext cx="0" cy="6858000"/>
          </a:xfrm>
          <a:prstGeom prst="line">
            <a:avLst/>
          </a:prstGeom>
          <a:noFill/>
          <a:ln w="5080">
            <a:solidFill>
              <a:srgbClr val="22384E">
                <a:alpha val="6000"/>
              </a:srgbClr>
            </a:solidFill>
            <a:prstDash val="solid"/>
          </a:ln>
        </p:spPr>
        <p:txBody>
          <a:bodyPr/>
          <a:lstStyle/>
          <a:p>
            <a:endParaRPr lang="en-US"/>
          </a:p>
        </p:txBody>
      </p:sp>
      <p:sp>
        <p:nvSpPr>
          <p:cNvPr id="23" name="Shape 21">
            <a:extLst>
              <a:ext uri="{FF2B5EF4-FFF2-40B4-BE49-F238E27FC236}">
                <a16:creationId xmlns:a16="http://schemas.microsoft.com/office/drawing/2014/main" id="{8B73350E-0189-E990-D610-32BB50128972}"/>
              </a:ext>
            </a:extLst>
          </p:cNvPr>
          <p:cNvSpPr/>
          <p:nvPr/>
        </p:nvSpPr>
        <p:spPr>
          <a:xfrm>
            <a:off x="10012680" y="0"/>
            <a:ext cx="0" cy="6858000"/>
          </a:xfrm>
          <a:prstGeom prst="line">
            <a:avLst/>
          </a:prstGeom>
          <a:noFill/>
          <a:ln w="5080">
            <a:solidFill>
              <a:srgbClr val="22384E">
                <a:alpha val="6000"/>
              </a:srgbClr>
            </a:solidFill>
            <a:prstDash val="solid"/>
          </a:ln>
        </p:spPr>
        <p:txBody>
          <a:bodyPr/>
          <a:lstStyle/>
          <a:p>
            <a:endParaRPr lang="en-US"/>
          </a:p>
        </p:txBody>
      </p:sp>
      <p:sp>
        <p:nvSpPr>
          <p:cNvPr id="24" name="Shape 22">
            <a:extLst>
              <a:ext uri="{FF2B5EF4-FFF2-40B4-BE49-F238E27FC236}">
                <a16:creationId xmlns:a16="http://schemas.microsoft.com/office/drawing/2014/main" id="{4A06DCA8-992F-F4FD-911E-72AAAA6A5069}"/>
              </a:ext>
            </a:extLst>
          </p:cNvPr>
          <p:cNvSpPr/>
          <p:nvPr/>
        </p:nvSpPr>
        <p:spPr>
          <a:xfrm>
            <a:off x="10515600" y="0"/>
            <a:ext cx="0" cy="6858000"/>
          </a:xfrm>
          <a:prstGeom prst="line">
            <a:avLst/>
          </a:prstGeom>
          <a:noFill/>
          <a:ln w="5080">
            <a:solidFill>
              <a:srgbClr val="22384E">
                <a:alpha val="6000"/>
              </a:srgbClr>
            </a:solidFill>
            <a:prstDash val="solid"/>
          </a:ln>
        </p:spPr>
        <p:txBody>
          <a:bodyPr/>
          <a:lstStyle/>
          <a:p>
            <a:endParaRPr lang="en-US"/>
          </a:p>
        </p:txBody>
      </p:sp>
      <p:sp>
        <p:nvSpPr>
          <p:cNvPr id="25" name="Shape 23">
            <a:extLst>
              <a:ext uri="{FF2B5EF4-FFF2-40B4-BE49-F238E27FC236}">
                <a16:creationId xmlns:a16="http://schemas.microsoft.com/office/drawing/2014/main" id="{48B986D7-D2FC-E762-788A-E18035078551}"/>
              </a:ext>
            </a:extLst>
          </p:cNvPr>
          <p:cNvSpPr/>
          <p:nvPr/>
        </p:nvSpPr>
        <p:spPr>
          <a:xfrm>
            <a:off x="11018520" y="0"/>
            <a:ext cx="0" cy="6858000"/>
          </a:xfrm>
          <a:prstGeom prst="line">
            <a:avLst/>
          </a:prstGeom>
          <a:noFill/>
          <a:ln w="5080">
            <a:solidFill>
              <a:srgbClr val="22384E">
                <a:alpha val="6000"/>
              </a:srgbClr>
            </a:solidFill>
            <a:prstDash val="solid"/>
          </a:ln>
        </p:spPr>
        <p:txBody>
          <a:bodyPr/>
          <a:lstStyle/>
          <a:p>
            <a:endParaRPr lang="en-US"/>
          </a:p>
        </p:txBody>
      </p:sp>
      <p:sp>
        <p:nvSpPr>
          <p:cNvPr id="26" name="Shape 24">
            <a:extLst>
              <a:ext uri="{FF2B5EF4-FFF2-40B4-BE49-F238E27FC236}">
                <a16:creationId xmlns:a16="http://schemas.microsoft.com/office/drawing/2014/main" id="{CD09FF45-6094-EC35-9BF7-1B669AADF2B5}"/>
              </a:ext>
            </a:extLst>
          </p:cNvPr>
          <p:cNvSpPr/>
          <p:nvPr/>
        </p:nvSpPr>
        <p:spPr>
          <a:xfrm>
            <a:off x="11521440" y="0"/>
            <a:ext cx="0" cy="6858000"/>
          </a:xfrm>
          <a:prstGeom prst="line">
            <a:avLst/>
          </a:prstGeom>
          <a:noFill/>
          <a:ln w="5080">
            <a:solidFill>
              <a:srgbClr val="22384E">
                <a:alpha val="6000"/>
              </a:srgbClr>
            </a:solidFill>
            <a:prstDash val="solid"/>
          </a:ln>
        </p:spPr>
        <p:txBody>
          <a:bodyPr/>
          <a:lstStyle/>
          <a:p>
            <a:endParaRPr lang="en-US"/>
          </a:p>
        </p:txBody>
      </p:sp>
      <p:sp>
        <p:nvSpPr>
          <p:cNvPr id="27" name="Shape 25">
            <a:extLst>
              <a:ext uri="{FF2B5EF4-FFF2-40B4-BE49-F238E27FC236}">
                <a16:creationId xmlns:a16="http://schemas.microsoft.com/office/drawing/2014/main" id="{211BD3D3-308B-C5D0-2912-B02B70555F28}"/>
              </a:ext>
            </a:extLst>
          </p:cNvPr>
          <p:cNvSpPr/>
          <p:nvPr/>
        </p:nvSpPr>
        <p:spPr>
          <a:xfrm>
            <a:off x="0" y="320040"/>
            <a:ext cx="12191695" cy="0"/>
          </a:xfrm>
          <a:prstGeom prst="line">
            <a:avLst/>
          </a:prstGeom>
          <a:noFill/>
          <a:ln w="5080">
            <a:solidFill>
              <a:srgbClr val="22384E">
                <a:alpha val="5000"/>
              </a:srgbClr>
            </a:solidFill>
            <a:prstDash val="solid"/>
          </a:ln>
        </p:spPr>
        <p:txBody>
          <a:bodyPr/>
          <a:lstStyle/>
          <a:p>
            <a:endParaRPr lang="en-US"/>
          </a:p>
        </p:txBody>
      </p:sp>
      <p:sp>
        <p:nvSpPr>
          <p:cNvPr id="28" name="Shape 26">
            <a:extLst>
              <a:ext uri="{FF2B5EF4-FFF2-40B4-BE49-F238E27FC236}">
                <a16:creationId xmlns:a16="http://schemas.microsoft.com/office/drawing/2014/main" id="{6B2906BF-04CA-7669-2670-6D128353B4D5}"/>
              </a:ext>
            </a:extLst>
          </p:cNvPr>
          <p:cNvSpPr/>
          <p:nvPr/>
        </p:nvSpPr>
        <p:spPr>
          <a:xfrm>
            <a:off x="0" y="822960"/>
            <a:ext cx="12191695" cy="0"/>
          </a:xfrm>
          <a:prstGeom prst="line">
            <a:avLst/>
          </a:prstGeom>
          <a:noFill/>
          <a:ln w="5080">
            <a:solidFill>
              <a:srgbClr val="22384E">
                <a:alpha val="5000"/>
              </a:srgbClr>
            </a:solidFill>
            <a:prstDash val="solid"/>
          </a:ln>
        </p:spPr>
        <p:txBody>
          <a:bodyPr/>
          <a:lstStyle/>
          <a:p>
            <a:endParaRPr lang="en-US"/>
          </a:p>
        </p:txBody>
      </p:sp>
      <p:sp>
        <p:nvSpPr>
          <p:cNvPr id="29" name="Shape 27">
            <a:extLst>
              <a:ext uri="{FF2B5EF4-FFF2-40B4-BE49-F238E27FC236}">
                <a16:creationId xmlns:a16="http://schemas.microsoft.com/office/drawing/2014/main" id="{446C0E68-E1BE-75D3-EDE6-1728837C57D9}"/>
              </a:ext>
            </a:extLst>
          </p:cNvPr>
          <p:cNvSpPr/>
          <p:nvPr/>
        </p:nvSpPr>
        <p:spPr>
          <a:xfrm>
            <a:off x="0" y="1325880"/>
            <a:ext cx="12191695" cy="0"/>
          </a:xfrm>
          <a:prstGeom prst="line">
            <a:avLst/>
          </a:prstGeom>
          <a:noFill/>
          <a:ln w="5080">
            <a:solidFill>
              <a:srgbClr val="22384E">
                <a:alpha val="5000"/>
              </a:srgbClr>
            </a:solidFill>
            <a:prstDash val="solid"/>
          </a:ln>
        </p:spPr>
        <p:txBody>
          <a:bodyPr/>
          <a:lstStyle/>
          <a:p>
            <a:endParaRPr lang="en-US"/>
          </a:p>
        </p:txBody>
      </p:sp>
      <p:sp>
        <p:nvSpPr>
          <p:cNvPr id="30" name="Shape 28">
            <a:extLst>
              <a:ext uri="{FF2B5EF4-FFF2-40B4-BE49-F238E27FC236}">
                <a16:creationId xmlns:a16="http://schemas.microsoft.com/office/drawing/2014/main" id="{C1FE142B-C152-BE72-63CE-B0427A5427F8}"/>
              </a:ext>
            </a:extLst>
          </p:cNvPr>
          <p:cNvSpPr/>
          <p:nvPr/>
        </p:nvSpPr>
        <p:spPr>
          <a:xfrm>
            <a:off x="0" y="1828800"/>
            <a:ext cx="12191695" cy="0"/>
          </a:xfrm>
          <a:prstGeom prst="line">
            <a:avLst/>
          </a:prstGeom>
          <a:noFill/>
          <a:ln w="5080">
            <a:solidFill>
              <a:srgbClr val="22384E">
                <a:alpha val="5000"/>
              </a:srgbClr>
            </a:solidFill>
            <a:prstDash val="solid"/>
          </a:ln>
        </p:spPr>
        <p:txBody>
          <a:bodyPr/>
          <a:lstStyle/>
          <a:p>
            <a:endParaRPr lang="en-US"/>
          </a:p>
        </p:txBody>
      </p:sp>
      <p:sp>
        <p:nvSpPr>
          <p:cNvPr id="31" name="Shape 29">
            <a:extLst>
              <a:ext uri="{FF2B5EF4-FFF2-40B4-BE49-F238E27FC236}">
                <a16:creationId xmlns:a16="http://schemas.microsoft.com/office/drawing/2014/main" id="{1F1C4791-5D56-8079-799C-B74F6743565A}"/>
              </a:ext>
            </a:extLst>
          </p:cNvPr>
          <p:cNvSpPr/>
          <p:nvPr/>
        </p:nvSpPr>
        <p:spPr>
          <a:xfrm>
            <a:off x="0" y="2331720"/>
            <a:ext cx="12191695" cy="0"/>
          </a:xfrm>
          <a:prstGeom prst="line">
            <a:avLst/>
          </a:prstGeom>
          <a:noFill/>
          <a:ln w="5080">
            <a:solidFill>
              <a:srgbClr val="22384E">
                <a:alpha val="5000"/>
              </a:srgbClr>
            </a:solidFill>
            <a:prstDash val="solid"/>
          </a:ln>
        </p:spPr>
        <p:txBody>
          <a:bodyPr/>
          <a:lstStyle/>
          <a:p>
            <a:endParaRPr lang="en-US"/>
          </a:p>
        </p:txBody>
      </p:sp>
      <p:sp>
        <p:nvSpPr>
          <p:cNvPr id="32" name="Shape 30">
            <a:extLst>
              <a:ext uri="{FF2B5EF4-FFF2-40B4-BE49-F238E27FC236}">
                <a16:creationId xmlns:a16="http://schemas.microsoft.com/office/drawing/2014/main" id="{56DAF8C3-321D-B3F4-0B29-3D6A4BC1A410}"/>
              </a:ext>
            </a:extLst>
          </p:cNvPr>
          <p:cNvSpPr/>
          <p:nvPr/>
        </p:nvSpPr>
        <p:spPr>
          <a:xfrm>
            <a:off x="0" y="2834640"/>
            <a:ext cx="12191695" cy="0"/>
          </a:xfrm>
          <a:prstGeom prst="line">
            <a:avLst/>
          </a:prstGeom>
          <a:noFill/>
          <a:ln w="5080">
            <a:solidFill>
              <a:srgbClr val="22384E">
                <a:alpha val="5000"/>
              </a:srgbClr>
            </a:solidFill>
            <a:prstDash val="solid"/>
          </a:ln>
        </p:spPr>
        <p:txBody>
          <a:bodyPr/>
          <a:lstStyle/>
          <a:p>
            <a:endParaRPr lang="en-US"/>
          </a:p>
        </p:txBody>
      </p:sp>
      <p:sp>
        <p:nvSpPr>
          <p:cNvPr id="33" name="Shape 31">
            <a:extLst>
              <a:ext uri="{FF2B5EF4-FFF2-40B4-BE49-F238E27FC236}">
                <a16:creationId xmlns:a16="http://schemas.microsoft.com/office/drawing/2014/main" id="{9B6A61A9-C416-5A4A-13BE-0DE045BC0932}"/>
              </a:ext>
            </a:extLst>
          </p:cNvPr>
          <p:cNvSpPr/>
          <p:nvPr/>
        </p:nvSpPr>
        <p:spPr>
          <a:xfrm>
            <a:off x="0" y="3337560"/>
            <a:ext cx="12191695" cy="0"/>
          </a:xfrm>
          <a:prstGeom prst="line">
            <a:avLst/>
          </a:prstGeom>
          <a:noFill/>
          <a:ln w="5080">
            <a:solidFill>
              <a:srgbClr val="22384E">
                <a:alpha val="5000"/>
              </a:srgbClr>
            </a:solidFill>
            <a:prstDash val="solid"/>
          </a:ln>
        </p:spPr>
        <p:txBody>
          <a:bodyPr/>
          <a:lstStyle/>
          <a:p>
            <a:endParaRPr lang="en-US"/>
          </a:p>
        </p:txBody>
      </p:sp>
      <p:sp>
        <p:nvSpPr>
          <p:cNvPr id="34" name="Shape 32">
            <a:extLst>
              <a:ext uri="{FF2B5EF4-FFF2-40B4-BE49-F238E27FC236}">
                <a16:creationId xmlns:a16="http://schemas.microsoft.com/office/drawing/2014/main" id="{CD6ADBF3-66D8-8844-531C-F91081830E57}"/>
              </a:ext>
            </a:extLst>
          </p:cNvPr>
          <p:cNvSpPr/>
          <p:nvPr/>
        </p:nvSpPr>
        <p:spPr>
          <a:xfrm>
            <a:off x="0" y="3840480"/>
            <a:ext cx="12191695" cy="0"/>
          </a:xfrm>
          <a:prstGeom prst="line">
            <a:avLst/>
          </a:prstGeom>
          <a:noFill/>
          <a:ln w="5080">
            <a:solidFill>
              <a:srgbClr val="22384E">
                <a:alpha val="5000"/>
              </a:srgbClr>
            </a:solidFill>
            <a:prstDash val="solid"/>
          </a:ln>
        </p:spPr>
        <p:txBody>
          <a:bodyPr/>
          <a:lstStyle/>
          <a:p>
            <a:endParaRPr lang="en-US"/>
          </a:p>
        </p:txBody>
      </p:sp>
      <p:sp>
        <p:nvSpPr>
          <p:cNvPr id="35" name="Shape 33">
            <a:extLst>
              <a:ext uri="{FF2B5EF4-FFF2-40B4-BE49-F238E27FC236}">
                <a16:creationId xmlns:a16="http://schemas.microsoft.com/office/drawing/2014/main" id="{CB7CF50B-A157-A41A-CB7D-EE5F603C6037}"/>
              </a:ext>
            </a:extLst>
          </p:cNvPr>
          <p:cNvSpPr/>
          <p:nvPr/>
        </p:nvSpPr>
        <p:spPr>
          <a:xfrm>
            <a:off x="0" y="4343400"/>
            <a:ext cx="12191695" cy="0"/>
          </a:xfrm>
          <a:prstGeom prst="line">
            <a:avLst/>
          </a:prstGeom>
          <a:noFill/>
          <a:ln w="5080">
            <a:solidFill>
              <a:srgbClr val="22384E">
                <a:alpha val="5000"/>
              </a:srgbClr>
            </a:solidFill>
            <a:prstDash val="solid"/>
          </a:ln>
        </p:spPr>
        <p:txBody>
          <a:bodyPr/>
          <a:lstStyle/>
          <a:p>
            <a:endParaRPr lang="en-US"/>
          </a:p>
        </p:txBody>
      </p:sp>
      <p:sp>
        <p:nvSpPr>
          <p:cNvPr id="37" name="Shape 35">
            <a:extLst>
              <a:ext uri="{FF2B5EF4-FFF2-40B4-BE49-F238E27FC236}">
                <a16:creationId xmlns:a16="http://schemas.microsoft.com/office/drawing/2014/main" id="{9C181AC7-E167-5E7C-CA5F-ED47DEF60266}"/>
              </a:ext>
            </a:extLst>
          </p:cNvPr>
          <p:cNvSpPr/>
          <p:nvPr/>
        </p:nvSpPr>
        <p:spPr>
          <a:xfrm>
            <a:off x="0" y="5349240"/>
            <a:ext cx="12191695" cy="0"/>
          </a:xfrm>
          <a:prstGeom prst="line">
            <a:avLst/>
          </a:prstGeom>
          <a:noFill/>
          <a:ln w="5080">
            <a:solidFill>
              <a:srgbClr val="22384E">
                <a:alpha val="5000"/>
              </a:srgbClr>
            </a:solidFill>
            <a:prstDash val="solid"/>
          </a:ln>
        </p:spPr>
        <p:txBody>
          <a:bodyPr/>
          <a:lstStyle/>
          <a:p>
            <a:endParaRPr lang="en-US" dirty="0"/>
          </a:p>
        </p:txBody>
      </p:sp>
      <p:sp>
        <p:nvSpPr>
          <p:cNvPr id="38" name="Shape 36">
            <a:extLst>
              <a:ext uri="{FF2B5EF4-FFF2-40B4-BE49-F238E27FC236}">
                <a16:creationId xmlns:a16="http://schemas.microsoft.com/office/drawing/2014/main" id="{409E491D-1A55-5CAB-C4B4-2E99FFD4FCDB}"/>
              </a:ext>
            </a:extLst>
          </p:cNvPr>
          <p:cNvSpPr/>
          <p:nvPr/>
        </p:nvSpPr>
        <p:spPr>
          <a:xfrm>
            <a:off x="0" y="5852160"/>
            <a:ext cx="12191695" cy="0"/>
          </a:xfrm>
          <a:prstGeom prst="line">
            <a:avLst/>
          </a:prstGeom>
          <a:noFill/>
          <a:ln w="5080">
            <a:solidFill>
              <a:srgbClr val="22384E">
                <a:alpha val="5000"/>
              </a:srgbClr>
            </a:solidFill>
            <a:prstDash val="solid"/>
          </a:ln>
        </p:spPr>
        <p:txBody>
          <a:bodyPr/>
          <a:lstStyle/>
          <a:p>
            <a:endParaRPr lang="en-US"/>
          </a:p>
        </p:txBody>
      </p:sp>
      <p:sp>
        <p:nvSpPr>
          <p:cNvPr id="39" name="Shape 37">
            <a:extLst>
              <a:ext uri="{FF2B5EF4-FFF2-40B4-BE49-F238E27FC236}">
                <a16:creationId xmlns:a16="http://schemas.microsoft.com/office/drawing/2014/main" id="{E72ABCA8-6AAD-0B54-FE53-166CA4C332A0}"/>
              </a:ext>
            </a:extLst>
          </p:cNvPr>
          <p:cNvSpPr/>
          <p:nvPr/>
        </p:nvSpPr>
        <p:spPr>
          <a:xfrm>
            <a:off x="0" y="6355080"/>
            <a:ext cx="12191695" cy="0"/>
          </a:xfrm>
          <a:prstGeom prst="line">
            <a:avLst/>
          </a:prstGeom>
          <a:noFill/>
          <a:ln w="5080">
            <a:solidFill>
              <a:srgbClr val="22384E">
                <a:alpha val="5000"/>
              </a:srgbClr>
            </a:solidFill>
            <a:prstDash val="solid"/>
          </a:ln>
        </p:spPr>
        <p:txBody>
          <a:bodyPr/>
          <a:lstStyle/>
          <a:p>
            <a:endParaRPr lang="en-US"/>
          </a:p>
        </p:txBody>
      </p:sp>
      <p:sp>
        <p:nvSpPr>
          <p:cNvPr id="40" name="Shape 38">
            <a:extLst>
              <a:ext uri="{FF2B5EF4-FFF2-40B4-BE49-F238E27FC236}">
                <a16:creationId xmlns:a16="http://schemas.microsoft.com/office/drawing/2014/main" id="{3A6CEAF3-F2C6-6BEC-B039-DF530BAEAA39}"/>
              </a:ext>
            </a:extLst>
          </p:cNvPr>
          <p:cNvSpPr/>
          <p:nvPr/>
        </p:nvSpPr>
        <p:spPr>
          <a:xfrm>
            <a:off x="0" y="6858000"/>
            <a:ext cx="12191695" cy="0"/>
          </a:xfrm>
          <a:prstGeom prst="line">
            <a:avLst/>
          </a:prstGeom>
          <a:noFill/>
          <a:ln w="5080">
            <a:solidFill>
              <a:srgbClr val="22384E">
                <a:alpha val="5000"/>
              </a:srgbClr>
            </a:solidFill>
            <a:prstDash val="solid"/>
          </a:ln>
        </p:spPr>
        <p:txBody>
          <a:bodyPr/>
          <a:lstStyle/>
          <a:p>
            <a:endParaRPr lang="en-US"/>
          </a:p>
        </p:txBody>
      </p:sp>
      <p:sp>
        <p:nvSpPr>
          <p:cNvPr id="41" name="Text 39">
            <a:extLst>
              <a:ext uri="{FF2B5EF4-FFF2-40B4-BE49-F238E27FC236}">
                <a16:creationId xmlns:a16="http://schemas.microsoft.com/office/drawing/2014/main" id="{15461655-71DC-A500-0DF4-CA32AAEB5286}"/>
              </a:ext>
            </a:extLst>
          </p:cNvPr>
          <p:cNvSpPr/>
          <p:nvPr/>
        </p:nvSpPr>
        <p:spPr>
          <a:xfrm>
            <a:off x="502920" y="384048"/>
            <a:ext cx="6492240" cy="210312"/>
          </a:xfrm>
          <a:prstGeom prst="rect">
            <a:avLst/>
          </a:prstGeom>
          <a:noFill/>
          <a:ln/>
        </p:spPr>
        <p:txBody>
          <a:bodyPr wrap="square" lIns="0" tIns="0" rIns="0" bIns="0" rtlCol="0" anchor="ctr"/>
          <a:lstStyle/>
          <a:p>
            <a:pPr marL="0" indent="0">
              <a:buNone/>
            </a:pPr>
            <a:r>
              <a:rPr lang="en-US" sz="920" b="1" kern="0" spc="160" dirty="0">
                <a:solidFill>
                  <a:srgbClr val="38D9E6"/>
                </a:solidFill>
                <a:latin typeface="Inter" pitchFamily="34" charset="0"/>
                <a:ea typeface="Inter" pitchFamily="34" charset="-122"/>
                <a:cs typeface="Inter" pitchFamily="34" charset="-120"/>
              </a:rPr>
              <a:t>COMP4601  •  FINAL PROJECT PRESENTATION  •  KRIA KV260</a:t>
            </a:r>
            <a:endParaRPr lang="en-US" sz="920" dirty="0"/>
          </a:p>
        </p:txBody>
      </p:sp>
      <p:sp>
        <p:nvSpPr>
          <p:cNvPr id="42" name="Text 40">
            <a:extLst>
              <a:ext uri="{FF2B5EF4-FFF2-40B4-BE49-F238E27FC236}">
                <a16:creationId xmlns:a16="http://schemas.microsoft.com/office/drawing/2014/main" id="{D9D7BAAD-56B4-238F-22CC-89BC4AA103D6}"/>
              </a:ext>
            </a:extLst>
          </p:cNvPr>
          <p:cNvSpPr/>
          <p:nvPr/>
        </p:nvSpPr>
        <p:spPr>
          <a:xfrm>
            <a:off x="778499" y="1984249"/>
            <a:ext cx="4980736" cy="1828800"/>
          </a:xfrm>
          <a:prstGeom prst="rect">
            <a:avLst/>
          </a:prstGeom>
          <a:noFill/>
          <a:ln/>
        </p:spPr>
        <p:txBody>
          <a:bodyPr wrap="square" lIns="0" tIns="0" rIns="0" bIns="0" rtlCol="0" anchor="ctr">
            <a:normAutofit fontScale="92500" lnSpcReduction="10000"/>
          </a:bodyPr>
          <a:lstStyle/>
          <a:p>
            <a:pPr marL="0" indent="0">
              <a:buNone/>
            </a:pPr>
            <a:r>
              <a:rPr lang="en-US" sz="4800" b="1" dirty="0">
                <a:solidFill>
                  <a:srgbClr val="F4F8FB"/>
                </a:solidFill>
                <a:latin typeface="Inter Display" pitchFamily="34" charset="0"/>
                <a:ea typeface="Inter Display" pitchFamily="34" charset="-122"/>
                <a:cs typeface="Inter Display" pitchFamily="34" charset="-120"/>
              </a:rPr>
              <a:t>FPGA Acceleration of</a:t>
            </a:r>
            <a:endParaRPr lang="en-US" sz="4800" dirty="0"/>
          </a:p>
          <a:p>
            <a:pPr marL="0" indent="0">
              <a:buNone/>
            </a:pPr>
            <a:r>
              <a:rPr lang="en-US" sz="4800" b="1" dirty="0">
                <a:solidFill>
                  <a:srgbClr val="F4F8FB"/>
                </a:solidFill>
                <a:latin typeface="Inter Display" pitchFamily="34" charset="0"/>
                <a:ea typeface="Inter Display" pitchFamily="34" charset="-122"/>
                <a:cs typeface="Inter Display" pitchFamily="34" charset="-120"/>
              </a:rPr>
              <a:t>JPEG-Style Grayscale</a:t>
            </a:r>
            <a:endParaRPr lang="en-US" sz="4800" dirty="0"/>
          </a:p>
          <a:p>
            <a:pPr marL="0" indent="0">
              <a:buNone/>
            </a:pPr>
            <a:r>
              <a:rPr lang="en-US" sz="4800" b="1" dirty="0">
                <a:solidFill>
                  <a:srgbClr val="F4F8FB"/>
                </a:solidFill>
                <a:latin typeface="Inter Display" pitchFamily="34" charset="0"/>
                <a:ea typeface="Inter Display" pitchFamily="34" charset="-122"/>
                <a:cs typeface="Inter Display" pitchFamily="34" charset="-120"/>
              </a:rPr>
              <a:t>Image Compression</a:t>
            </a:r>
            <a:endParaRPr lang="en-US" sz="4800" dirty="0"/>
          </a:p>
        </p:txBody>
      </p:sp>
      <p:sp>
        <p:nvSpPr>
          <p:cNvPr id="151" name="Shape 149">
            <a:extLst>
              <a:ext uri="{FF2B5EF4-FFF2-40B4-BE49-F238E27FC236}">
                <a16:creationId xmlns:a16="http://schemas.microsoft.com/office/drawing/2014/main" id="{4862B94C-3B7E-7C7A-4A14-14B4DA26351C}"/>
              </a:ext>
            </a:extLst>
          </p:cNvPr>
          <p:cNvSpPr/>
          <p:nvPr/>
        </p:nvSpPr>
        <p:spPr>
          <a:xfrm>
            <a:off x="438912" y="6519672"/>
            <a:ext cx="11064240" cy="0"/>
          </a:xfrm>
          <a:prstGeom prst="line">
            <a:avLst/>
          </a:prstGeom>
          <a:noFill/>
          <a:ln w="10160">
            <a:solidFill>
              <a:srgbClr val="22384E">
                <a:alpha val="70000"/>
              </a:srgbClr>
            </a:solidFill>
            <a:prstDash val="solid"/>
          </a:ln>
        </p:spPr>
        <p:txBody>
          <a:bodyPr/>
          <a:lstStyle/>
          <a:p>
            <a:endParaRPr lang="en-US"/>
          </a:p>
        </p:txBody>
      </p:sp>
      <p:sp>
        <p:nvSpPr>
          <p:cNvPr id="153" name="Slide Number Placeholder 0">
            <a:extLst>
              <a:ext uri="{FF2B5EF4-FFF2-40B4-BE49-F238E27FC236}">
                <a16:creationId xmlns:a16="http://schemas.microsoft.com/office/drawing/2014/main" id="{2C7F5F87-6610-3EC1-4869-52461C863CCD}"/>
              </a:ext>
            </a:extLst>
          </p:cNvPr>
          <p:cNvSpPr>
            <a:spLocks noGrp="1"/>
          </p:cNvSpPr>
          <p:nvPr>
            <p:ph type="sldNum" sz="quarter" idx="4294967295"/>
          </p:nvPr>
        </p:nvSpPr>
        <p:spPr>
          <a:xfrm>
            <a:off x="11430000" y="6473952"/>
            <a:ext cx="438912" cy="164592"/>
          </a:xfrm>
          <a:prstGeom prst="rect">
            <a:avLst/>
          </a:prstGeom>
          <a:extLst>
            <a:ext uri="{C572A759-6A51-4108-AA02-DFA0A04FC94B}">
              <ma14:wrappingTextBoxFlag xmlns="" xmlns:ma14="http://schemas.microsoft.com/office/mac/drawingml/2011/main" val="0"/>
            </a:ext>
          </a:extLst>
        </p:spPr>
        <p:txBody>
          <a:bodyPr/>
          <a:lstStyle>
            <a:lvl1pPr>
              <a:defRPr sz="800">
                <a:solidFill>
                  <a:srgbClr val="7890A4"/>
                </a:solidFill>
                <a:latin typeface="Inter"/>
                <a:ea typeface="Inter"/>
                <a:cs typeface="Inter"/>
              </a:defRPr>
            </a:lvl1pPr>
          </a:lstStyle>
          <a:p>
            <a:pPr algn="r"/>
            <a:fld id="{F7021451-1387-4CA6-816F-3879F97B5CBC}" type="slidenum">
              <a:rPr lang="en-US" b="0"/>
              <a:t>1</a:t>
            </a:fld>
            <a:endParaRPr lang="en-US"/>
          </a:p>
        </p:txBody>
      </p:sp>
      <p:sp>
        <p:nvSpPr>
          <p:cNvPr id="154" name="Shape 46">
            <a:extLst>
              <a:ext uri="{FF2B5EF4-FFF2-40B4-BE49-F238E27FC236}">
                <a16:creationId xmlns:a16="http://schemas.microsoft.com/office/drawing/2014/main" id="{DAD26A3E-F95B-42F3-F07E-DFDA28D1737C}"/>
              </a:ext>
            </a:extLst>
          </p:cNvPr>
          <p:cNvSpPr/>
          <p:nvPr/>
        </p:nvSpPr>
        <p:spPr>
          <a:xfrm>
            <a:off x="7543800" y="1097280"/>
            <a:ext cx="280035" cy="280035"/>
          </a:xfrm>
          <a:prstGeom prst="rect">
            <a:avLst/>
          </a:prstGeom>
          <a:solidFill>
            <a:srgbClr val="232323"/>
          </a:solidFill>
          <a:ln w="3175">
            <a:solidFill>
              <a:srgbClr val="07111F">
                <a:alpha val="45000"/>
              </a:srgbClr>
            </a:solidFill>
            <a:prstDash val="solid"/>
          </a:ln>
        </p:spPr>
        <p:txBody>
          <a:bodyPr/>
          <a:lstStyle/>
          <a:p>
            <a:endParaRPr lang="en-US"/>
          </a:p>
        </p:txBody>
      </p:sp>
      <p:sp>
        <p:nvSpPr>
          <p:cNvPr id="155" name="Shape 47">
            <a:extLst>
              <a:ext uri="{FF2B5EF4-FFF2-40B4-BE49-F238E27FC236}">
                <a16:creationId xmlns:a16="http://schemas.microsoft.com/office/drawing/2014/main" id="{8F9ED1F2-729F-88DB-9FF9-B4724D0CDC74}"/>
              </a:ext>
            </a:extLst>
          </p:cNvPr>
          <p:cNvSpPr/>
          <p:nvPr/>
        </p:nvSpPr>
        <p:spPr>
          <a:xfrm>
            <a:off x="7823835" y="1097280"/>
            <a:ext cx="280035" cy="280035"/>
          </a:xfrm>
          <a:prstGeom prst="rect">
            <a:avLst/>
          </a:prstGeom>
          <a:solidFill>
            <a:srgbClr val="3E3E3E"/>
          </a:solidFill>
          <a:ln w="3175">
            <a:solidFill>
              <a:srgbClr val="07111F">
                <a:alpha val="45000"/>
              </a:srgbClr>
            </a:solidFill>
            <a:prstDash val="solid"/>
          </a:ln>
        </p:spPr>
        <p:txBody>
          <a:bodyPr/>
          <a:lstStyle/>
          <a:p>
            <a:endParaRPr lang="en-US"/>
          </a:p>
        </p:txBody>
      </p:sp>
      <p:sp>
        <p:nvSpPr>
          <p:cNvPr id="156" name="Shape 48">
            <a:extLst>
              <a:ext uri="{FF2B5EF4-FFF2-40B4-BE49-F238E27FC236}">
                <a16:creationId xmlns:a16="http://schemas.microsoft.com/office/drawing/2014/main" id="{9AF41132-BF20-F408-19ED-600D2192DB92}"/>
              </a:ext>
            </a:extLst>
          </p:cNvPr>
          <p:cNvSpPr/>
          <p:nvPr/>
        </p:nvSpPr>
        <p:spPr>
          <a:xfrm>
            <a:off x="8103870" y="1097280"/>
            <a:ext cx="280035" cy="280035"/>
          </a:xfrm>
          <a:prstGeom prst="rect">
            <a:avLst/>
          </a:prstGeom>
          <a:solidFill>
            <a:srgbClr val="595959"/>
          </a:solidFill>
          <a:ln w="3175">
            <a:solidFill>
              <a:srgbClr val="07111F">
                <a:alpha val="45000"/>
              </a:srgbClr>
            </a:solidFill>
            <a:prstDash val="solid"/>
          </a:ln>
        </p:spPr>
        <p:txBody>
          <a:bodyPr/>
          <a:lstStyle/>
          <a:p>
            <a:endParaRPr lang="en-US"/>
          </a:p>
        </p:txBody>
      </p:sp>
      <p:sp>
        <p:nvSpPr>
          <p:cNvPr id="157" name="Shape 49">
            <a:extLst>
              <a:ext uri="{FF2B5EF4-FFF2-40B4-BE49-F238E27FC236}">
                <a16:creationId xmlns:a16="http://schemas.microsoft.com/office/drawing/2014/main" id="{0F607E8C-CEC4-81EE-CC8C-7053AF78D4D5}"/>
              </a:ext>
            </a:extLst>
          </p:cNvPr>
          <p:cNvSpPr/>
          <p:nvPr/>
        </p:nvSpPr>
        <p:spPr>
          <a:xfrm>
            <a:off x="8383905" y="1097280"/>
            <a:ext cx="280035" cy="280035"/>
          </a:xfrm>
          <a:prstGeom prst="rect">
            <a:avLst/>
          </a:prstGeom>
          <a:solidFill>
            <a:srgbClr val="747474"/>
          </a:solidFill>
          <a:ln w="3175">
            <a:solidFill>
              <a:srgbClr val="07111F">
                <a:alpha val="45000"/>
              </a:srgbClr>
            </a:solidFill>
            <a:prstDash val="solid"/>
          </a:ln>
        </p:spPr>
        <p:txBody>
          <a:bodyPr/>
          <a:lstStyle/>
          <a:p>
            <a:endParaRPr lang="en-US"/>
          </a:p>
        </p:txBody>
      </p:sp>
      <p:sp>
        <p:nvSpPr>
          <p:cNvPr id="158" name="Shape 50">
            <a:extLst>
              <a:ext uri="{FF2B5EF4-FFF2-40B4-BE49-F238E27FC236}">
                <a16:creationId xmlns:a16="http://schemas.microsoft.com/office/drawing/2014/main" id="{6224B64A-3F34-92A4-F9D8-0771D7E2C2BE}"/>
              </a:ext>
            </a:extLst>
          </p:cNvPr>
          <p:cNvSpPr/>
          <p:nvPr/>
        </p:nvSpPr>
        <p:spPr>
          <a:xfrm>
            <a:off x="8663940" y="1097280"/>
            <a:ext cx="280035" cy="280035"/>
          </a:xfrm>
          <a:prstGeom prst="rect">
            <a:avLst/>
          </a:prstGeom>
          <a:solidFill>
            <a:srgbClr val="8F8F8F"/>
          </a:solidFill>
          <a:ln w="3175">
            <a:solidFill>
              <a:srgbClr val="07111F">
                <a:alpha val="45000"/>
              </a:srgbClr>
            </a:solidFill>
            <a:prstDash val="solid"/>
          </a:ln>
        </p:spPr>
        <p:txBody>
          <a:bodyPr/>
          <a:lstStyle/>
          <a:p>
            <a:endParaRPr lang="en-US"/>
          </a:p>
        </p:txBody>
      </p:sp>
      <p:sp>
        <p:nvSpPr>
          <p:cNvPr id="159" name="Shape 51">
            <a:extLst>
              <a:ext uri="{FF2B5EF4-FFF2-40B4-BE49-F238E27FC236}">
                <a16:creationId xmlns:a16="http://schemas.microsoft.com/office/drawing/2014/main" id="{8330CBE2-78D2-368E-74D8-A9E95C4754EB}"/>
              </a:ext>
            </a:extLst>
          </p:cNvPr>
          <p:cNvSpPr/>
          <p:nvPr/>
        </p:nvSpPr>
        <p:spPr>
          <a:xfrm>
            <a:off x="8943975" y="1097280"/>
            <a:ext cx="280035" cy="280035"/>
          </a:xfrm>
          <a:prstGeom prst="rect">
            <a:avLst/>
          </a:prstGeom>
          <a:solidFill>
            <a:srgbClr val="AAAAAA"/>
          </a:solidFill>
          <a:ln w="3175">
            <a:solidFill>
              <a:srgbClr val="07111F">
                <a:alpha val="45000"/>
              </a:srgbClr>
            </a:solidFill>
            <a:prstDash val="solid"/>
          </a:ln>
        </p:spPr>
        <p:txBody>
          <a:bodyPr/>
          <a:lstStyle/>
          <a:p>
            <a:endParaRPr lang="en-US"/>
          </a:p>
        </p:txBody>
      </p:sp>
      <p:sp>
        <p:nvSpPr>
          <p:cNvPr id="160" name="Shape 52">
            <a:extLst>
              <a:ext uri="{FF2B5EF4-FFF2-40B4-BE49-F238E27FC236}">
                <a16:creationId xmlns:a16="http://schemas.microsoft.com/office/drawing/2014/main" id="{6E995F76-FB26-B6F3-7696-2121808E0035}"/>
              </a:ext>
            </a:extLst>
          </p:cNvPr>
          <p:cNvSpPr/>
          <p:nvPr/>
        </p:nvSpPr>
        <p:spPr>
          <a:xfrm>
            <a:off x="9224010" y="1097280"/>
            <a:ext cx="280035" cy="280035"/>
          </a:xfrm>
          <a:prstGeom prst="rect">
            <a:avLst/>
          </a:prstGeom>
          <a:solidFill>
            <a:srgbClr val="C5C5C5"/>
          </a:solidFill>
          <a:ln w="3175">
            <a:solidFill>
              <a:srgbClr val="07111F">
                <a:alpha val="45000"/>
              </a:srgbClr>
            </a:solidFill>
            <a:prstDash val="solid"/>
          </a:ln>
        </p:spPr>
        <p:txBody>
          <a:bodyPr/>
          <a:lstStyle/>
          <a:p>
            <a:endParaRPr lang="en-US"/>
          </a:p>
        </p:txBody>
      </p:sp>
      <p:sp>
        <p:nvSpPr>
          <p:cNvPr id="161" name="Shape 53">
            <a:extLst>
              <a:ext uri="{FF2B5EF4-FFF2-40B4-BE49-F238E27FC236}">
                <a16:creationId xmlns:a16="http://schemas.microsoft.com/office/drawing/2014/main" id="{38E5397F-0152-2B11-957D-AAE39C015C7E}"/>
              </a:ext>
            </a:extLst>
          </p:cNvPr>
          <p:cNvSpPr/>
          <p:nvPr/>
        </p:nvSpPr>
        <p:spPr>
          <a:xfrm>
            <a:off x="9504045" y="1097280"/>
            <a:ext cx="280035" cy="280035"/>
          </a:xfrm>
          <a:prstGeom prst="rect">
            <a:avLst/>
          </a:prstGeom>
          <a:solidFill>
            <a:srgbClr val="E0E0E0"/>
          </a:solidFill>
          <a:ln w="3175">
            <a:solidFill>
              <a:srgbClr val="07111F">
                <a:alpha val="45000"/>
              </a:srgbClr>
            </a:solidFill>
            <a:prstDash val="solid"/>
          </a:ln>
        </p:spPr>
        <p:txBody>
          <a:bodyPr/>
          <a:lstStyle/>
          <a:p>
            <a:endParaRPr lang="en-US"/>
          </a:p>
        </p:txBody>
      </p:sp>
      <p:sp>
        <p:nvSpPr>
          <p:cNvPr id="162" name="Shape 54">
            <a:extLst>
              <a:ext uri="{FF2B5EF4-FFF2-40B4-BE49-F238E27FC236}">
                <a16:creationId xmlns:a16="http://schemas.microsoft.com/office/drawing/2014/main" id="{36079B52-A39B-C340-0B76-C1ADB4B36E1F}"/>
              </a:ext>
            </a:extLst>
          </p:cNvPr>
          <p:cNvSpPr/>
          <p:nvPr/>
        </p:nvSpPr>
        <p:spPr>
          <a:xfrm>
            <a:off x="7543800" y="1377315"/>
            <a:ext cx="280035" cy="280035"/>
          </a:xfrm>
          <a:prstGeom prst="rect">
            <a:avLst/>
          </a:prstGeom>
          <a:solidFill>
            <a:srgbClr val="363636"/>
          </a:solidFill>
          <a:ln w="3175">
            <a:solidFill>
              <a:srgbClr val="07111F">
                <a:alpha val="45000"/>
              </a:srgbClr>
            </a:solidFill>
            <a:prstDash val="solid"/>
          </a:ln>
        </p:spPr>
        <p:txBody>
          <a:bodyPr/>
          <a:lstStyle/>
          <a:p>
            <a:endParaRPr lang="en-US"/>
          </a:p>
        </p:txBody>
      </p:sp>
      <p:sp>
        <p:nvSpPr>
          <p:cNvPr id="163" name="Shape 55">
            <a:extLst>
              <a:ext uri="{FF2B5EF4-FFF2-40B4-BE49-F238E27FC236}">
                <a16:creationId xmlns:a16="http://schemas.microsoft.com/office/drawing/2014/main" id="{EAB3E50C-DF1C-E48E-7580-5C5861B56100}"/>
              </a:ext>
            </a:extLst>
          </p:cNvPr>
          <p:cNvSpPr/>
          <p:nvPr/>
        </p:nvSpPr>
        <p:spPr>
          <a:xfrm>
            <a:off x="7823835" y="1377315"/>
            <a:ext cx="280035" cy="280035"/>
          </a:xfrm>
          <a:prstGeom prst="rect">
            <a:avLst/>
          </a:prstGeom>
          <a:solidFill>
            <a:srgbClr val="585858"/>
          </a:solidFill>
          <a:ln w="3175">
            <a:solidFill>
              <a:srgbClr val="07111F">
                <a:alpha val="45000"/>
              </a:srgbClr>
            </a:solidFill>
            <a:prstDash val="solid"/>
          </a:ln>
        </p:spPr>
        <p:txBody>
          <a:bodyPr/>
          <a:lstStyle/>
          <a:p>
            <a:endParaRPr lang="en-US"/>
          </a:p>
        </p:txBody>
      </p:sp>
      <p:sp>
        <p:nvSpPr>
          <p:cNvPr id="164" name="Shape 56">
            <a:extLst>
              <a:ext uri="{FF2B5EF4-FFF2-40B4-BE49-F238E27FC236}">
                <a16:creationId xmlns:a16="http://schemas.microsoft.com/office/drawing/2014/main" id="{54DAFC21-6F17-501A-FF3F-28AB28963ADB}"/>
              </a:ext>
            </a:extLst>
          </p:cNvPr>
          <p:cNvSpPr/>
          <p:nvPr/>
        </p:nvSpPr>
        <p:spPr>
          <a:xfrm>
            <a:off x="8103870" y="1377315"/>
            <a:ext cx="280035" cy="280035"/>
          </a:xfrm>
          <a:prstGeom prst="rect">
            <a:avLst/>
          </a:prstGeom>
          <a:solidFill>
            <a:srgbClr val="7A7A7A"/>
          </a:solidFill>
          <a:ln w="3175">
            <a:solidFill>
              <a:srgbClr val="07111F">
                <a:alpha val="45000"/>
              </a:srgbClr>
            </a:solidFill>
            <a:prstDash val="solid"/>
          </a:ln>
        </p:spPr>
        <p:txBody>
          <a:bodyPr/>
          <a:lstStyle/>
          <a:p>
            <a:endParaRPr lang="en-US"/>
          </a:p>
        </p:txBody>
      </p:sp>
      <p:sp>
        <p:nvSpPr>
          <p:cNvPr id="165" name="Shape 57">
            <a:extLst>
              <a:ext uri="{FF2B5EF4-FFF2-40B4-BE49-F238E27FC236}">
                <a16:creationId xmlns:a16="http://schemas.microsoft.com/office/drawing/2014/main" id="{9E5B7545-31A1-578A-22BA-C313D95F3F18}"/>
              </a:ext>
            </a:extLst>
          </p:cNvPr>
          <p:cNvSpPr/>
          <p:nvPr/>
        </p:nvSpPr>
        <p:spPr>
          <a:xfrm>
            <a:off x="8383905" y="1377315"/>
            <a:ext cx="280035" cy="280035"/>
          </a:xfrm>
          <a:prstGeom prst="rect">
            <a:avLst/>
          </a:prstGeom>
          <a:solidFill>
            <a:srgbClr val="9C9C9C"/>
          </a:solidFill>
          <a:ln w="3175">
            <a:solidFill>
              <a:srgbClr val="07111F">
                <a:alpha val="45000"/>
              </a:srgbClr>
            </a:solidFill>
            <a:prstDash val="solid"/>
          </a:ln>
        </p:spPr>
        <p:txBody>
          <a:bodyPr/>
          <a:lstStyle/>
          <a:p>
            <a:endParaRPr lang="en-US"/>
          </a:p>
        </p:txBody>
      </p:sp>
      <p:sp>
        <p:nvSpPr>
          <p:cNvPr id="166" name="Shape 58">
            <a:extLst>
              <a:ext uri="{FF2B5EF4-FFF2-40B4-BE49-F238E27FC236}">
                <a16:creationId xmlns:a16="http://schemas.microsoft.com/office/drawing/2014/main" id="{372B5BC3-369C-F394-7070-C0553DC36CDB}"/>
              </a:ext>
            </a:extLst>
          </p:cNvPr>
          <p:cNvSpPr/>
          <p:nvPr/>
        </p:nvSpPr>
        <p:spPr>
          <a:xfrm>
            <a:off x="8663940" y="1377315"/>
            <a:ext cx="280035" cy="280035"/>
          </a:xfrm>
          <a:prstGeom prst="rect">
            <a:avLst/>
          </a:prstGeom>
          <a:solidFill>
            <a:srgbClr val="BEBEBE"/>
          </a:solidFill>
          <a:ln w="3175">
            <a:solidFill>
              <a:srgbClr val="07111F">
                <a:alpha val="45000"/>
              </a:srgbClr>
            </a:solidFill>
            <a:prstDash val="solid"/>
          </a:ln>
        </p:spPr>
        <p:txBody>
          <a:bodyPr/>
          <a:lstStyle/>
          <a:p>
            <a:endParaRPr lang="en-US"/>
          </a:p>
        </p:txBody>
      </p:sp>
      <p:sp>
        <p:nvSpPr>
          <p:cNvPr id="167" name="Shape 59">
            <a:extLst>
              <a:ext uri="{FF2B5EF4-FFF2-40B4-BE49-F238E27FC236}">
                <a16:creationId xmlns:a16="http://schemas.microsoft.com/office/drawing/2014/main" id="{E3109C26-C2B9-9F60-8E28-2127125B114B}"/>
              </a:ext>
            </a:extLst>
          </p:cNvPr>
          <p:cNvSpPr/>
          <p:nvPr/>
        </p:nvSpPr>
        <p:spPr>
          <a:xfrm>
            <a:off x="8943975" y="1377315"/>
            <a:ext cx="280035" cy="280035"/>
          </a:xfrm>
          <a:prstGeom prst="rect">
            <a:avLst/>
          </a:prstGeom>
          <a:solidFill>
            <a:srgbClr val="E0E0E0"/>
          </a:solidFill>
          <a:ln w="3175">
            <a:solidFill>
              <a:srgbClr val="07111F">
                <a:alpha val="45000"/>
              </a:srgbClr>
            </a:solidFill>
            <a:prstDash val="solid"/>
          </a:ln>
        </p:spPr>
        <p:txBody>
          <a:bodyPr/>
          <a:lstStyle/>
          <a:p>
            <a:endParaRPr lang="en-US"/>
          </a:p>
        </p:txBody>
      </p:sp>
      <p:sp>
        <p:nvSpPr>
          <p:cNvPr id="168" name="Shape 60">
            <a:extLst>
              <a:ext uri="{FF2B5EF4-FFF2-40B4-BE49-F238E27FC236}">
                <a16:creationId xmlns:a16="http://schemas.microsoft.com/office/drawing/2014/main" id="{D0390491-F008-EEEE-2E0A-4560F821487B}"/>
              </a:ext>
            </a:extLst>
          </p:cNvPr>
          <p:cNvSpPr/>
          <p:nvPr/>
        </p:nvSpPr>
        <p:spPr>
          <a:xfrm>
            <a:off x="9224010" y="1377315"/>
            <a:ext cx="280035" cy="280035"/>
          </a:xfrm>
          <a:prstGeom prst="rect">
            <a:avLst/>
          </a:prstGeom>
          <a:solidFill>
            <a:srgbClr val="EBEBEB"/>
          </a:solidFill>
          <a:ln w="3175">
            <a:solidFill>
              <a:srgbClr val="07111F">
                <a:alpha val="45000"/>
              </a:srgbClr>
            </a:solidFill>
            <a:prstDash val="solid"/>
          </a:ln>
        </p:spPr>
        <p:txBody>
          <a:bodyPr/>
          <a:lstStyle/>
          <a:p>
            <a:endParaRPr lang="en-US"/>
          </a:p>
        </p:txBody>
      </p:sp>
      <p:sp>
        <p:nvSpPr>
          <p:cNvPr id="169" name="Shape 61">
            <a:extLst>
              <a:ext uri="{FF2B5EF4-FFF2-40B4-BE49-F238E27FC236}">
                <a16:creationId xmlns:a16="http://schemas.microsoft.com/office/drawing/2014/main" id="{885BE294-B91E-8019-6D76-D6A9046ED579}"/>
              </a:ext>
            </a:extLst>
          </p:cNvPr>
          <p:cNvSpPr/>
          <p:nvPr/>
        </p:nvSpPr>
        <p:spPr>
          <a:xfrm>
            <a:off x="9504045" y="1377315"/>
            <a:ext cx="280035" cy="280035"/>
          </a:xfrm>
          <a:prstGeom prst="rect">
            <a:avLst/>
          </a:prstGeom>
          <a:solidFill>
            <a:srgbClr val="252525"/>
          </a:solidFill>
          <a:ln w="3175">
            <a:solidFill>
              <a:srgbClr val="07111F">
                <a:alpha val="45000"/>
              </a:srgbClr>
            </a:solidFill>
            <a:prstDash val="solid"/>
          </a:ln>
        </p:spPr>
        <p:txBody>
          <a:bodyPr/>
          <a:lstStyle/>
          <a:p>
            <a:endParaRPr lang="en-US"/>
          </a:p>
        </p:txBody>
      </p:sp>
      <p:sp>
        <p:nvSpPr>
          <p:cNvPr id="170" name="Shape 62">
            <a:extLst>
              <a:ext uri="{FF2B5EF4-FFF2-40B4-BE49-F238E27FC236}">
                <a16:creationId xmlns:a16="http://schemas.microsoft.com/office/drawing/2014/main" id="{9F1108C2-EDEF-A45E-FFE9-D04BD6E6C54F}"/>
              </a:ext>
            </a:extLst>
          </p:cNvPr>
          <p:cNvSpPr/>
          <p:nvPr/>
        </p:nvSpPr>
        <p:spPr>
          <a:xfrm>
            <a:off x="7543800" y="1657350"/>
            <a:ext cx="280035" cy="280035"/>
          </a:xfrm>
          <a:prstGeom prst="rect">
            <a:avLst/>
          </a:prstGeom>
          <a:solidFill>
            <a:srgbClr val="494949"/>
          </a:solidFill>
          <a:ln w="3175">
            <a:solidFill>
              <a:srgbClr val="07111F">
                <a:alpha val="45000"/>
              </a:srgbClr>
            </a:solidFill>
            <a:prstDash val="solid"/>
          </a:ln>
        </p:spPr>
        <p:txBody>
          <a:bodyPr/>
          <a:lstStyle/>
          <a:p>
            <a:endParaRPr lang="en-US"/>
          </a:p>
        </p:txBody>
      </p:sp>
      <p:sp>
        <p:nvSpPr>
          <p:cNvPr id="171" name="Shape 63">
            <a:extLst>
              <a:ext uri="{FF2B5EF4-FFF2-40B4-BE49-F238E27FC236}">
                <a16:creationId xmlns:a16="http://schemas.microsoft.com/office/drawing/2014/main" id="{3CE03117-C080-97D5-A760-ECE76A6576AA}"/>
              </a:ext>
            </a:extLst>
          </p:cNvPr>
          <p:cNvSpPr/>
          <p:nvPr/>
        </p:nvSpPr>
        <p:spPr>
          <a:xfrm>
            <a:off x="7823835" y="1657350"/>
            <a:ext cx="280035" cy="280035"/>
          </a:xfrm>
          <a:prstGeom prst="rect">
            <a:avLst/>
          </a:prstGeom>
          <a:solidFill>
            <a:srgbClr val="727272"/>
          </a:solidFill>
          <a:ln w="3175">
            <a:solidFill>
              <a:srgbClr val="07111F">
                <a:alpha val="45000"/>
              </a:srgbClr>
            </a:solidFill>
            <a:prstDash val="solid"/>
          </a:ln>
        </p:spPr>
        <p:txBody>
          <a:bodyPr/>
          <a:lstStyle/>
          <a:p>
            <a:endParaRPr lang="en-US"/>
          </a:p>
        </p:txBody>
      </p:sp>
      <p:sp>
        <p:nvSpPr>
          <p:cNvPr id="172" name="Shape 64">
            <a:extLst>
              <a:ext uri="{FF2B5EF4-FFF2-40B4-BE49-F238E27FC236}">
                <a16:creationId xmlns:a16="http://schemas.microsoft.com/office/drawing/2014/main" id="{E8699353-1447-B8D6-1AC2-F5401A830063}"/>
              </a:ext>
            </a:extLst>
          </p:cNvPr>
          <p:cNvSpPr/>
          <p:nvPr/>
        </p:nvSpPr>
        <p:spPr>
          <a:xfrm>
            <a:off x="8103870" y="1657350"/>
            <a:ext cx="280035" cy="280035"/>
          </a:xfrm>
          <a:prstGeom prst="rect">
            <a:avLst/>
          </a:prstGeom>
          <a:solidFill>
            <a:srgbClr val="9B9B9B"/>
          </a:solidFill>
          <a:ln w="3175">
            <a:solidFill>
              <a:srgbClr val="07111F">
                <a:alpha val="45000"/>
              </a:srgbClr>
            </a:solidFill>
            <a:prstDash val="solid"/>
          </a:ln>
        </p:spPr>
        <p:txBody>
          <a:bodyPr/>
          <a:lstStyle/>
          <a:p>
            <a:endParaRPr lang="en-US"/>
          </a:p>
        </p:txBody>
      </p:sp>
      <p:sp>
        <p:nvSpPr>
          <p:cNvPr id="173" name="Shape 65">
            <a:extLst>
              <a:ext uri="{FF2B5EF4-FFF2-40B4-BE49-F238E27FC236}">
                <a16:creationId xmlns:a16="http://schemas.microsoft.com/office/drawing/2014/main" id="{682E9FE1-4983-5CF4-520D-0E3D5F52B204}"/>
              </a:ext>
            </a:extLst>
          </p:cNvPr>
          <p:cNvSpPr/>
          <p:nvPr/>
        </p:nvSpPr>
        <p:spPr>
          <a:xfrm>
            <a:off x="8383905" y="1657350"/>
            <a:ext cx="280035" cy="280035"/>
          </a:xfrm>
          <a:prstGeom prst="rect">
            <a:avLst/>
          </a:prstGeom>
          <a:solidFill>
            <a:srgbClr val="C4C4C4"/>
          </a:solidFill>
          <a:ln w="3175">
            <a:solidFill>
              <a:srgbClr val="07111F">
                <a:alpha val="45000"/>
              </a:srgbClr>
            </a:solidFill>
            <a:prstDash val="solid"/>
          </a:ln>
        </p:spPr>
        <p:txBody>
          <a:bodyPr/>
          <a:lstStyle/>
          <a:p>
            <a:endParaRPr lang="en-US"/>
          </a:p>
        </p:txBody>
      </p:sp>
      <p:sp>
        <p:nvSpPr>
          <p:cNvPr id="174" name="Shape 66">
            <a:extLst>
              <a:ext uri="{FF2B5EF4-FFF2-40B4-BE49-F238E27FC236}">
                <a16:creationId xmlns:a16="http://schemas.microsoft.com/office/drawing/2014/main" id="{85AF2181-900B-6541-4122-A9FF4FEA8946}"/>
              </a:ext>
            </a:extLst>
          </p:cNvPr>
          <p:cNvSpPr/>
          <p:nvPr/>
        </p:nvSpPr>
        <p:spPr>
          <a:xfrm>
            <a:off x="8663940" y="1657350"/>
            <a:ext cx="280035" cy="280035"/>
          </a:xfrm>
          <a:prstGeom prst="rect">
            <a:avLst/>
          </a:prstGeom>
          <a:solidFill>
            <a:srgbClr val="EBEBEB"/>
          </a:solidFill>
          <a:ln w="3175">
            <a:solidFill>
              <a:srgbClr val="07111F">
                <a:alpha val="45000"/>
              </a:srgbClr>
            </a:solidFill>
            <a:prstDash val="solid"/>
          </a:ln>
        </p:spPr>
        <p:txBody>
          <a:bodyPr/>
          <a:lstStyle/>
          <a:p>
            <a:endParaRPr lang="en-US"/>
          </a:p>
        </p:txBody>
      </p:sp>
      <p:sp>
        <p:nvSpPr>
          <p:cNvPr id="175" name="Shape 67">
            <a:extLst>
              <a:ext uri="{FF2B5EF4-FFF2-40B4-BE49-F238E27FC236}">
                <a16:creationId xmlns:a16="http://schemas.microsoft.com/office/drawing/2014/main" id="{C91FE2BE-FE86-9A6A-084D-DF2C0069047F}"/>
              </a:ext>
            </a:extLst>
          </p:cNvPr>
          <p:cNvSpPr/>
          <p:nvPr/>
        </p:nvSpPr>
        <p:spPr>
          <a:xfrm>
            <a:off x="8943975" y="1657350"/>
            <a:ext cx="280035" cy="280035"/>
          </a:xfrm>
          <a:prstGeom prst="rect">
            <a:avLst/>
          </a:prstGeom>
          <a:solidFill>
            <a:srgbClr val="EBEBEB"/>
          </a:solidFill>
          <a:ln w="3175">
            <a:solidFill>
              <a:srgbClr val="07111F">
                <a:alpha val="45000"/>
              </a:srgbClr>
            </a:solidFill>
            <a:prstDash val="solid"/>
          </a:ln>
        </p:spPr>
        <p:txBody>
          <a:bodyPr/>
          <a:lstStyle/>
          <a:p>
            <a:endParaRPr lang="en-US"/>
          </a:p>
        </p:txBody>
      </p:sp>
      <p:sp>
        <p:nvSpPr>
          <p:cNvPr id="176" name="Shape 68">
            <a:extLst>
              <a:ext uri="{FF2B5EF4-FFF2-40B4-BE49-F238E27FC236}">
                <a16:creationId xmlns:a16="http://schemas.microsoft.com/office/drawing/2014/main" id="{1738794B-AA6C-DC4B-DE3C-4D026B81C4B0}"/>
              </a:ext>
            </a:extLst>
          </p:cNvPr>
          <p:cNvSpPr/>
          <p:nvPr/>
        </p:nvSpPr>
        <p:spPr>
          <a:xfrm>
            <a:off x="9224010" y="1657350"/>
            <a:ext cx="280035" cy="280035"/>
          </a:xfrm>
          <a:prstGeom prst="rect">
            <a:avLst/>
          </a:prstGeom>
          <a:solidFill>
            <a:srgbClr val="404040"/>
          </a:solidFill>
          <a:ln w="3175">
            <a:solidFill>
              <a:srgbClr val="07111F">
                <a:alpha val="45000"/>
              </a:srgbClr>
            </a:solidFill>
            <a:prstDash val="solid"/>
          </a:ln>
        </p:spPr>
        <p:txBody>
          <a:bodyPr/>
          <a:lstStyle/>
          <a:p>
            <a:endParaRPr lang="en-US"/>
          </a:p>
        </p:txBody>
      </p:sp>
      <p:sp>
        <p:nvSpPr>
          <p:cNvPr id="177" name="Shape 69">
            <a:extLst>
              <a:ext uri="{FF2B5EF4-FFF2-40B4-BE49-F238E27FC236}">
                <a16:creationId xmlns:a16="http://schemas.microsoft.com/office/drawing/2014/main" id="{C395B7C5-4531-0826-80FE-D24479DD92D0}"/>
              </a:ext>
            </a:extLst>
          </p:cNvPr>
          <p:cNvSpPr/>
          <p:nvPr/>
        </p:nvSpPr>
        <p:spPr>
          <a:xfrm>
            <a:off x="9504045" y="1657350"/>
            <a:ext cx="280035" cy="280035"/>
          </a:xfrm>
          <a:prstGeom prst="rect">
            <a:avLst/>
          </a:prstGeom>
          <a:solidFill>
            <a:srgbClr val="696969"/>
          </a:solidFill>
          <a:ln w="3175">
            <a:solidFill>
              <a:srgbClr val="07111F">
                <a:alpha val="45000"/>
              </a:srgbClr>
            </a:solidFill>
            <a:prstDash val="solid"/>
          </a:ln>
        </p:spPr>
        <p:txBody>
          <a:bodyPr/>
          <a:lstStyle/>
          <a:p>
            <a:endParaRPr lang="en-US"/>
          </a:p>
        </p:txBody>
      </p:sp>
      <p:sp>
        <p:nvSpPr>
          <p:cNvPr id="178" name="Shape 70">
            <a:extLst>
              <a:ext uri="{FF2B5EF4-FFF2-40B4-BE49-F238E27FC236}">
                <a16:creationId xmlns:a16="http://schemas.microsoft.com/office/drawing/2014/main" id="{0731D73F-53C3-0BCD-4B9B-869B329CCFA7}"/>
              </a:ext>
            </a:extLst>
          </p:cNvPr>
          <p:cNvSpPr/>
          <p:nvPr/>
        </p:nvSpPr>
        <p:spPr>
          <a:xfrm>
            <a:off x="7543800" y="1937385"/>
            <a:ext cx="280035" cy="280035"/>
          </a:xfrm>
          <a:prstGeom prst="rect">
            <a:avLst/>
          </a:prstGeom>
          <a:solidFill>
            <a:srgbClr val="5C5C5C"/>
          </a:solidFill>
          <a:ln w="3175">
            <a:solidFill>
              <a:srgbClr val="07111F">
                <a:alpha val="45000"/>
              </a:srgbClr>
            </a:solidFill>
            <a:prstDash val="solid"/>
          </a:ln>
        </p:spPr>
        <p:txBody>
          <a:bodyPr/>
          <a:lstStyle/>
          <a:p>
            <a:endParaRPr lang="en-US"/>
          </a:p>
        </p:txBody>
      </p:sp>
      <p:sp>
        <p:nvSpPr>
          <p:cNvPr id="179" name="Shape 71">
            <a:extLst>
              <a:ext uri="{FF2B5EF4-FFF2-40B4-BE49-F238E27FC236}">
                <a16:creationId xmlns:a16="http://schemas.microsoft.com/office/drawing/2014/main" id="{8E42DE35-32F2-A8EC-FED6-F4D914101EE1}"/>
              </a:ext>
            </a:extLst>
          </p:cNvPr>
          <p:cNvSpPr/>
          <p:nvPr/>
        </p:nvSpPr>
        <p:spPr>
          <a:xfrm>
            <a:off x="7823835" y="1937385"/>
            <a:ext cx="280035" cy="280035"/>
          </a:xfrm>
          <a:prstGeom prst="rect">
            <a:avLst/>
          </a:prstGeom>
          <a:solidFill>
            <a:srgbClr val="8C8C8C"/>
          </a:solidFill>
          <a:ln w="3175">
            <a:solidFill>
              <a:srgbClr val="07111F">
                <a:alpha val="45000"/>
              </a:srgbClr>
            </a:solidFill>
            <a:prstDash val="solid"/>
          </a:ln>
        </p:spPr>
        <p:txBody>
          <a:bodyPr/>
          <a:lstStyle/>
          <a:p>
            <a:endParaRPr lang="en-US"/>
          </a:p>
        </p:txBody>
      </p:sp>
      <p:sp>
        <p:nvSpPr>
          <p:cNvPr id="180" name="Shape 72">
            <a:extLst>
              <a:ext uri="{FF2B5EF4-FFF2-40B4-BE49-F238E27FC236}">
                <a16:creationId xmlns:a16="http://schemas.microsoft.com/office/drawing/2014/main" id="{F9EA958B-5C09-5988-23D8-D635A1717A0F}"/>
              </a:ext>
            </a:extLst>
          </p:cNvPr>
          <p:cNvSpPr/>
          <p:nvPr/>
        </p:nvSpPr>
        <p:spPr>
          <a:xfrm>
            <a:off x="8103870" y="1937385"/>
            <a:ext cx="280035" cy="280035"/>
          </a:xfrm>
          <a:prstGeom prst="rect">
            <a:avLst/>
          </a:prstGeom>
          <a:solidFill>
            <a:srgbClr val="BCBCBC"/>
          </a:solidFill>
          <a:ln w="3175">
            <a:solidFill>
              <a:srgbClr val="07111F">
                <a:alpha val="45000"/>
              </a:srgbClr>
            </a:solidFill>
            <a:prstDash val="solid"/>
          </a:ln>
        </p:spPr>
        <p:txBody>
          <a:bodyPr/>
          <a:lstStyle/>
          <a:p>
            <a:endParaRPr lang="en-US"/>
          </a:p>
        </p:txBody>
      </p:sp>
      <p:sp>
        <p:nvSpPr>
          <p:cNvPr id="181" name="Shape 73">
            <a:extLst>
              <a:ext uri="{FF2B5EF4-FFF2-40B4-BE49-F238E27FC236}">
                <a16:creationId xmlns:a16="http://schemas.microsoft.com/office/drawing/2014/main" id="{EFEE1E5D-2ACD-C01B-50A5-9416C363510F}"/>
              </a:ext>
            </a:extLst>
          </p:cNvPr>
          <p:cNvSpPr/>
          <p:nvPr/>
        </p:nvSpPr>
        <p:spPr>
          <a:xfrm>
            <a:off x="8383905" y="1937385"/>
            <a:ext cx="280035" cy="280035"/>
          </a:xfrm>
          <a:prstGeom prst="rect">
            <a:avLst/>
          </a:prstGeom>
          <a:solidFill>
            <a:srgbClr val="EBEBEB"/>
          </a:solidFill>
          <a:ln w="3175">
            <a:solidFill>
              <a:srgbClr val="07111F">
                <a:alpha val="45000"/>
              </a:srgbClr>
            </a:solidFill>
            <a:prstDash val="solid"/>
          </a:ln>
        </p:spPr>
        <p:txBody>
          <a:bodyPr/>
          <a:lstStyle/>
          <a:p>
            <a:endParaRPr lang="en-US"/>
          </a:p>
        </p:txBody>
      </p:sp>
      <p:sp>
        <p:nvSpPr>
          <p:cNvPr id="182" name="Shape 74">
            <a:extLst>
              <a:ext uri="{FF2B5EF4-FFF2-40B4-BE49-F238E27FC236}">
                <a16:creationId xmlns:a16="http://schemas.microsoft.com/office/drawing/2014/main" id="{09FAEAFF-3698-A6EA-8C99-2BDB56B8A58E}"/>
              </a:ext>
            </a:extLst>
          </p:cNvPr>
          <p:cNvSpPr/>
          <p:nvPr/>
        </p:nvSpPr>
        <p:spPr>
          <a:xfrm>
            <a:off x="8663940" y="1937385"/>
            <a:ext cx="280035" cy="280035"/>
          </a:xfrm>
          <a:prstGeom prst="rect">
            <a:avLst/>
          </a:prstGeom>
          <a:solidFill>
            <a:srgbClr val="EBEBEB"/>
          </a:solidFill>
          <a:ln w="3175">
            <a:solidFill>
              <a:srgbClr val="07111F">
                <a:alpha val="45000"/>
              </a:srgbClr>
            </a:solidFill>
            <a:prstDash val="solid"/>
          </a:ln>
        </p:spPr>
        <p:txBody>
          <a:bodyPr/>
          <a:lstStyle/>
          <a:p>
            <a:endParaRPr lang="en-US"/>
          </a:p>
        </p:txBody>
      </p:sp>
      <p:sp>
        <p:nvSpPr>
          <p:cNvPr id="183" name="Shape 75">
            <a:extLst>
              <a:ext uri="{FF2B5EF4-FFF2-40B4-BE49-F238E27FC236}">
                <a16:creationId xmlns:a16="http://schemas.microsoft.com/office/drawing/2014/main" id="{AA61EF41-E543-9CCA-ADD4-9B627FEDC8B1}"/>
              </a:ext>
            </a:extLst>
          </p:cNvPr>
          <p:cNvSpPr/>
          <p:nvPr/>
        </p:nvSpPr>
        <p:spPr>
          <a:xfrm>
            <a:off x="8943975" y="1937385"/>
            <a:ext cx="280035" cy="280035"/>
          </a:xfrm>
          <a:prstGeom prst="rect">
            <a:avLst/>
          </a:prstGeom>
          <a:solidFill>
            <a:srgbClr val="4D4D4D"/>
          </a:solidFill>
          <a:ln w="3175">
            <a:solidFill>
              <a:srgbClr val="07111F">
                <a:alpha val="45000"/>
              </a:srgbClr>
            </a:solidFill>
            <a:prstDash val="solid"/>
          </a:ln>
        </p:spPr>
        <p:txBody>
          <a:bodyPr/>
          <a:lstStyle/>
          <a:p>
            <a:endParaRPr lang="en-US"/>
          </a:p>
        </p:txBody>
      </p:sp>
      <p:sp>
        <p:nvSpPr>
          <p:cNvPr id="184" name="Shape 76">
            <a:extLst>
              <a:ext uri="{FF2B5EF4-FFF2-40B4-BE49-F238E27FC236}">
                <a16:creationId xmlns:a16="http://schemas.microsoft.com/office/drawing/2014/main" id="{4A07D949-7CE8-F3B2-0C86-FA27F69BA404}"/>
              </a:ext>
            </a:extLst>
          </p:cNvPr>
          <p:cNvSpPr/>
          <p:nvPr/>
        </p:nvSpPr>
        <p:spPr>
          <a:xfrm>
            <a:off x="9224010" y="1937385"/>
            <a:ext cx="280035" cy="280035"/>
          </a:xfrm>
          <a:prstGeom prst="rect">
            <a:avLst/>
          </a:prstGeom>
          <a:solidFill>
            <a:srgbClr val="7D7D7D"/>
          </a:solidFill>
          <a:ln w="3175">
            <a:solidFill>
              <a:srgbClr val="07111F">
                <a:alpha val="45000"/>
              </a:srgbClr>
            </a:solidFill>
            <a:prstDash val="solid"/>
          </a:ln>
        </p:spPr>
        <p:txBody>
          <a:bodyPr/>
          <a:lstStyle/>
          <a:p>
            <a:endParaRPr lang="en-US"/>
          </a:p>
        </p:txBody>
      </p:sp>
      <p:sp>
        <p:nvSpPr>
          <p:cNvPr id="185" name="Shape 77">
            <a:extLst>
              <a:ext uri="{FF2B5EF4-FFF2-40B4-BE49-F238E27FC236}">
                <a16:creationId xmlns:a16="http://schemas.microsoft.com/office/drawing/2014/main" id="{1C007A33-74D7-7E90-C46E-56BE96223483}"/>
              </a:ext>
            </a:extLst>
          </p:cNvPr>
          <p:cNvSpPr/>
          <p:nvPr/>
        </p:nvSpPr>
        <p:spPr>
          <a:xfrm>
            <a:off x="9504045" y="1937385"/>
            <a:ext cx="280035" cy="280035"/>
          </a:xfrm>
          <a:prstGeom prst="rect">
            <a:avLst/>
          </a:prstGeom>
          <a:solidFill>
            <a:srgbClr val="ADADAD"/>
          </a:solidFill>
          <a:ln w="3175">
            <a:solidFill>
              <a:srgbClr val="07111F">
                <a:alpha val="45000"/>
              </a:srgbClr>
            </a:solidFill>
            <a:prstDash val="solid"/>
          </a:ln>
        </p:spPr>
        <p:txBody>
          <a:bodyPr/>
          <a:lstStyle/>
          <a:p>
            <a:endParaRPr lang="en-US"/>
          </a:p>
        </p:txBody>
      </p:sp>
      <p:sp>
        <p:nvSpPr>
          <p:cNvPr id="186" name="Shape 78">
            <a:extLst>
              <a:ext uri="{FF2B5EF4-FFF2-40B4-BE49-F238E27FC236}">
                <a16:creationId xmlns:a16="http://schemas.microsoft.com/office/drawing/2014/main" id="{A20729AE-FEC3-7025-6CF3-703EC821B319}"/>
              </a:ext>
            </a:extLst>
          </p:cNvPr>
          <p:cNvSpPr/>
          <p:nvPr/>
        </p:nvSpPr>
        <p:spPr>
          <a:xfrm>
            <a:off x="7543800" y="2217420"/>
            <a:ext cx="280035" cy="280035"/>
          </a:xfrm>
          <a:prstGeom prst="rect">
            <a:avLst/>
          </a:prstGeom>
          <a:solidFill>
            <a:srgbClr val="6F6F6F"/>
          </a:solidFill>
          <a:ln w="3175">
            <a:solidFill>
              <a:srgbClr val="07111F">
                <a:alpha val="45000"/>
              </a:srgbClr>
            </a:solidFill>
            <a:prstDash val="solid"/>
          </a:ln>
        </p:spPr>
        <p:txBody>
          <a:bodyPr/>
          <a:lstStyle/>
          <a:p>
            <a:endParaRPr lang="en-US"/>
          </a:p>
        </p:txBody>
      </p:sp>
      <p:sp>
        <p:nvSpPr>
          <p:cNvPr id="187" name="Shape 79">
            <a:extLst>
              <a:ext uri="{FF2B5EF4-FFF2-40B4-BE49-F238E27FC236}">
                <a16:creationId xmlns:a16="http://schemas.microsoft.com/office/drawing/2014/main" id="{7453E1D3-1F00-3D11-EE63-531942C2FABC}"/>
              </a:ext>
            </a:extLst>
          </p:cNvPr>
          <p:cNvSpPr/>
          <p:nvPr/>
        </p:nvSpPr>
        <p:spPr>
          <a:xfrm>
            <a:off x="7823835" y="2217420"/>
            <a:ext cx="280035" cy="280035"/>
          </a:xfrm>
          <a:prstGeom prst="rect">
            <a:avLst/>
          </a:prstGeom>
          <a:solidFill>
            <a:srgbClr val="A6A6A6"/>
          </a:solidFill>
          <a:ln w="3175">
            <a:solidFill>
              <a:srgbClr val="07111F">
                <a:alpha val="45000"/>
              </a:srgbClr>
            </a:solidFill>
            <a:prstDash val="solid"/>
          </a:ln>
        </p:spPr>
        <p:txBody>
          <a:bodyPr/>
          <a:lstStyle/>
          <a:p>
            <a:endParaRPr lang="en-US"/>
          </a:p>
        </p:txBody>
      </p:sp>
      <p:sp>
        <p:nvSpPr>
          <p:cNvPr id="188" name="Shape 80">
            <a:extLst>
              <a:ext uri="{FF2B5EF4-FFF2-40B4-BE49-F238E27FC236}">
                <a16:creationId xmlns:a16="http://schemas.microsoft.com/office/drawing/2014/main" id="{E0F35380-22A6-18D0-3C9E-CB908A73C071}"/>
              </a:ext>
            </a:extLst>
          </p:cNvPr>
          <p:cNvSpPr/>
          <p:nvPr/>
        </p:nvSpPr>
        <p:spPr>
          <a:xfrm>
            <a:off x="8103870" y="2217420"/>
            <a:ext cx="280035" cy="280035"/>
          </a:xfrm>
          <a:prstGeom prst="rect">
            <a:avLst/>
          </a:prstGeom>
          <a:solidFill>
            <a:srgbClr val="DDDDDD"/>
          </a:solidFill>
          <a:ln w="3175">
            <a:solidFill>
              <a:srgbClr val="07111F">
                <a:alpha val="45000"/>
              </a:srgbClr>
            </a:solidFill>
            <a:prstDash val="solid"/>
          </a:ln>
        </p:spPr>
        <p:txBody>
          <a:bodyPr/>
          <a:lstStyle/>
          <a:p>
            <a:endParaRPr lang="en-US"/>
          </a:p>
        </p:txBody>
      </p:sp>
      <p:sp>
        <p:nvSpPr>
          <p:cNvPr id="189" name="Shape 81">
            <a:extLst>
              <a:ext uri="{FF2B5EF4-FFF2-40B4-BE49-F238E27FC236}">
                <a16:creationId xmlns:a16="http://schemas.microsoft.com/office/drawing/2014/main" id="{EDB7730E-3DA6-FB59-5733-01A837FD4177}"/>
              </a:ext>
            </a:extLst>
          </p:cNvPr>
          <p:cNvSpPr/>
          <p:nvPr/>
        </p:nvSpPr>
        <p:spPr>
          <a:xfrm>
            <a:off x="8383905" y="2217420"/>
            <a:ext cx="280035" cy="280035"/>
          </a:xfrm>
          <a:prstGeom prst="rect">
            <a:avLst/>
          </a:prstGeom>
          <a:solidFill>
            <a:srgbClr val="EBEBEB"/>
          </a:solidFill>
          <a:ln w="3175">
            <a:solidFill>
              <a:srgbClr val="07111F">
                <a:alpha val="45000"/>
              </a:srgbClr>
            </a:solidFill>
            <a:prstDash val="solid"/>
          </a:ln>
        </p:spPr>
        <p:txBody>
          <a:bodyPr/>
          <a:lstStyle/>
          <a:p>
            <a:endParaRPr lang="en-US"/>
          </a:p>
        </p:txBody>
      </p:sp>
      <p:sp>
        <p:nvSpPr>
          <p:cNvPr id="190" name="Shape 82">
            <a:extLst>
              <a:ext uri="{FF2B5EF4-FFF2-40B4-BE49-F238E27FC236}">
                <a16:creationId xmlns:a16="http://schemas.microsoft.com/office/drawing/2014/main" id="{214F6F37-647E-FECB-B2B8-A9EBB9271396}"/>
              </a:ext>
            </a:extLst>
          </p:cNvPr>
          <p:cNvSpPr/>
          <p:nvPr/>
        </p:nvSpPr>
        <p:spPr>
          <a:xfrm>
            <a:off x="8663940" y="2217420"/>
            <a:ext cx="280035" cy="280035"/>
          </a:xfrm>
          <a:prstGeom prst="rect">
            <a:avLst/>
          </a:prstGeom>
          <a:solidFill>
            <a:srgbClr val="4C4C4C"/>
          </a:solidFill>
          <a:ln w="3175">
            <a:solidFill>
              <a:srgbClr val="07111F">
                <a:alpha val="45000"/>
              </a:srgbClr>
            </a:solidFill>
            <a:prstDash val="solid"/>
          </a:ln>
        </p:spPr>
        <p:txBody>
          <a:bodyPr/>
          <a:lstStyle/>
          <a:p>
            <a:endParaRPr lang="en-US"/>
          </a:p>
        </p:txBody>
      </p:sp>
      <p:sp>
        <p:nvSpPr>
          <p:cNvPr id="191" name="Shape 83">
            <a:extLst>
              <a:ext uri="{FF2B5EF4-FFF2-40B4-BE49-F238E27FC236}">
                <a16:creationId xmlns:a16="http://schemas.microsoft.com/office/drawing/2014/main" id="{31618D13-52D6-A44D-8635-D225B529B4CF}"/>
              </a:ext>
            </a:extLst>
          </p:cNvPr>
          <p:cNvSpPr/>
          <p:nvPr/>
        </p:nvSpPr>
        <p:spPr>
          <a:xfrm>
            <a:off x="8943975" y="2217420"/>
            <a:ext cx="280035" cy="280035"/>
          </a:xfrm>
          <a:prstGeom prst="rect">
            <a:avLst/>
          </a:prstGeom>
          <a:solidFill>
            <a:srgbClr val="838383"/>
          </a:solidFill>
          <a:ln w="3175">
            <a:solidFill>
              <a:srgbClr val="07111F">
                <a:alpha val="45000"/>
              </a:srgbClr>
            </a:solidFill>
            <a:prstDash val="solid"/>
          </a:ln>
        </p:spPr>
        <p:txBody>
          <a:bodyPr/>
          <a:lstStyle/>
          <a:p>
            <a:endParaRPr lang="en-US"/>
          </a:p>
        </p:txBody>
      </p:sp>
      <p:sp>
        <p:nvSpPr>
          <p:cNvPr id="192" name="Shape 84">
            <a:extLst>
              <a:ext uri="{FF2B5EF4-FFF2-40B4-BE49-F238E27FC236}">
                <a16:creationId xmlns:a16="http://schemas.microsoft.com/office/drawing/2014/main" id="{B9A3273A-8C87-E76C-295C-5E5EE7CF66DE}"/>
              </a:ext>
            </a:extLst>
          </p:cNvPr>
          <p:cNvSpPr/>
          <p:nvPr/>
        </p:nvSpPr>
        <p:spPr>
          <a:xfrm>
            <a:off x="9224010" y="2217420"/>
            <a:ext cx="280035" cy="280035"/>
          </a:xfrm>
          <a:prstGeom prst="rect">
            <a:avLst/>
          </a:prstGeom>
          <a:solidFill>
            <a:srgbClr val="BABABA"/>
          </a:solidFill>
          <a:ln w="3175">
            <a:solidFill>
              <a:srgbClr val="07111F">
                <a:alpha val="45000"/>
              </a:srgbClr>
            </a:solidFill>
            <a:prstDash val="solid"/>
          </a:ln>
        </p:spPr>
        <p:txBody>
          <a:bodyPr/>
          <a:lstStyle/>
          <a:p>
            <a:endParaRPr lang="en-US"/>
          </a:p>
        </p:txBody>
      </p:sp>
      <p:sp>
        <p:nvSpPr>
          <p:cNvPr id="193" name="Shape 85">
            <a:extLst>
              <a:ext uri="{FF2B5EF4-FFF2-40B4-BE49-F238E27FC236}">
                <a16:creationId xmlns:a16="http://schemas.microsoft.com/office/drawing/2014/main" id="{89D53B80-F37F-D4F1-FAFC-FD7284137E98}"/>
              </a:ext>
            </a:extLst>
          </p:cNvPr>
          <p:cNvSpPr/>
          <p:nvPr/>
        </p:nvSpPr>
        <p:spPr>
          <a:xfrm>
            <a:off x="9504045" y="2217420"/>
            <a:ext cx="280035" cy="280035"/>
          </a:xfrm>
          <a:prstGeom prst="rect">
            <a:avLst/>
          </a:prstGeom>
          <a:solidFill>
            <a:srgbClr val="EBEBEB"/>
          </a:solidFill>
          <a:ln w="3175">
            <a:solidFill>
              <a:srgbClr val="07111F">
                <a:alpha val="45000"/>
              </a:srgbClr>
            </a:solidFill>
            <a:prstDash val="solid"/>
          </a:ln>
        </p:spPr>
        <p:txBody>
          <a:bodyPr/>
          <a:lstStyle/>
          <a:p>
            <a:endParaRPr lang="en-US"/>
          </a:p>
        </p:txBody>
      </p:sp>
      <p:sp>
        <p:nvSpPr>
          <p:cNvPr id="194" name="Shape 86">
            <a:extLst>
              <a:ext uri="{FF2B5EF4-FFF2-40B4-BE49-F238E27FC236}">
                <a16:creationId xmlns:a16="http://schemas.microsoft.com/office/drawing/2014/main" id="{456DC402-550B-E18F-C5AC-0F772792C854}"/>
              </a:ext>
            </a:extLst>
          </p:cNvPr>
          <p:cNvSpPr/>
          <p:nvPr/>
        </p:nvSpPr>
        <p:spPr>
          <a:xfrm>
            <a:off x="7543800" y="2497455"/>
            <a:ext cx="280035" cy="280035"/>
          </a:xfrm>
          <a:prstGeom prst="rect">
            <a:avLst/>
          </a:prstGeom>
          <a:solidFill>
            <a:srgbClr val="828282"/>
          </a:solidFill>
          <a:ln w="3175">
            <a:solidFill>
              <a:srgbClr val="07111F">
                <a:alpha val="45000"/>
              </a:srgbClr>
            </a:solidFill>
            <a:prstDash val="solid"/>
          </a:ln>
        </p:spPr>
        <p:txBody>
          <a:bodyPr/>
          <a:lstStyle/>
          <a:p>
            <a:endParaRPr lang="en-US"/>
          </a:p>
        </p:txBody>
      </p:sp>
      <p:sp>
        <p:nvSpPr>
          <p:cNvPr id="195" name="Shape 87">
            <a:extLst>
              <a:ext uri="{FF2B5EF4-FFF2-40B4-BE49-F238E27FC236}">
                <a16:creationId xmlns:a16="http://schemas.microsoft.com/office/drawing/2014/main" id="{CBDBB4F1-D6A9-E632-0C26-3C414D437557}"/>
              </a:ext>
            </a:extLst>
          </p:cNvPr>
          <p:cNvSpPr/>
          <p:nvPr/>
        </p:nvSpPr>
        <p:spPr>
          <a:xfrm>
            <a:off x="7823835" y="2497455"/>
            <a:ext cx="280035" cy="280035"/>
          </a:xfrm>
          <a:prstGeom prst="rect">
            <a:avLst/>
          </a:prstGeom>
          <a:solidFill>
            <a:srgbClr val="C0C0C0"/>
          </a:solidFill>
          <a:ln w="3175">
            <a:solidFill>
              <a:srgbClr val="07111F">
                <a:alpha val="45000"/>
              </a:srgbClr>
            </a:solidFill>
            <a:prstDash val="solid"/>
          </a:ln>
        </p:spPr>
        <p:txBody>
          <a:bodyPr/>
          <a:lstStyle/>
          <a:p>
            <a:endParaRPr lang="en-US"/>
          </a:p>
        </p:txBody>
      </p:sp>
      <p:sp>
        <p:nvSpPr>
          <p:cNvPr id="196" name="Shape 88">
            <a:extLst>
              <a:ext uri="{FF2B5EF4-FFF2-40B4-BE49-F238E27FC236}">
                <a16:creationId xmlns:a16="http://schemas.microsoft.com/office/drawing/2014/main" id="{85362709-EDFB-D1CC-B1D8-749FA9C0A58F}"/>
              </a:ext>
            </a:extLst>
          </p:cNvPr>
          <p:cNvSpPr/>
          <p:nvPr/>
        </p:nvSpPr>
        <p:spPr>
          <a:xfrm>
            <a:off x="8103870" y="2497455"/>
            <a:ext cx="280035" cy="280035"/>
          </a:xfrm>
          <a:prstGeom prst="rect">
            <a:avLst/>
          </a:prstGeom>
          <a:solidFill>
            <a:srgbClr val="EBEBEB"/>
          </a:solidFill>
          <a:ln w="3175">
            <a:solidFill>
              <a:srgbClr val="07111F">
                <a:alpha val="45000"/>
              </a:srgbClr>
            </a:solidFill>
            <a:prstDash val="solid"/>
          </a:ln>
        </p:spPr>
        <p:txBody>
          <a:bodyPr/>
          <a:lstStyle/>
          <a:p>
            <a:endParaRPr lang="en-US"/>
          </a:p>
        </p:txBody>
      </p:sp>
      <p:sp>
        <p:nvSpPr>
          <p:cNvPr id="197" name="Shape 89">
            <a:extLst>
              <a:ext uri="{FF2B5EF4-FFF2-40B4-BE49-F238E27FC236}">
                <a16:creationId xmlns:a16="http://schemas.microsoft.com/office/drawing/2014/main" id="{80099F84-82F1-0B18-4C41-80E934D83C85}"/>
              </a:ext>
            </a:extLst>
          </p:cNvPr>
          <p:cNvSpPr/>
          <p:nvPr/>
        </p:nvSpPr>
        <p:spPr>
          <a:xfrm>
            <a:off x="8383905" y="2497455"/>
            <a:ext cx="280035" cy="280035"/>
          </a:xfrm>
          <a:prstGeom prst="rect">
            <a:avLst/>
          </a:prstGeom>
          <a:solidFill>
            <a:srgbClr val="3D3D3D"/>
          </a:solidFill>
          <a:ln w="3175">
            <a:solidFill>
              <a:srgbClr val="07111F">
                <a:alpha val="45000"/>
              </a:srgbClr>
            </a:solidFill>
            <a:prstDash val="solid"/>
          </a:ln>
        </p:spPr>
        <p:txBody>
          <a:bodyPr/>
          <a:lstStyle/>
          <a:p>
            <a:endParaRPr lang="en-US"/>
          </a:p>
        </p:txBody>
      </p:sp>
      <p:sp>
        <p:nvSpPr>
          <p:cNvPr id="198" name="Shape 90">
            <a:extLst>
              <a:ext uri="{FF2B5EF4-FFF2-40B4-BE49-F238E27FC236}">
                <a16:creationId xmlns:a16="http://schemas.microsoft.com/office/drawing/2014/main" id="{1D5F46B4-B261-0B00-66AF-F84E504C1068}"/>
              </a:ext>
            </a:extLst>
          </p:cNvPr>
          <p:cNvSpPr/>
          <p:nvPr/>
        </p:nvSpPr>
        <p:spPr>
          <a:xfrm>
            <a:off x="8663940" y="2497455"/>
            <a:ext cx="280035" cy="280035"/>
          </a:xfrm>
          <a:prstGeom prst="rect">
            <a:avLst/>
          </a:prstGeom>
          <a:solidFill>
            <a:srgbClr val="7B7B7B"/>
          </a:solidFill>
          <a:ln w="3175">
            <a:solidFill>
              <a:srgbClr val="07111F">
                <a:alpha val="45000"/>
              </a:srgbClr>
            </a:solidFill>
            <a:prstDash val="solid"/>
          </a:ln>
        </p:spPr>
        <p:txBody>
          <a:bodyPr/>
          <a:lstStyle/>
          <a:p>
            <a:endParaRPr lang="en-US"/>
          </a:p>
        </p:txBody>
      </p:sp>
      <p:sp>
        <p:nvSpPr>
          <p:cNvPr id="199" name="Shape 91">
            <a:extLst>
              <a:ext uri="{FF2B5EF4-FFF2-40B4-BE49-F238E27FC236}">
                <a16:creationId xmlns:a16="http://schemas.microsoft.com/office/drawing/2014/main" id="{674EEDFD-556D-7A0F-A99A-AD93CD2561FE}"/>
              </a:ext>
            </a:extLst>
          </p:cNvPr>
          <p:cNvSpPr/>
          <p:nvPr/>
        </p:nvSpPr>
        <p:spPr>
          <a:xfrm>
            <a:off x="8943975" y="2497455"/>
            <a:ext cx="280035" cy="280035"/>
          </a:xfrm>
          <a:prstGeom prst="rect">
            <a:avLst/>
          </a:prstGeom>
          <a:solidFill>
            <a:srgbClr val="B9B9B9"/>
          </a:solidFill>
          <a:ln w="3175">
            <a:solidFill>
              <a:srgbClr val="07111F">
                <a:alpha val="45000"/>
              </a:srgbClr>
            </a:solidFill>
            <a:prstDash val="solid"/>
          </a:ln>
        </p:spPr>
        <p:txBody>
          <a:bodyPr/>
          <a:lstStyle/>
          <a:p>
            <a:endParaRPr lang="en-US"/>
          </a:p>
        </p:txBody>
      </p:sp>
      <p:sp>
        <p:nvSpPr>
          <p:cNvPr id="200" name="Shape 92">
            <a:extLst>
              <a:ext uri="{FF2B5EF4-FFF2-40B4-BE49-F238E27FC236}">
                <a16:creationId xmlns:a16="http://schemas.microsoft.com/office/drawing/2014/main" id="{C7B389F1-5262-7107-6AC9-DF24E3818108}"/>
              </a:ext>
            </a:extLst>
          </p:cNvPr>
          <p:cNvSpPr/>
          <p:nvPr/>
        </p:nvSpPr>
        <p:spPr>
          <a:xfrm>
            <a:off x="9224010" y="2497455"/>
            <a:ext cx="280035" cy="280035"/>
          </a:xfrm>
          <a:prstGeom prst="rect">
            <a:avLst/>
          </a:prstGeom>
          <a:solidFill>
            <a:srgbClr val="EBEBEB"/>
          </a:solidFill>
          <a:ln w="3175">
            <a:solidFill>
              <a:srgbClr val="07111F">
                <a:alpha val="45000"/>
              </a:srgbClr>
            </a:solidFill>
            <a:prstDash val="solid"/>
          </a:ln>
        </p:spPr>
        <p:txBody>
          <a:bodyPr/>
          <a:lstStyle/>
          <a:p>
            <a:endParaRPr lang="en-US"/>
          </a:p>
        </p:txBody>
      </p:sp>
      <p:sp>
        <p:nvSpPr>
          <p:cNvPr id="201" name="Shape 93">
            <a:extLst>
              <a:ext uri="{FF2B5EF4-FFF2-40B4-BE49-F238E27FC236}">
                <a16:creationId xmlns:a16="http://schemas.microsoft.com/office/drawing/2014/main" id="{4BDDA2A5-E02C-E9C4-0EA0-3F63A2EE273D}"/>
              </a:ext>
            </a:extLst>
          </p:cNvPr>
          <p:cNvSpPr/>
          <p:nvPr/>
        </p:nvSpPr>
        <p:spPr>
          <a:xfrm>
            <a:off x="9504045" y="2497455"/>
            <a:ext cx="280035" cy="280035"/>
          </a:xfrm>
          <a:prstGeom prst="rect">
            <a:avLst/>
          </a:prstGeom>
          <a:solidFill>
            <a:srgbClr val="363636"/>
          </a:solidFill>
          <a:ln w="3175">
            <a:solidFill>
              <a:srgbClr val="07111F">
                <a:alpha val="45000"/>
              </a:srgbClr>
            </a:solidFill>
            <a:prstDash val="solid"/>
          </a:ln>
        </p:spPr>
        <p:txBody>
          <a:bodyPr/>
          <a:lstStyle/>
          <a:p>
            <a:endParaRPr lang="en-US"/>
          </a:p>
        </p:txBody>
      </p:sp>
      <p:sp>
        <p:nvSpPr>
          <p:cNvPr id="202" name="Shape 94">
            <a:extLst>
              <a:ext uri="{FF2B5EF4-FFF2-40B4-BE49-F238E27FC236}">
                <a16:creationId xmlns:a16="http://schemas.microsoft.com/office/drawing/2014/main" id="{FEA385C0-0311-79D9-3D17-16A7A34F0128}"/>
              </a:ext>
            </a:extLst>
          </p:cNvPr>
          <p:cNvSpPr/>
          <p:nvPr/>
        </p:nvSpPr>
        <p:spPr>
          <a:xfrm>
            <a:off x="7543800" y="2777490"/>
            <a:ext cx="280035" cy="280035"/>
          </a:xfrm>
          <a:prstGeom prst="rect">
            <a:avLst/>
          </a:prstGeom>
          <a:solidFill>
            <a:srgbClr val="959595"/>
          </a:solidFill>
          <a:ln w="3175">
            <a:solidFill>
              <a:srgbClr val="07111F">
                <a:alpha val="45000"/>
              </a:srgbClr>
            </a:solidFill>
            <a:prstDash val="solid"/>
          </a:ln>
        </p:spPr>
        <p:txBody>
          <a:bodyPr/>
          <a:lstStyle/>
          <a:p>
            <a:endParaRPr lang="en-US"/>
          </a:p>
        </p:txBody>
      </p:sp>
      <p:sp>
        <p:nvSpPr>
          <p:cNvPr id="203" name="Shape 95">
            <a:extLst>
              <a:ext uri="{FF2B5EF4-FFF2-40B4-BE49-F238E27FC236}">
                <a16:creationId xmlns:a16="http://schemas.microsoft.com/office/drawing/2014/main" id="{C184AA7C-F476-60A8-0EF9-F3B5AB2E88F1}"/>
              </a:ext>
            </a:extLst>
          </p:cNvPr>
          <p:cNvSpPr/>
          <p:nvPr/>
        </p:nvSpPr>
        <p:spPr>
          <a:xfrm>
            <a:off x="7823835" y="2777490"/>
            <a:ext cx="280035" cy="280035"/>
          </a:xfrm>
          <a:prstGeom prst="rect">
            <a:avLst/>
          </a:prstGeom>
          <a:solidFill>
            <a:srgbClr val="DADADA"/>
          </a:solidFill>
          <a:ln w="3175">
            <a:solidFill>
              <a:srgbClr val="07111F">
                <a:alpha val="45000"/>
              </a:srgbClr>
            </a:solidFill>
            <a:prstDash val="solid"/>
          </a:ln>
        </p:spPr>
        <p:txBody>
          <a:bodyPr/>
          <a:lstStyle/>
          <a:p>
            <a:endParaRPr lang="en-US"/>
          </a:p>
        </p:txBody>
      </p:sp>
      <p:sp>
        <p:nvSpPr>
          <p:cNvPr id="204" name="Shape 96">
            <a:extLst>
              <a:ext uri="{FF2B5EF4-FFF2-40B4-BE49-F238E27FC236}">
                <a16:creationId xmlns:a16="http://schemas.microsoft.com/office/drawing/2014/main" id="{8D744335-9AAB-A6BA-1B8E-F5E8A2315E86}"/>
              </a:ext>
            </a:extLst>
          </p:cNvPr>
          <p:cNvSpPr/>
          <p:nvPr/>
        </p:nvSpPr>
        <p:spPr>
          <a:xfrm>
            <a:off x="8103870" y="2777490"/>
            <a:ext cx="280035" cy="280035"/>
          </a:xfrm>
          <a:prstGeom prst="rect">
            <a:avLst/>
          </a:prstGeom>
          <a:solidFill>
            <a:srgbClr val="EBEBEB"/>
          </a:solidFill>
          <a:ln w="3175">
            <a:solidFill>
              <a:srgbClr val="07111F">
                <a:alpha val="45000"/>
              </a:srgbClr>
            </a:solidFill>
            <a:prstDash val="solid"/>
          </a:ln>
        </p:spPr>
        <p:txBody>
          <a:bodyPr/>
          <a:lstStyle/>
          <a:p>
            <a:endParaRPr lang="en-US"/>
          </a:p>
        </p:txBody>
      </p:sp>
      <p:sp>
        <p:nvSpPr>
          <p:cNvPr id="205" name="Shape 97">
            <a:extLst>
              <a:ext uri="{FF2B5EF4-FFF2-40B4-BE49-F238E27FC236}">
                <a16:creationId xmlns:a16="http://schemas.microsoft.com/office/drawing/2014/main" id="{B50A10C6-94F1-2B0A-E29C-79486E900B9B}"/>
              </a:ext>
            </a:extLst>
          </p:cNvPr>
          <p:cNvSpPr/>
          <p:nvPr/>
        </p:nvSpPr>
        <p:spPr>
          <a:xfrm>
            <a:off x="8383905" y="2777490"/>
            <a:ext cx="280035" cy="280035"/>
          </a:xfrm>
          <a:prstGeom prst="rect">
            <a:avLst/>
          </a:prstGeom>
          <a:solidFill>
            <a:srgbClr val="656565"/>
          </a:solidFill>
          <a:ln w="3175">
            <a:solidFill>
              <a:srgbClr val="07111F">
                <a:alpha val="45000"/>
              </a:srgbClr>
            </a:solidFill>
            <a:prstDash val="solid"/>
          </a:ln>
        </p:spPr>
        <p:txBody>
          <a:bodyPr/>
          <a:lstStyle/>
          <a:p>
            <a:endParaRPr lang="en-US"/>
          </a:p>
        </p:txBody>
      </p:sp>
      <p:sp>
        <p:nvSpPr>
          <p:cNvPr id="206" name="Shape 98">
            <a:extLst>
              <a:ext uri="{FF2B5EF4-FFF2-40B4-BE49-F238E27FC236}">
                <a16:creationId xmlns:a16="http://schemas.microsoft.com/office/drawing/2014/main" id="{6EC531BF-49A7-4818-9B3D-D84C9D58DDE9}"/>
              </a:ext>
            </a:extLst>
          </p:cNvPr>
          <p:cNvSpPr/>
          <p:nvPr/>
        </p:nvSpPr>
        <p:spPr>
          <a:xfrm>
            <a:off x="8663940" y="2777490"/>
            <a:ext cx="280035" cy="280035"/>
          </a:xfrm>
          <a:prstGeom prst="rect">
            <a:avLst/>
          </a:prstGeom>
          <a:solidFill>
            <a:srgbClr val="AAAAAA"/>
          </a:solidFill>
          <a:ln w="3175">
            <a:solidFill>
              <a:srgbClr val="07111F">
                <a:alpha val="45000"/>
              </a:srgbClr>
            </a:solidFill>
            <a:prstDash val="solid"/>
          </a:ln>
        </p:spPr>
        <p:txBody>
          <a:bodyPr/>
          <a:lstStyle/>
          <a:p>
            <a:endParaRPr lang="en-US"/>
          </a:p>
        </p:txBody>
      </p:sp>
      <p:sp>
        <p:nvSpPr>
          <p:cNvPr id="207" name="Shape 99">
            <a:extLst>
              <a:ext uri="{FF2B5EF4-FFF2-40B4-BE49-F238E27FC236}">
                <a16:creationId xmlns:a16="http://schemas.microsoft.com/office/drawing/2014/main" id="{F3780942-0FB8-1CDF-9CEC-B11CE5B8CCDA}"/>
              </a:ext>
            </a:extLst>
          </p:cNvPr>
          <p:cNvSpPr/>
          <p:nvPr/>
        </p:nvSpPr>
        <p:spPr>
          <a:xfrm>
            <a:off x="8943975" y="2777490"/>
            <a:ext cx="280035" cy="280035"/>
          </a:xfrm>
          <a:prstGeom prst="rect">
            <a:avLst/>
          </a:prstGeom>
          <a:solidFill>
            <a:srgbClr val="EBEBEB"/>
          </a:solidFill>
          <a:ln w="3175">
            <a:solidFill>
              <a:srgbClr val="07111F">
                <a:alpha val="45000"/>
              </a:srgbClr>
            </a:solidFill>
            <a:prstDash val="solid"/>
          </a:ln>
        </p:spPr>
        <p:txBody>
          <a:bodyPr/>
          <a:lstStyle/>
          <a:p>
            <a:endParaRPr lang="en-US"/>
          </a:p>
        </p:txBody>
      </p:sp>
      <p:sp>
        <p:nvSpPr>
          <p:cNvPr id="208" name="Shape 100">
            <a:extLst>
              <a:ext uri="{FF2B5EF4-FFF2-40B4-BE49-F238E27FC236}">
                <a16:creationId xmlns:a16="http://schemas.microsoft.com/office/drawing/2014/main" id="{AD57AA62-436C-DFC7-264F-837C6D46068E}"/>
              </a:ext>
            </a:extLst>
          </p:cNvPr>
          <p:cNvSpPr/>
          <p:nvPr/>
        </p:nvSpPr>
        <p:spPr>
          <a:xfrm>
            <a:off x="9224010" y="2777490"/>
            <a:ext cx="280035" cy="280035"/>
          </a:xfrm>
          <a:prstGeom prst="rect">
            <a:avLst/>
          </a:prstGeom>
          <a:solidFill>
            <a:srgbClr val="353535"/>
          </a:solidFill>
          <a:ln w="3175">
            <a:solidFill>
              <a:srgbClr val="07111F">
                <a:alpha val="45000"/>
              </a:srgbClr>
            </a:solidFill>
            <a:prstDash val="solid"/>
          </a:ln>
        </p:spPr>
        <p:txBody>
          <a:bodyPr/>
          <a:lstStyle/>
          <a:p>
            <a:endParaRPr lang="en-US"/>
          </a:p>
        </p:txBody>
      </p:sp>
      <p:sp>
        <p:nvSpPr>
          <p:cNvPr id="209" name="Shape 101">
            <a:extLst>
              <a:ext uri="{FF2B5EF4-FFF2-40B4-BE49-F238E27FC236}">
                <a16:creationId xmlns:a16="http://schemas.microsoft.com/office/drawing/2014/main" id="{8732DBCE-E048-ECF0-DA6C-9914628AADBD}"/>
              </a:ext>
            </a:extLst>
          </p:cNvPr>
          <p:cNvSpPr/>
          <p:nvPr/>
        </p:nvSpPr>
        <p:spPr>
          <a:xfrm>
            <a:off x="9504045" y="2777490"/>
            <a:ext cx="280035" cy="280035"/>
          </a:xfrm>
          <a:prstGeom prst="rect">
            <a:avLst/>
          </a:prstGeom>
          <a:solidFill>
            <a:srgbClr val="7A7A7A"/>
          </a:solidFill>
          <a:ln w="3175">
            <a:solidFill>
              <a:srgbClr val="07111F">
                <a:alpha val="45000"/>
              </a:srgbClr>
            </a:solidFill>
            <a:prstDash val="solid"/>
          </a:ln>
        </p:spPr>
        <p:txBody>
          <a:bodyPr/>
          <a:lstStyle/>
          <a:p>
            <a:endParaRPr lang="en-US"/>
          </a:p>
        </p:txBody>
      </p:sp>
      <p:sp>
        <p:nvSpPr>
          <p:cNvPr id="210" name="Shape 102">
            <a:extLst>
              <a:ext uri="{FF2B5EF4-FFF2-40B4-BE49-F238E27FC236}">
                <a16:creationId xmlns:a16="http://schemas.microsoft.com/office/drawing/2014/main" id="{3399EEDA-63E8-6EEF-8B3F-A4464667E6D9}"/>
              </a:ext>
            </a:extLst>
          </p:cNvPr>
          <p:cNvSpPr/>
          <p:nvPr/>
        </p:nvSpPr>
        <p:spPr>
          <a:xfrm>
            <a:off x="7543800" y="3057525"/>
            <a:ext cx="280035" cy="280035"/>
          </a:xfrm>
          <a:prstGeom prst="rect">
            <a:avLst/>
          </a:prstGeom>
          <a:solidFill>
            <a:srgbClr val="A8A8A8"/>
          </a:solidFill>
          <a:ln w="3175">
            <a:solidFill>
              <a:srgbClr val="07111F">
                <a:alpha val="45000"/>
              </a:srgbClr>
            </a:solidFill>
            <a:prstDash val="solid"/>
          </a:ln>
        </p:spPr>
        <p:txBody>
          <a:bodyPr/>
          <a:lstStyle/>
          <a:p>
            <a:endParaRPr lang="en-US"/>
          </a:p>
        </p:txBody>
      </p:sp>
      <p:sp>
        <p:nvSpPr>
          <p:cNvPr id="211" name="Shape 103">
            <a:extLst>
              <a:ext uri="{FF2B5EF4-FFF2-40B4-BE49-F238E27FC236}">
                <a16:creationId xmlns:a16="http://schemas.microsoft.com/office/drawing/2014/main" id="{05CF90F0-1115-98D8-D151-17CD145D1B93}"/>
              </a:ext>
            </a:extLst>
          </p:cNvPr>
          <p:cNvSpPr/>
          <p:nvPr/>
        </p:nvSpPr>
        <p:spPr>
          <a:xfrm>
            <a:off x="7823835" y="3057525"/>
            <a:ext cx="280035" cy="280035"/>
          </a:xfrm>
          <a:prstGeom prst="rect">
            <a:avLst/>
          </a:prstGeom>
          <a:solidFill>
            <a:srgbClr val="EBEBEB"/>
          </a:solidFill>
          <a:ln w="3175">
            <a:solidFill>
              <a:srgbClr val="07111F">
                <a:alpha val="45000"/>
              </a:srgbClr>
            </a:solidFill>
            <a:prstDash val="solid"/>
          </a:ln>
        </p:spPr>
        <p:txBody>
          <a:bodyPr/>
          <a:lstStyle/>
          <a:p>
            <a:endParaRPr lang="en-US"/>
          </a:p>
        </p:txBody>
      </p:sp>
      <p:sp>
        <p:nvSpPr>
          <p:cNvPr id="212" name="Shape 104">
            <a:extLst>
              <a:ext uri="{FF2B5EF4-FFF2-40B4-BE49-F238E27FC236}">
                <a16:creationId xmlns:a16="http://schemas.microsoft.com/office/drawing/2014/main" id="{C1EC42AC-C1EC-F518-9387-78E609ED3B7A}"/>
              </a:ext>
            </a:extLst>
          </p:cNvPr>
          <p:cNvSpPr/>
          <p:nvPr/>
        </p:nvSpPr>
        <p:spPr>
          <a:xfrm>
            <a:off x="8103870" y="3057525"/>
            <a:ext cx="280035" cy="280035"/>
          </a:xfrm>
          <a:prstGeom prst="rect">
            <a:avLst/>
          </a:prstGeom>
          <a:solidFill>
            <a:srgbClr val="414141"/>
          </a:solidFill>
          <a:ln w="3175">
            <a:solidFill>
              <a:srgbClr val="07111F">
                <a:alpha val="45000"/>
              </a:srgbClr>
            </a:solidFill>
            <a:prstDash val="solid"/>
          </a:ln>
        </p:spPr>
        <p:txBody>
          <a:bodyPr/>
          <a:lstStyle/>
          <a:p>
            <a:endParaRPr lang="en-US"/>
          </a:p>
        </p:txBody>
      </p:sp>
      <p:sp>
        <p:nvSpPr>
          <p:cNvPr id="213" name="Shape 105">
            <a:extLst>
              <a:ext uri="{FF2B5EF4-FFF2-40B4-BE49-F238E27FC236}">
                <a16:creationId xmlns:a16="http://schemas.microsoft.com/office/drawing/2014/main" id="{05FAF309-328E-F461-5656-E353B13DA69B}"/>
              </a:ext>
            </a:extLst>
          </p:cNvPr>
          <p:cNvSpPr/>
          <p:nvPr/>
        </p:nvSpPr>
        <p:spPr>
          <a:xfrm>
            <a:off x="8383905" y="3057525"/>
            <a:ext cx="280035" cy="280035"/>
          </a:xfrm>
          <a:prstGeom prst="rect">
            <a:avLst/>
          </a:prstGeom>
          <a:solidFill>
            <a:srgbClr val="8D8D8D"/>
          </a:solidFill>
          <a:ln w="3175">
            <a:solidFill>
              <a:srgbClr val="07111F">
                <a:alpha val="45000"/>
              </a:srgbClr>
            </a:solidFill>
            <a:prstDash val="solid"/>
          </a:ln>
        </p:spPr>
        <p:txBody>
          <a:bodyPr/>
          <a:lstStyle/>
          <a:p>
            <a:endParaRPr lang="en-US"/>
          </a:p>
        </p:txBody>
      </p:sp>
      <p:sp>
        <p:nvSpPr>
          <p:cNvPr id="214" name="Shape 106">
            <a:extLst>
              <a:ext uri="{FF2B5EF4-FFF2-40B4-BE49-F238E27FC236}">
                <a16:creationId xmlns:a16="http://schemas.microsoft.com/office/drawing/2014/main" id="{D6D7B312-935B-1DB4-D6E9-03F3C070C6D4}"/>
              </a:ext>
            </a:extLst>
          </p:cNvPr>
          <p:cNvSpPr/>
          <p:nvPr/>
        </p:nvSpPr>
        <p:spPr>
          <a:xfrm>
            <a:off x="8663940" y="3057525"/>
            <a:ext cx="280035" cy="280035"/>
          </a:xfrm>
          <a:prstGeom prst="rect">
            <a:avLst/>
          </a:prstGeom>
          <a:solidFill>
            <a:srgbClr val="D9D9D9"/>
          </a:solidFill>
          <a:ln w="3175">
            <a:solidFill>
              <a:srgbClr val="07111F">
                <a:alpha val="45000"/>
              </a:srgbClr>
            </a:solidFill>
            <a:prstDash val="solid"/>
          </a:ln>
        </p:spPr>
        <p:txBody>
          <a:bodyPr/>
          <a:lstStyle/>
          <a:p>
            <a:endParaRPr lang="en-US"/>
          </a:p>
        </p:txBody>
      </p:sp>
      <p:sp>
        <p:nvSpPr>
          <p:cNvPr id="215" name="Shape 107">
            <a:extLst>
              <a:ext uri="{FF2B5EF4-FFF2-40B4-BE49-F238E27FC236}">
                <a16:creationId xmlns:a16="http://schemas.microsoft.com/office/drawing/2014/main" id="{8F709BCB-AA2F-CEE7-F06F-A42888519A03}"/>
              </a:ext>
            </a:extLst>
          </p:cNvPr>
          <p:cNvSpPr/>
          <p:nvPr/>
        </p:nvSpPr>
        <p:spPr>
          <a:xfrm>
            <a:off x="8943975" y="3057525"/>
            <a:ext cx="280035" cy="280035"/>
          </a:xfrm>
          <a:prstGeom prst="rect">
            <a:avLst/>
          </a:prstGeom>
          <a:solidFill>
            <a:srgbClr val="262626"/>
          </a:solidFill>
          <a:ln w="3175">
            <a:solidFill>
              <a:srgbClr val="07111F">
                <a:alpha val="45000"/>
              </a:srgbClr>
            </a:solidFill>
            <a:prstDash val="solid"/>
          </a:ln>
        </p:spPr>
        <p:txBody>
          <a:bodyPr/>
          <a:lstStyle/>
          <a:p>
            <a:endParaRPr lang="en-US"/>
          </a:p>
        </p:txBody>
      </p:sp>
      <p:sp>
        <p:nvSpPr>
          <p:cNvPr id="216" name="Shape 108">
            <a:extLst>
              <a:ext uri="{FF2B5EF4-FFF2-40B4-BE49-F238E27FC236}">
                <a16:creationId xmlns:a16="http://schemas.microsoft.com/office/drawing/2014/main" id="{4C2CCEE8-39F5-1379-31D4-52ACF3593B4F}"/>
              </a:ext>
            </a:extLst>
          </p:cNvPr>
          <p:cNvSpPr/>
          <p:nvPr/>
        </p:nvSpPr>
        <p:spPr>
          <a:xfrm>
            <a:off x="9224010" y="3057525"/>
            <a:ext cx="280035" cy="280035"/>
          </a:xfrm>
          <a:prstGeom prst="rect">
            <a:avLst/>
          </a:prstGeom>
          <a:solidFill>
            <a:srgbClr val="727272"/>
          </a:solidFill>
          <a:ln w="3175">
            <a:solidFill>
              <a:srgbClr val="07111F">
                <a:alpha val="45000"/>
              </a:srgbClr>
            </a:solidFill>
            <a:prstDash val="solid"/>
          </a:ln>
        </p:spPr>
        <p:txBody>
          <a:bodyPr/>
          <a:lstStyle/>
          <a:p>
            <a:endParaRPr lang="en-US"/>
          </a:p>
        </p:txBody>
      </p:sp>
      <p:sp>
        <p:nvSpPr>
          <p:cNvPr id="217" name="Shape 109">
            <a:extLst>
              <a:ext uri="{FF2B5EF4-FFF2-40B4-BE49-F238E27FC236}">
                <a16:creationId xmlns:a16="http://schemas.microsoft.com/office/drawing/2014/main" id="{556455BF-0DAA-6F22-DB51-21FE2AF0D564}"/>
              </a:ext>
            </a:extLst>
          </p:cNvPr>
          <p:cNvSpPr/>
          <p:nvPr/>
        </p:nvSpPr>
        <p:spPr>
          <a:xfrm>
            <a:off x="9504045" y="3057525"/>
            <a:ext cx="280035" cy="280035"/>
          </a:xfrm>
          <a:prstGeom prst="rect">
            <a:avLst/>
          </a:prstGeom>
          <a:solidFill>
            <a:srgbClr val="BEBEBE"/>
          </a:solidFill>
          <a:ln w="3175">
            <a:solidFill>
              <a:srgbClr val="07111F">
                <a:alpha val="45000"/>
              </a:srgbClr>
            </a:solidFill>
            <a:prstDash val="solid"/>
          </a:ln>
        </p:spPr>
        <p:txBody>
          <a:bodyPr/>
          <a:lstStyle/>
          <a:p>
            <a:endParaRPr lang="en-US"/>
          </a:p>
        </p:txBody>
      </p:sp>
      <p:sp>
        <p:nvSpPr>
          <p:cNvPr id="218" name="Text 111">
            <a:extLst>
              <a:ext uri="{FF2B5EF4-FFF2-40B4-BE49-F238E27FC236}">
                <a16:creationId xmlns:a16="http://schemas.microsoft.com/office/drawing/2014/main" id="{B56D5AD5-7B34-F9EF-7233-A73D1F8BA876}"/>
              </a:ext>
            </a:extLst>
          </p:cNvPr>
          <p:cNvSpPr/>
          <p:nvPr/>
        </p:nvSpPr>
        <p:spPr>
          <a:xfrm>
            <a:off x="7571232" y="3474720"/>
            <a:ext cx="2148840" cy="237744"/>
          </a:xfrm>
          <a:prstGeom prst="rect">
            <a:avLst/>
          </a:prstGeom>
          <a:noFill/>
          <a:ln/>
        </p:spPr>
        <p:txBody>
          <a:bodyPr wrap="square" lIns="0" tIns="0" rIns="0" bIns="0" rtlCol="0" anchor="ctr"/>
          <a:lstStyle/>
          <a:p>
            <a:pPr marL="0" indent="0" algn="ctr">
              <a:buNone/>
            </a:pPr>
            <a:r>
              <a:rPr lang="en-US" sz="1050" b="1" dirty="0">
                <a:solidFill>
                  <a:srgbClr val="A8B6C5"/>
                </a:solidFill>
                <a:latin typeface="Inter" pitchFamily="34" charset="0"/>
                <a:ea typeface="Inter" pitchFamily="34" charset="-122"/>
                <a:cs typeface="Inter" pitchFamily="34" charset="-120"/>
              </a:rPr>
              <a:t>512×512 PGM</a:t>
            </a:r>
            <a:endParaRPr lang="en-US" sz="1050" dirty="0"/>
          </a:p>
        </p:txBody>
      </p:sp>
      <p:sp>
        <p:nvSpPr>
          <p:cNvPr id="219" name="Shape 112">
            <a:extLst>
              <a:ext uri="{FF2B5EF4-FFF2-40B4-BE49-F238E27FC236}">
                <a16:creationId xmlns:a16="http://schemas.microsoft.com/office/drawing/2014/main" id="{0426B04B-2566-D8A3-8A2F-261971B11930}"/>
              </a:ext>
            </a:extLst>
          </p:cNvPr>
          <p:cNvSpPr/>
          <p:nvPr/>
        </p:nvSpPr>
        <p:spPr>
          <a:xfrm>
            <a:off x="9765792" y="2039112"/>
            <a:ext cx="502920" cy="329184"/>
          </a:xfrm>
          <a:prstGeom prst="chevron">
            <a:avLst/>
          </a:prstGeom>
          <a:solidFill>
            <a:srgbClr val="38D9E6">
              <a:alpha val="82000"/>
            </a:srgbClr>
          </a:solidFill>
          <a:ln w="12700">
            <a:solidFill>
              <a:srgbClr val="38D9E6">
                <a:alpha val="0"/>
              </a:srgbClr>
            </a:solidFill>
            <a:prstDash val="solid"/>
          </a:ln>
        </p:spPr>
        <p:txBody>
          <a:bodyPr/>
          <a:lstStyle/>
          <a:p>
            <a:endParaRPr lang="en-US"/>
          </a:p>
        </p:txBody>
      </p:sp>
      <p:sp>
        <p:nvSpPr>
          <p:cNvPr id="220" name="Shape 113">
            <a:extLst>
              <a:ext uri="{FF2B5EF4-FFF2-40B4-BE49-F238E27FC236}">
                <a16:creationId xmlns:a16="http://schemas.microsoft.com/office/drawing/2014/main" id="{3A64277C-1D1F-647B-ED78-D219D63C9CFC}"/>
              </a:ext>
            </a:extLst>
          </p:cNvPr>
          <p:cNvSpPr/>
          <p:nvPr/>
        </p:nvSpPr>
        <p:spPr>
          <a:xfrm>
            <a:off x="10195560" y="1325880"/>
            <a:ext cx="1536192" cy="2212848"/>
          </a:xfrm>
          <a:prstGeom prst="roundRect">
            <a:avLst>
              <a:gd name="adj" fmla="val 4762"/>
            </a:avLst>
          </a:prstGeom>
          <a:solidFill>
            <a:srgbClr val="132943"/>
          </a:solidFill>
          <a:ln w="12700">
            <a:solidFill>
              <a:srgbClr val="38D9E6">
                <a:alpha val="85000"/>
              </a:srgbClr>
            </a:solidFill>
            <a:prstDash val="solid"/>
          </a:ln>
          <a:effectLst>
            <a:outerShdw blurRad="354838000" dist="161290000" algn="bl" rotWithShape="0">
              <a:srgbClr val="000000">
                <a:alpha val="0"/>
              </a:srgbClr>
            </a:outerShdw>
          </a:effectLst>
        </p:spPr>
        <p:txBody>
          <a:bodyPr/>
          <a:lstStyle/>
          <a:p>
            <a:endParaRPr lang="en-US"/>
          </a:p>
        </p:txBody>
      </p:sp>
      <p:sp>
        <p:nvSpPr>
          <p:cNvPr id="221" name="Shape 114">
            <a:extLst>
              <a:ext uri="{FF2B5EF4-FFF2-40B4-BE49-F238E27FC236}">
                <a16:creationId xmlns:a16="http://schemas.microsoft.com/office/drawing/2014/main" id="{8C10F09F-C6B0-5872-5FD1-B1BC8B8E660B}"/>
              </a:ext>
            </a:extLst>
          </p:cNvPr>
          <p:cNvSpPr/>
          <p:nvPr/>
        </p:nvSpPr>
        <p:spPr>
          <a:xfrm>
            <a:off x="10030968" y="1554480"/>
            <a:ext cx="164592" cy="0"/>
          </a:xfrm>
          <a:prstGeom prst="line">
            <a:avLst/>
          </a:prstGeom>
          <a:noFill/>
          <a:ln w="15240">
            <a:solidFill>
              <a:srgbClr val="38D9E6"/>
            </a:solidFill>
            <a:prstDash val="solid"/>
          </a:ln>
        </p:spPr>
        <p:txBody>
          <a:bodyPr/>
          <a:lstStyle/>
          <a:p>
            <a:endParaRPr lang="en-US"/>
          </a:p>
        </p:txBody>
      </p:sp>
      <p:sp>
        <p:nvSpPr>
          <p:cNvPr id="222" name="Shape 115">
            <a:extLst>
              <a:ext uri="{FF2B5EF4-FFF2-40B4-BE49-F238E27FC236}">
                <a16:creationId xmlns:a16="http://schemas.microsoft.com/office/drawing/2014/main" id="{05D895E0-DA20-457C-94F2-FA7A66C540A7}"/>
              </a:ext>
            </a:extLst>
          </p:cNvPr>
          <p:cNvSpPr/>
          <p:nvPr/>
        </p:nvSpPr>
        <p:spPr>
          <a:xfrm>
            <a:off x="11731752" y="1554480"/>
            <a:ext cx="164592" cy="0"/>
          </a:xfrm>
          <a:prstGeom prst="line">
            <a:avLst/>
          </a:prstGeom>
          <a:noFill/>
          <a:ln w="15240">
            <a:solidFill>
              <a:srgbClr val="38D9E6"/>
            </a:solidFill>
            <a:prstDash val="solid"/>
          </a:ln>
        </p:spPr>
        <p:txBody>
          <a:bodyPr/>
          <a:lstStyle/>
          <a:p>
            <a:endParaRPr lang="en-US"/>
          </a:p>
        </p:txBody>
      </p:sp>
      <p:sp>
        <p:nvSpPr>
          <p:cNvPr id="223" name="Shape 116">
            <a:extLst>
              <a:ext uri="{FF2B5EF4-FFF2-40B4-BE49-F238E27FC236}">
                <a16:creationId xmlns:a16="http://schemas.microsoft.com/office/drawing/2014/main" id="{A15EC042-5D59-072B-D9B6-FE79468FD32C}"/>
              </a:ext>
            </a:extLst>
          </p:cNvPr>
          <p:cNvSpPr/>
          <p:nvPr/>
        </p:nvSpPr>
        <p:spPr>
          <a:xfrm>
            <a:off x="10030968" y="1993392"/>
            <a:ext cx="164592" cy="0"/>
          </a:xfrm>
          <a:prstGeom prst="line">
            <a:avLst/>
          </a:prstGeom>
          <a:noFill/>
          <a:ln w="15240">
            <a:solidFill>
              <a:srgbClr val="38D9E6"/>
            </a:solidFill>
            <a:prstDash val="solid"/>
          </a:ln>
        </p:spPr>
        <p:txBody>
          <a:bodyPr/>
          <a:lstStyle/>
          <a:p>
            <a:endParaRPr lang="en-US"/>
          </a:p>
        </p:txBody>
      </p:sp>
      <p:sp>
        <p:nvSpPr>
          <p:cNvPr id="224" name="Shape 117">
            <a:extLst>
              <a:ext uri="{FF2B5EF4-FFF2-40B4-BE49-F238E27FC236}">
                <a16:creationId xmlns:a16="http://schemas.microsoft.com/office/drawing/2014/main" id="{723D5086-52DF-2B34-9143-3ECC2F7E9D34}"/>
              </a:ext>
            </a:extLst>
          </p:cNvPr>
          <p:cNvSpPr/>
          <p:nvPr/>
        </p:nvSpPr>
        <p:spPr>
          <a:xfrm>
            <a:off x="11731752" y="1993392"/>
            <a:ext cx="164592" cy="0"/>
          </a:xfrm>
          <a:prstGeom prst="line">
            <a:avLst/>
          </a:prstGeom>
          <a:noFill/>
          <a:ln w="15240">
            <a:solidFill>
              <a:srgbClr val="38D9E6"/>
            </a:solidFill>
            <a:prstDash val="solid"/>
          </a:ln>
        </p:spPr>
        <p:txBody>
          <a:bodyPr/>
          <a:lstStyle/>
          <a:p>
            <a:endParaRPr lang="en-US"/>
          </a:p>
        </p:txBody>
      </p:sp>
      <p:sp>
        <p:nvSpPr>
          <p:cNvPr id="225" name="Shape 118">
            <a:extLst>
              <a:ext uri="{FF2B5EF4-FFF2-40B4-BE49-F238E27FC236}">
                <a16:creationId xmlns:a16="http://schemas.microsoft.com/office/drawing/2014/main" id="{27819A89-BD0A-0057-24B8-04306F1F129E}"/>
              </a:ext>
            </a:extLst>
          </p:cNvPr>
          <p:cNvSpPr/>
          <p:nvPr/>
        </p:nvSpPr>
        <p:spPr>
          <a:xfrm>
            <a:off x="10030968" y="2432304"/>
            <a:ext cx="164592" cy="0"/>
          </a:xfrm>
          <a:prstGeom prst="line">
            <a:avLst/>
          </a:prstGeom>
          <a:noFill/>
          <a:ln w="15240">
            <a:solidFill>
              <a:srgbClr val="38D9E6"/>
            </a:solidFill>
            <a:prstDash val="solid"/>
          </a:ln>
        </p:spPr>
        <p:txBody>
          <a:bodyPr/>
          <a:lstStyle/>
          <a:p>
            <a:endParaRPr lang="en-US"/>
          </a:p>
        </p:txBody>
      </p:sp>
      <p:sp>
        <p:nvSpPr>
          <p:cNvPr id="226" name="Shape 119">
            <a:extLst>
              <a:ext uri="{FF2B5EF4-FFF2-40B4-BE49-F238E27FC236}">
                <a16:creationId xmlns:a16="http://schemas.microsoft.com/office/drawing/2014/main" id="{C9E5F758-7ABA-C0BB-CF37-C39E6AC83011}"/>
              </a:ext>
            </a:extLst>
          </p:cNvPr>
          <p:cNvSpPr/>
          <p:nvPr/>
        </p:nvSpPr>
        <p:spPr>
          <a:xfrm>
            <a:off x="11731752" y="2432304"/>
            <a:ext cx="164592" cy="0"/>
          </a:xfrm>
          <a:prstGeom prst="line">
            <a:avLst/>
          </a:prstGeom>
          <a:noFill/>
          <a:ln w="15240">
            <a:solidFill>
              <a:srgbClr val="38D9E6"/>
            </a:solidFill>
            <a:prstDash val="solid"/>
          </a:ln>
        </p:spPr>
        <p:txBody>
          <a:bodyPr/>
          <a:lstStyle/>
          <a:p>
            <a:endParaRPr lang="en-US"/>
          </a:p>
        </p:txBody>
      </p:sp>
      <p:sp>
        <p:nvSpPr>
          <p:cNvPr id="227" name="Shape 120">
            <a:extLst>
              <a:ext uri="{FF2B5EF4-FFF2-40B4-BE49-F238E27FC236}">
                <a16:creationId xmlns:a16="http://schemas.microsoft.com/office/drawing/2014/main" id="{701164DF-C2AE-69C3-4F17-A7A795B9CED5}"/>
              </a:ext>
            </a:extLst>
          </p:cNvPr>
          <p:cNvSpPr/>
          <p:nvPr/>
        </p:nvSpPr>
        <p:spPr>
          <a:xfrm>
            <a:off x="10030968" y="2871216"/>
            <a:ext cx="164592" cy="0"/>
          </a:xfrm>
          <a:prstGeom prst="line">
            <a:avLst/>
          </a:prstGeom>
          <a:noFill/>
          <a:ln w="15240">
            <a:solidFill>
              <a:srgbClr val="38D9E6"/>
            </a:solidFill>
            <a:prstDash val="solid"/>
          </a:ln>
        </p:spPr>
        <p:txBody>
          <a:bodyPr/>
          <a:lstStyle/>
          <a:p>
            <a:endParaRPr lang="en-US"/>
          </a:p>
        </p:txBody>
      </p:sp>
      <p:sp>
        <p:nvSpPr>
          <p:cNvPr id="228" name="Shape 121">
            <a:extLst>
              <a:ext uri="{FF2B5EF4-FFF2-40B4-BE49-F238E27FC236}">
                <a16:creationId xmlns:a16="http://schemas.microsoft.com/office/drawing/2014/main" id="{416DDC68-D433-A7FB-BB8C-021A1EA15B16}"/>
              </a:ext>
            </a:extLst>
          </p:cNvPr>
          <p:cNvSpPr/>
          <p:nvPr/>
        </p:nvSpPr>
        <p:spPr>
          <a:xfrm>
            <a:off x="11731752" y="2871216"/>
            <a:ext cx="164592" cy="0"/>
          </a:xfrm>
          <a:prstGeom prst="line">
            <a:avLst/>
          </a:prstGeom>
          <a:noFill/>
          <a:ln w="15240">
            <a:solidFill>
              <a:srgbClr val="38D9E6"/>
            </a:solidFill>
            <a:prstDash val="solid"/>
          </a:ln>
        </p:spPr>
        <p:txBody>
          <a:bodyPr/>
          <a:lstStyle/>
          <a:p>
            <a:endParaRPr lang="en-US"/>
          </a:p>
        </p:txBody>
      </p:sp>
      <p:sp>
        <p:nvSpPr>
          <p:cNvPr id="229" name="Shape 122">
            <a:extLst>
              <a:ext uri="{FF2B5EF4-FFF2-40B4-BE49-F238E27FC236}">
                <a16:creationId xmlns:a16="http://schemas.microsoft.com/office/drawing/2014/main" id="{B659F2F2-06F0-F62F-0450-0AAD221E8FEC}"/>
              </a:ext>
            </a:extLst>
          </p:cNvPr>
          <p:cNvSpPr/>
          <p:nvPr/>
        </p:nvSpPr>
        <p:spPr>
          <a:xfrm>
            <a:off x="10030968" y="3310128"/>
            <a:ext cx="164592" cy="0"/>
          </a:xfrm>
          <a:prstGeom prst="line">
            <a:avLst/>
          </a:prstGeom>
          <a:noFill/>
          <a:ln w="15240">
            <a:solidFill>
              <a:srgbClr val="38D9E6"/>
            </a:solidFill>
            <a:prstDash val="solid"/>
          </a:ln>
        </p:spPr>
        <p:txBody>
          <a:bodyPr/>
          <a:lstStyle/>
          <a:p>
            <a:endParaRPr lang="en-US"/>
          </a:p>
        </p:txBody>
      </p:sp>
      <p:sp>
        <p:nvSpPr>
          <p:cNvPr id="230" name="Shape 123">
            <a:extLst>
              <a:ext uri="{FF2B5EF4-FFF2-40B4-BE49-F238E27FC236}">
                <a16:creationId xmlns:a16="http://schemas.microsoft.com/office/drawing/2014/main" id="{18DE0656-9E87-7B78-2FDE-3CDF4F899166}"/>
              </a:ext>
            </a:extLst>
          </p:cNvPr>
          <p:cNvSpPr/>
          <p:nvPr/>
        </p:nvSpPr>
        <p:spPr>
          <a:xfrm>
            <a:off x="11731752" y="3310128"/>
            <a:ext cx="164592" cy="0"/>
          </a:xfrm>
          <a:prstGeom prst="line">
            <a:avLst/>
          </a:prstGeom>
          <a:noFill/>
          <a:ln w="15240">
            <a:solidFill>
              <a:srgbClr val="38D9E6"/>
            </a:solidFill>
            <a:prstDash val="solid"/>
          </a:ln>
        </p:spPr>
        <p:txBody>
          <a:bodyPr/>
          <a:lstStyle/>
          <a:p>
            <a:endParaRPr lang="en-US"/>
          </a:p>
        </p:txBody>
      </p:sp>
      <p:sp>
        <p:nvSpPr>
          <p:cNvPr id="231" name="Text 124">
            <a:extLst>
              <a:ext uri="{FF2B5EF4-FFF2-40B4-BE49-F238E27FC236}">
                <a16:creationId xmlns:a16="http://schemas.microsoft.com/office/drawing/2014/main" id="{CF709FE8-3FAF-E493-273D-CCDE165EDC33}"/>
              </a:ext>
            </a:extLst>
          </p:cNvPr>
          <p:cNvSpPr/>
          <p:nvPr/>
        </p:nvSpPr>
        <p:spPr>
          <a:xfrm>
            <a:off x="10396728" y="1618488"/>
            <a:ext cx="1133856" cy="329184"/>
          </a:xfrm>
          <a:prstGeom prst="rect">
            <a:avLst/>
          </a:prstGeom>
          <a:noFill/>
          <a:ln/>
        </p:spPr>
        <p:txBody>
          <a:bodyPr wrap="square" lIns="0" tIns="0" rIns="0" bIns="0" rtlCol="0" anchor="ctr"/>
          <a:lstStyle/>
          <a:p>
            <a:pPr marL="0" indent="0" algn="ctr">
              <a:buNone/>
            </a:pPr>
            <a:r>
              <a:rPr lang="en-US" sz="1800" b="1" dirty="0">
                <a:solidFill>
                  <a:srgbClr val="F4F8FB"/>
                </a:solidFill>
                <a:latin typeface="Inter Display" pitchFamily="34" charset="0"/>
                <a:ea typeface="Inter Display" pitchFamily="34" charset="-122"/>
                <a:cs typeface="Inter Display" pitchFamily="34" charset="-120"/>
              </a:rPr>
              <a:t>FPGA</a:t>
            </a:r>
            <a:endParaRPr lang="en-US" sz="1800" dirty="0"/>
          </a:p>
        </p:txBody>
      </p:sp>
      <p:sp>
        <p:nvSpPr>
          <p:cNvPr id="232" name="Text 125">
            <a:extLst>
              <a:ext uri="{FF2B5EF4-FFF2-40B4-BE49-F238E27FC236}">
                <a16:creationId xmlns:a16="http://schemas.microsoft.com/office/drawing/2014/main" id="{B3A61320-1510-D37F-FBFD-7ED6AB260144}"/>
              </a:ext>
            </a:extLst>
          </p:cNvPr>
          <p:cNvSpPr/>
          <p:nvPr/>
        </p:nvSpPr>
        <p:spPr>
          <a:xfrm>
            <a:off x="10396728" y="2029968"/>
            <a:ext cx="1133856" cy="219456"/>
          </a:xfrm>
          <a:prstGeom prst="rect">
            <a:avLst/>
          </a:prstGeom>
          <a:noFill/>
          <a:ln/>
        </p:spPr>
        <p:txBody>
          <a:bodyPr wrap="square" lIns="0" tIns="0" rIns="0" bIns="0" rtlCol="0" anchor="ctr"/>
          <a:lstStyle/>
          <a:p>
            <a:pPr marL="0" indent="0" algn="ctr">
              <a:buNone/>
            </a:pPr>
            <a:r>
              <a:rPr lang="en-US" sz="950" b="1" dirty="0">
                <a:solidFill>
                  <a:srgbClr val="38D9E6"/>
                </a:solidFill>
                <a:latin typeface="Inter" pitchFamily="34" charset="0"/>
                <a:ea typeface="Inter" pitchFamily="34" charset="-122"/>
                <a:cs typeface="Inter" pitchFamily="34" charset="-120"/>
              </a:rPr>
              <a:t>K26 PL</a:t>
            </a:r>
            <a:endParaRPr lang="en-US" sz="950" dirty="0"/>
          </a:p>
        </p:txBody>
      </p:sp>
      <p:sp>
        <p:nvSpPr>
          <p:cNvPr id="233" name="Shape 126">
            <a:extLst>
              <a:ext uri="{FF2B5EF4-FFF2-40B4-BE49-F238E27FC236}">
                <a16:creationId xmlns:a16="http://schemas.microsoft.com/office/drawing/2014/main" id="{2A653B4B-0FBA-8734-3BFC-AC99838C245A}"/>
              </a:ext>
            </a:extLst>
          </p:cNvPr>
          <p:cNvSpPr/>
          <p:nvPr/>
        </p:nvSpPr>
        <p:spPr>
          <a:xfrm>
            <a:off x="10634472" y="2423160"/>
            <a:ext cx="658368" cy="384048"/>
          </a:xfrm>
          <a:prstGeom prst="rect">
            <a:avLst/>
          </a:prstGeom>
          <a:solidFill>
            <a:srgbClr val="0A1625"/>
          </a:solidFill>
          <a:ln w="10160">
            <a:solidFill>
              <a:srgbClr val="22384E"/>
            </a:solidFill>
            <a:prstDash val="solid"/>
          </a:ln>
        </p:spPr>
        <p:txBody>
          <a:bodyPr/>
          <a:lstStyle/>
          <a:p>
            <a:endParaRPr lang="en-US"/>
          </a:p>
        </p:txBody>
      </p:sp>
      <p:sp>
        <p:nvSpPr>
          <p:cNvPr id="234" name="Text 127">
            <a:extLst>
              <a:ext uri="{FF2B5EF4-FFF2-40B4-BE49-F238E27FC236}">
                <a16:creationId xmlns:a16="http://schemas.microsoft.com/office/drawing/2014/main" id="{F4695932-CA23-C547-B181-96EE05C954CB}"/>
              </a:ext>
            </a:extLst>
          </p:cNvPr>
          <p:cNvSpPr/>
          <p:nvPr/>
        </p:nvSpPr>
        <p:spPr>
          <a:xfrm>
            <a:off x="10652760" y="2523744"/>
            <a:ext cx="621792" cy="146304"/>
          </a:xfrm>
          <a:prstGeom prst="rect">
            <a:avLst/>
          </a:prstGeom>
          <a:noFill/>
          <a:ln/>
        </p:spPr>
        <p:txBody>
          <a:bodyPr wrap="square" lIns="0" tIns="0" rIns="0" bIns="0" rtlCol="0" anchor="ctr"/>
          <a:lstStyle/>
          <a:p>
            <a:pPr marL="0" indent="0" algn="ctr">
              <a:buNone/>
            </a:pPr>
            <a:r>
              <a:rPr lang="en-US" sz="750" b="1" dirty="0">
                <a:solidFill>
                  <a:srgbClr val="A8B6C5"/>
                </a:solidFill>
                <a:latin typeface="Inter" pitchFamily="34" charset="0"/>
                <a:ea typeface="Inter" pitchFamily="34" charset="-122"/>
                <a:cs typeface="Inter" pitchFamily="34" charset="-120"/>
              </a:rPr>
              <a:t>DCT  •  Q  •  RLE</a:t>
            </a:r>
            <a:endParaRPr lang="en-US" sz="750" dirty="0"/>
          </a:p>
        </p:txBody>
      </p:sp>
      <p:sp>
        <p:nvSpPr>
          <p:cNvPr id="235" name="Text 128">
            <a:extLst>
              <a:ext uri="{FF2B5EF4-FFF2-40B4-BE49-F238E27FC236}">
                <a16:creationId xmlns:a16="http://schemas.microsoft.com/office/drawing/2014/main" id="{4B67A3BE-371B-FB61-E8A1-F85BE388BE99}"/>
              </a:ext>
            </a:extLst>
          </p:cNvPr>
          <p:cNvSpPr/>
          <p:nvPr/>
        </p:nvSpPr>
        <p:spPr>
          <a:xfrm>
            <a:off x="10195560" y="3730752"/>
            <a:ext cx="1536192" cy="438912"/>
          </a:xfrm>
          <a:prstGeom prst="rect">
            <a:avLst/>
          </a:prstGeom>
          <a:noFill/>
          <a:ln/>
        </p:spPr>
        <p:txBody>
          <a:bodyPr wrap="square" lIns="0" tIns="0" rIns="0" bIns="0" rtlCol="0" anchor="ctr"/>
          <a:lstStyle/>
          <a:p>
            <a:pPr marL="0" indent="0" algn="ctr">
              <a:buNone/>
            </a:pPr>
            <a:r>
              <a:rPr lang="en-US" sz="970" b="1" dirty="0">
                <a:solidFill>
                  <a:srgbClr val="24C9AA"/>
                </a:solidFill>
                <a:latin typeface="Inter" pitchFamily="34" charset="0"/>
                <a:ea typeface="Inter" pitchFamily="34" charset="-122"/>
                <a:cs typeface="Inter" pitchFamily="34" charset="-120"/>
              </a:rPr>
              <a:t>custom packed</a:t>
            </a:r>
            <a:endParaRPr lang="en-US" sz="970" dirty="0"/>
          </a:p>
          <a:p>
            <a:pPr marL="0" indent="0" algn="ctr">
              <a:buNone/>
            </a:pPr>
            <a:r>
              <a:rPr lang="en-US" sz="970" b="1" dirty="0">
                <a:solidFill>
                  <a:srgbClr val="24C9AA"/>
                </a:solidFill>
                <a:latin typeface="Inter" pitchFamily="34" charset="0"/>
                <a:ea typeface="Inter" pitchFamily="34" charset="-122"/>
                <a:cs typeface="Inter" pitchFamily="34" charset="-120"/>
              </a:rPr>
              <a:t>output</a:t>
            </a:r>
            <a:endParaRPr lang="en-US" sz="970" dirty="0"/>
          </a:p>
        </p:txBody>
      </p:sp>
      <p:sp>
        <p:nvSpPr>
          <p:cNvPr id="236" name="Text 41">
            <a:extLst>
              <a:ext uri="{FF2B5EF4-FFF2-40B4-BE49-F238E27FC236}">
                <a16:creationId xmlns:a16="http://schemas.microsoft.com/office/drawing/2014/main" id="{765E6FC7-B85F-9163-3427-928C56E6E30C}"/>
              </a:ext>
            </a:extLst>
          </p:cNvPr>
          <p:cNvSpPr/>
          <p:nvPr/>
        </p:nvSpPr>
        <p:spPr>
          <a:xfrm>
            <a:off x="7929456" y="4526280"/>
            <a:ext cx="3745824" cy="1627622"/>
          </a:xfrm>
          <a:prstGeom prst="rect">
            <a:avLst/>
          </a:prstGeom>
          <a:noFill/>
          <a:ln/>
        </p:spPr>
        <p:txBody>
          <a:bodyPr wrap="square" lIns="0" tIns="0" rIns="0" bIns="0" rtlCol="0" anchor="ctr">
            <a:normAutofit/>
          </a:bodyPr>
          <a:lstStyle/>
          <a:p>
            <a:r>
              <a:rPr lang="en-US" sz="2000" dirty="0">
                <a:solidFill>
                  <a:srgbClr val="A8B6C5"/>
                </a:solidFill>
                <a:latin typeface="Inter" pitchFamily="34" charset="0"/>
                <a:ea typeface="Inter" pitchFamily="34" charset="-122"/>
                <a:cs typeface="Inter" pitchFamily="34" charset="-120"/>
              </a:rPr>
              <a:t>Abhishek Poddar	z5581147</a:t>
            </a:r>
          </a:p>
          <a:p>
            <a:r>
              <a:rPr lang="en-US" sz="2000" dirty="0">
                <a:solidFill>
                  <a:srgbClr val="A8B6C5"/>
                </a:solidFill>
                <a:latin typeface="Inter" pitchFamily="34" charset="0"/>
                <a:ea typeface="Inter" pitchFamily="34" charset="-122"/>
                <a:cs typeface="Inter" pitchFamily="34" charset="-120"/>
              </a:rPr>
              <a:t>Sakina Huzaifa	z5400462</a:t>
            </a:r>
          </a:p>
          <a:p>
            <a:r>
              <a:rPr lang="en-US" sz="2000" dirty="0">
                <a:solidFill>
                  <a:srgbClr val="A8B6C5"/>
                </a:solidFill>
                <a:latin typeface="Inter" pitchFamily="34" charset="0"/>
                <a:ea typeface="Inter" pitchFamily="34" charset="-122"/>
                <a:cs typeface="Inter" pitchFamily="34" charset="-120"/>
              </a:rPr>
              <a:t>Krishna Mittal	z5625451</a:t>
            </a:r>
          </a:p>
          <a:p>
            <a:r>
              <a:rPr lang="en-US" sz="2000" dirty="0">
                <a:solidFill>
                  <a:srgbClr val="A8B6C5"/>
                </a:solidFill>
                <a:latin typeface="Inter" pitchFamily="34" charset="0"/>
                <a:ea typeface="Inter" pitchFamily="34" charset="-122"/>
                <a:cs typeface="Inter" pitchFamily="34" charset="-120"/>
              </a:rPr>
              <a:t>Shriya Malik	z5619441</a:t>
            </a:r>
            <a:endParaRPr lang="en-US" sz="2000" dirty="0"/>
          </a:p>
        </p:txBody>
      </p:sp>
    </p:spTree>
    <p:extLst>
      <p:ext uri="{BB962C8B-B14F-4D97-AF65-F5344CB8AC3E}">
        <p14:creationId xmlns:p14="http://schemas.microsoft.com/office/powerpoint/2010/main" val="17174091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9802368" y="0"/>
            <a:ext cx="2386584" cy="2971800"/>
          </a:xfrm>
          <a:prstGeom prst="ellipse">
            <a:avLst/>
          </a:prstGeom>
          <a:solidFill>
            <a:srgbClr val="38D9E6">
              <a:alpha val="8000"/>
            </a:srgbClr>
          </a:solidFill>
          <a:ln w="12700">
            <a:solidFill>
              <a:srgbClr val="38D9E6">
                <a:alpha val="0"/>
              </a:srgbClr>
            </a:solidFill>
            <a:prstDash val="solid"/>
          </a:ln>
        </p:spPr>
        <p:txBody>
          <a:bodyPr/>
          <a:lstStyle/>
          <a:p>
            <a:endParaRPr lang="en-US"/>
          </a:p>
        </p:txBody>
      </p:sp>
      <p:sp>
        <p:nvSpPr>
          <p:cNvPr id="3" name="Shape 1"/>
          <p:cNvSpPr/>
          <p:nvPr/>
        </p:nvSpPr>
        <p:spPr>
          <a:xfrm>
            <a:off x="0" y="5230368"/>
            <a:ext cx="2395728" cy="1627632"/>
          </a:xfrm>
          <a:prstGeom prst="ellipse">
            <a:avLst/>
          </a:prstGeom>
          <a:solidFill>
            <a:srgbClr val="668EFF">
              <a:alpha val="6000"/>
            </a:srgbClr>
          </a:solidFill>
          <a:ln w="12700">
            <a:solidFill>
              <a:srgbClr val="668EFF">
                <a:alpha val="0"/>
              </a:srgbClr>
            </a:solidFill>
            <a:prstDash val="solid"/>
          </a:ln>
        </p:spPr>
        <p:txBody>
          <a:bodyPr/>
          <a:lstStyle/>
          <a:p>
            <a:endParaRPr lang="en-US"/>
          </a:p>
        </p:txBody>
      </p:sp>
      <p:sp>
        <p:nvSpPr>
          <p:cNvPr id="4" name="Shape 2"/>
          <p:cNvSpPr/>
          <p:nvPr/>
        </p:nvSpPr>
        <p:spPr>
          <a:xfrm>
            <a:off x="457200" y="0"/>
            <a:ext cx="0" cy="6858000"/>
          </a:xfrm>
          <a:prstGeom prst="line">
            <a:avLst/>
          </a:prstGeom>
          <a:noFill/>
          <a:ln w="5080">
            <a:solidFill>
              <a:srgbClr val="22384E">
                <a:alpha val="6000"/>
              </a:srgbClr>
            </a:solidFill>
            <a:prstDash val="solid"/>
          </a:ln>
        </p:spPr>
        <p:txBody>
          <a:bodyPr/>
          <a:lstStyle/>
          <a:p>
            <a:endParaRPr lang="en-US"/>
          </a:p>
        </p:txBody>
      </p:sp>
      <p:sp>
        <p:nvSpPr>
          <p:cNvPr id="5" name="Shape 3"/>
          <p:cNvSpPr/>
          <p:nvPr/>
        </p:nvSpPr>
        <p:spPr>
          <a:xfrm>
            <a:off x="960120" y="0"/>
            <a:ext cx="0" cy="6858000"/>
          </a:xfrm>
          <a:prstGeom prst="line">
            <a:avLst/>
          </a:prstGeom>
          <a:noFill/>
          <a:ln w="5080">
            <a:solidFill>
              <a:srgbClr val="22384E">
                <a:alpha val="6000"/>
              </a:srgbClr>
            </a:solidFill>
            <a:prstDash val="solid"/>
          </a:ln>
        </p:spPr>
        <p:txBody>
          <a:bodyPr/>
          <a:lstStyle/>
          <a:p>
            <a:endParaRPr lang="en-US"/>
          </a:p>
        </p:txBody>
      </p:sp>
      <p:sp>
        <p:nvSpPr>
          <p:cNvPr id="6" name="Shape 4"/>
          <p:cNvSpPr/>
          <p:nvPr/>
        </p:nvSpPr>
        <p:spPr>
          <a:xfrm>
            <a:off x="1463040" y="0"/>
            <a:ext cx="0" cy="6858000"/>
          </a:xfrm>
          <a:prstGeom prst="line">
            <a:avLst/>
          </a:prstGeom>
          <a:noFill/>
          <a:ln w="5080">
            <a:solidFill>
              <a:srgbClr val="22384E">
                <a:alpha val="6000"/>
              </a:srgbClr>
            </a:solidFill>
            <a:prstDash val="solid"/>
          </a:ln>
        </p:spPr>
        <p:txBody>
          <a:bodyPr/>
          <a:lstStyle/>
          <a:p>
            <a:endParaRPr lang="en-US"/>
          </a:p>
        </p:txBody>
      </p:sp>
      <p:sp>
        <p:nvSpPr>
          <p:cNvPr id="7" name="Shape 5"/>
          <p:cNvSpPr/>
          <p:nvPr/>
        </p:nvSpPr>
        <p:spPr>
          <a:xfrm>
            <a:off x="1965960" y="0"/>
            <a:ext cx="0" cy="6858000"/>
          </a:xfrm>
          <a:prstGeom prst="line">
            <a:avLst/>
          </a:prstGeom>
          <a:noFill/>
          <a:ln w="5080">
            <a:solidFill>
              <a:srgbClr val="22384E">
                <a:alpha val="6000"/>
              </a:srgbClr>
            </a:solidFill>
            <a:prstDash val="solid"/>
          </a:ln>
        </p:spPr>
        <p:txBody>
          <a:bodyPr/>
          <a:lstStyle/>
          <a:p>
            <a:endParaRPr lang="en-US"/>
          </a:p>
        </p:txBody>
      </p:sp>
      <p:sp>
        <p:nvSpPr>
          <p:cNvPr id="8" name="Shape 6"/>
          <p:cNvSpPr/>
          <p:nvPr/>
        </p:nvSpPr>
        <p:spPr>
          <a:xfrm>
            <a:off x="2468880" y="0"/>
            <a:ext cx="0" cy="6858000"/>
          </a:xfrm>
          <a:prstGeom prst="line">
            <a:avLst/>
          </a:prstGeom>
          <a:noFill/>
          <a:ln w="5080">
            <a:solidFill>
              <a:srgbClr val="22384E">
                <a:alpha val="6000"/>
              </a:srgbClr>
            </a:solidFill>
            <a:prstDash val="solid"/>
          </a:ln>
        </p:spPr>
        <p:txBody>
          <a:bodyPr/>
          <a:lstStyle/>
          <a:p>
            <a:endParaRPr lang="en-US"/>
          </a:p>
        </p:txBody>
      </p:sp>
      <p:sp>
        <p:nvSpPr>
          <p:cNvPr id="9" name="Shape 7"/>
          <p:cNvSpPr/>
          <p:nvPr/>
        </p:nvSpPr>
        <p:spPr>
          <a:xfrm>
            <a:off x="2971800" y="0"/>
            <a:ext cx="0" cy="6858000"/>
          </a:xfrm>
          <a:prstGeom prst="line">
            <a:avLst/>
          </a:prstGeom>
          <a:noFill/>
          <a:ln w="5080">
            <a:solidFill>
              <a:srgbClr val="22384E">
                <a:alpha val="6000"/>
              </a:srgbClr>
            </a:solidFill>
            <a:prstDash val="solid"/>
          </a:ln>
        </p:spPr>
        <p:txBody>
          <a:bodyPr/>
          <a:lstStyle/>
          <a:p>
            <a:endParaRPr lang="en-US"/>
          </a:p>
        </p:txBody>
      </p:sp>
      <p:sp>
        <p:nvSpPr>
          <p:cNvPr id="10" name="Shape 8"/>
          <p:cNvSpPr/>
          <p:nvPr/>
        </p:nvSpPr>
        <p:spPr>
          <a:xfrm>
            <a:off x="3474720" y="0"/>
            <a:ext cx="0" cy="6858000"/>
          </a:xfrm>
          <a:prstGeom prst="line">
            <a:avLst/>
          </a:prstGeom>
          <a:noFill/>
          <a:ln w="5080">
            <a:solidFill>
              <a:srgbClr val="22384E">
                <a:alpha val="6000"/>
              </a:srgbClr>
            </a:solidFill>
            <a:prstDash val="solid"/>
          </a:ln>
        </p:spPr>
        <p:txBody>
          <a:bodyPr/>
          <a:lstStyle/>
          <a:p>
            <a:endParaRPr lang="en-US"/>
          </a:p>
        </p:txBody>
      </p:sp>
      <p:sp>
        <p:nvSpPr>
          <p:cNvPr id="11" name="Shape 9"/>
          <p:cNvSpPr/>
          <p:nvPr/>
        </p:nvSpPr>
        <p:spPr>
          <a:xfrm>
            <a:off x="3977640" y="0"/>
            <a:ext cx="0" cy="6858000"/>
          </a:xfrm>
          <a:prstGeom prst="line">
            <a:avLst/>
          </a:prstGeom>
          <a:noFill/>
          <a:ln w="5080">
            <a:solidFill>
              <a:srgbClr val="22384E">
                <a:alpha val="6000"/>
              </a:srgbClr>
            </a:solidFill>
            <a:prstDash val="solid"/>
          </a:ln>
        </p:spPr>
        <p:txBody>
          <a:bodyPr/>
          <a:lstStyle/>
          <a:p>
            <a:endParaRPr lang="en-US"/>
          </a:p>
        </p:txBody>
      </p:sp>
      <p:sp>
        <p:nvSpPr>
          <p:cNvPr id="12" name="Shape 10"/>
          <p:cNvSpPr/>
          <p:nvPr/>
        </p:nvSpPr>
        <p:spPr>
          <a:xfrm>
            <a:off x="4480560" y="0"/>
            <a:ext cx="0" cy="6858000"/>
          </a:xfrm>
          <a:prstGeom prst="line">
            <a:avLst/>
          </a:prstGeom>
          <a:noFill/>
          <a:ln w="5080">
            <a:solidFill>
              <a:srgbClr val="22384E">
                <a:alpha val="6000"/>
              </a:srgbClr>
            </a:solidFill>
            <a:prstDash val="solid"/>
          </a:ln>
        </p:spPr>
        <p:txBody>
          <a:bodyPr/>
          <a:lstStyle/>
          <a:p>
            <a:endParaRPr lang="en-US"/>
          </a:p>
        </p:txBody>
      </p:sp>
      <p:sp>
        <p:nvSpPr>
          <p:cNvPr id="13" name="Shape 11"/>
          <p:cNvSpPr/>
          <p:nvPr/>
        </p:nvSpPr>
        <p:spPr>
          <a:xfrm>
            <a:off x="4983480" y="0"/>
            <a:ext cx="0" cy="6858000"/>
          </a:xfrm>
          <a:prstGeom prst="line">
            <a:avLst/>
          </a:prstGeom>
          <a:noFill/>
          <a:ln w="5080">
            <a:solidFill>
              <a:srgbClr val="22384E">
                <a:alpha val="6000"/>
              </a:srgbClr>
            </a:solidFill>
            <a:prstDash val="solid"/>
          </a:ln>
        </p:spPr>
        <p:txBody>
          <a:bodyPr/>
          <a:lstStyle/>
          <a:p>
            <a:endParaRPr lang="en-US"/>
          </a:p>
        </p:txBody>
      </p:sp>
      <p:sp>
        <p:nvSpPr>
          <p:cNvPr id="14" name="Shape 12"/>
          <p:cNvSpPr/>
          <p:nvPr/>
        </p:nvSpPr>
        <p:spPr>
          <a:xfrm>
            <a:off x="5486400" y="0"/>
            <a:ext cx="0" cy="6858000"/>
          </a:xfrm>
          <a:prstGeom prst="line">
            <a:avLst/>
          </a:prstGeom>
          <a:noFill/>
          <a:ln w="5080">
            <a:solidFill>
              <a:srgbClr val="22384E">
                <a:alpha val="6000"/>
              </a:srgbClr>
            </a:solidFill>
            <a:prstDash val="solid"/>
          </a:ln>
        </p:spPr>
        <p:txBody>
          <a:bodyPr/>
          <a:lstStyle/>
          <a:p>
            <a:endParaRPr lang="en-US"/>
          </a:p>
        </p:txBody>
      </p:sp>
      <p:sp>
        <p:nvSpPr>
          <p:cNvPr id="15" name="Shape 13"/>
          <p:cNvSpPr/>
          <p:nvPr/>
        </p:nvSpPr>
        <p:spPr>
          <a:xfrm>
            <a:off x="5989320" y="0"/>
            <a:ext cx="0" cy="6858000"/>
          </a:xfrm>
          <a:prstGeom prst="line">
            <a:avLst/>
          </a:prstGeom>
          <a:noFill/>
          <a:ln w="5080">
            <a:solidFill>
              <a:srgbClr val="22384E">
                <a:alpha val="6000"/>
              </a:srgbClr>
            </a:solidFill>
            <a:prstDash val="solid"/>
          </a:ln>
        </p:spPr>
        <p:txBody>
          <a:bodyPr/>
          <a:lstStyle/>
          <a:p>
            <a:endParaRPr lang="en-US"/>
          </a:p>
        </p:txBody>
      </p:sp>
      <p:sp>
        <p:nvSpPr>
          <p:cNvPr id="16" name="Shape 14"/>
          <p:cNvSpPr/>
          <p:nvPr/>
        </p:nvSpPr>
        <p:spPr>
          <a:xfrm>
            <a:off x="6492240" y="0"/>
            <a:ext cx="0" cy="6858000"/>
          </a:xfrm>
          <a:prstGeom prst="line">
            <a:avLst/>
          </a:prstGeom>
          <a:noFill/>
          <a:ln w="5080">
            <a:solidFill>
              <a:srgbClr val="22384E">
                <a:alpha val="6000"/>
              </a:srgbClr>
            </a:solidFill>
            <a:prstDash val="solid"/>
          </a:ln>
        </p:spPr>
        <p:txBody>
          <a:bodyPr/>
          <a:lstStyle/>
          <a:p>
            <a:endParaRPr lang="en-US"/>
          </a:p>
        </p:txBody>
      </p:sp>
      <p:sp>
        <p:nvSpPr>
          <p:cNvPr id="17" name="Shape 15"/>
          <p:cNvSpPr/>
          <p:nvPr/>
        </p:nvSpPr>
        <p:spPr>
          <a:xfrm>
            <a:off x="6995160" y="0"/>
            <a:ext cx="0" cy="6858000"/>
          </a:xfrm>
          <a:prstGeom prst="line">
            <a:avLst/>
          </a:prstGeom>
          <a:noFill/>
          <a:ln w="5080">
            <a:solidFill>
              <a:srgbClr val="22384E">
                <a:alpha val="6000"/>
              </a:srgbClr>
            </a:solidFill>
            <a:prstDash val="solid"/>
          </a:ln>
        </p:spPr>
        <p:txBody>
          <a:bodyPr/>
          <a:lstStyle/>
          <a:p>
            <a:endParaRPr lang="en-US"/>
          </a:p>
        </p:txBody>
      </p:sp>
      <p:sp>
        <p:nvSpPr>
          <p:cNvPr id="18" name="Shape 16"/>
          <p:cNvSpPr/>
          <p:nvPr/>
        </p:nvSpPr>
        <p:spPr>
          <a:xfrm>
            <a:off x="7498080" y="0"/>
            <a:ext cx="0" cy="6858000"/>
          </a:xfrm>
          <a:prstGeom prst="line">
            <a:avLst/>
          </a:prstGeom>
          <a:noFill/>
          <a:ln w="5080">
            <a:solidFill>
              <a:srgbClr val="22384E">
                <a:alpha val="6000"/>
              </a:srgbClr>
            </a:solidFill>
            <a:prstDash val="solid"/>
          </a:ln>
        </p:spPr>
        <p:txBody>
          <a:bodyPr/>
          <a:lstStyle/>
          <a:p>
            <a:endParaRPr lang="en-US"/>
          </a:p>
        </p:txBody>
      </p:sp>
      <p:sp>
        <p:nvSpPr>
          <p:cNvPr id="19" name="Shape 17"/>
          <p:cNvSpPr/>
          <p:nvPr/>
        </p:nvSpPr>
        <p:spPr>
          <a:xfrm>
            <a:off x="8001000" y="0"/>
            <a:ext cx="0" cy="6858000"/>
          </a:xfrm>
          <a:prstGeom prst="line">
            <a:avLst/>
          </a:prstGeom>
          <a:noFill/>
          <a:ln w="5080">
            <a:solidFill>
              <a:srgbClr val="22384E">
                <a:alpha val="6000"/>
              </a:srgbClr>
            </a:solidFill>
            <a:prstDash val="solid"/>
          </a:ln>
        </p:spPr>
        <p:txBody>
          <a:bodyPr/>
          <a:lstStyle/>
          <a:p>
            <a:endParaRPr lang="en-US"/>
          </a:p>
        </p:txBody>
      </p:sp>
      <p:sp>
        <p:nvSpPr>
          <p:cNvPr id="20" name="Shape 18"/>
          <p:cNvSpPr/>
          <p:nvPr/>
        </p:nvSpPr>
        <p:spPr>
          <a:xfrm>
            <a:off x="8503920" y="0"/>
            <a:ext cx="0" cy="6858000"/>
          </a:xfrm>
          <a:prstGeom prst="line">
            <a:avLst/>
          </a:prstGeom>
          <a:noFill/>
          <a:ln w="5080">
            <a:solidFill>
              <a:srgbClr val="22384E">
                <a:alpha val="6000"/>
              </a:srgbClr>
            </a:solidFill>
            <a:prstDash val="solid"/>
          </a:ln>
        </p:spPr>
        <p:txBody>
          <a:bodyPr/>
          <a:lstStyle/>
          <a:p>
            <a:endParaRPr lang="en-US"/>
          </a:p>
        </p:txBody>
      </p:sp>
      <p:sp>
        <p:nvSpPr>
          <p:cNvPr id="21" name="Shape 19"/>
          <p:cNvSpPr/>
          <p:nvPr/>
        </p:nvSpPr>
        <p:spPr>
          <a:xfrm>
            <a:off x="9006840" y="0"/>
            <a:ext cx="0" cy="6858000"/>
          </a:xfrm>
          <a:prstGeom prst="line">
            <a:avLst/>
          </a:prstGeom>
          <a:noFill/>
          <a:ln w="5080">
            <a:solidFill>
              <a:srgbClr val="22384E">
                <a:alpha val="6000"/>
              </a:srgbClr>
            </a:solidFill>
            <a:prstDash val="solid"/>
          </a:ln>
        </p:spPr>
        <p:txBody>
          <a:bodyPr/>
          <a:lstStyle/>
          <a:p>
            <a:endParaRPr lang="en-US"/>
          </a:p>
        </p:txBody>
      </p:sp>
      <p:sp>
        <p:nvSpPr>
          <p:cNvPr id="22" name="Shape 20"/>
          <p:cNvSpPr/>
          <p:nvPr/>
        </p:nvSpPr>
        <p:spPr>
          <a:xfrm>
            <a:off x="9509760" y="0"/>
            <a:ext cx="0" cy="6858000"/>
          </a:xfrm>
          <a:prstGeom prst="line">
            <a:avLst/>
          </a:prstGeom>
          <a:noFill/>
          <a:ln w="5080">
            <a:solidFill>
              <a:srgbClr val="22384E">
                <a:alpha val="6000"/>
              </a:srgbClr>
            </a:solidFill>
            <a:prstDash val="solid"/>
          </a:ln>
        </p:spPr>
        <p:txBody>
          <a:bodyPr/>
          <a:lstStyle/>
          <a:p>
            <a:endParaRPr lang="en-US"/>
          </a:p>
        </p:txBody>
      </p:sp>
      <p:sp>
        <p:nvSpPr>
          <p:cNvPr id="23" name="Shape 21"/>
          <p:cNvSpPr/>
          <p:nvPr/>
        </p:nvSpPr>
        <p:spPr>
          <a:xfrm>
            <a:off x="10012680" y="0"/>
            <a:ext cx="0" cy="6858000"/>
          </a:xfrm>
          <a:prstGeom prst="line">
            <a:avLst/>
          </a:prstGeom>
          <a:noFill/>
          <a:ln w="5080">
            <a:solidFill>
              <a:srgbClr val="22384E">
                <a:alpha val="6000"/>
              </a:srgbClr>
            </a:solidFill>
            <a:prstDash val="solid"/>
          </a:ln>
        </p:spPr>
        <p:txBody>
          <a:bodyPr/>
          <a:lstStyle/>
          <a:p>
            <a:endParaRPr lang="en-US"/>
          </a:p>
        </p:txBody>
      </p:sp>
      <p:sp>
        <p:nvSpPr>
          <p:cNvPr id="24" name="Shape 22"/>
          <p:cNvSpPr/>
          <p:nvPr/>
        </p:nvSpPr>
        <p:spPr>
          <a:xfrm>
            <a:off x="10515600" y="0"/>
            <a:ext cx="0" cy="6858000"/>
          </a:xfrm>
          <a:prstGeom prst="line">
            <a:avLst/>
          </a:prstGeom>
          <a:noFill/>
          <a:ln w="5080">
            <a:solidFill>
              <a:srgbClr val="22384E">
                <a:alpha val="6000"/>
              </a:srgbClr>
            </a:solidFill>
            <a:prstDash val="solid"/>
          </a:ln>
        </p:spPr>
        <p:txBody>
          <a:bodyPr/>
          <a:lstStyle/>
          <a:p>
            <a:endParaRPr lang="en-US"/>
          </a:p>
        </p:txBody>
      </p:sp>
      <p:sp>
        <p:nvSpPr>
          <p:cNvPr id="25" name="Shape 23"/>
          <p:cNvSpPr/>
          <p:nvPr/>
        </p:nvSpPr>
        <p:spPr>
          <a:xfrm>
            <a:off x="11018520" y="0"/>
            <a:ext cx="0" cy="6858000"/>
          </a:xfrm>
          <a:prstGeom prst="line">
            <a:avLst/>
          </a:prstGeom>
          <a:noFill/>
          <a:ln w="5080">
            <a:solidFill>
              <a:srgbClr val="22384E">
                <a:alpha val="6000"/>
              </a:srgbClr>
            </a:solidFill>
            <a:prstDash val="solid"/>
          </a:ln>
        </p:spPr>
        <p:txBody>
          <a:bodyPr/>
          <a:lstStyle/>
          <a:p>
            <a:endParaRPr lang="en-US"/>
          </a:p>
        </p:txBody>
      </p:sp>
      <p:sp>
        <p:nvSpPr>
          <p:cNvPr id="26" name="Shape 24"/>
          <p:cNvSpPr/>
          <p:nvPr/>
        </p:nvSpPr>
        <p:spPr>
          <a:xfrm>
            <a:off x="11521440" y="0"/>
            <a:ext cx="0" cy="6858000"/>
          </a:xfrm>
          <a:prstGeom prst="line">
            <a:avLst/>
          </a:prstGeom>
          <a:noFill/>
          <a:ln w="5080">
            <a:solidFill>
              <a:srgbClr val="22384E">
                <a:alpha val="6000"/>
              </a:srgbClr>
            </a:solidFill>
            <a:prstDash val="solid"/>
          </a:ln>
        </p:spPr>
        <p:txBody>
          <a:bodyPr/>
          <a:lstStyle/>
          <a:p>
            <a:endParaRPr lang="en-US"/>
          </a:p>
        </p:txBody>
      </p:sp>
      <p:sp>
        <p:nvSpPr>
          <p:cNvPr id="27" name="Shape 25"/>
          <p:cNvSpPr/>
          <p:nvPr/>
        </p:nvSpPr>
        <p:spPr>
          <a:xfrm>
            <a:off x="0" y="320040"/>
            <a:ext cx="12191695" cy="0"/>
          </a:xfrm>
          <a:prstGeom prst="line">
            <a:avLst/>
          </a:prstGeom>
          <a:noFill/>
          <a:ln w="5080">
            <a:solidFill>
              <a:srgbClr val="22384E">
                <a:alpha val="5000"/>
              </a:srgbClr>
            </a:solidFill>
            <a:prstDash val="solid"/>
          </a:ln>
        </p:spPr>
        <p:txBody>
          <a:bodyPr/>
          <a:lstStyle/>
          <a:p>
            <a:endParaRPr lang="en-US"/>
          </a:p>
        </p:txBody>
      </p:sp>
      <p:sp>
        <p:nvSpPr>
          <p:cNvPr id="28" name="Shape 26"/>
          <p:cNvSpPr/>
          <p:nvPr/>
        </p:nvSpPr>
        <p:spPr>
          <a:xfrm>
            <a:off x="0" y="822960"/>
            <a:ext cx="12191695" cy="0"/>
          </a:xfrm>
          <a:prstGeom prst="line">
            <a:avLst/>
          </a:prstGeom>
          <a:noFill/>
          <a:ln w="5080">
            <a:solidFill>
              <a:srgbClr val="22384E">
                <a:alpha val="5000"/>
              </a:srgbClr>
            </a:solidFill>
            <a:prstDash val="solid"/>
          </a:ln>
        </p:spPr>
        <p:txBody>
          <a:bodyPr/>
          <a:lstStyle/>
          <a:p>
            <a:endParaRPr lang="en-US"/>
          </a:p>
        </p:txBody>
      </p:sp>
      <p:sp>
        <p:nvSpPr>
          <p:cNvPr id="29" name="Shape 27"/>
          <p:cNvSpPr/>
          <p:nvPr/>
        </p:nvSpPr>
        <p:spPr>
          <a:xfrm>
            <a:off x="0" y="1325880"/>
            <a:ext cx="12191695" cy="0"/>
          </a:xfrm>
          <a:prstGeom prst="line">
            <a:avLst/>
          </a:prstGeom>
          <a:noFill/>
          <a:ln w="5080">
            <a:solidFill>
              <a:srgbClr val="22384E">
                <a:alpha val="5000"/>
              </a:srgbClr>
            </a:solidFill>
            <a:prstDash val="solid"/>
          </a:ln>
        </p:spPr>
        <p:txBody>
          <a:bodyPr/>
          <a:lstStyle/>
          <a:p>
            <a:endParaRPr lang="en-US"/>
          </a:p>
        </p:txBody>
      </p:sp>
      <p:sp>
        <p:nvSpPr>
          <p:cNvPr id="30" name="Shape 28"/>
          <p:cNvSpPr/>
          <p:nvPr/>
        </p:nvSpPr>
        <p:spPr>
          <a:xfrm>
            <a:off x="0" y="1828800"/>
            <a:ext cx="12191695" cy="0"/>
          </a:xfrm>
          <a:prstGeom prst="line">
            <a:avLst/>
          </a:prstGeom>
          <a:noFill/>
          <a:ln w="5080">
            <a:solidFill>
              <a:srgbClr val="22384E">
                <a:alpha val="5000"/>
              </a:srgbClr>
            </a:solidFill>
            <a:prstDash val="solid"/>
          </a:ln>
        </p:spPr>
        <p:txBody>
          <a:bodyPr/>
          <a:lstStyle/>
          <a:p>
            <a:endParaRPr lang="en-US" dirty="0"/>
          </a:p>
        </p:txBody>
      </p:sp>
      <p:sp>
        <p:nvSpPr>
          <p:cNvPr id="31" name="Shape 29"/>
          <p:cNvSpPr/>
          <p:nvPr/>
        </p:nvSpPr>
        <p:spPr>
          <a:xfrm>
            <a:off x="0" y="2331720"/>
            <a:ext cx="12191695" cy="0"/>
          </a:xfrm>
          <a:prstGeom prst="line">
            <a:avLst/>
          </a:prstGeom>
          <a:noFill/>
          <a:ln w="5080">
            <a:solidFill>
              <a:srgbClr val="22384E">
                <a:alpha val="5000"/>
              </a:srgbClr>
            </a:solidFill>
            <a:prstDash val="solid"/>
          </a:ln>
        </p:spPr>
        <p:txBody>
          <a:bodyPr/>
          <a:lstStyle/>
          <a:p>
            <a:endParaRPr lang="en-US"/>
          </a:p>
        </p:txBody>
      </p:sp>
      <p:sp>
        <p:nvSpPr>
          <p:cNvPr id="32" name="Shape 30"/>
          <p:cNvSpPr/>
          <p:nvPr/>
        </p:nvSpPr>
        <p:spPr>
          <a:xfrm>
            <a:off x="0" y="2834640"/>
            <a:ext cx="12191695" cy="0"/>
          </a:xfrm>
          <a:prstGeom prst="line">
            <a:avLst/>
          </a:prstGeom>
          <a:noFill/>
          <a:ln w="5080">
            <a:solidFill>
              <a:srgbClr val="22384E">
                <a:alpha val="5000"/>
              </a:srgbClr>
            </a:solidFill>
            <a:prstDash val="solid"/>
          </a:ln>
        </p:spPr>
        <p:txBody>
          <a:bodyPr/>
          <a:lstStyle/>
          <a:p>
            <a:endParaRPr lang="en-US"/>
          </a:p>
        </p:txBody>
      </p:sp>
      <p:sp>
        <p:nvSpPr>
          <p:cNvPr id="33" name="Shape 31"/>
          <p:cNvSpPr/>
          <p:nvPr/>
        </p:nvSpPr>
        <p:spPr>
          <a:xfrm>
            <a:off x="0" y="3337560"/>
            <a:ext cx="12191695" cy="0"/>
          </a:xfrm>
          <a:prstGeom prst="line">
            <a:avLst/>
          </a:prstGeom>
          <a:noFill/>
          <a:ln w="5080">
            <a:solidFill>
              <a:srgbClr val="22384E">
                <a:alpha val="5000"/>
              </a:srgbClr>
            </a:solidFill>
            <a:prstDash val="solid"/>
          </a:ln>
        </p:spPr>
        <p:txBody>
          <a:bodyPr/>
          <a:lstStyle/>
          <a:p>
            <a:endParaRPr lang="en-US"/>
          </a:p>
        </p:txBody>
      </p:sp>
      <p:sp>
        <p:nvSpPr>
          <p:cNvPr id="34" name="Shape 32"/>
          <p:cNvSpPr/>
          <p:nvPr/>
        </p:nvSpPr>
        <p:spPr>
          <a:xfrm>
            <a:off x="0" y="3840480"/>
            <a:ext cx="12191695" cy="0"/>
          </a:xfrm>
          <a:prstGeom prst="line">
            <a:avLst/>
          </a:prstGeom>
          <a:noFill/>
          <a:ln w="5080">
            <a:solidFill>
              <a:srgbClr val="22384E">
                <a:alpha val="5000"/>
              </a:srgbClr>
            </a:solidFill>
            <a:prstDash val="solid"/>
          </a:ln>
        </p:spPr>
        <p:txBody>
          <a:bodyPr/>
          <a:lstStyle/>
          <a:p>
            <a:endParaRPr lang="en-US"/>
          </a:p>
        </p:txBody>
      </p:sp>
      <p:sp>
        <p:nvSpPr>
          <p:cNvPr id="35" name="Shape 33"/>
          <p:cNvSpPr/>
          <p:nvPr/>
        </p:nvSpPr>
        <p:spPr>
          <a:xfrm>
            <a:off x="0" y="4343400"/>
            <a:ext cx="12191695" cy="0"/>
          </a:xfrm>
          <a:prstGeom prst="line">
            <a:avLst/>
          </a:prstGeom>
          <a:noFill/>
          <a:ln w="5080">
            <a:solidFill>
              <a:srgbClr val="22384E">
                <a:alpha val="5000"/>
              </a:srgbClr>
            </a:solidFill>
            <a:prstDash val="solid"/>
          </a:ln>
        </p:spPr>
        <p:txBody>
          <a:bodyPr/>
          <a:lstStyle/>
          <a:p>
            <a:endParaRPr lang="en-US"/>
          </a:p>
        </p:txBody>
      </p:sp>
      <p:sp>
        <p:nvSpPr>
          <p:cNvPr id="36" name="Shape 34"/>
          <p:cNvSpPr/>
          <p:nvPr/>
        </p:nvSpPr>
        <p:spPr>
          <a:xfrm>
            <a:off x="0" y="4846320"/>
            <a:ext cx="12191695" cy="0"/>
          </a:xfrm>
          <a:prstGeom prst="line">
            <a:avLst/>
          </a:prstGeom>
          <a:noFill/>
          <a:ln w="5080">
            <a:solidFill>
              <a:srgbClr val="22384E">
                <a:alpha val="5000"/>
              </a:srgbClr>
            </a:solidFill>
            <a:prstDash val="solid"/>
          </a:ln>
        </p:spPr>
        <p:txBody>
          <a:bodyPr/>
          <a:lstStyle/>
          <a:p>
            <a:endParaRPr lang="en-US"/>
          </a:p>
        </p:txBody>
      </p:sp>
      <p:sp>
        <p:nvSpPr>
          <p:cNvPr id="37" name="Shape 35"/>
          <p:cNvSpPr/>
          <p:nvPr/>
        </p:nvSpPr>
        <p:spPr>
          <a:xfrm>
            <a:off x="0" y="5349240"/>
            <a:ext cx="12191695" cy="0"/>
          </a:xfrm>
          <a:prstGeom prst="line">
            <a:avLst/>
          </a:prstGeom>
          <a:noFill/>
          <a:ln w="5080">
            <a:solidFill>
              <a:srgbClr val="22384E">
                <a:alpha val="5000"/>
              </a:srgbClr>
            </a:solidFill>
            <a:prstDash val="solid"/>
          </a:ln>
        </p:spPr>
        <p:txBody>
          <a:bodyPr/>
          <a:lstStyle/>
          <a:p>
            <a:endParaRPr lang="en-US"/>
          </a:p>
        </p:txBody>
      </p:sp>
      <p:sp>
        <p:nvSpPr>
          <p:cNvPr id="38" name="Shape 36"/>
          <p:cNvSpPr/>
          <p:nvPr/>
        </p:nvSpPr>
        <p:spPr>
          <a:xfrm>
            <a:off x="0" y="5852160"/>
            <a:ext cx="12191695" cy="0"/>
          </a:xfrm>
          <a:prstGeom prst="line">
            <a:avLst/>
          </a:prstGeom>
          <a:noFill/>
          <a:ln w="5080">
            <a:solidFill>
              <a:srgbClr val="22384E">
                <a:alpha val="5000"/>
              </a:srgbClr>
            </a:solidFill>
            <a:prstDash val="solid"/>
          </a:ln>
        </p:spPr>
        <p:txBody>
          <a:bodyPr/>
          <a:lstStyle/>
          <a:p>
            <a:endParaRPr lang="en-US"/>
          </a:p>
        </p:txBody>
      </p:sp>
      <p:sp>
        <p:nvSpPr>
          <p:cNvPr id="39" name="Shape 37"/>
          <p:cNvSpPr/>
          <p:nvPr/>
        </p:nvSpPr>
        <p:spPr>
          <a:xfrm>
            <a:off x="0" y="6355080"/>
            <a:ext cx="12191695" cy="0"/>
          </a:xfrm>
          <a:prstGeom prst="line">
            <a:avLst/>
          </a:prstGeom>
          <a:noFill/>
          <a:ln w="5080">
            <a:solidFill>
              <a:srgbClr val="22384E">
                <a:alpha val="5000"/>
              </a:srgbClr>
            </a:solidFill>
            <a:prstDash val="solid"/>
          </a:ln>
        </p:spPr>
        <p:txBody>
          <a:bodyPr/>
          <a:lstStyle/>
          <a:p>
            <a:endParaRPr lang="en-US"/>
          </a:p>
        </p:txBody>
      </p:sp>
      <p:sp>
        <p:nvSpPr>
          <p:cNvPr id="40" name="Shape 38"/>
          <p:cNvSpPr/>
          <p:nvPr/>
        </p:nvSpPr>
        <p:spPr>
          <a:xfrm>
            <a:off x="0" y="6858000"/>
            <a:ext cx="12191695" cy="0"/>
          </a:xfrm>
          <a:prstGeom prst="line">
            <a:avLst/>
          </a:prstGeom>
          <a:noFill/>
          <a:ln w="5080">
            <a:solidFill>
              <a:srgbClr val="22384E">
                <a:alpha val="5000"/>
              </a:srgbClr>
            </a:solidFill>
            <a:prstDash val="solid"/>
          </a:ln>
        </p:spPr>
        <p:txBody>
          <a:bodyPr/>
          <a:lstStyle/>
          <a:p>
            <a:endParaRPr lang="en-US"/>
          </a:p>
        </p:txBody>
      </p:sp>
      <p:sp>
        <p:nvSpPr>
          <p:cNvPr id="41" name="Text 39"/>
          <p:cNvSpPr/>
          <p:nvPr/>
        </p:nvSpPr>
        <p:spPr>
          <a:xfrm>
            <a:off x="502920" y="384048"/>
            <a:ext cx="6492240" cy="210312"/>
          </a:xfrm>
          <a:prstGeom prst="rect">
            <a:avLst/>
          </a:prstGeom>
          <a:noFill/>
          <a:ln/>
        </p:spPr>
        <p:txBody>
          <a:bodyPr wrap="square" lIns="0" tIns="0" rIns="0" bIns="0" rtlCol="0" anchor="ctr"/>
          <a:lstStyle/>
          <a:p>
            <a:pPr marL="0" indent="0">
              <a:buNone/>
            </a:pPr>
            <a:r>
              <a:rPr lang="en-US" sz="920" b="1" kern="0" spc="160" dirty="0">
                <a:solidFill>
                  <a:srgbClr val="38D9E6"/>
                </a:solidFill>
                <a:latin typeface="Inter" pitchFamily="34" charset="0"/>
                <a:ea typeface="Inter" pitchFamily="34" charset="-122"/>
                <a:cs typeface="Inter" pitchFamily="34" charset="-120"/>
              </a:rPr>
              <a:t>COMP4601  •  FINAL PROJECT PRESENTATION  •  KRIA KV260</a:t>
            </a:r>
            <a:endParaRPr lang="en-US" sz="920" dirty="0"/>
          </a:p>
        </p:txBody>
      </p:sp>
      <p:sp>
        <p:nvSpPr>
          <p:cNvPr id="42" name="Text 40"/>
          <p:cNvSpPr/>
          <p:nvPr/>
        </p:nvSpPr>
        <p:spPr>
          <a:xfrm>
            <a:off x="502920" y="960120"/>
            <a:ext cx="6675120" cy="1828800"/>
          </a:xfrm>
          <a:prstGeom prst="rect">
            <a:avLst/>
          </a:prstGeom>
          <a:noFill/>
          <a:ln/>
        </p:spPr>
        <p:txBody>
          <a:bodyPr wrap="square" lIns="0" tIns="0" rIns="0" bIns="0" rtlCol="0" anchor="ctr">
            <a:normAutofit/>
          </a:bodyPr>
          <a:lstStyle/>
          <a:p>
            <a:pPr marL="0" indent="0">
              <a:buNone/>
            </a:pPr>
            <a:r>
              <a:rPr lang="en-US" sz="3150" b="1" dirty="0">
                <a:solidFill>
                  <a:srgbClr val="F4F8FB"/>
                </a:solidFill>
                <a:latin typeface="Inter Display" pitchFamily="34" charset="0"/>
                <a:ea typeface="Inter Display" pitchFamily="34" charset="-122"/>
              </a:rPr>
              <a:t>Can Kria KV260 improve the performance of the complete compression workload?</a:t>
            </a:r>
            <a:endParaRPr lang="en-US" sz="3150" dirty="0"/>
          </a:p>
        </p:txBody>
      </p:sp>
      <p:sp>
        <p:nvSpPr>
          <p:cNvPr id="43" name="Text 41"/>
          <p:cNvSpPr/>
          <p:nvPr/>
        </p:nvSpPr>
        <p:spPr>
          <a:xfrm>
            <a:off x="530352" y="2944368"/>
            <a:ext cx="6355080" cy="685800"/>
          </a:xfrm>
          <a:prstGeom prst="rect">
            <a:avLst/>
          </a:prstGeom>
          <a:noFill/>
          <a:ln/>
        </p:spPr>
        <p:txBody>
          <a:bodyPr wrap="square" lIns="0" tIns="0" rIns="0" bIns="0" rtlCol="0" anchor="ctr">
            <a:normAutofit/>
          </a:bodyPr>
          <a:lstStyle/>
          <a:p>
            <a:pPr marL="0" indent="0">
              <a:buNone/>
            </a:pPr>
            <a:r>
              <a:rPr lang="en-US" sz="1520" dirty="0">
                <a:solidFill>
                  <a:srgbClr val="A8B6C5"/>
                </a:solidFill>
                <a:latin typeface="Inter" pitchFamily="34" charset="0"/>
                <a:ea typeface="Inter" pitchFamily="34" charset="-122"/>
                <a:cs typeface="Inter" pitchFamily="34" charset="-120"/>
              </a:rPr>
              <a:t>A complete 8×8 DCT, quantisation, zigzag and packed RLE pipeline — profiled across 41 images on the KV260.</a:t>
            </a:r>
            <a:endParaRPr lang="en-US" sz="1520" dirty="0"/>
          </a:p>
        </p:txBody>
      </p:sp>
      <p:sp>
        <p:nvSpPr>
          <p:cNvPr id="44" name="Shape 42"/>
          <p:cNvSpPr/>
          <p:nvPr/>
        </p:nvSpPr>
        <p:spPr>
          <a:xfrm>
            <a:off x="502920" y="3858768"/>
            <a:ext cx="6446520" cy="758952"/>
          </a:xfrm>
          <a:prstGeom prst="roundRect">
            <a:avLst>
              <a:gd name="adj" fmla="val 9639"/>
            </a:avLst>
          </a:prstGeom>
          <a:solidFill>
            <a:srgbClr val="0D1C2D"/>
          </a:solidFill>
          <a:ln w="12700">
            <a:solidFill>
              <a:srgbClr val="FFA24C">
                <a:alpha val="70000"/>
              </a:srgbClr>
            </a:solidFill>
            <a:prstDash val="solid"/>
          </a:ln>
          <a:effectLst>
            <a:outerShdw blurRad="27940" dist="12700" dir="2700000" algn="bl" rotWithShape="0">
              <a:srgbClr val="000000">
                <a:alpha val="28000"/>
              </a:srgbClr>
            </a:outerShdw>
          </a:effectLst>
        </p:spPr>
        <p:txBody>
          <a:bodyPr/>
          <a:lstStyle/>
          <a:p>
            <a:endParaRPr lang="en-US"/>
          </a:p>
        </p:txBody>
      </p:sp>
      <p:sp>
        <p:nvSpPr>
          <p:cNvPr id="45" name="Shape 43"/>
          <p:cNvSpPr/>
          <p:nvPr/>
        </p:nvSpPr>
        <p:spPr>
          <a:xfrm>
            <a:off x="694944" y="4032504"/>
            <a:ext cx="0" cy="411480"/>
          </a:xfrm>
          <a:prstGeom prst="line">
            <a:avLst/>
          </a:prstGeom>
          <a:noFill/>
          <a:ln w="50800">
            <a:solidFill>
              <a:srgbClr val="FFA24C"/>
            </a:solidFill>
            <a:prstDash val="solid"/>
          </a:ln>
        </p:spPr>
        <p:txBody>
          <a:bodyPr/>
          <a:lstStyle/>
          <a:p>
            <a:endParaRPr lang="en-US"/>
          </a:p>
        </p:txBody>
      </p:sp>
      <p:sp>
        <p:nvSpPr>
          <p:cNvPr id="46" name="Text 44"/>
          <p:cNvSpPr/>
          <p:nvPr/>
        </p:nvSpPr>
        <p:spPr>
          <a:xfrm>
            <a:off x="896112" y="3986784"/>
            <a:ext cx="1417320" cy="182880"/>
          </a:xfrm>
          <a:prstGeom prst="rect">
            <a:avLst/>
          </a:prstGeom>
          <a:noFill/>
          <a:ln/>
        </p:spPr>
        <p:txBody>
          <a:bodyPr wrap="square" lIns="0" tIns="0" rIns="0" bIns="0" rtlCol="0" anchor="ctr"/>
          <a:lstStyle/>
          <a:p>
            <a:pPr marL="0" indent="0">
              <a:buNone/>
            </a:pPr>
            <a:r>
              <a:rPr lang="en-US" sz="900" b="1" kern="0" spc="80" dirty="0">
                <a:solidFill>
                  <a:srgbClr val="FFA24C"/>
                </a:solidFill>
                <a:latin typeface="Inter" pitchFamily="34" charset="0"/>
                <a:ea typeface="Inter" pitchFamily="34" charset="-122"/>
                <a:cs typeface="Inter" pitchFamily="34" charset="-120"/>
              </a:rPr>
              <a:t>Headline result</a:t>
            </a:r>
            <a:endParaRPr lang="en-US" sz="900" dirty="0"/>
          </a:p>
        </p:txBody>
      </p:sp>
      <p:sp>
        <p:nvSpPr>
          <p:cNvPr id="47" name="Text 45"/>
          <p:cNvSpPr/>
          <p:nvPr/>
        </p:nvSpPr>
        <p:spPr>
          <a:xfrm>
            <a:off x="896112" y="4206240"/>
            <a:ext cx="5715000" cy="274320"/>
          </a:xfrm>
          <a:prstGeom prst="rect">
            <a:avLst/>
          </a:prstGeom>
          <a:noFill/>
          <a:ln/>
        </p:spPr>
        <p:txBody>
          <a:bodyPr wrap="square" lIns="0" tIns="0" rIns="0" bIns="0" rtlCol="0" anchor="ctr">
            <a:normAutofit fontScale="85000" lnSpcReduction="20000"/>
          </a:bodyPr>
          <a:lstStyle/>
          <a:p>
            <a:pPr marL="0" indent="0">
              <a:buNone/>
            </a:pPr>
            <a:r>
              <a:rPr lang="en-US" sz="1260" b="1" dirty="0">
                <a:solidFill>
                  <a:srgbClr val="F4F8FB"/>
                </a:solidFill>
                <a:latin typeface="Inter" pitchFamily="34" charset="0"/>
                <a:ea typeface="Inter" pitchFamily="34" charset="-122"/>
                <a:cs typeface="Inter" pitchFamily="34" charset="-120"/>
              </a:rPr>
              <a:t>DCT and quantisation improved — but serial entropy coding made the current FPGA kernel slower overall.</a:t>
            </a:r>
            <a:endParaRPr lang="en-US" sz="1260" dirty="0"/>
          </a:p>
        </p:txBody>
      </p:sp>
      <p:sp>
        <p:nvSpPr>
          <p:cNvPr id="48" name="Shape 46"/>
          <p:cNvSpPr/>
          <p:nvPr/>
        </p:nvSpPr>
        <p:spPr>
          <a:xfrm>
            <a:off x="7543800" y="1097280"/>
            <a:ext cx="280035" cy="280035"/>
          </a:xfrm>
          <a:prstGeom prst="rect">
            <a:avLst/>
          </a:prstGeom>
          <a:solidFill>
            <a:srgbClr val="232323"/>
          </a:solidFill>
          <a:ln w="3175">
            <a:solidFill>
              <a:srgbClr val="07111F">
                <a:alpha val="45000"/>
              </a:srgbClr>
            </a:solidFill>
            <a:prstDash val="solid"/>
          </a:ln>
        </p:spPr>
        <p:txBody>
          <a:bodyPr/>
          <a:lstStyle/>
          <a:p>
            <a:endParaRPr lang="en-US"/>
          </a:p>
        </p:txBody>
      </p:sp>
      <p:sp>
        <p:nvSpPr>
          <p:cNvPr id="49" name="Shape 47"/>
          <p:cNvSpPr/>
          <p:nvPr/>
        </p:nvSpPr>
        <p:spPr>
          <a:xfrm>
            <a:off x="7823835" y="1097280"/>
            <a:ext cx="280035" cy="280035"/>
          </a:xfrm>
          <a:prstGeom prst="rect">
            <a:avLst/>
          </a:prstGeom>
          <a:solidFill>
            <a:srgbClr val="3E3E3E"/>
          </a:solidFill>
          <a:ln w="3175">
            <a:solidFill>
              <a:srgbClr val="07111F">
                <a:alpha val="45000"/>
              </a:srgbClr>
            </a:solidFill>
            <a:prstDash val="solid"/>
          </a:ln>
        </p:spPr>
        <p:txBody>
          <a:bodyPr/>
          <a:lstStyle/>
          <a:p>
            <a:endParaRPr lang="en-US"/>
          </a:p>
        </p:txBody>
      </p:sp>
      <p:sp>
        <p:nvSpPr>
          <p:cNvPr id="50" name="Shape 48"/>
          <p:cNvSpPr/>
          <p:nvPr/>
        </p:nvSpPr>
        <p:spPr>
          <a:xfrm>
            <a:off x="8103870" y="1097280"/>
            <a:ext cx="280035" cy="280035"/>
          </a:xfrm>
          <a:prstGeom prst="rect">
            <a:avLst/>
          </a:prstGeom>
          <a:solidFill>
            <a:srgbClr val="595959"/>
          </a:solidFill>
          <a:ln w="3175">
            <a:solidFill>
              <a:srgbClr val="07111F">
                <a:alpha val="45000"/>
              </a:srgbClr>
            </a:solidFill>
            <a:prstDash val="solid"/>
          </a:ln>
        </p:spPr>
        <p:txBody>
          <a:bodyPr/>
          <a:lstStyle/>
          <a:p>
            <a:endParaRPr lang="en-US"/>
          </a:p>
        </p:txBody>
      </p:sp>
      <p:sp>
        <p:nvSpPr>
          <p:cNvPr id="51" name="Shape 49"/>
          <p:cNvSpPr/>
          <p:nvPr/>
        </p:nvSpPr>
        <p:spPr>
          <a:xfrm>
            <a:off x="8383905" y="1097280"/>
            <a:ext cx="280035" cy="280035"/>
          </a:xfrm>
          <a:prstGeom prst="rect">
            <a:avLst/>
          </a:prstGeom>
          <a:solidFill>
            <a:srgbClr val="747474"/>
          </a:solidFill>
          <a:ln w="3175">
            <a:solidFill>
              <a:srgbClr val="07111F">
                <a:alpha val="45000"/>
              </a:srgbClr>
            </a:solidFill>
            <a:prstDash val="solid"/>
          </a:ln>
        </p:spPr>
        <p:txBody>
          <a:bodyPr/>
          <a:lstStyle/>
          <a:p>
            <a:endParaRPr lang="en-US"/>
          </a:p>
        </p:txBody>
      </p:sp>
      <p:sp>
        <p:nvSpPr>
          <p:cNvPr id="52" name="Shape 50"/>
          <p:cNvSpPr/>
          <p:nvPr/>
        </p:nvSpPr>
        <p:spPr>
          <a:xfrm>
            <a:off x="8663940" y="1097280"/>
            <a:ext cx="280035" cy="280035"/>
          </a:xfrm>
          <a:prstGeom prst="rect">
            <a:avLst/>
          </a:prstGeom>
          <a:solidFill>
            <a:srgbClr val="8F8F8F"/>
          </a:solidFill>
          <a:ln w="3175">
            <a:solidFill>
              <a:srgbClr val="07111F">
                <a:alpha val="45000"/>
              </a:srgbClr>
            </a:solidFill>
            <a:prstDash val="solid"/>
          </a:ln>
        </p:spPr>
        <p:txBody>
          <a:bodyPr/>
          <a:lstStyle/>
          <a:p>
            <a:endParaRPr lang="en-US"/>
          </a:p>
        </p:txBody>
      </p:sp>
      <p:sp>
        <p:nvSpPr>
          <p:cNvPr id="53" name="Shape 51"/>
          <p:cNvSpPr/>
          <p:nvPr/>
        </p:nvSpPr>
        <p:spPr>
          <a:xfrm>
            <a:off x="8943975" y="1097280"/>
            <a:ext cx="280035" cy="280035"/>
          </a:xfrm>
          <a:prstGeom prst="rect">
            <a:avLst/>
          </a:prstGeom>
          <a:solidFill>
            <a:srgbClr val="AAAAAA"/>
          </a:solidFill>
          <a:ln w="3175">
            <a:solidFill>
              <a:srgbClr val="07111F">
                <a:alpha val="45000"/>
              </a:srgbClr>
            </a:solidFill>
            <a:prstDash val="solid"/>
          </a:ln>
        </p:spPr>
        <p:txBody>
          <a:bodyPr/>
          <a:lstStyle/>
          <a:p>
            <a:endParaRPr lang="en-US"/>
          </a:p>
        </p:txBody>
      </p:sp>
      <p:sp>
        <p:nvSpPr>
          <p:cNvPr id="54" name="Shape 52"/>
          <p:cNvSpPr/>
          <p:nvPr/>
        </p:nvSpPr>
        <p:spPr>
          <a:xfrm>
            <a:off x="9224010" y="1097280"/>
            <a:ext cx="280035" cy="280035"/>
          </a:xfrm>
          <a:prstGeom prst="rect">
            <a:avLst/>
          </a:prstGeom>
          <a:solidFill>
            <a:srgbClr val="C5C5C5"/>
          </a:solidFill>
          <a:ln w="3175">
            <a:solidFill>
              <a:srgbClr val="07111F">
                <a:alpha val="45000"/>
              </a:srgbClr>
            </a:solidFill>
            <a:prstDash val="solid"/>
          </a:ln>
        </p:spPr>
        <p:txBody>
          <a:bodyPr/>
          <a:lstStyle/>
          <a:p>
            <a:endParaRPr lang="en-US"/>
          </a:p>
        </p:txBody>
      </p:sp>
      <p:sp>
        <p:nvSpPr>
          <p:cNvPr id="55" name="Shape 53"/>
          <p:cNvSpPr/>
          <p:nvPr/>
        </p:nvSpPr>
        <p:spPr>
          <a:xfrm>
            <a:off x="9504045" y="1097280"/>
            <a:ext cx="280035" cy="280035"/>
          </a:xfrm>
          <a:prstGeom prst="rect">
            <a:avLst/>
          </a:prstGeom>
          <a:solidFill>
            <a:srgbClr val="E0E0E0"/>
          </a:solidFill>
          <a:ln w="3175">
            <a:solidFill>
              <a:srgbClr val="07111F">
                <a:alpha val="45000"/>
              </a:srgbClr>
            </a:solidFill>
            <a:prstDash val="solid"/>
          </a:ln>
        </p:spPr>
        <p:txBody>
          <a:bodyPr/>
          <a:lstStyle/>
          <a:p>
            <a:endParaRPr lang="en-US"/>
          </a:p>
        </p:txBody>
      </p:sp>
      <p:sp>
        <p:nvSpPr>
          <p:cNvPr id="56" name="Shape 54"/>
          <p:cNvSpPr/>
          <p:nvPr/>
        </p:nvSpPr>
        <p:spPr>
          <a:xfrm>
            <a:off x="7543800" y="1377315"/>
            <a:ext cx="280035" cy="280035"/>
          </a:xfrm>
          <a:prstGeom prst="rect">
            <a:avLst/>
          </a:prstGeom>
          <a:solidFill>
            <a:srgbClr val="363636"/>
          </a:solidFill>
          <a:ln w="3175">
            <a:solidFill>
              <a:srgbClr val="07111F">
                <a:alpha val="45000"/>
              </a:srgbClr>
            </a:solidFill>
            <a:prstDash val="solid"/>
          </a:ln>
        </p:spPr>
        <p:txBody>
          <a:bodyPr/>
          <a:lstStyle/>
          <a:p>
            <a:endParaRPr lang="en-US"/>
          </a:p>
        </p:txBody>
      </p:sp>
      <p:sp>
        <p:nvSpPr>
          <p:cNvPr id="57" name="Shape 55"/>
          <p:cNvSpPr/>
          <p:nvPr/>
        </p:nvSpPr>
        <p:spPr>
          <a:xfrm>
            <a:off x="7823835" y="1377315"/>
            <a:ext cx="280035" cy="280035"/>
          </a:xfrm>
          <a:prstGeom prst="rect">
            <a:avLst/>
          </a:prstGeom>
          <a:solidFill>
            <a:srgbClr val="585858"/>
          </a:solidFill>
          <a:ln w="3175">
            <a:solidFill>
              <a:srgbClr val="07111F">
                <a:alpha val="45000"/>
              </a:srgbClr>
            </a:solidFill>
            <a:prstDash val="solid"/>
          </a:ln>
        </p:spPr>
        <p:txBody>
          <a:bodyPr/>
          <a:lstStyle/>
          <a:p>
            <a:endParaRPr lang="en-US"/>
          </a:p>
        </p:txBody>
      </p:sp>
      <p:sp>
        <p:nvSpPr>
          <p:cNvPr id="58" name="Shape 56"/>
          <p:cNvSpPr/>
          <p:nvPr/>
        </p:nvSpPr>
        <p:spPr>
          <a:xfrm>
            <a:off x="8103870" y="1377315"/>
            <a:ext cx="280035" cy="280035"/>
          </a:xfrm>
          <a:prstGeom prst="rect">
            <a:avLst/>
          </a:prstGeom>
          <a:solidFill>
            <a:srgbClr val="7A7A7A"/>
          </a:solidFill>
          <a:ln w="3175">
            <a:solidFill>
              <a:srgbClr val="07111F">
                <a:alpha val="45000"/>
              </a:srgbClr>
            </a:solidFill>
            <a:prstDash val="solid"/>
          </a:ln>
        </p:spPr>
        <p:txBody>
          <a:bodyPr/>
          <a:lstStyle/>
          <a:p>
            <a:endParaRPr lang="en-US"/>
          </a:p>
        </p:txBody>
      </p:sp>
      <p:sp>
        <p:nvSpPr>
          <p:cNvPr id="59" name="Shape 57"/>
          <p:cNvSpPr/>
          <p:nvPr/>
        </p:nvSpPr>
        <p:spPr>
          <a:xfrm>
            <a:off x="8383905" y="1377315"/>
            <a:ext cx="280035" cy="280035"/>
          </a:xfrm>
          <a:prstGeom prst="rect">
            <a:avLst/>
          </a:prstGeom>
          <a:solidFill>
            <a:srgbClr val="9C9C9C"/>
          </a:solidFill>
          <a:ln w="3175">
            <a:solidFill>
              <a:srgbClr val="07111F">
                <a:alpha val="45000"/>
              </a:srgbClr>
            </a:solidFill>
            <a:prstDash val="solid"/>
          </a:ln>
        </p:spPr>
        <p:txBody>
          <a:bodyPr/>
          <a:lstStyle/>
          <a:p>
            <a:endParaRPr lang="en-US"/>
          </a:p>
        </p:txBody>
      </p:sp>
      <p:sp>
        <p:nvSpPr>
          <p:cNvPr id="60" name="Shape 58"/>
          <p:cNvSpPr/>
          <p:nvPr/>
        </p:nvSpPr>
        <p:spPr>
          <a:xfrm>
            <a:off x="8663940" y="1377315"/>
            <a:ext cx="280035" cy="280035"/>
          </a:xfrm>
          <a:prstGeom prst="rect">
            <a:avLst/>
          </a:prstGeom>
          <a:solidFill>
            <a:srgbClr val="BEBEBE"/>
          </a:solidFill>
          <a:ln w="3175">
            <a:solidFill>
              <a:srgbClr val="07111F">
                <a:alpha val="45000"/>
              </a:srgbClr>
            </a:solidFill>
            <a:prstDash val="solid"/>
          </a:ln>
        </p:spPr>
        <p:txBody>
          <a:bodyPr/>
          <a:lstStyle/>
          <a:p>
            <a:endParaRPr lang="en-US"/>
          </a:p>
        </p:txBody>
      </p:sp>
      <p:sp>
        <p:nvSpPr>
          <p:cNvPr id="61" name="Shape 59"/>
          <p:cNvSpPr/>
          <p:nvPr/>
        </p:nvSpPr>
        <p:spPr>
          <a:xfrm>
            <a:off x="8943975" y="1377315"/>
            <a:ext cx="280035" cy="280035"/>
          </a:xfrm>
          <a:prstGeom prst="rect">
            <a:avLst/>
          </a:prstGeom>
          <a:solidFill>
            <a:srgbClr val="E0E0E0"/>
          </a:solidFill>
          <a:ln w="3175">
            <a:solidFill>
              <a:srgbClr val="07111F">
                <a:alpha val="45000"/>
              </a:srgbClr>
            </a:solidFill>
            <a:prstDash val="solid"/>
          </a:ln>
        </p:spPr>
        <p:txBody>
          <a:bodyPr/>
          <a:lstStyle/>
          <a:p>
            <a:endParaRPr lang="en-US"/>
          </a:p>
        </p:txBody>
      </p:sp>
      <p:sp>
        <p:nvSpPr>
          <p:cNvPr id="62" name="Shape 60"/>
          <p:cNvSpPr/>
          <p:nvPr/>
        </p:nvSpPr>
        <p:spPr>
          <a:xfrm>
            <a:off x="9224010" y="1377315"/>
            <a:ext cx="280035" cy="280035"/>
          </a:xfrm>
          <a:prstGeom prst="rect">
            <a:avLst/>
          </a:prstGeom>
          <a:solidFill>
            <a:srgbClr val="EBEBEB"/>
          </a:solidFill>
          <a:ln w="3175">
            <a:solidFill>
              <a:srgbClr val="07111F">
                <a:alpha val="45000"/>
              </a:srgbClr>
            </a:solidFill>
            <a:prstDash val="solid"/>
          </a:ln>
        </p:spPr>
        <p:txBody>
          <a:bodyPr/>
          <a:lstStyle/>
          <a:p>
            <a:endParaRPr lang="en-US"/>
          </a:p>
        </p:txBody>
      </p:sp>
      <p:sp>
        <p:nvSpPr>
          <p:cNvPr id="63" name="Shape 61"/>
          <p:cNvSpPr/>
          <p:nvPr/>
        </p:nvSpPr>
        <p:spPr>
          <a:xfrm>
            <a:off x="9504045" y="1377315"/>
            <a:ext cx="280035" cy="280035"/>
          </a:xfrm>
          <a:prstGeom prst="rect">
            <a:avLst/>
          </a:prstGeom>
          <a:solidFill>
            <a:srgbClr val="252525"/>
          </a:solidFill>
          <a:ln w="3175">
            <a:solidFill>
              <a:srgbClr val="07111F">
                <a:alpha val="45000"/>
              </a:srgbClr>
            </a:solidFill>
            <a:prstDash val="solid"/>
          </a:ln>
        </p:spPr>
        <p:txBody>
          <a:bodyPr/>
          <a:lstStyle/>
          <a:p>
            <a:endParaRPr lang="en-US"/>
          </a:p>
        </p:txBody>
      </p:sp>
      <p:sp>
        <p:nvSpPr>
          <p:cNvPr id="64" name="Shape 62"/>
          <p:cNvSpPr/>
          <p:nvPr/>
        </p:nvSpPr>
        <p:spPr>
          <a:xfrm>
            <a:off x="7543800" y="1657350"/>
            <a:ext cx="280035" cy="280035"/>
          </a:xfrm>
          <a:prstGeom prst="rect">
            <a:avLst/>
          </a:prstGeom>
          <a:solidFill>
            <a:srgbClr val="494949"/>
          </a:solidFill>
          <a:ln w="3175">
            <a:solidFill>
              <a:srgbClr val="07111F">
                <a:alpha val="45000"/>
              </a:srgbClr>
            </a:solidFill>
            <a:prstDash val="solid"/>
          </a:ln>
        </p:spPr>
        <p:txBody>
          <a:bodyPr/>
          <a:lstStyle/>
          <a:p>
            <a:endParaRPr lang="en-US"/>
          </a:p>
        </p:txBody>
      </p:sp>
      <p:sp>
        <p:nvSpPr>
          <p:cNvPr id="65" name="Shape 63"/>
          <p:cNvSpPr/>
          <p:nvPr/>
        </p:nvSpPr>
        <p:spPr>
          <a:xfrm>
            <a:off x="7823835" y="1657350"/>
            <a:ext cx="280035" cy="280035"/>
          </a:xfrm>
          <a:prstGeom prst="rect">
            <a:avLst/>
          </a:prstGeom>
          <a:solidFill>
            <a:srgbClr val="727272"/>
          </a:solidFill>
          <a:ln w="3175">
            <a:solidFill>
              <a:srgbClr val="07111F">
                <a:alpha val="45000"/>
              </a:srgbClr>
            </a:solidFill>
            <a:prstDash val="solid"/>
          </a:ln>
        </p:spPr>
        <p:txBody>
          <a:bodyPr/>
          <a:lstStyle/>
          <a:p>
            <a:endParaRPr lang="en-US"/>
          </a:p>
        </p:txBody>
      </p:sp>
      <p:sp>
        <p:nvSpPr>
          <p:cNvPr id="66" name="Shape 64"/>
          <p:cNvSpPr/>
          <p:nvPr/>
        </p:nvSpPr>
        <p:spPr>
          <a:xfrm>
            <a:off x="8103870" y="1657350"/>
            <a:ext cx="280035" cy="280035"/>
          </a:xfrm>
          <a:prstGeom prst="rect">
            <a:avLst/>
          </a:prstGeom>
          <a:solidFill>
            <a:srgbClr val="9B9B9B"/>
          </a:solidFill>
          <a:ln w="3175">
            <a:solidFill>
              <a:srgbClr val="07111F">
                <a:alpha val="45000"/>
              </a:srgbClr>
            </a:solidFill>
            <a:prstDash val="solid"/>
          </a:ln>
        </p:spPr>
        <p:txBody>
          <a:bodyPr/>
          <a:lstStyle/>
          <a:p>
            <a:endParaRPr lang="en-US"/>
          </a:p>
        </p:txBody>
      </p:sp>
      <p:sp>
        <p:nvSpPr>
          <p:cNvPr id="67" name="Shape 65"/>
          <p:cNvSpPr/>
          <p:nvPr/>
        </p:nvSpPr>
        <p:spPr>
          <a:xfrm>
            <a:off x="8383905" y="1657350"/>
            <a:ext cx="280035" cy="280035"/>
          </a:xfrm>
          <a:prstGeom prst="rect">
            <a:avLst/>
          </a:prstGeom>
          <a:solidFill>
            <a:srgbClr val="C4C4C4"/>
          </a:solidFill>
          <a:ln w="3175">
            <a:solidFill>
              <a:srgbClr val="07111F">
                <a:alpha val="45000"/>
              </a:srgbClr>
            </a:solidFill>
            <a:prstDash val="solid"/>
          </a:ln>
        </p:spPr>
        <p:txBody>
          <a:bodyPr/>
          <a:lstStyle/>
          <a:p>
            <a:endParaRPr lang="en-US"/>
          </a:p>
        </p:txBody>
      </p:sp>
      <p:sp>
        <p:nvSpPr>
          <p:cNvPr id="68" name="Shape 66"/>
          <p:cNvSpPr/>
          <p:nvPr/>
        </p:nvSpPr>
        <p:spPr>
          <a:xfrm>
            <a:off x="8663940" y="1657350"/>
            <a:ext cx="280035" cy="280035"/>
          </a:xfrm>
          <a:prstGeom prst="rect">
            <a:avLst/>
          </a:prstGeom>
          <a:solidFill>
            <a:srgbClr val="EBEBEB"/>
          </a:solidFill>
          <a:ln w="3175">
            <a:solidFill>
              <a:srgbClr val="07111F">
                <a:alpha val="45000"/>
              </a:srgbClr>
            </a:solidFill>
            <a:prstDash val="solid"/>
          </a:ln>
        </p:spPr>
        <p:txBody>
          <a:bodyPr/>
          <a:lstStyle/>
          <a:p>
            <a:endParaRPr lang="en-US"/>
          </a:p>
        </p:txBody>
      </p:sp>
      <p:sp>
        <p:nvSpPr>
          <p:cNvPr id="69" name="Shape 67"/>
          <p:cNvSpPr/>
          <p:nvPr/>
        </p:nvSpPr>
        <p:spPr>
          <a:xfrm>
            <a:off x="8943975" y="1657350"/>
            <a:ext cx="280035" cy="280035"/>
          </a:xfrm>
          <a:prstGeom prst="rect">
            <a:avLst/>
          </a:prstGeom>
          <a:solidFill>
            <a:srgbClr val="EBEBEB"/>
          </a:solidFill>
          <a:ln w="3175">
            <a:solidFill>
              <a:srgbClr val="07111F">
                <a:alpha val="45000"/>
              </a:srgbClr>
            </a:solidFill>
            <a:prstDash val="solid"/>
          </a:ln>
        </p:spPr>
        <p:txBody>
          <a:bodyPr/>
          <a:lstStyle/>
          <a:p>
            <a:endParaRPr lang="en-US"/>
          </a:p>
        </p:txBody>
      </p:sp>
      <p:sp>
        <p:nvSpPr>
          <p:cNvPr id="70" name="Shape 68"/>
          <p:cNvSpPr/>
          <p:nvPr/>
        </p:nvSpPr>
        <p:spPr>
          <a:xfrm>
            <a:off x="9224010" y="1657350"/>
            <a:ext cx="280035" cy="280035"/>
          </a:xfrm>
          <a:prstGeom prst="rect">
            <a:avLst/>
          </a:prstGeom>
          <a:solidFill>
            <a:srgbClr val="404040"/>
          </a:solidFill>
          <a:ln w="3175">
            <a:solidFill>
              <a:srgbClr val="07111F">
                <a:alpha val="45000"/>
              </a:srgbClr>
            </a:solidFill>
            <a:prstDash val="solid"/>
          </a:ln>
        </p:spPr>
        <p:txBody>
          <a:bodyPr/>
          <a:lstStyle/>
          <a:p>
            <a:endParaRPr lang="en-US"/>
          </a:p>
        </p:txBody>
      </p:sp>
      <p:sp>
        <p:nvSpPr>
          <p:cNvPr id="71" name="Shape 69"/>
          <p:cNvSpPr/>
          <p:nvPr/>
        </p:nvSpPr>
        <p:spPr>
          <a:xfrm>
            <a:off x="9504045" y="1657350"/>
            <a:ext cx="280035" cy="280035"/>
          </a:xfrm>
          <a:prstGeom prst="rect">
            <a:avLst/>
          </a:prstGeom>
          <a:solidFill>
            <a:srgbClr val="696969"/>
          </a:solidFill>
          <a:ln w="3175">
            <a:solidFill>
              <a:srgbClr val="07111F">
                <a:alpha val="45000"/>
              </a:srgbClr>
            </a:solidFill>
            <a:prstDash val="solid"/>
          </a:ln>
        </p:spPr>
        <p:txBody>
          <a:bodyPr/>
          <a:lstStyle/>
          <a:p>
            <a:endParaRPr lang="en-US"/>
          </a:p>
        </p:txBody>
      </p:sp>
      <p:sp>
        <p:nvSpPr>
          <p:cNvPr id="72" name="Shape 70"/>
          <p:cNvSpPr/>
          <p:nvPr/>
        </p:nvSpPr>
        <p:spPr>
          <a:xfrm>
            <a:off x="7543800" y="1937385"/>
            <a:ext cx="280035" cy="280035"/>
          </a:xfrm>
          <a:prstGeom prst="rect">
            <a:avLst/>
          </a:prstGeom>
          <a:solidFill>
            <a:srgbClr val="5C5C5C"/>
          </a:solidFill>
          <a:ln w="3175">
            <a:solidFill>
              <a:srgbClr val="07111F">
                <a:alpha val="45000"/>
              </a:srgbClr>
            </a:solidFill>
            <a:prstDash val="solid"/>
          </a:ln>
        </p:spPr>
        <p:txBody>
          <a:bodyPr/>
          <a:lstStyle/>
          <a:p>
            <a:endParaRPr lang="en-US"/>
          </a:p>
        </p:txBody>
      </p:sp>
      <p:sp>
        <p:nvSpPr>
          <p:cNvPr id="73" name="Shape 71"/>
          <p:cNvSpPr/>
          <p:nvPr/>
        </p:nvSpPr>
        <p:spPr>
          <a:xfrm>
            <a:off x="7823835" y="1937385"/>
            <a:ext cx="280035" cy="280035"/>
          </a:xfrm>
          <a:prstGeom prst="rect">
            <a:avLst/>
          </a:prstGeom>
          <a:solidFill>
            <a:srgbClr val="8C8C8C"/>
          </a:solidFill>
          <a:ln w="3175">
            <a:solidFill>
              <a:srgbClr val="07111F">
                <a:alpha val="45000"/>
              </a:srgbClr>
            </a:solidFill>
            <a:prstDash val="solid"/>
          </a:ln>
        </p:spPr>
        <p:txBody>
          <a:bodyPr/>
          <a:lstStyle/>
          <a:p>
            <a:endParaRPr lang="en-US"/>
          </a:p>
        </p:txBody>
      </p:sp>
      <p:sp>
        <p:nvSpPr>
          <p:cNvPr id="74" name="Shape 72"/>
          <p:cNvSpPr/>
          <p:nvPr/>
        </p:nvSpPr>
        <p:spPr>
          <a:xfrm>
            <a:off x="8103870" y="1937385"/>
            <a:ext cx="280035" cy="280035"/>
          </a:xfrm>
          <a:prstGeom prst="rect">
            <a:avLst/>
          </a:prstGeom>
          <a:solidFill>
            <a:srgbClr val="BCBCBC"/>
          </a:solidFill>
          <a:ln w="3175">
            <a:solidFill>
              <a:srgbClr val="07111F">
                <a:alpha val="45000"/>
              </a:srgbClr>
            </a:solidFill>
            <a:prstDash val="solid"/>
          </a:ln>
        </p:spPr>
        <p:txBody>
          <a:bodyPr/>
          <a:lstStyle/>
          <a:p>
            <a:endParaRPr lang="en-US"/>
          </a:p>
        </p:txBody>
      </p:sp>
      <p:sp>
        <p:nvSpPr>
          <p:cNvPr id="75" name="Shape 73"/>
          <p:cNvSpPr/>
          <p:nvPr/>
        </p:nvSpPr>
        <p:spPr>
          <a:xfrm>
            <a:off x="8383905" y="1937385"/>
            <a:ext cx="280035" cy="280035"/>
          </a:xfrm>
          <a:prstGeom prst="rect">
            <a:avLst/>
          </a:prstGeom>
          <a:solidFill>
            <a:srgbClr val="EBEBEB"/>
          </a:solidFill>
          <a:ln w="3175">
            <a:solidFill>
              <a:srgbClr val="07111F">
                <a:alpha val="45000"/>
              </a:srgbClr>
            </a:solidFill>
            <a:prstDash val="solid"/>
          </a:ln>
        </p:spPr>
        <p:txBody>
          <a:bodyPr/>
          <a:lstStyle/>
          <a:p>
            <a:endParaRPr lang="en-US"/>
          </a:p>
        </p:txBody>
      </p:sp>
      <p:sp>
        <p:nvSpPr>
          <p:cNvPr id="76" name="Shape 74"/>
          <p:cNvSpPr/>
          <p:nvPr/>
        </p:nvSpPr>
        <p:spPr>
          <a:xfrm>
            <a:off x="8663940" y="1937385"/>
            <a:ext cx="280035" cy="280035"/>
          </a:xfrm>
          <a:prstGeom prst="rect">
            <a:avLst/>
          </a:prstGeom>
          <a:solidFill>
            <a:srgbClr val="EBEBEB"/>
          </a:solidFill>
          <a:ln w="3175">
            <a:solidFill>
              <a:srgbClr val="07111F">
                <a:alpha val="45000"/>
              </a:srgbClr>
            </a:solidFill>
            <a:prstDash val="solid"/>
          </a:ln>
        </p:spPr>
        <p:txBody>
          <a:bodyPr/>
          <a:lstStyle/>
          <a:p>
            <a:endParaRPr lang="en-US"/>
          </a:p>
        </p:txBody>
      </p:sp>
      <p:sp>
        <p:nvSpPr>
          <p:cNvPr id="77" name="Shape 75"/>
          <p:cNvSpPr/>
          <p:nvPr/>
        </p:nvSpPr>
        <p:spPr>
          <a:xfrm>
            <a:off x="8943975" y="1937385"/>
            <a:ext cx="280035" cy="280035"/>
          </a:xfrm>
          <a:prstGeom prst="rect">
            <a:avLst/>
          </a:prstGeom>
          <a:solidFill>
            <a:srgbClr val="4D4D4D"/>
          </a:solidFill>
          <a:ln w="3175">
            <a:solidFill>
              <a:srgbClr val="07111F">
                <a:alpha val="45000"/>
              </a:srgbClr>
            </a:solidFill>
            <a:prstDash val="solid"/>
          </a:ln>
        </p:spPr>
        <p:txBody>
          <a:bodyPr/>
          <a:lstStyle/>
          <a:p>
            <a:endParaRPr lang="en-US"/>
          </a:p>
        </p:txBody>
      </p:sp>
      <p:sp>
        <p:nvSpPr>
          <p:cNvPr id="78" name="Shape 76"/>
          <p:cNvSpPr/>
          <p:nvPr/>
        </p:nvSpPr>
        <p:spPr>
          <a:xfrm>
            <a:off x="9224010" y="1937385"/>
            <a:ext cx="280035" cy="280035"/>
          </a:xfrm>
          <a:prstGeom prst="rect">
            <a:avLst/>
          </a:prstGeom>
          <a:solidFill>
            <a:srgbClr val="7D7D7D"/>
          </a:solidFill>
          <a:ln w="3175">
            <a:solidFill>
              <a:srgbClr val="07111F">
                <a:alpha val="45000"/>
              </a:srgbClr>
            </a:solidFill>
            <a:prstDash val="solid"/>
          </a:ln>
        </p:spPr>
        <p:txBody>
          <a:bodyPr/>
          <a:lstStyle/>
          <a:p>
            <a:endParaRPr lang="en-US"/>
          </a:p>
        </p:txBody>
      </p:sp>
      <p:sp>
        <p:nvSpPr>
          <p:cNvPr id="79" name="Shape 77"/>
          <p:cNvSpPr/>
          <p:nvPr/>
        </p:nvSpPr>
        <p:spPr>
          <a:xfrm>
            <a:off x="9504045" y="1937385"/>
            <a:ext cx="280035" cy="280035"/>
          </a:xfrm>
          <a:prstGeom prst="rect">
            <a:avLst/>
          </a:prstGeom>
          <a:solidFill>
            <a:srgbClr val="ADADAD"/>
          </a:solidFill>
          <a:ln w="3175">
            <a:solidFill>
              <a:srgbClr val="07111F">
                <a:alpha val="45000"/>
              </a:srgbClr>
            </a:solidFill>
            <a:prstDash val="solid"/>
          </a:ln>
        </p:spPr>
        <p:txBody>
          <a:bodyPr/>
          <a:lstStyle/>
          <a:p>
            <a:endParaRPr lang="en-US"/>
          </a:p>
        </p:txBody>
      </p:sp>
      <p:sp>
        <p:nvSpPr>
          <p:cNvPr id="80" name="Shape 78"/>
          <p:cNvSpPr/>
          <p:nvPr/>
        </p:nvSpPr>
        <p:spPr>
          <a:xfrm>
            <a:off x="7543800" y="2217420"/>
            <a:ext cx="280035" cy="280035"/>
          </a:xfrm>
          <a:prstGeom prst="rect">
            <a:avLst/>
          </a:prstGeom>
          <a:solidFill>
            <a:srgbClr val="6F6F6F"/>
          </a:solidFill>
          <a:ln w="3175">
            <a:solidFill>
              <a:srgbClr val="07111F">
                <a:alpha val="45000"/>
              </a:srgbClr>
            </a:solidFill>
            <a:prstDash val="solid"/>
          </a:ln>
        </p:spPr>
        <p:txBody>
          <a:bodyPr/>
          <a:lstStyle/>
          <a:p>
            <a:endParaRPr lang="en-US"/>
          </a:p>
        </p:txBody>
      </p:sp>
      <p:sp>
        <p:nvSpPr>
          <p:cNvPr id="81" name="Shape 79"/>
          <p:cNvSpPr/>
          <p:nvPr/>
        </p:nvSpPr>
        <p:spPr>
          <a:xfrm>
            <a:off x="7823835" y="2217420"/>
            <a:ext cx="280035" cy="280035"/>
          </a:xfrm>
          <a:prstGeom prst="rect">
            <a:avLst/>
          </a:prstGeom>
          <a:solidFill>
            <a:srgbClr val="A6A6A6"/>
          </a:solidFill>
          <a:ln w="3175">
            <a:solidFill>
              <a:srgbClr val="07111F">
                <a:alpha val="45000"/>
              </a:srgbClr>
            </a:solidFill>
            <a:prstDash val="solid"/>
          </a:ln>
        </p:spPr>
        <p:txBody>
          <a:bodyPr/>
          <a:lstStyle/>
          <a:p>
            <a:endParaRPr lang="en-US"/>
          </a:p>
        </p:txBody>
      </p:sp>
      <p:sp>
        <p:nvSpPr>
          <p:cNvPr id="82" name="Shape 80"/>
          <p:cNvSpPr/>
          <p:nvPr/>
        </p:nvSpPr>
        <p:spPr>
          <a:xfrm>
            <a:off x="8103870" y="2217420"/>
            <a:ext cx="280035" cy="280035"/>
          </a:xfrm>
          <a:prstGeom prst="rect">
            <a:avLst/>
          </a:prstGeom>
          <a:solidFill>
            <a:srgbClr val="DDDDDD"/>
          </a:solidFill>
          <a:ln w="3175">
            <a:solidFill>
              <a:srgbClr val="07111F">
                <a:alpha val="45000"/>
              </a:srgbClr>
            </a:solidFill>
            <a:prstDash val="solid"/>
          </a:ln>
        </p:spPr>
        <p:txBody>
          <a:bodyPr/>
          <a:lstStyle/>
          <a:p>
            <a:endParaRPr lang="en-US"/>
          </a:p>
        </p:txBody>
      </p:sp>
      <p:sp>
        <p:nvSpPr>
          <p:cNvPr id="83" name="Shape 81"/>
          <p:cNvSpPr/>
          <p:nvPr/>
        </p:nvSpPr>
        <p:spPr>
          <a:xfrm>
            <a:off x="8383905" y="2217420"/>
            <a:ext cx="280035" cy="280035"/>
          </a:xfrm>
          <a:prstGeom prst="rect">
            <a:avLst/>
          </a:prstGeom>
          <a:solidFill>
            <a:srgbClr val="EBEBEB"/>
          </a:solidFill>
          <a:ln w="3175">
            <a:solidFill>
              <a:srgbClr val="07111F">
                <a:alpha val="45000"/>
              </a:srgbClr>
            </a:solidFill>
            <a:prstDash val="solid"/>
          </a:ln>
        </p:spPr>
        <p:txBody>
          <a:bodyPr/>
          <a:lstStyle/>
          <a:p>
            <a:endParaRPr lang="en-US"/>
          </a:p>
        </p:txBody>
      </p:sp>
      <p:sp>
        <p:nvSpPr>
          <p:cNvPr id="84" name="Shape 82"/>
          <p:cNvSpPr/>
          <p:nvPr/>
        </p:nvSpPr>
        <p:spPr>
          <a:xfrm>
            <a:off x="8663940" y="2217420"/>
            <a:ext cx="280035" cy="280035"/>
          </a:xfrm>
          <a:prstGeom prst="rect">
            <a:avLst/>
          </a:prstGeom>
          <a:solidFill>
            <a:srgbClr val="4C4C4C"/>
          </a:solidFill>
          <a:ln w="3175">
            <a:solidFill>
              <a:srgbClr val="07111F">
                <a:alpha val="45000"/>
              </a:srgbClr>
            </a:solidFill>
            <a:prstDash val="solid"/>
          </a:ln>
        </p:spPr>
        <p:txBody>
          <a:bodyPr/>
          <a:lstStyle/>
          <a:p>
            <a:endParaRPr lang="en-US"/>
          </a:p>
        </p:txBody>
      </p:sp>
      <p:sp>
        <p:nvSpPr>
          <p:cNvPr id="85" name="Shape 83"/>
          <p:cNvSpPr/>
          <p:nvPr/>
        </p:nvSpPr>
        <p:spPr>
          <a:xfrm>
            <a:off x="8943975" y="2217420"/>
            <a:ext cx="280035" cy="280035"/>
          </a:xfrm>
          <a:prstGeom prst="rect">
            <a:avLst/>
          </a:prstGeom>
          <a:solidFill>
            <a:srgbClr val="838383"/>
          </a:solidFill>
          <a:ln w="3175">
            <a:solidFill>
              <a:srgbClr val="07111F">
                <a:alpha val="45000"/>
              </a:srgbClr>
            </a:solidFill>
            <a:prstDash val="solid"/>
          </a:ln>
        </p:spPr>
        <p:txBody>
          <a:bodyPr/>
          <a:lstStyle/>
          <a:p>
            <a:endParaRPr lang="en-US"/>
          </a:p>
        </p:txBody>
      </p:sp>
      <p:sp>
        <p:nvSpPr>
          <p:cNvPr id="86" name="Shape 84"/>
          <p:cNvSpPr/>
          <p:nvPr/>
        </p:nvSpPr>
        <p:spPr>
          <a:xfrm>
            <a:off x="9224010" y="2217420"/>
            <a:ext cx="280035" cy="280035"/>
          </a:xfrm>
          <a:prstGeom prst="rect">
            <a:avLst/>
          </a:prstGeom>
          <a:solidFill>
            <a:srgbClr val="BABABA"/>
          </a:solidFill>
          <a:ln w="3175">
            <a:solidFill>
              <a:srgbClr val="07111F">
                <a:alpha val="45000"/>
              </a:srgbClr>
            </a:solidFill>
            <a:prstDash val="solid"/>
          </a:ln>
        </p:spPr>
        <p:txBody>
          <a:bodyPr/>
          <a:lstStyle/>
          <a:p>
            <a:endParaRPr lang="en-US"/>
          </a:p>
        </p:txBody>
      </p:sp>
      <p:sp>
        <p:nvSpPr>
          <p:cNvPr id="87" name="Shape 85"/>
          <p:cNvSpPr/>
          <p:nvPr/>
        </p:nvSpPr>
        <p:spPr>
          <a:xfrm>
            <a:off x="9504045" y="2217420"/>
            <a:ext cx="280035" cy="280035"/>
          </a:xfrm>
          <a:prstGeom prst="rect">
            <a:avLst/>
          </a:prstGeom>
          <a:solidFill>
            <a:srgbClr val="EBEBEB"/>
          </a:solidFill>
          <a:ln w="3175">
            <a:solidFill>
              <a:srgbClr val="07111F">
                <a:alpha val="45000"/>
              </a:srgbClr>
            </a:solidFill>
            <a:prstDash val="solid"/>
          </a:ln>
        </p:spPr>
        <p:txBody>
          <a:bodyPr/>
          <a:lstStyle/>
          <a:p>
            <a:endParaRPr lang="en-US"/>
          </a:p>
        </p:txBody>
      </p:sp>
      <p:sp>
        <p:nvSpPr>
          <p:cNvPr id="88" name="Shape 86"/>
          <p:cNvSpPr/>
          <p:nvPr/>
        </p:nvSpPr>
        <p:spPr>
          <a:xfrm>
            <a:off x="7543800" y="2497455"/>
            <a:ext cx="280035" cy="280035"/>
          </a:xfrm>
          <a:prstGeom prst="rect">
            <a:avLst/>
          </a:prstGeom>
          <a:solidFill>
            <a:srgbClr val="828282"/>
          </a:solidFill>
          <a:ln w="3175">
            <a:solidFill>
              <a:srgbClr val="07111F">
                <a:alpha val="45000"/>
              </a:srgbClr>
            </a:solidFill>
            <a:prstDash val="solid"/>
          </a:ln>
        </p:spPr>
        <p:txBody>
          <a:bodyPr/>
          <a:lstStyle/>
          <a:p>
            <a:endParaRPr lang="en-US"/>
          </a:p>
        </p:txBody>
      </p:sp>
      <p:sp>
        <p:nvSpPr>
          <p:cNvPr id="89" name="Shape 87"/>
          <p:cNvSpPr/>
          <p:nvPr/>
        </p:nvSpPr>
        <p:spPr>
          <a:xfrm>
            <a:off x="7823835" y="2497455"/>
            <a:ext cx="280035" cy="280035"/>
          </a:xfrm>
          <a:prstGeom prst="rect">
            <a:avLst/>
          </a:prstGeom>
          <a:solidFill>
            <a:srgbClr val="C0C0C0"/>
          </a:solidFill>
          <a:ln w="3175">
            <a:solidFill>
              <a:srgbClr val="07111F">
                <a:alpha val="45000"/>
              </a:srgbClr>
            </a:solidFill>
            <a:prstDash val="solid"/>
          </a:ln>
        </p:spPr>
        <p:txBody>
          <a:bodyPr/>
          <a:lstStyle/>
          <a:p>
            <a:endParaRPr lang="en-US"/>
          </a:p>
        </p:txBody>
      </p:sp>
      <p:sp>
        <p:nvSpPr>
          <p:cNvPr id="90" name="Shape 88"/>
          <p:cNvSpPr/>
          <p:nvPr/>
        </p:nvSpPr>
        <p:spPr>
          <a:xfrm>
            <a:off x="8103870" y="2497455"/>
            <a:ext cx="280035" cy="280035"/>
          </a:xfrm>
          <a:prstGeom prst="rect">
            <a:avLst/>
          </a:prstGeom>
          <a:solidFill>
            <a:srgbClr val="EBEBEB"/>
          </a:solidFill>
          <a:ln w="3175">
            <a:solidFill>
              <a:srgbClr val="07111F">
                <a:alpha val="45000"/>
              </a:srgbClr>
            </a:solidFill>
            <a:prstDash val="solid"/>
          </a:ln>
        </p:spPr>
        <p:txBody>
          <a:bodyPr/>
          <a:lstStyle/>
          <a:p>
            <a:endParaRPr lang="en-US"/>
          </a:p>
        </p:txBody>
      </p:sp>
      <p:sp>
        <p:nvSpPr>
          <p:cNvPr id="91" name="Shape 89"/>
          <p:cNvSpPr/>
          <p:nvPr/>
        </p:nvSpPr>
        <p:spPr>
          <a:xfrm>
            <a:off x="8383905" y="2497455"/>
            <a:ext cx="280035" cy="280035"/>
          </a:xfrm>
          <a:prstGeom prst="rect">
            <a:avLst/>
          </a:prstGeom>
          <a:solidFill>
            <a:srgbClr val="3D3D3D"/>
          </a:solidFill>
          <a:ln w="3175">
            <a:solidFill>
              <a:srgbClr val="07111F">
                <a:alpha val="45000"/>
              </a:srgbClr>
            </a:solidFill>
            <a:prstDash val="solid"/>
          </a:ln>
        </p:spPr>
        <p:txBody>
          <a:bodyPr/>
          <a:lstStyle/>
          <a:p>
            <a:endParaRPr lang="en-US"/>
          </a:p>
        </p:txBody>
      </p:sp>
      <p:sp>
        <p:nvSpPr>
          <p:cNvPr id="92" name="Shape 90"/>
          <p:cNvSpPr/>
          <p:nvPr/>
        </p:nvSpPr>
        <p:spPr>
          <a:xfrm>
            <a:off x="8663940" y="2497455"/>
            <a:ext cx="280035" cy="280035"/>
          </a:xfrm>
          <a:prstGeom prst="rect">
            <a:avLst/>
          </a:prstGeom>
          <a:solidFill>
            <a:srgbClr val="7B7B7B"/>
          </a:solidFill>
          <a:ln w="3175">
            <a:solidFill>
              <a:srgbClr val="07111F">
                <a:alpha val="45000"/>
              </a:srgbClr>
            </a:solidFill>
            <a:prstDash val="solid"/>
          </a:ln>
        </p:spPr>
        <p:txBody>
          <a:bodyPr/>
          <a:lstStyle/>
          <a:p>
            <a:endParaRPr lang="en-US"/>
          </a:p>
        </p:txBody>
      </p:sp>
      <p:sp>
        <p:nvSpPr>
          <p:cNvPr id="93" name="Shape 91"/>
          <p:cNvSpPr/>
          <p:nvPr/>
        </p:nvSpPr>
        <p:spPr>
          <a:xfrm>
            <a:off x="8943975" y="2497455"/>
            <a:ext cx="280035" cy="280035"/>
          </a:xfrm>
          <a:prstGeom prst="rect">
            <a:avLst/>
          </a:prstGeom>
          <a:solidFill>
            <a:srgbClr val="B9B9B9"/>
          </a:solidFill>
          <a:ln w="3175">
            <a:solidFill>
              <a:srgbClr val="07111F">
                <a:alpha val="45000"/>
              </a:srgbClr>
            </a:solidFill>
            <a:prstDash val="solid"/>
          </a:ln>
        </p:spPr>
        <p:txBody>
          <a:bodyPr/>
          <a:lstStyle/>
          <a:p>
            <a:endParaRPr lang="en-US"/>
          </a:p>
        </p:txBody>
      </p:sp>
      <p:sp>
        <p:nvSpPr>
          <p:cNvPr id="94" name="Shape 92"/>
          <p:cNvSpPr/>
          <p:nvPr/>
        </p:nvSpPr>
        <p:spPr>
          <a:xfrm>
            <a:off x="9224010" y="2497455"/>
            <a:ext cx="280035" cy="280035"/>
          </a:xfrm>
          <a:prstGeom prst="rect">
            <a:avLst/>
          </a:prstGeom>
          <a:solidFill>
            <a:srgbClr val="EBEBEB"/>
          </a:solidFill>
          <a:ln w="3175">
            <a:solidFill>
              <a:srgbClr val="07111F">
                <a:alpha val="45000"/>
              </a:srgbClr>
            </a:solidFill>
            <a:prstDash val="solid"/>
          </a:ln>
        </p:spPr>
        <p:txBody>
          <a:bodyPr/>
          <a:lstStyle/>
          <a:p>
            <a:endParaRPr lang="en-US"/>
          </a:p>
        </p:txBody>
      </p:sp>
      <p:sp>
        <p:nvSpPr>
          <p:cNvPr id="95" name="Shape 93"/>
          <p:cNvSpPr/>
          <p:nvPr/>
        </p:nvSpPr>
        <p:spPr>
          <a:xfrm>
            <a:off x="9504045" y="2497455"/>
            <a:ext cx="280035" cy="280035"/>
          </a:xfrm>
          <a:prstGeom prst="rect">
            <a:avLst/>
          </a:prstGeom>
          <a:solidFill>
            <a:srgbClr val="363636"/>
          </a:solidFill>
          <a:ln w="3175">
            <a:solidFill>
              <a:srgbClr val="07111F">
                <a:alpha val="45000"/>
              </a:srgbClr>
            </a:solidFill>
            <a:prstDash val="solid"/>
          </a:ln>
        </p:spPr>
        <p:txBody>
          <a:bodyPr/>
          <a:lstStyle/>
          <a:p>
            <a:endParaRPr lang="en-US"/>
          </a:p>
        </p:txBody>
      </p:sp>
      <p:sp>
        <p:nvSpPr>
          <p:cNvPr id="96" name="Shape 94"/>
          <p:cNvSpPr/>
          <p:nvPr/>
        </p:nvSpPr>
        <p:spPr>
          <a:xfrm>
            <a:off x="7543800" y="2777490"/>
            <a:ext cx="280035" cy="280035"/>
          </a:xfrm>
          <a:prstGeom prst="rect">
            <a:avLst/>
          </a:prstGeom>
          <a:solidFill>
            <a:srgbClr val="959595"/>
          </a:solidFill>
          <a:ln w="3175">
            <a:solidFill>
              <a:srgbClr val="07111F">
                <a:alpha val="45000"/>
              </a:srgbClr>
            </a:solidFill>
            <a:prstDash val="solid"/>
          </a:ln>
        </p:spPr>
        <p:txBody>
          <a:bodyPr/>
          <a:lstStyle/>
          <a:p>
            <a:endParaRPr lang="en-US"/>
          </a:p>
        </p:txBody>
      </p:sp>
      <p:sp>
        <p:nvSpPr>
          <p:cNvPr id="97" name="Shape 95"/>
          <p:cNvSpPr/>
          <p:nvPr/>
        </p:nvSpPr>
        <p:spPr>
          <a:xfrm>
            <a:off x="7823835" y="2777490"/>
            <a:ext cx="280035" cy="280035"/>
          </a:xfrm>
          <a:prstGeom prst="rect">
            <a:avLst/>
          </a:prstGeom>
          <a:solidFill>
            <a:srgbClr val="DADADA"/>
          </a:solidFill>
          <a:ln w="3175">
            <a:solidFill>
              <a:srgbClr val="07111F">
                <a:alpha val="45000"/>
              </a:srgbClr>
            </a:solidFill>
            <a:prstDash val="solid"/>
          </a:ln>
        </p:spPr>
        <p:txBody>
          <a:bodyPr/>
          <a:lstStyle/>
          <a:p>
            <a:endParaRPr lang="en-US"/>
          </a:p>
        </p:txBody>
      </p:sp>
      <p:sp>
        <p:nvSpPr>
          <p:cNvPr id="98" name="Shape 96"/>
          <p:cNvSpPr/>
          <p:nvPr/>
        </p:nvSpPr>
        <p:spPr>
          <a:xfrm>
            <a:off x="8103870" y="2777490"/>
            <a:ext cx="280035" cy="280035"/>
          </a:xfrm>
          <a:prstGeom prst="rect">
            <a:avLst/>
          </a:prstGeom>
          <a:solidFill>
            <a:srgbClr val="EBEBEB"/>
          </a:solidFill>
          <a:ln w="3175">
            <a:solidFill>
              <a:srgbClr val="07111F">
                <a:alpha val="45000"/>
              </a:srgbClr>
            </a:solidFill>
            <a:prstDash val="solid"/>
          </a:ln>
        </p:spPr>
        <p:txBody>
          <a:bodyPr/>
          <a:lstStyle/>
          <a:p>
            <a:endParaRPr lang="en-US"/>
          </a:p>
        </p:txBody>
      </p:sp>
      <p:sp>
        <p:nvSpPr>
          <p:cNvPr id="99" name="Shape 97"/>
          <p:cNvSpPr/>
          <p:nvPr/>
        </p:nvSpPr>
        <p:spPr>
          <a:xfrm>
            <a:off x="8383905" y="2777490"/>
            <a:ext cx="280035" cy="280035"/>
          </a:xfrm>
          <a:prstGeom prst="rect">
            <a:avLst/>
          </a:prstGeom>
          <a:solidFill>
            <a:srgbClr val="656565"/>
          </a:solidFill>
          <a:ln w="3175">
            <a:solidFill>
              <a:srgbClr val="07111F">
                <a:alpha val="45000"/>
              </a:srgbClr>
            </a:solidFill>
            <a:prstDash val="solid"/>
          </a:ln>
        </p:spPr>
        <p:txBody>
          <a:bodyPr/>
          <a:lstStyle/>
          <a:p>
            <a:endParaRPr lang="en-US"/>
          </a:p>
        </p:txBody>
      </p:sp>
      <p:sp>
        <p:nvSpPr>
          <p:cNvPr id="100" name="Shape 98"/>
          <p:cNvSpPr/>
          <p:nvPr/>
        </p:nvSpPr>
        <p:spPr>
          <a:xfrm>
            <a:off x="8663940" y="2777490"/>
            <a:ext cx="280035" cy="280035"/>
          </a:xfrm>
          <a:prstGeom prst="rect">
            <a:avLst/>
          </a:prstGeom>
          <a:solidFill>
            <a:srgbClr val="AAAAAA"/>
          </a:solidFill>
          <a:ln w="3175">
            <a:solidFill>
              <a:srgbClr val="07111F">
                <a:alpha val="45000"/>
              </a:srgbClr>
            </a:solidFill>
            <a:prstDash val="solid"/>
          </a:ln>
        </p:spPr>
        <p:txBody>
          <a:bodyPr/>
          <a:lstStyle/>
          <a:p>
            <a:endParaRPr lang="en-US"/>
          </a:p>
        </p:txBody>
      </p:sp>
      <p:sp>
        <p:nvSpPr>
          <p:cNvPr id="101" name="Shape 99"/>
          <p:cNvSpPr/>
          <p:nvPr/>
        </p:nvSpPr>
        <p:spPr>
          <a:xfrm>
            <a:off x="8943975" y="2777490"/>
            <a:ext cx="280035" cy="280035"/>
          </a:xfrm>
          <a:prstGeom prst="rect">
            <a:avLst/>
          </a:prstGeom>
          <a:solidFill>
            <a:srgbClr val="EBEBEB"/>
          </a:solidFill>
          <a:ln w="3175">
            <a:solidFill>
              <a:srgbClr val="07111F">
                <a:alpha val="45000"/>
              </a:srgbClr>
            </a:solidFill>
            <a:prstDash val="solid"/>
          </a:ln>
        </p:spPr>
        <p:txBody>
          <a:bodyPr/>
          <a:lstStyle/>
          <a:p>
            <a:endParaRPr lang="en-US"/>
          </a:p>
        </p:txBody>
      </p:sp>
      <p:sp>
        <p:nvSpPr>
          <p:cNvPr id="102" name="Shape 100"/>
          <p:cNvSpPr/>
          <p:nvPr/>
        </p:nvSpPr>
        <p:spPr>
          <a:xfrm>
            <a:off x="9224010" y="2777490"/>
            <a:ext cx="280035" cy="280035"/>
          </a:xfrm>
          <a:prstGeom prst="rect">
            <a:avLst/>
          </a:prstGeom>
          <a:solidFill>
            <a:srgbClr val="353535"/>
          </a:solidFill>
          <a:ln w="3175">
            <a:solidFill>
              <a:srgbClr val="07111F">
                <a:alpha val="45000"/>
              </a:srgbClr>
            </a:solidFill>
            <a:prstDash val="solid"/>
          </a:ln>
        </p:spPr>
        <p:txBody>
          <a:bodyPr/>
          <a:lstStyle/>
          <a:p>
            <a:endParaRPr lang="en-US"/>
          </a:p>
        </p:txBody>
      </p:sp>
      <p:sp>
        <p:nvSpPr>
          <p:cNvPr id="103" name="Shape 101"/>
          <p:cNvSpPr/>
          <p:nvPr/>
        </p:nvSpPr>
        <p:spPr>
          <a:xfrm>
            <a:off x="9504045" y="2777490"/>
            <a:ext cx="280035" cy="280035"/>
          </a:xfrm>
          <a:prstGeom prst="rect">
            <a:avLst/>
          </a:prstGeom>
          <a:solidFill>
            <a:srgbClr val="7A7A7A"/>
          </a:solidFill>
          <a:ln w="3175">
            <a:solidFill>
              <a:srgbClr val="07111F">
                <a:alpha val="45000"/>
              </a:srgbClr>
            </a:solidFill>
            <a:prstDash val="solid"/>
          </a:ln>
        </p:spPr>
        <p:txBody>
          <a:bodyPr/>
          <a:lstStyle/>
          <a:p>
            <a:endParaRPr lang="en-US"/>
          </a:p>
        </p:txBody>
      </p:sp>
      <p:sp>
        <p:nvSpPr>
          <p:cNvPr id="104" name="Shape 102"/>
          <p:cNvSpPr/>
          <p:nvPr/>
        </p:nvSpPr>
        <p:spPr>
          <a:xfrm>
            <a:off x="7543800" y="3057525"/>
            <a:ext cx="280035" cy="280035"/>
          </a:xfrm>
          <a:prstGeom prst="rect">
            <a:avLst/>
          </a:prstGeom>
          <a:solidFill>
            <a:srgbClr val="A8A8A8"/>
          </a:solidFill>
          <a:ln w="3175">
            <a:solidFill>
              <a:srgbClr val="07111F">
                <a:alpha val="45000"/>
              </a:srgbClr>
            </a:solidFill>
            <a:prstDash val="solid"/>
          </a:ln>
        </p:spPr>
        <p:txBody>
          <a:bodyPr/>
          <a:lstStyle/>
          <a:p>
            <a:endParaRPr lang="en-US"/>
          </a:p>
        </p:txBody>
      </p:sp>
      <p:sp>
        <p:nvSpPr>
          <p:cNvPr id="105" name="Shape 103"/>
          <p:cNvSpPr/>
          <p:nvPr/>
        </p:nvSpPr>
        <p:spPr>
          <a:xfrm>
            <a:off x="7823835" y="3057525"/>
            <a:ext cx="280035" cy="280035"/>
          </a:xfrm>
          <a:prstGeom prst="rect">
            <a:avLst/>
          </a:prstGeom>
          <a:solidFill>
            <a:srgbClr val="EBEBEB"/>
          </a:solidFill>
          <a:ln w="3175">
            <a:solidFill>
              <a:srgbClr val="07111F">
                <a:alpha val="45000"/>
              </a:srgbClr>
            </a:solidFill>
            <a:prstDash val="solid"/>
          </a:ln>
        </p:spPr>
        <p:txBody>
          <a:bodyPr/>
          <a:lstStyle/>
          <a:p>
            <a:endParaRPr lang="en-US"/>
          </a:p>
        </p:txBody>
      </p:sp>
      <p:sp>
        <p:nvSpPr>
          <p:cNvPr id="106" name="Shape 104"/>
          <p:cNvSpPr/>
          <p:nvPr/>
        </p:nvSpPr>
        <p:spPr>
          <a:xfrm>
            <a:off x="8103870" y="3057525"/>
            <a:ext cx="280035" cy="280035"/>
          </a:xfrm>
          <a:prstGeom prst="rect">
            <a:avLst/>
          </a:prstGeom>
          <a:solidFill>
            <a:srgbClr val="414141"/>
          </a:solidFill>
          <a:ln w="3175">
            <a:solidFill>
              <a:srgbClr val="07111F">
                <a:alpha val="45000"/>
              </a:srgbClr>
            </a:solidFill>
            <a:prstDash val="solid"/>
          </a:ln>
        </p:spPr>
        <p:txBody>
          <a:bodyPr/>
          <a:lstStyle/>
          <a:p>
            <a:endParaRPr lang="en-US"/>
          </a:p>
        </p:txBody>
      </p:sp>
      <p:sp>
        <p:nvSpPr>
          <p:cNvPr id="107" name="Shape 105"/>
          <p:cNvSpPr/>
          <p:nvPr/>
        </p:nvSpPr>
        <p:spPr>
          <a:xfrm>
            <a:off x="8383905" y="3057525"/>
            <a:ext cx="280035" cy="280035"/>
          </a:xfrm>
          <a:prstGeom prst="rect">
            <a:avLst/>
          </a:prstGeom>
          <a:solidFill>
            <a:srgbClr val="8D8D8D"/>
          </a:solidFill>
          <a:ln w="3175">
            <a:solidFill>
              <a:srgbClr val="07111F">
                <a:alpha val="45000"/>
              </a:srgbClr>
            </a:solidFill>
            <a:prstDash val="solid"/>
          </a:ln>
        </p:spPr>
        <p:txBody>
          <a:bodyPr/>
          <a:lstStyle/>
          <a:p>
            <a:endParaRPr lang="en-US"/>
          </a:p>
        </p:txBody>
      </p:sp>
      <p:sp>
        <p:nvSpPr>
          <p:cNvPr id="108" name="Shape 106"/>
          <p:cNvSpPr/>
          <p:nvPr/>
        </p:nvSpPr>
        <p:spPr>
          <a:xfrm>
            <a:off x="8663940" y="3057525"/>
            <a:ext cx="280035" cy="280035"/>
          </a:xfrm>
          <a:prstGeom prst="rect">
            <a:avLst/>
          </a:prstGeom>
          <a:solidFill>
            <a:srgbClr val="D9D9D9"/>
          </a:solidFill>
          <a:ln w="3175">
            <a:solidFill>
              <a:srgbClr val="07111F">
                <a:alpha val="45000"/>
              </a:srgbClr>
            </a:solidFill>
            <a:prstDash val="solid"/>
          </a:ln>
        </p:spPr>
        <p:txBody>
          <a:bodyPr/>
          <a:lstStyle/>
          <a:p>
            <a:endParaRPr lang="en-US"/>
          </a:p>
        </p:txBody>
      </p:sp>
      <p:sp>
        <p:nvSpPr>
          <p:cNvPr id="109" name="Shape 107"/>
          <p:cNvSpPr/>
          <p:nvPr/>
        </p:nvSpPr>
        <p:spPr>
          <a:xfrm>
            <a:off x="8943975" y="3057525"/>
            <a:ext cx="280035" cy="280035"/>
          </a:xfrm>
          <a:prstGeom prst="rect">
            <a:avLst/>
          </a:prstGeom>
          <a:solidFill>
            <a:srgbClr val="262626"/>
          </a:solidFill>
          <a:ln w="3175">
            <a:solidFill>
              <a:srgbClr val="07111F">
                <a:alpha val="45000"/>
              </a:srgbClr>
            </a:solidFill>
            <a:prstDash val="solid"/>
          </a:ln>
        </p:spPr>
        <p:txBody>
          <a:bodyPr/>
          <a:lstStyle/>
          <a:p>
            <a:endParaRPr lang="en-US"/>
          </a:p>
        </p:txBody>
      </p:sp>
      <p:sp>
        <p:nvSpPr>
          <p:cNvPr id="110" name="Shape 108"/>
          <p:cNvSpPr/>
          <p:nvPr/>
        </p:nvSpPr>
        <p:spPr>
          <a:xfrm>
            <a:off x="9224010" y="3057525"/>
            <a:ext cx="280035" cy="280035"/>
          </a:xfrm>
          <a:prstGeom prst="rect">
            <a:avLst/>
          </a:prstGeom>
          <a:solidFill>
            <a:srgbClr val="727272"/>
          </a:solidFill>
          <a:ln w="3175">
            <a:solidFill>
              <a:srgbClr val="07111F">
                <a:alpha val="45000"/>
              </a:srgbClr>
            </a:solidFill>
            <a:prstDash val="solid"/>
          </a:ln>
        </p:spPr>
        <p:txBody>
          <a:bodyPr/>
          <a:lstStyle/>
          <a:p>
            <a:endParaRPr lang="en-US"/>
          </a:p>
        </p:txBody>
      </p:sp>
      <p:sp>
        <p:nvSpPr>
          <p:cNvPr id="111" name="Shape 109"/>
          <p:cNvSpPr/>
          <p:nvPr/>
        </p:nvSpPr>
        <p:spPr>
          <a:xfrm>
            <a:off x="9504045" y="3057525"/>
            <a:ext cx="280035" cy="280035"/>
          </a:xfrm>
          <a:prstGeom prst="rect">
            <a:avLst/>
          </a:prstGeom>
          <a:solidFill>
            <a:srgbClr val="BEBEBE"/>
          </a:solidFill>
          <a:ln w="3175">
            <a:solidFill>
              <a:srgbClr val="07111F">
                <a:alpha val="45000"/>
              </a:srgbClr>
            </a:solidFill>
            <a:prstDash val="solid"/>
          </a:ln>
        </p:spPr>
        <p:txBody>
          <a:bodyPr/>
          <a:lstStyle/>
          <a:p>
            <a:endParaRPr lang="en-US"/>
          </a:p>
        </p:txBody>
      </p:sp>
      <p:sp>
        <p:nvSpPr>
          <p:cNvPr id="112" name="Shape 110"/>
          <p:cNvSpPr/>
          <p:nvPr/>
        </p:nvSpPr>
        <p:spPr>
          <a:xfrm>
            <a:off x="7479792" y="1033272"/>
            <a:ext cx="2368296" cy="2368296"/>
          </a:xfrm>
          <a:prstGeom prst="roundRect">
            <a:avLst>
              <a:gd name="adj" fmla="val 3089"/>
            </a:avLst>
          </a:prstGeom>
          <a:solidFill>
            <a:srgbClr val="07111F">
              <a:alpha val="0"/>
            </a:srgbClr>
          </a:solidFill>
          <a:ln w="20320">
            <a:solidFill>
              <a:srgbClr val="38D9E6">
                <a:alpha val="80000"/>
              </a:srgbClr>
            </a:solidFill>
            <a:prstDash val="solid"/>
          </a:ln>
        </p:spPr>
        <p:txBody>
          <a:bodyPr/>
          <a:lstStyle/>
          <a:p>
            <a:endParaRPr lang="en-US"/>
          </a:p>
        </p:txBody>
      </p:sp>
      <p:sp>
        <p:nvSpPr>
          <p:cNvPr id="113" name="Text 111"/>
          <p:cNvSpPr/>
          <p:nvPr/>
        </p:nvSpPr>
        <p:spPr>
          <a:xfrm>
            <a:off x="7571232" y="3474720"/>
            <a:ext cx="2148840" cy="237744"/>
          </a:xfrm>
          <a:prstGeom prst="rect">
            <a:avLst/>
          </a:prstGeom>
          <a:noFill/>
          <a:ln/>
        </p:spPr>
        <p:txBody>
          <a:bodyPr wrap="square" lIns="0" tIns="0" rIns="0" bIns="0" rtlCol="0" anchor="ctr"/>
          <a:lstStyle/>
          <a:p>
            <a:pPr marL="0" indent="0" algn="ctr">
              <a:buNone/>
            </a:pPr>
            <a:r>
              <a:rPr lang="en-US" sz="1050" b="1" dirty="0">
                <a:solidFill>
                  <a:srgbClr val="A8B6C5"/>
                </a:solidFill>
                <a:latin typeface="Inter" pitchFamily="34" charset="0"/>
                <a:ea typeface="Inter" pitchFamily="34" charset="-122"/>
                <a:cs typeface="Inter" pitchFamily="34" charset="-120"/>
              </a:rPr>
              <a:t>512×512 PGM</a:t>
            </a:r>
            <a:endParaRPr lang="en-US" sz="1050" dirty="0"/>
          </a:p>
        </p:txBody>
      </p:sp>
      <p:sp>
        <p:nvSpPr>
          <p:cNvPr id="114" name="Shape 112"/>
          <p:cNvSpPr/>
          <p:nvPr/>
        </p:nvSpPr>
        <p:spPr>
          <a:xfrm>
            <a:off x="9765792" y="2039112"/>
            <a:ext cx="502920" cy="329184"/>
          </a:xfrm>
          <a:prstGeom prst="chevron">
            <a:avLst/>
          </a:prstGeom>
          <a:solidFill>
            <a:srgbClr val="38D9E6">
              <a:alpha val="82000"/>
            </a:srgbClr>
          </a:solidFill>
          <a:ln w="12700">
            <a:solidFill>
              <a:srgbClr val="38D9E6">
                <a:alpha val="0"/>
              </a:srgbClr>
            </a:solidFill>
            <a:prstDash val="solid"/>
          </a:ln>
        </p:spPr>
        <p:txBody>
          <a:bodyPr/>
          <a:lstStyle/>
          <a:p>
            <a:endParaRPr lang="en-US"/>
          </a:p>
        </p:txBody>
      </p:sp>
      <p:sp>
        <p:nvSpPr>
          <p:cNvPr id="115" name="Shape 113"/>
          <p:cNvSpPr/>
          <p:nvPr/>
        </p:nvSpPr>
        <p:spPr>
          <a:xfrm>
            <a:off x="10195560" y="1325880"/>
            <a:ext cx="1536192" cy="2212848"/>
          </a:xfrm>
          <a:prstGeom prst="roundRect">
            <a:avLst>
              <a:gd name="adj" fmla="val 4762"/>
            </a:avLst>
          </a:prstGeom>
          <a:solidFill>
            <a:srgbClr val="132943"/>
          </a:solidFill>
          <a:ln w="12700">
            <a:solidFill>
              <a:srgbClr val="38D9E6">
                <a:alpha val="85000"/>
              </a:srgbClr>
            </a:solidFill>
            <a:prstDash val="solid"/>
          </a:ln>
          <a:effectLst>
            <a:outerShdw blurRad="354838000" dist="161290000" algn="bl" rotWithShape="0">
              <a:srgbClr val="000000">
                <a:alpha val="0"/>
              </a:srgbClr>
            </a:outerShdw>
          </a:effectLst>
        </p:spPr>
        <p:txBody>
          <a:bodyPr/>
          <a:lstStyle/>
          <a:p>
            <a:endParaRPr lang="en-US"/>
          </a:p>
        </p:txBody>
      </p:sp>
      <p:sp>
        <p:nvSpPr>
          <p:cNvPr id="116" name="Shape 114"/>
          <p:cNvSpPr/>
          <p:nvPr/>
        </p:nvSpPr>
        <p:spPr>
          <a:xfrm>
            <a:off x="10030968" y="1554480"/>
            <a:ext cx="164592" cy="0"/>
          </a:xfrm>
          <a:prstGeom prst="line">
            <a:avLst/>
          </a:prstGeom>
          <a:noFill/>
          <a:ln w="15240">
            <a:solidFill>
              <a:srgbClr val="38D9E6"/>
            </a:solidFill>
            <a:prstDash val="solid"/>
          </a:ln>
        </p:spPr>
        <p:txBody>
          <a:bodyPr/>
          <a:lstStyle/>
          <a:p>
            <a:endParaRPr lang="en-US"/>
          </a:p>
        </p:txBody>
      </p:sp>
      <p:sp>
        <p:nvSpPr>
          <p:cNvPr id="117" name="Shape 115"/>
          <p:cNvSpPr/>
          <p:nvPr/>
        </p:nvSpPr>
        <p:spPr>
          <a:xfrm>
            <a:off x="11731752" y="1554480"/>
            <a:ext cx="164592" cy="0"/>
          </a:xfrm>
          <a:prstGeom prst="line">
            <a:avLst/>
          </a:prstGeom>
          <a:noFill/>
          <a:ln w="15240">
            <a:solidFill>
              <a:srgbClr val="38D9E6"/>
            </a:solidFill>
            <a:prstDash val="solid"/>
          </a:ln>
        </p:spPr>
        <p:txBody>
          <a:bodyPr/>
          <a:lstStyle/>
          <a:p>
            <a:endParaRPr lang="en-US"/>
          </a:p>
        </p:txBody>
      </p:sp>
      <p:sp>
        <p:nvSpPr>
          <p:cNvPr id="118" name="Shape 116"/>
          <p:cNvSpPr/>
          <p:nvPr/>
        </p:nvSpPr>
        <p:spPr>
          <a:xfrm>
            <a:off x="10030968" y="1993392"/>
            <a:ext cx="164592" cy="0"/>
          </a:xfrm>
          <a:prstGeom prst="line">
            <a:avLst/>
          </a:prstGeom>
          <a:noFill/>
          <a:ln w="15240">
            <a:solidFill>
              <a:srgbClr val="38D9E6"/>
            </a:solidFill>
            <a:prstDash val="solid"/>
          </a:ln>
        </p:spPr>
        <p:txBody>
          <a:bodyPr/>
          <a:lstStyle/>
          <a:p>
            <a:endParaRPr lang="en-US"/>
          </a:p>
        </p:txBody>
      </p:sp>
      <p:sp>
        <p:nvSpPr>
          <p:cNvPr id="119" name="Shape 117"/>
          <p:cNvSpPr/>
          <p:nvPr/>
        </p:nvSpPr>
        <p:spPr>
          <a:xfrm>
            <a:off x="11731752" y="1993392"/>
            <a:ext cx="164592" cy="0"/>
          </a:xfrm>
          <a:prstGeom prst="line">
            <a:avLst/>
          </a:prstGeom>
          <a:noFill/>
          <a:ln w="15240">
            <a:solidFill>
              <a:srgbClr val="38D9E6"/>
            </a:solidFill>
            <a:prstDash val="solid"/>
          </a:ln>
        </p:spPr>
        <p:txBody>
          <a:bodyPr/>
          <a:lstStyle/>
          <a:p>
            <a:endParaRPr lang="en-US"/>
          </a:p>
        </p:txBody>
      </p:sp>
      <p:sp>
        <p:nvSpPr>
          <p:cNvPr id="120" name="Shape 118"/>
          <p:cNvSpPr/>
          <p:nvPr/>
        </p:nvSpPr>
        <p:spPr>
          <a:xfrm>
            <a:off x="10030968" y="2432304"/>
            <a:ext cx="164592" cy="0"/>
          </a:xfrm>
          <a:prstGeom prst="line">
            <a:avLst/>
          </a:prstGeom>
          <a:noFill/>
          <a:ln w="15240">
            <a:solidFill>
              <a:srgbClr val="38D9E6"/>
            </a:solidFill>
            <a:prstDash val="solid"/>
          </a:ln>
        </p:spPr>
        <p:txBody>
          <a:bodyPr/>
          <a:lstStyle/>
          <a:p>
            <a:endParaRPr lang="en-US"/>
          </a:p>
        </p:txBody>
      </p:sp>
      <p:sp>
        <p:nvSpPr>
          <p:cNvPr id="121" name="Shape 119"/>
          <p:cNvSpPr/>
          <p:nvPr/>
        </p:nvSpPr>
        <p:spPr>
          <a:xfrm>
            <a:off x="11731752" y="2432304"/>
            <a:ext cx="164592" cy="0"/>
          </a:xfrm>
          <a:prstGeom prst="line">
            <a:avLst/>
          </a:prstGeom>
          <a:noFill/>
          <a:ln w="15240">
            <a:solidFill>
              <a:srgbClr val="38D9E6"/>
            </a:solidFill>
            <a:prstDash val="solid"/>
          </a:ln>
        </p:spPr>
        <p:txBody>
          <a:bodyPr/>
          <a:lstStyle/>
          <a:p>
            <a:endParaRPr lang="en-US"/>
          </a:p>
        </p:txBody>
      </p:sp>
      <p:sp>
        <p:nvSpPr>
          <p:cNvPr id="122" name="Shape 120"/>
          <p:cNvSpPr/>
          <p:nvPr/>
        </p:nvSpPr>
        <p:spPr>
          <a:xfrm>
            <a:off x="10030968" y="2871216"/>
            <a:ext cx="164592" cy="0"/>
          </a:xfrm>
          <a:prstGeom prst="line">
            <a:avLst/>
          </a:prstGeom>
          <a:noFill/>
          <a:ln w="15240">
            <a:solidFill>
              <a:srgbClr val="38D9E6"/>
            </a:solidFill>
            <a:prstDash val="solid"/>
          </a:ln>
        </p:spPr>
        <p:txBody>
          <a:bodyPr/>
          <a:lstStyle/>
          <a:p>
            <a:endParaRPr lang="en-US"/>
          </a:p>
        </p:txBody>
      </p:sp>
      <p:sp>
        <p:nvSpPr>
          <p:cNvPr id="123" name="Shape 121"/>
          <p:cNvSpPr/>
          <p:nvPr/>
        </p:nvSpPr>
        <p:spPr>
          <a:xfrm>
            <a:off x="11731752" y="2871216"/>
            <a:ext cx="164592" cy="0"/>
          </a:xfrm>
          <a:prstGeom prst="line">
            <a:avLst/>
          </a:prstGeom>
          <a:noFill/>
          <a:ln w="15240">
            <a:solidFill>
              <a:srgbClr val="38D9E6"/>
            </a:solidFill>
            <a:prstDash val="solid"/>
          </a:ln>
        </p:spPr>
        <p:txBody>
          <a:bodyPr/>
          <a:lstStyle/>
          <a:p>
            <a:endParaRPr lang="en-US"/>
          </a:p>
        </p:txBody>
      </p:sp>
      <p:sp>
        <p:nvSpPr>
          <p:cNvPr id="124" name="Shape 122"/>
          <p:cNvSpPr/>
          <p:nvPr/>
        </p:nvSpPr>
        <p:spPr>
          <a:xfrm>
            <a:off x="10030968" y="3310128"/>
            <a:ext cx="164592" cy="0"/>
          </a:xfrm>
          <a:prstGeom prst="line">
            <a:avLst/>
          </a:prstGeom>
          <a:noFill/>
          <a:ln w="15240">
            <a:solidFill>
              <a:srgbClr val="38D9E6"/>
            </a:solidFill>
            <a:prstDash val="solid"/>
          </a:ln>
        </p:spPr>
        <p:txBody>
          <a:bodyPr/>
          <a:lstStyle/>
          <a:p>
            <a:endParaRPr lang="en-US"/>
          </a:p>
        </p:txBody>
      </p:sp>
      <p:sp>
        <p:nvSpPr>
          <p:cNvPr id="125" name="Shape 123"/>
          <p:cNvSpPr/>
          <p:nvPr/>
        </p:nvSpPr>
        <p:spPr>
          <a:xfrm>
            <a:off x="11731752" y="3310128"/>
            <a:ext cx="164592" cy="0"/>
          </a:xfrm>
          <a:prstGeom prst="line">
            <a:avLst/>
          </a:prstGeom>
          <a:noFill/>
          <a:ln w="15240">
            <a:solidFill>
              <a:srgbClr val="38D9E6"/>
            </a:solidFill>
            <a:prstDash val="solid"/>
          </a:ln>
        </p:spPr>
        <p:txBody>
          <a:bodyPr/>
          <a:lstStyle/>
          <a:p>
            <a:endParaRPr lang="en-US"/>
          </a:p>
        </p:txBody>
      </p:sp>
      <p:sp>
        <p:nvSpPr>
          <p:cNvPr id="126" name="Text 124"/>
          <p:cNvSpPr/>
          <p:nvPr/>
        </p:nvSpPr>
        <p:spPr>
          <a:xfrm>
            <a:off x="10396728" y="1618488"/>
            <a:ext cx="1133856" cy="329184"/>
          </a:xfrm>
          <a:prstGeom prst="rect">
            <a:avLst/>
          </a:prstGeom>
          <a:noFill/>
          <a:ln/>
        </p:spPr>
        <p:txBody>
          <a:bodyPr wrap="square" lIns="0" tIns="0" rIns="0" bIns="0" rtlCol="0" anchor="ctr"/>
          <a:lstStyle/>
          <a:p>
            <a:pPr marL="0" indent="0" algn="ctr">
              <a:buNone/>
            </a:pPr>
            <a:r>
              <a:rPr lang="en-US" sz="1800" b="1" dirty="0">
                <a:solidFill>
                  <a:srgbClr val="F4F8FB"/>
                </a:solidFill>
                <a:latin typeface="Inter Display" pitchFamily="34" charset="0"/>
                <a:ea typeface="Inter Display" pitchFamily="34" charset="-122"/>
                <a:cs typeface="Inter Display" pitchFamily="34" charset="-120"/>
              </a:rPr>
              <a:t>FPGA</a:t>
            </a:r>
            <a:endParaRPr lang="en-US" sz="1800" dirty="0"/>
          </a:p>
        </p:txBody>
      </p:sp>
      <p:sp>
        <p:nvSpPr>
          <p:cNvPr id="127" name="Text 125"/>
          <p:cNvSpPr/>
          <p:nvPr/>
        </p:nvSpPr>
        <p:spPr>
          <a:xfrm>
            <a:off x="10396728" y="2029968"/>
            <a:ext cx="1133856" cy="219456"/>
          </a:xfrm>
          <a:prstGeom prst="rect">
            <a:avLst/>
          </a:prstGeom>
          <a:noFill/>
          <a:ln/>
        </p:spPr>
        <p:txBody>
          <a:bodyPr wrap="square" lIns="0" tIns="0" rIns="0" bIns="0" rtlCol="0" anchor="ctr"/>
          <a:lstStyle/>
          <a:p>
            <a:pPr marL="0" indent="0" algn="ctr">
              <a:buNone/>
            </a:pPr>
            <a:r>
              <a:rPr lang="en-US" sz="950" b="1" dirty="0">
                <a:solidFill>
                  <a:srgbClr val="38D9E6"/>
                </a:solidFill>
                <a:latin typeface="Inter" pitchFamily="34" charset="0"/>
                <a:ea typeface="Inter" pitchFamily="34" charset="-122"/>
                <a:cs typeface="Inter" pitchFamily="34" charset="-120"/>
              </a:rPr>
              <a:t>K26 PL</a:t>
            </a:r>
            <a:endParaRPr lang="en-US" sz="950" dirty="0"/>
          </a:p>
        </p:txBody>
      </p:sp>
      <p:sp>
        <p:nvSpPr>
          <p:cNvPr id="128" name="Shape 126"/>
          <p:cNvSpPr/>
          <p:nvPr/>
        </p:nvSpPr>
        <p:spPr>
          <a:xfrm>
            <a:off x="10634472" y="2423160"/>
            <a:ext cx="658368" cy="384048"/>
          </a:xfrm>
          <a:prstGeom prst="rect">
            <a:avLst/>
          </a:prstGeom>
          <a:solidFill>
            <a:srgbClr val="0A1625"/>
          </a:solidFill>
          <a:ln w="10160">
            <a:solidFill>
              <a:srgbClr val="22384E"/>
            </a:solidFill>
            <a:prstDash val="solid"/>
          </a:ln>
        </p:spPr>
        <p:txBody>
          <a:bodyPr/>
          <a:lstStyle/>
          <a:p>
            <a:endParaRPr lang="en-US"/>
          </a:p>
        </p:txBody>
      </p:sp>
      <p:sp>
        <p:nvSpPr>
          <p:cNvPr id="129" name="Text 127"/>
          <p:cNvSpPr/>
          <p:nvPr/>
        </p:nvSpPr>
        <p:spPr>
          <a:xfrm>
            <a:off x="10652760" y="2523744"/>
            <a:ext cx="621792" cy="146304"/>
          </a:xfrm>
          <a:prstGeom prst="rect">
            <a:avLst/>
          </a:prstGeom>
          <a:noFill/>
          <a:ln/>
        </p:spPr>
        <p:txBody>
          <a:bodyPr wrap="square" lIns="0" tIns="0" rIns="0" bIns="0" rtlCol="0" anchor="ctr"/>
          <a:lstStyle/>
          <a:p>
            <a:pPr marL="0" indent="0" algn="ctr">
              <a:buNone/>
            </a:pPr>
            <a:r>
              <a:rPr lang="en-US" sz="750" b="1" dirty="0">
                <a:solidFill>
                  <a:srgbClr val="A8B6C5"/>
                </a:solidFill>
                <a:latin typeface="Inter" pitchFamily="34" charset="0"/>
                <a:ea typeface="Inter" pitchFamily="34" charset="-122"/>
                <a:cs typeface="Inter" pitchFamily="34" charset="-120"/>
              </a:rPr>
              <a:t>DCT  •  Q  •  RLE</a:t>
            </a:r>
            <a:endParaRPr lang="en-US" sz="750" dirty="0"/>
          </a:p>
        </p:txBody>
      </p:sp>
      <p:sp>
        <p:nvSpPr>
          <p:cNvPr id="130" name="Text 128"/>
          <p:cNvSpPr/>
          <p:nvPr/>
        </p:nvSpPr>
        <p:spPr>
          <a:xfrm>
            <a:off x="10195560" y="3730752"/>
            <a:ext cx="1536192" cy="438912"/>
          </a:xfrm>
          <a:prstGeom prst="rect">
            <a:avLst/>
          </a:prstGeom>
          <a:noFill/>
          <a:ln/>
        </p:spPr>
        <p:txBody>
          <a:bodyPr wrap="square" lIns="0" tIns="0" rIns="0" bIns="0" rtlCol="0" anchor="ctr"/>
          <a:lstStyle/>
          <a:p>
            <a:pPr marL="0" indent="0" algn="ctr">
              <a:buNone/>
            </a:pPr>
            <a:r>
              <a:rPr lang="en-US" sz="970" b="1" dirty="0">
                <a:solidFill>
                  <a:srgbClr val="24C9AA"/>
                </a:solidFill>
                <a:latin typeface="Inter" pitchFamily="34" charset="0"/>
                <a:ea typeface="Inter" pitchFamily="34" charset="-122"/>
                <a:cs typeface="Inter" pitchFamily="34" charset="-120"/>
              </a:rPr>
              <a:t>custom packed</a:t>
            </a:r>
            <a:endParaRPr lang="en-US" sz="970" dirty="0"/>
          </a:p>
          <a:p>
            <a:pPr marL="0" indent="0" algn="ctr">
              <a:buNone/>
            </a:pPr>
            <a:r>
              <a:rPr lang="en-US" sz="970" b="1" dirty="0">
                <a:solidFill>
                  <a:srgbClr val="24C9AA"/>
                </a:solidFill>
                <a:latin typeface="Inter" pitchFamily="34" charset="0"/>
                <a:ea typeface="Inter" pitchFamily="34" charset="-122"/>
                <a:cs typeface="Inter" pitchFamily="34" charset="-120"/>
              </a:rPr>
              <a:t>output</a:t>
            </a:r>
            <a:endParaRPr lang="en-US" sz="970" dirty="0"/>
          </a:p>
        </p:txBody>
      </p:sp>
      <p:sp>
        <p:nvSpPr>
          <p:cNvPr id="131" name="Shape 129"/>
          <p:cNvSpPr/>
          <p:nvPr/>
        </p:nvSpPr>
        <p:spPr>
          <a:xfrm>
            <a:off x="502920" y="5047488"/>
            <a:ext cx="2615184" cy="932688"/>
          </a:xfrm>
          <a:prstGeom prst="roundRect">
            <a:avLst>
              <a:gd name="adj" fmla="val 7843"/>
            </a:avLst>
          </a:prstGeom>
          <a:solidFill>
            <a:srgbClr val="0D1C2D"/>
          </a:solidFill>
          <a:ln w="12700">
            <a:solidFill>
              <a:srgbClr val="38D9E6">
                <a:alpha val="45000"/>
              </a:srgbClr>
            </a:solidFill>
            <a:prstDash val="solid"/>
          </a:ln>
          <a:effectLst>
            <a:outerShdw algn="bl" rotWithShape="0">
              <a:srgbClr val="000000">
                <a:alpha val="0"/>
              </a:srgbClr>
            </a:outerShdw>
          </a:effectLst>
        </p:spPr>
        <p:txBody>
          <a:bodyPr/>
          <a:lstStyle/>
          <a:p>
            <a:endParaRPr lang="en-US"/>
          </a:p>
        </p:txBody>
      </p:sp>
      <p:sp>
        <p:nvSpPr>
          <p:cNvPr id="132" name="Shape 130"/>
          <p:cNvSpPr/>
          <p:nvPr/>
        </p:nvSpPr>
        <p:spPr>
          <a:xfrm>
            <a:off x="649224" y="5193792"/>
            <a:ext cx="0" cy="640080"/>
          </a:xfrm>
          <a:prstGeom prst="line">
            <a:avLst/>
          </a:prstGeom>
          <a:noFill/>
          <a:ln w="44450">
            <a:solidFill>
              <a:srgbClr val="38D9E6"/>
            </a:solidFill>
            <a:prstDash val="solid"/>
          </a:ln>
        </p:spPr>
        <p:txBody>
          <a:bodyPr/>
          <a:lstStyle/>
          <a:p>
            <a:endParaRPr lang="en-US"/>
          </a:p>
        </p:txBody>
      </p:sp>
      <p:sp>
        <p:nvSpPr>
          <p:cNvPr id="133" name="Text 131"/>
          <p:cNvSpPr/>
          <p:nvPr/>
        </p:nvSpPr>
        <p:spPr>
          <a:xfrm>
            <a:off x="813816" y="5184648"/>
            <a:ext cx="2176272" cy="347472"/>
          </a:xfrm>
          <a:prstGeom prst="rect">
            <a:avLst/>
          </a:prstGeom>
          <a:noFill/>
          <a:ln/>
        </p:spPr>
        <p:txBody>
          <a:bodyPr wrap="square" lIns="0" tIns="0" rIns="0" bIns="0" rtlCol="0" anchor="ctr">
            <a:normAutofit/>
          </a:bodyPr>
          <a:lstStyle/>
          <a:p>
            <a:pPr marL="0" indent="0">
              <a:buNone/>
            </a:pPr>
            <a:r>
              <a:rPr lang="en-US" sz="2200" b="1" dirty="0">
                <a:solidFill>
                  <a:srgbClr val="F4F8FB"/>
                </a:solidFill>
                <a:latin typeface="Inter Display" pitchFamily="34" charset="0"/>
                <a:ea typeface="Inter Display" pitchFamily="34" charset="-122"/>
                <a:cs typeface="Inter Display" pitchFamily="34" charset="-120"/>
              </a:rPr>
              <a:t>41</a:t>
            </a:r>
            <a:endParaRPr lang="en-US" sz="2200" dirty="0"/>
          </a:p>
        </p:txBody>
      </p:sp>
      <p:sp>
        <p:nvSpPr>
          <p:cNvPr id="134" name="Text 132"/>
          <p:cNvSpPr/>
          <p:nvPr/>
        </p:nvSpPr>
        <p:spPr>
          <a:xfrm>
            <a:off x="813816" y="5577840"/>
            <a:ext cx="2176272" cy="228600"/>
          </a:xfrm>
          <a:prstGeom prst="rect">
            <a:avLst/>
          </a:prstGeom>
          <a:noFill/>
          <a:ln/>
        </p:spPr>
        <p:txBody>
          <a:bodyPr wrap="square" lIns="0" tIns="0" rIns="0" bIns="0" rtlCol="0" anchor="ctr">
            <a:normAutofit/>
          </a:bodyPr>
          <a:lstStyle/>
          <a:p>
            <a:pPr marL="0" indent="0">
              <a:buNone/>
            </a:pPr>
            <a:r>
              <a:rPr lang="en-US" sz="1050" b="1" dirty="0">
                <a:solidFill>
                  <a:srgbClr val="38D9E6"/>
                </a:solidFill>
                <a:latin typeface="Inter" pitchFamily="34" charset="0"/>
                <a:ea typeface="Inter" pitchFamily="34" charset="-122"/>
                <a:cs typeface="Inter" pitchFamily="34" charset="-120"/>
              </a:rPr>
              <a:t>benchmark images</a:t>
            </a:r>
            <a:endParaRPr lang="en-US" sz="1050" dirty="0"/>
          </a:p>
        </p:txBody>
      </p:sp>
      <p:sp>
        <p:nvSpPr>
          <p:cNvPr id="135" name="Text 133"/>
          <p:cNvSpPr/>
          <p:nvPr/>
        </p:nvSpPr>
        <p:spPr>
          <a:xfrm>
            <a:off x="813816" y="5724144"/>
            <a:ext cx="2176272" cy="146304"/>
          </a:xfrm>
          <a:prstGeom prst="rect">
            <a:avLst/>
          </a:prstGeom>
          <a:noFill/>
          <a:ln/>
        </p:spPr>
        <p:txBody>
          <a:bodyPr wrap="square" lIns="0" tIns="0" rIns="0" bIns="0" rtlCol="0" anchor="ctr">
            <a:normAutofit/>
          </a:bodyPr>
          <a:lstStyle/>
          <a:p>
            <a:pPr marL="0" indent="0">
              <a:buNone/>
            </a:pPr>
            <a:r>
              <a:rPr lang="en-US" sz="750" dirty="0">
                <a:solidFill>
                  <a:srgbClr val="A8B6C5"/>
                </a:solidFill>
                <a:latin typeface="Inter" pitchFamily="34" charset="0"/>
                <a:ea typeface="Inter" pitchFamily="34" charset="-122"/>
                <a:cs typeface="Inter" pitchFamily="34" charset="-120"/>
              </a:rPr>
              <a:t>30 natural + 11 synthetic</a:t>
            </a:r>
            <a:endParaRPr lang="en-US" sz="750" dirty="0"/>
          </a:p>
        </p:txBody>
      </p:sp>
      <p:sp>
        <p:nvSpPr>
          <p:cNvPr id="136" name="Shape 134"/>
          <p:cNvSpPr/>
          <p:nvPr/>
        </p:nvSpPr>
        <p:spPr>
          <a:xfrm>
            <a:off x="3246120" y="5047488"/>
            <a:ext cx="2615184" cy="932688"/>
          </a:xfrm>
          <a:prstGeom prst="roundRect">
            <a:avLst>
              <a:gd name="adj" fmla="val 7843"/>
            </a:avLst>
          </a:prstGeom>
          <a:solidFill>
            <a:srgbClr val="0D1C2D"/>
          </a:solidFill>
          <a:ln w="12700">
            <a:solidFill>
              <a:srgbClr val="24C9AA">
                <a:alpha val="45000"/>
              </a:srgbClr>
            </a:solidFill>
            <a:prstDash val="solid"/>
          </a:ln>
          <a:effectLst>
            <a:outerShdw algn="bl" rotWithShape="0">
              <a:srgbClr val="000000">
                <a:alpha val="0"/>
              </a:srgbClr>
            </a:outerShdw>
          </a:effectLst>
        </p:spPr>
        <p:txBody>
          <a:bodyPr/>
          <a:lstStyle/>
          <a:p>
            <a:endParaRPr lang="en-US"/>
          </a:p>
        </p:txBody>
      </p:sp>
      <p:sp>
        <p:nvSpPr>
          <p:cNvPr id="137" name="Shape 135"/>
          <p:cNvSpPr/>
          <p:nvPr/>
        </p:nvSpPr>
        <p:spPr>
          <a:xfrm>
            <a:off x="3392424" y="5193792"/>
            <a:ext cx="0" cy="640080"/>
          </a:xfrm>
          <a:prstGeom prst="line">
            <a:avLst/>
          </a:prstGeom>
          <a:noFill/>
          <a:ln w="44450">
            <a:solidFill>
              <a:srgbClr val="24C9AA"/>
            </a:solidFill>
            <a:prstDash val="solid"/>
          </a:ln>
        </p:spPr>
        <p:txBody>
          <a:bodyPr/>
          <a:lstStyle/>
          <a:p>
            <a:endParaRPr lang="en-US"/>
          </a:p>
        </p:txBody>
      </p:sp>
      <p:sp>
        <p:nvSpPr>
          <p:cNvPr id="138" name="Text 136"/>
          <p:cNvSpPr/>
          <p:nvPr/>
        </p:nvSpPr>
        <p:spPr>
          <a:xfrm>
            <a:off x="3557016" y="5184648"/>
            <a:ext cx="2176272" cy="347472"/>
          </a:xfrm>
          <a:prstGeom prst="rect">
            <a:avLst/>
          </a:prstGeom>
          <a:noFill/>
          <a:ln/>
        </p:spPr>
        <p:txBody>
          <a:bodyPr wrap="square" lIns="0" tIns="0" rIns="0" bIns="0" rtlCol="0" anchor="ctr">
            <a:normAutofit/>
          </a:bodyPr>
          <a:lstStyle/>
          <a:p>
            <a:pPr marL="0" indent="0">
              <a:buNone/>
            </a:pPr>
            <a:r>
              <a:rPr lang="en-US" sz="2200" b="1" dirty="0">
                <a:solidFill>
                  <a:srgbClr val="F4F8FB"/>
                </a:solidFill>
                <a:latin typeface="Inter Display" pitchFamily="34" charset="0"/>
                <a:ea typeface="Inter Display" pitchFamily="34" charset="-122"/>
                <a:cs typeface="Inter Display" pitchFamily="34" charset="-120"/>
              </a:rPr>
              <a:t>4.07:1</a:t>
            </a:r>
            <a:endParaRPr lang="en-US" sz="2200" dirty="0"/>
          </a:p>
        </p:txBody>
      </p:sp>
      <p:sp>
        <p:nvSpPr>
          <p:cNvPr id="139" name="Text 137"/>
          <p:cNvSpPr/>
          <p:nvPr/>
        </p:nvSpPr>
        <p:spPr>
          <a:xfrm>
            <a:off x="3557016" y="5577840"/>
            <a:ext cx="2176272" cy="228600"/>
          </a:xfrm>
          <a:prstGeom prst="rect">
            <a:avLst/>
          </a:prstGeom>
          <a:noFill/>
          <a:ln/>
        </p:spPr>
        <p:txBody>
          <a:bodyPr wrap="square" lIns="0" tIns="0" rIns="0" bIns="0" rtlCol="0" anchor="ctr">
            <a:normAutofit/>
          </a:bodyPr>
          <a:lstStyle/>
          <a:p>
            <a:pPr marL="0" indent="0">
              <a:buNone/>
            </a:pPr>
            <a:r>
              <a:rPr lang="en-US" sz="1050" b="1" dirty="0">
                <a:solidFill>
                  <a:srgbClr val="24C9AA"/>
                </a:solidFill>
                <a:latin typeface="Inter" pitchFamily="34" charset="0"/>
                <a:ea typeface="Inter" pitchFamily="34" charset="-122"/>
                <a:cs typeface="Inter" pitchFamily="34" charset="-120"/>
              </a:rPr>
              <a:t>aggregate FPGA ratio</a:t>
            </a:r>
            <a:endParaRPr lang="en-US" sz="1050" dirty="0"/>
          </a:p>
        </p:txBody>
      </p:sp>
      <p:sp>
        <p:nvSpPr>
          <p:cNvPr id="140" name="Text 138"/>
          <p:cNvSpPr/>
          <p:nvPr/>
        </p:nvSpPr>
        <p:spPr>
          <a:xfrm>
            <a:off x="3557016" y="5724144"/>
            <a:ext cx="2176272" cy="146304"/>
          </a:xfrm>
          <a:prstGeom prst="rect">
            <a:avLst/>
          </a:prstGeom>
          <a:noFill/>
          <a:ln/>
        </p:spPr>
        <p:txBody>
          <a:bodyPr wrap="square" lIns="0" tIns="0" rIns="0" bIns="0" rtlCol="0" anchor="ctr">
            <a:normAutofit/>
          </a:bodyPr>
          <a:lstStyle/>
          <a:p>
            <a:pPr marL="0" indent="0">
              <a:buNone/>
            </a:pPr>
            <a:r>
              <a:rPr lang="en-US" sz="750" dirty="0">
                <a:solidFill>
                  <a:srgbClr val="A8B6C5"/>
                </a:solidFill>
                <a:latin typeface="Inter" pitchFamily="34" charset="0"/>
                <a:ea typeface="Inter" pitchFamily="34" charset="-122"/>
                <a:cs typeface="Inter" pitchFamily="34" charset="-120"/>
              </a:rPr>
              <a:t>10.75 MB → 2.64 MB</a:t>
            </a:r>
            <a:endParaRPr lang="en-US" sz="750" dirty="0"/>
          </a:p>
        </p:txBody>
      </p:sp>
      <p:sp>
        <p:nvSpPr>
          <p:cNvPr id="141" name="Shape 139"/>
          <p:cNvSpPr/>
          <p:nvPr/>
        </p:nvSpPr>
        <p:spPr>
          <a:xfrm>
            <a:off x="5989320" y="5047488"/>
            <a:ext cx="2615184" cy="932688"/>
          </a:xfrm>
          <a:prstGeom prst="roundRect">
            <a:avLst>
              <a:gd name="adj" fmla="val 7843"/>
            </a:avLst>
          </a:prstGeom>
          <a:solidFill>
            <a:srgbClr val="0D1C2D"/>
          </a:solidFill>
          <a:ln w="12700">
            <a:solidFill>
              <a:srgbClr val="49D486">
                <a:alpha val="45000"/>
              </a:srgbClr>
            </a:solidFill>
            <a:prstDash val="solid"/>
          </a:ln>
          <a:effectLst>
            <a:outerShdw algn="bl" rotWithShape="0">
              <a:srgbClr val="000000">
                <a:alpha val="0"/>
              </a:srgbClr>
            </a:outerShdw>
          </a:effectLst>
        </p:spPr>
        <p:txBody>
          <a:bodyPr/>
          <a:lstStyle/>
          <a:p>
            <a:endParaRPr lang="en-US"/>
          </a:p>
        </p:txBody>
      </p:sp>
      <p:sp>
        <p:nvSpPr>
          <p:cNvPr id="142" name="Shape 140"/>
          <p:cNvSpPr/>
          <p:nvPr/>
        </p:nvSpPr>
        <p:spPr>
          <a:xfrm>
            <a:off x="6135624" y="5193792"/>
            <a:ext cx="0" cy="640080"/>
          </a:xfrm>
          <a:prstGeom prst="line">
            <a:avLst/>
          </a:prstGeom>
          <a:noFill/>
          <a:ln w="44450">
            <a:solidFill>
              <a:srgbClr val="49D486"/>
            </a:solidFill>
            <a:prstDash val="solid"/>
          </a:ln>
        </p:spPr>
        <p:txBody>
          <a:bodyPr/>
          <a:lstStyle/>
          <a:p>
            <a:endParaRPr lang="en-US"/>
          </a:p>
        </p:txBody>
      </p:sp>
      <p:sp>
        <p:nvSpPr>
          <p:cNvPr id="143" name="Text 141"/>
          <p:cNvSpPr/>
          <p:nvPr/>
        </p:nvSpPr>
        <p:spPr>
          <a:xfrm>
            <a:off x="6300216" y="5184648"/>
            <a:ext cx="2176272" cy="347472"/>
          </a:xfrm>
          <a:prstGeom prst="rect">
            <a:avLst/>
          </a:prstGeom>
          <a:noFill/>
          <a:ln/>
        </p:spPr>
        <p:txBody>
          <a:bodyPr wrap="square" lIns="0" tIns="0" rIns="0" bIns="0" rtlCol="0" anchor="ctr">
            <a:normAutofit/>
          </a:bodyPr>
          <a:lstStyle/>
          <a:p>
            <a:pPr marL="0" indent="0">
              <a:buNone/>
            </a:pPr>
            <a:r>
              <a:rPr lang="en-US" sz="2200" b="1" dirty="0">
                <a:solidFill>
                  <a:srgbClr val="F4F8FB"/>
                </a:solidFill>
                <a:latin typeface="Inter Display" pitchFamily="34" charset="0"/>
                <a:ea typeface="Inter Display" pitchFamily="34" charset="-122"/>
                <a:cs typeface="Inter Display" pitchFamily="34" charset="-120"/>
              </a:rPr>
              <a:t>5.18×</a:t>
            </a:r>
            <a:endParaRPr lang="en-US" sz="2200" dirty="0"/>
          </a:p>
        </p:txBody>
      </p:sp>
      <p:sp>
        <p:nvSpPr>
          <p:cNvPr id="144" name="Text 142"/>
          <p:cNvSpPr/>
          <p:nvPr/>
        </p:nvSpPr>
        <p:spPr>
          <a:xfrm>
            <a:off x="6300216" y="5577840"/>
            <a:ext cx="2176272" cy="228600"/>
          </a:xfrm>
          <a:prstGeom prst="rect">
            <a:avLst/>
          </a:prstGeom>
          <a:noFill/>
          <a:ln/>
        </p:spPr>
        <p:txBody>
          <a:bodyPr wrap="square" lIns="0" tIns="0" rIns="0" bIns="0" rtlCol="0" anchor="ctr">
            <a:normAutofit/>
          </a:bodyPr>
          <a:lstStyle/>
          <a:p>
            <a:pPr marL="0" indent="0">
              <a:buNone/>
            </a:pPr>
            <a:r>
              <a:rPr lang="en-US" sz="1050" b="1" dirty="0">
                <a:solidFill>
                  <a:srgbClr val="49D486"/>
                </a:solidFill>
                <a:latin typeface="Inter" pitchFamily="34" charset="0"/>
                <a:ea typeface="Inter" pitchFamily="34" charset="-122"/>
                <a:cs typeface="Inter" pitchFamily="34" charset="-120"/>
              </a:rPr>
              <a:t>quantisation speedup</a:t>
            </a:r>
            <a:endParaRPr lang="en-US" sz="1050" dirty="0"/>
          </a:p>
        </p:txBody>
      </p:sp>
      <p:sp>
        <p:nvSpPr>
          <p:cNvPr id="145" name="Text 143"/>
          <p:cNvSpPr/>
          <p:nvPr/>
        </p:nvSpPr>
        <p:spPr>
          <a:xfrm>
            <a:off x="6300216" y="5724144"/>
            <a:ext cx="2176272" cy="146304"/>
          </a:xfrm>
          <a:prstGeom prst="rect">
            <a:avLst/>
          </a:prstGeom>
          <a:noFill/>
          <a:ln/>
        </p:spPr>
        <p:txBody>
          <a:bodyPr wrap="square" lIns="0" tIns="0" rIns="0" bIns="0" rtlCol="0" anchor="ctr">
            <a:normAutofit/>
          </a:bodyPr>
          <a:lstStyle/>
          <a:p>
            <a:pPr marL="0" indent="0">
              <a:buNone/>
            </a:pPr>
            <a:r>
              <a:rPr lang="en-US" sz="750" dirty="0">
                <a:solidFill>
                  <a:srgbClr val="A8B6C5"/>
                </a:solidFill>
                <a:latin typeface="Inter" pitchFamily="34" charset="0"/>
                <a:ea typeface="Inter" pitchFamily="34" charset="-122"/>
                <a:cs typeface="Inter" pitchFamily="34" charset="-120"/>
              </a:rPr>
              <a:t>largest arithmetic-stage gain</a:t>
            </a:r>
            <a:endParaRPr lang="en-US" sz="750" dirty="0"/>
          </a:p>
        </p:txBody>
      </p:sp>
      <p:sp>
        <p:nvSpPr>
          <p:cNvPr id="146" name="Shape 144"/>
          <p:cNvSpPr/>
          <p:nvPr/>
        </p:nvSpPr>
        <p:spPr>
          <a:xfrm>
            <a:off x="8732520" y="5047488"/>
            <a:ext cx="2615184" cy="932688"/>
          </a:xfrm>
          <a:prstGeom prst="roundRect">
            <a:avLst>
              <a:gd name="adj" fmla="val 7843"/>
            </a:avLst>
          </a:prstGeom>
          <a:solidFill>
            <a:srgbClr val="0D1C2D"/>
          </a:solidFill>
          <a:ln w="12700">
            <a:solidFill>
              <a:srgbClr val="FFA24C">
                <a:alpha val="45000"/>
              </a:srgbClr>
            </a:solidFill>
            <a:prstDash val="solid"/>
          </a:ln>
          <a:effectLst>
            <a:outerShdw algn="bl" rotWithShape="0">
              <a:srgbClr val="000000">
                <a:alpha val="0"/>
              </a:srgbClr>
            </a:outerShdw>
          </a:effectLst>
        </p:spPr>
        <p:txBody>
          <a:bodyPr/>
          <a:lstStyle/>
          <a:p>
            <a:endParaRPr lang="en-US"/>
          </a:p>
        </p:txBody>
      </p:sp>
      <p:sp>
        <p:nvSpPr>
          <p:cNvPr id="147" name="Shape 145"/>
          <p:cNvSpPr/>
          <p:nvPr/>
        </p:nvSpPr>
        <p:spPr>
          <a:xfrm>
            <a:off x="8878824" y="5193792"/>
            <a:ext cx="0" cy="640080"/>
          </a:xfrm>
          <a:prstGeom prst="line">
            <a:avLst/>
          </a:prstGeom>
          <a:noFill/>
          <a:ln w="44450">
            <a:solidFill>
              <a:srgbClr val="FFA24C"/>
            </a:solidFill>
            <a:prstDash val="solid"/>
          </a:ln>
        </p:spPr>
        <p:txBody>
          <a:bodyPr/>
          <a:lstStyle/>
          <a:p>
            <a:endParaRPr lang="en-US"/>
          </a:p>
        </p:txBody>
      </p:sp>
      <p:sp>
        <p:nvSpPr>
          <p:cNvPr id="148" name="Text 146"/>
          <p:cNvSpPr/>
          <p:nvPr/>
        </p:nvSpPr>
        <p:spPr>
          <a:xfrm>
            <a:off x="9043416" y="5184648"/>
            <a:ext cx="2176272" cy="347472"/>
          </a:xfrm>
          <a:prstGeom prst="rect">
            <a:avLst/>
          </a:prstGeom>
          <a:noFill/>
          <a:ln/>
        </p:spPr>
        <p:txBody>
          <a:bodyPr wrap="square" lIns="0" tIns="0" rIns="0" bIns="0" rtlCol="0" anchor="ctr">
            <a:normAutofit/>
          </a:bodyPr>
          <a:lstStyle/>
          <a:p>
            <a:pPr marL="0" indent="0">
              <a:buNone/>
            </a:pPr>
            <a:r>
              <a:rPr lang="en-US" sz="2200" b="1" dirty="0">
                <a:solidFill>
                  <a:srgbClr val="F4F8FB"/>
                </a:solidFill>
                <a:latin typeface="Inter Display" pitchFamily="34" charset="0"/>
                <a:ea typeface="Inter Display" pitchFamily="34" charset="-122"/>
                <a:cs typeface="Inter Display" pitchFamily="34" charset="-120"/>
              </a:rPr>
              <a:t>77.9%</a:t>
            </a:r>
            <a:endParaRPr lang="en-US" sz="2200" dirty="0"/>
          </a:p>
        </p:txBody>
      </p:sp>
      <p:sp>
        <p:nvSpPr>
          <p:cNvPr id="149" name="Text 147"/>
          <p:cNvSpPr/>
          <p:nvPr/>
        </p:nvSpPr>
        <p:spPr>
          <a:xfrm>
            <a:off x="9043416" y="5577840"/>
            <a:ext cx="2176272" cy="228600"/>
          </a:xfrm>
          <a:prstGeom prst="rect">
            <a:avLst/>
          </a:prstGeom>
          <a:noFill/>
          <a:ln/>
        </p:spPr>
        <p:txBody>
          <a:bodyPr wrap="square" lIns="0" tIns="0" rIns="0" bIns="0" rtlCol="0" anchor="ctr">
            <a:normAutofit/>
          </a:bodyPr>
          <a:lstStyle/>
          <a:p>
            <a:pPr marL="0" indent="0">
              <a:buNone/>
            </a:pPr>
            <a:r>
              <a:rPr lang="en-US" sz="1050" b="1" dirty="0">
                <a:solidFill>
                  <a:srgbClr val="FFA24C"/>
                </a:solidFill>
                <a:latin typeface="Inter" pitchFamily="34" charset="0"/>
                <a:ea typeface="Inter" pitchFamily="34" charset="-122"/>
                <a:cs typeface="Inter" pitchFamily="34" charset="-120"/>
              </a:rPr>
              <a:t>kernel time in encoding</a:t>
            </a:r>
            <a:endParaRPr lang="en-US" sz="1050" dirty="0"/>
          </a:p>
        </p:txBody>
      </p:sp>
      <p:sp>
        <p:nvSpPr>
          <p:cNvPr id="150" name="Text 148"/>
          <p:cNvSpPr/>
          <p:nvPr/>
        </p:nvSpPr>
        <p:spPr>
          <a:xfrm>
            <a:off x="9043416" y="5724144"/>
            <a:ext cx="2176272" cy="146304"/>
          </a:xfrm>
          <a:prstGeom prst="rect">
            <a:avLst/>
          </a:prstGeom>
          <a:noFill/>
          <a:ln/>
        </p:spPr>
        <p:txBody>
          <a:bodyPr wrap="square" lIns="0" tIns="0" rIns="0" bIns="0" rtlCol="0" anchor="ctr">
            <a:normAutofit/>
          </a:bodyPr>
          <a:lstStyle/>
          <a:p>
            <a:pPr marL="0" indent="0">
              <a:buNone/>
            </a:pPr>
            <a:r>
              <a:rPr lang="en-US" sz="750" dirty="0">
                <a:solidFill>
                  <a:srgbClr val="A8B6C5"/>
                </a:solidFill>
                <a:latin typeface="Inter" pitchFamily="34" charset="0"/>
                <a:ea typeface="Inter" pitchFamily="34" charset="-122"/>
                <a:cs typeface="Inter" pitchFamily="34" charset="-120"/>
              </a:rPr>
              <a:t>the dominant bottleneck</a:t>
            </a:r>
            <a:endParaRPr lang="en-US" sz="750" dirty="0"/>
          </a:p>
        </p:txBody>
      </p:sp>
      <p:sp>
        <p:nvSpPr>
          <p:cNvPr id="151" name="Shape 149"/>
          <p:cNvSpPr/>
          <p:nvPr/>
        </p:nvSpPr>
        <p:spPr>
          <a:xfrm>
            <a:off x="438912" y="6519672"/>
            <a:ext cx="11064240" cy="0"/>
          </a:xfrm>
          <a:prstGeom prst="line">
            <a:avLst/>
          </a:prstGeom>
          <a:noFill/>
          <a:ln w="10160">
            <a:solidFill>
              <a:srgbClr val="22384E">
                <a:alpha val="70000"/>
              </a:srgbClr>
            </a:solidFill>
            <a:prstDash val="solid"/>
          </a:ln>
        </p:spPr>
        <p:txBody>
          <a:bodyPr/>
          <a:lstStyle/>
          <a:p>
            <a:endParaRPr lang="en-US"/>
          </a:p>
        </p:txBody>
      </p:sp>
      <p:sp>
        <p:nvSpPr>
          <p:cNvPr id="152" name="Text 150"/>
          <p:cNvSpPr/>
          <p:nvPr/>
        </p:nvSpPr>
        <p:spPr>
          <a:xfrm>
            <a:off x="530352" y="7342632"/>
            <a:ext cx="10515600" cy="146304"/>
          </a:xfrm>
          <a:prstGeom prst="rect">
            <a:avLst/>
          </a:prstGeom>
          <a:noFill/>
          <a:ln/>
        </p:spPr>
        <p:txBody>
          <a:bodyPr wrap="square" lIns="0" tIns="0" rIns="0" bIns="0" rtlCol="0" anchor="ctr">
            <a:normAutofit/>
          </a:bodyPr>
          <a:lstStyle/>
          <a:p>
            <a:pPr marL="0" indent="0">
              <a:buNone/>
            </a:pPr>
            <a:r>
              <a:rPr lang="en-US" sz="730" dirty="0">
                <a:solidFill>
                  <a:srgbClr val="72879A"/>
                </a:solidFill>
                <a:latin typeface="Inter" pitchFamily="34" charset="0"/>
                <a:ea typeface="Inter" pitchFamily="34" charset="-122"/>
                <a:cs typeface="Inter" pitchFamily="34" charset="-120"/>
              </a:rPr>
              <a:t>Source: project CPU console </a:t>
            </a:r>
            <a:r>
              <a:rPr lang="en-US" sz="730" dirty="0" err="1">
                <a:solidFill>
                  <a:srgbClr val="72879A"/>
                </a:solidFill>
                <a:latin typeface="Inter" pitchFamily="34" charset="0"/>
                <a:ea typeface="Inter" pitchFamily="34" charset="-122"/>
                <a:cs typeface="Inter" pitchFamily="34" charset="-120"/>
              </a:rPr>
              <a:t>outut</a:t>
            </a:r>
            <a:r>
              <a:rPr lang="en-US" sz="730" dirty="0">
                <a:solidFill>
                  <a:srgbClr val="72879A"/>
                </a:solidFill>
                <a:latin typeface="Inter" pitchFamily="34" charset="0"/>
                <a:ea typeface="Inter" pitchFamily="34" charset="-122"/>
                <a:cs typeface="Inter" pitchFamily="34" charset="-120"/>
              </a:rPr>
              <a:t> and </a:t>
            </a:r>
            <a:r>
              <a:rPr lang="en-US" sz="730" dirty="0" err="1">
                <a:solidFill>
                  <a:srgbClr val="72879A"/>
                </a:solidFill>
                <a:latin typeface="Inter" pitchFamily="34" charset="0"/>
                <a:ea typeface="Inter" pitchFamily="34" charset="-122"/>
                <a:cs typeface="Inter" pitchFamily="34" charset="-120"/>
              </a:rPr>
              <a:t>hardware_stage_profile.cv</a:t>
            </a:r>
            <a:r>
              <a:rPr lang="en-US" sz="730" dirty="0">
                <a:solidFill>
                  <a:srgbClr val="72879A"/>
                </a:solidFill>
                <a:latin typeface="Inter" pitchFamily="34" charset="0"/>
                <a:ea typeface="Inter" pitchFamily="34" charset="-122"/>
                <a:cs typeface="Inter" pitchFamily="34" charset="-120"/>
              </a:rPr>
              <a:t>.</a:t>
            </a:r>
            <a:endParaRPr lang="en-US" sz="730" dirty="0"/>
          </a:p>
        </p:txBody>
      </p:sp>
      <p:sp>
        <p:nvSpPr>
          <p:cNvPr id="153" name="Slide Number Placeholder 0"/>
          <p:cNvSpPr>
            <a:spLocks noGrp="1"/>
          </p:cNvSpPr>
          <p:nvPr>
            <p:ph type="sldNum" sz="quarter" idx="4294967295"/>
          </p:nvPr>
        </p:nvSpPr>
        <p:spPr>
          <a:xfrm>
            <a:off x="11430000" y="6473952"/>
            <a:ext cx="438912"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7890A4"/>
                </a:solidFill>
                <a:latin typeface="Inter"/>
                <a:ea typeface="Inter"/>
                <a:cs typeface="Inter"/>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9802368" y="0"/>
            <a:ext cx="2386584" cy="2971800"/>
          </a:xfrm>
          <a:prstGeom prst="ellipse">
            <a:avLst/>
          </a:prstGeom>
          <a:solidFill>
            <a:srgbClr val="38D9E6">
              <a:alpha val="8000"/>
            </a:srgbClr>
          </a:solidFill>
          <a:ln w="12700">
            <a:solidFill>
              <a:srgbClr val="38D9E6">
                <a:alpha val="0"/>
              </a:srgbClr>
            </a:solidFill>
            <a:prstDash val="solid"/>
          </a:ln>
        </p:spPr>
        <p:txBody>
          <a:bodyPr/>
          <a:lstStyle/>
          <a:p>
            <a:endParaRPr lang="en-US"/>
          </a:p>
        </p:txBody>
      </p:sp>
      <p:sp>
        <p:nvSpPr>
          <p:cNvPr id="3" name="Shape 1"/>
          <p:cNvSpPr/>
          <p:nvPr/>
        </p:nvSpPr>
        <p:spPr>
          <a:xfrm>
            <a:off x="0" y="5230368"/>
            <a:ext cx="2395728" cy="1627632"/>
          </a:xfrm>
          <a:prstGeom prst="ellipse">
            <a:avLst/>
          </a:prstGeom>
          <a:solidFill>
            <a:srgbClr val="668EFF">
              <a:alpha val="6000"/>
            </a:srgbClr>
          </a:solidFill>
          <a:ln w="12700">
            <a:solidFill>
              <a:srgbClr val="668EFF">
                <a:alpha val="0"/>
              </a:srgbClr>
            </a:solidFill>
            <a:prstDash val="solid"/>
          </a:ln>
        </p:spPr>
        <p:txBody>
          <a:bodyPr/>
          <a:lstStyle/>
          <a:p>
            <a:endParaRPr lang="en-US"/>
          </a:p>
        </p:txBody>
      </p:sp>
      <p:sp>
        <p:nvSpPr>
          <p:cNvPr id="4" name="Shape 2"/>
          <p:cNvSpPr/>
          <p:nvPr/>
        </p:nvSpPr>
        <p:spPr>
          <a:xfrm>
            <a:off x="457200" y="0"/>
            <a:ext cx="0" cy="6858000"/>
          </a:xfrm>
          <a:prstGeom prst="line">
            <a:avLst/>
          </a:prstGeom>
          <a:noFill/>
          <a:ln w="5080">
            <a:solidFill>
              <a:srgbClr val="22384E">
                <a:alpha val="6000"/>
              </a:srgbClr>
            </a:solidFill>
            <a:prstDash val="solid"/>
          </a:ln>
        </p:spPr>
        <p:txBody>
          <a:bodyPr/>
          <a:lstStyle/>
          <a:p>
            <a:endParaRPr lang="en-US"/>
          </a:p>
        </p:txBody>
      </p:sp>
      <p:sp>
        <p:nvSpPr>
          <p:cNvPr id="5" name="Shape 3"/>
          <p:cNvSpPr/>
          <p:nvPr/>
        </p:nvSpPr>
        <p:spPr>
          <a:xfrm>
            <a:off x="960120" y="0"/>
            <a:ext cx="0" cy="6858000"/>
          </a:xfrm>
          <a:prstGeom prst="line">
            <a:avLst/>
          </a:prstGeom>
          <a:noFill/>
          <a:ln w="5080">
            <a:solidFill>
              <a:srgbClr val="22384E">
                <a:alpha val="6000"/>
              </a:srgbClr>
            </a:solidFill>
            <a:prstDash val="solid"/>
          </a:ln>
        </p:spPr>
        <p:txBody>
          <a:bodyPr/>
          <a:lstStyle/>
          <a:p>
            <a:endParaRPr lang="en-US"/>
          </a:p>
        </p:txBody>
      </p:sp>
      <p:sp>
        <p:nvSpPr>
          <p:cNvPr id="6" name="Shape 4"/>
          <p:cNvSpPr/>
          <p:nvPr/>
        </p:nvSpPr>
        <p:spPr>
          <a:xfrm>
            <a:off x="1463040" y="0"/>
            <a:ext cx="0" cy="6858000"/>
          </a:xfrm>
          <a:prstGeom prst="line">
            <a:avLst/>
          </a:prstGeom>
          <a:noFill/>
          <a:ln w="5080">
            <a:solidFill>
              <a:srgbClr val="22384E">
                <a:alpha val="6000"/>
              </a:srgbClr>
            </a:solidFill>
            <a:prstDash val="solid"/>
          </a:ln>
        </p:spPr>
        <p:txBody>
          <a:bodyPr/>
          <a:lstStyle/>
          <a:p>
            <a:endParaRPr lang="en-US"/>
          </a:p>
        </p:txBody>
      </p:sp>
      <p:sp>
        <p:nvSpPr>
          <p:cNvPr id="7" name="Shape 5"/>
          <p:cNvSpPr/>
          <p:nvPr/>
        </p:nvSpPr>
        <p:spPr>
          <a:xfrm>
            <a:off x="1965960" y="0"/>
            <a:ext cx="0" cy="6858000"/>
          </a:xfrm>
          <a:prstGeom prst="line">
            <a:avLst/>
          </a:prstGeom>
          <a:noFill/>
          <a:ln w="5080">
            <a:solidFill>
              <a:srgbClr val="22384E">
                <a:alpha val="6000"/>
              </a:srgbClr>
            </a:solidFill>
            <a:prstDash val="solid"/>
          </a:ln>
        </p:spPr>
        <p:txBody>
          <a:bodyPr/>
          <a:lstStyle/>
          <a:p>
            <a:endParaRPr lang="en-US"/>
          </a:p>
        </p:txBody>
      </p:sp>
      <p:sp>
        <p:nvSpPr>
          <p:cNvPr id="8" name="Shape 6"/>
          <p:cNvSpPr/>
          <p:nvPr/>
        </p:nvSpPr>
        <p:spPr>
          <a:xfrm>
            <a:off x="2468880" y="0"/>
            <a:ext cx="0" cy="6858000"/>
          </a:xfrm>
          <a:prstGeom prst="line">
            <a:avLst/>
          </a:prstGeom>
          <a:noFill/>
          <a:ln w="5080">
            <a:solidFill>
              <a:srgbClr val="22384E">
                <a:alpha val="6000"/>
              </a:srgbClr>
            </a:solidFill>
            <a:prstDash val="solid"/>
          </a:ln>
        </p:spPr>
        <p:txBody>
          <a:bodyPr/>
          <a:lstStyle/>
          <a:p>
            <a:endParaRPr lang="en-US"/>
          </a:p>
        </p:txBody>
      </p:sp>
      <p:sp>
        <p:nvSpPr>
          <p:cNvPr id="9" name="Shape 7"/>
          <p:cNvSpPr/>
          <p:nvPr/>
        </p:nvSpPr>
        <p:spPr>
          <a:xfrm>
            <a:off x="2971800" y="0"/>
            <a:ext cx="0" cy="6858000"/>
          </a:xfrm>
          <a:prstGeom prst="line">
            <a:avLst/>
          </a:prstGeom>
          <a:noFill/>
          <a:ln w="5080">
            <a:solidFill>
              <a:srgbClr val="22384E">
                <a:alpha val="6000"/>
              </a:srgbClr>
            </a:solidFill>
            <a:prstDash val="solid"/>
          </a:ln>
        </p:spPr>
        <p:txBody>
          <a:bodyPr/>
          <a:lstStyle/>
          <a:p>
            <a:endParaRPr lang="en-US"/>
          </a:p>
        </p:txBody>
      </p:sp>
      <p:sp>
        <p:nvSpPr>
          <p:cNvPr id="10" name="Shape 8"/>
          <p:cNvSpPr/>
          <p:nvPr/>
        </p:nvSpPr>
        <p:spPr>
          <a:xfrm>
            <a:off x="3474720" y="0"/>
            <a:ext cx="0" cy="6858000"/>
          </a:xfrm>
          <a:prstGeom prst="line">
            <a:avLst/>
          </a:prstGeom>
          <a:noFill/>
          <a:ln w="5080">
            <a:solidFill>
              <a:srgbClr val="22384E">
                <a:alpha val="6000"/>
              </a:srgbClr>
            </a:solidFill>
            <a:prstDash val="solid"/>
          </a:ln>
        </p:spPr>
        <p:txBody>
          <a:bodyPr/>
          <a:lstStyle/>
          <a:p>
            <a:endParaRPr lang="en-US"/>
          </a:p>
        </p:txBody>
      </p:sp>
      <p:sp>
        <p:nvSpPr>
          <p:cNvPr id="11" name="Shape 9"/>
          <p:cNvSpPr/>
          <p:nvPr/>
        </p:nvSpPr>
        <p:spPr>
          <a:xfrm>
            <a:off x="3977640" y="0"/>
            <a:ext cx="0" cy="6858000"/>
          </a:xfrm>
          <a:prstGeom prst="line">
            <a:avLst/>
          </a:prstGeom>
          <a:noFill/>
          <a:ln w="5080">
            <a:solidFill>
              <a:srgbClr val="22384E">
                <a:alpha val="6000"/>
              </a:srgbClr>
            </a:solidFill>
            <a:prstDash val="solid"/>
          </a:ln>
        </p:spPr>
        <p:txBody>
          <a:bodyPr/>
          <a:lstStyle/>
          <a:p>
            <a:endParaRPr lang="en-US"/>
          </a:p>
        </p:txBody>
      </p:sp>
      <p:sp>
        <p:nvSpPr>
          <p:cNvPr id="12" name="Shape 10"/>
          <p:cNvSpPr/>
          <p:nvPr/>
        </p:nvSpPr>
        <p:spPr>
          <a:xfrm>
            <a:off x="4480560" y="0"/>
            <a:ext cx="0" cy="6858000"/>
          </a:xfrm>
          <a:prstGeom prst="line">
            <a:avLst/>
          </a:prstGeom>
          <a:noFill/>
          <a:ln w="5080">
            <a:solidFill>
              <a:srgbClr val="22384E">
                <a:alpha val="6000"/>
              </a:srgbClr>
            </a:solidFill>
            <a:prstDash val="solid"/>
          </a:ln>
        </p:spPr>
        <p:txBody>
          <a:bodyPr/>
          <a:lstStyle/>
          <a:p>
            <a:endParaRPr lang="en-US"/>
          </a:p>
        </p:txBody>
      </p:sp>
      <p:sp>
        <p:nvSpPr>
          <p:cNvPr id="13" name="Shape 11"/>
          <p:cNvSpPr/>
          <p:nvPr/>
        </p:nvSpPr>
        <p:spPr>
          <a:xfrm>
            <a:off x="4983480" y="0"/>
            <a:ext cx="0" cy="6858000"/>
          </a:xfrm>
          <a:prstGeom prst="line">
            <a:avLst/>
          </a:prstGeom>
          <a:noFill/>
          <a:ln w="5080">
            <a:solidFill>
              <a:srgbClr val="22384E">
                <a:alpha val="6000"/>
              </a:srgbClr>
            </a:solidFill>
            <a:prstDash val="solid"/>
          </a:ln>
        </p:spPr>
        <p:txBody>
          <a:bodyPr/>
          <a:lstStyle/>
          <a:p>
            <a:endParaRPr lang="en-US"/>
          </a:p>
        </p:txBody>
      </p:sp>
      <p:sp>
        <p:nvSpPr>
          <p:cNvPr id="14" name="Shape 12"/>
          <p:cNvSpPr/>
          <p:nvPr/>
        </p:nvSpPr>
        <p:spPr>
          <a:xfrm>
            <a:off x="5486400" y="0"/>
            <a:ext cx="0" cy="6858000"/>
          </a:xfrm>
          <a:prstGeom prst="line">
            <a:avLst/>
          </a:prstGeom>
          <a:noFill/>
          <a:ln w="5080">
            <a:solidFill>
              <a:srgbClr val="22384E">
                <a:alpha val="6000"/>
              </a:srgbClr>
            </a:solidFill>
            <a:prstDash val="solid"/>
          </a:ln>
        </p:spPr>
        <p:txBody>
          <a:bodyPr/>
          <a:lstStyle/>
          <a:p>
            <a:endParaRPr lang="en-US"/>
          </a:p>
        </p:txBody>
      </p:sp>
      <p:sp>
        <p:nvSpPr>
          <p:cNvPr id="15" name="Shape 13"/>
          <p:cNvSpPr/>
          <p:nvPr/>
        </p:nvSpPr>
        <p:spPr>
          <a:xfrm>
            <a:off x="5989320" y="0"/>
            <a:ext cx="0" cy="6858000"/>
          </a:xfrm>
          <a:prstGeom prst="line">
            <a:avLst/>
          </a:prstGeom>
          <a:noFill/>
          <a:ln w="5080">
            <a:solidFill>
              <a:srgbClr val="22384E">
                <a:alpha val="6000"/>
              </a:srgbClr>
            </a:solidFill>
            <a:prstDash val="solid"/>
          </a:ln>
        </p:spPr>
        <p:txBody>
          <a:bodyPr/>
          <a:lstStyle/>
          <a:p>
            <a:endParaRPr lang="en-US"/>
          </a:p>
        </p:txBody>
      </p:sp>
      <p:sp>
        <p:nvSpPr>
          <p:cNvPr id="16" name="Shape 14"/>
          <p:cNvSpPr/>
          <p:nvPr/>
        </p:nvSpPr>
        <p:spPr>
          <a:xfrm>
            <a:off x="6492240" y="0"/>
            <a:ext cx="0" cy="6858000"/>
          </a:xfrm>
          <a:prstGeom prst="line">
            <a:avLst/>
          </a:prstGeom>
          <a:noFill/>
          <a:ln w="5080">
            <a:solidFill>
              <a:srgbClr val="22384E">
                <a:alpha val="6000"/>
              </a:srgbClr>
            </a:solidFill>
            <a:prstDash val="solid"/>
          </a:ln>
        </p:spPr>
        <p:txBody>
          <a:bodyPr/>
          <a:lstStyle/>
          <a:p>
            <a:endParaRPr lang="en-US"/>
          </a:p>
        </p:txBody>
      </p:sp>
      <p:sp>
        <p:nvSpPr>
          <p:cNvPr id="17" name="Shape 15"/>
          <p:cNvSpPr/>
          <p:nvPr/>
        </p:nvSpPr>
        <p:spPr>
          <a:xfrm>
            <a:off x="6995160" y="0"/>
            <a:ext cx="0" cy="6858000"/>
          </a:xfrm>
          <a:prstGeom prst="line">
            <a:avLst/>
          </a:prstGeom>
          <a:noFill/>
          <a:ln w="5080">
            <a:solidFill>
              <a:srgbClr val="22384E">
                <a:alpha val="6000"/>
              </a:srgbClr>
            </a:solidFill>
            <a:prstDash val="solid"/>
          </a:ln>
        </p:spPr>
        <p:txBody>
          <a:bodyPr/>
          <a:lstStyle/>
          <a:p>
            <a:endParaRPr lang="en-US"/>
          </a:p>
        </p:txBody>
      </p:sp>
      <p:sp>
        <p:nvSpPr>
          <p:cNvPr id="18" name="Shape 16"/>
          <p:cNvSpPr/>
          <p:nvPr/>
        </p:nvSpPr>
        <p:spPr>
          <a:xfrm>
            <a:off x="7498080" y="0"/>
            <a:ext cx="0" cy="6858000"/>
          </a:xfrm>
          <a:prstGeom prst="line">
            <a:avLst/>
          </a:prstGeom>
          <a:noFill/>
          <a:ln w="5080">
            <a:solidFill>
              <a:srgbClr val="22384E">
                <a:alpha val="6000"/>
              </a:srgbClr>
            </a:solidFill>
            <a:prstDash val="solid"/>
          </a:ln>
        </p:spPr>
        <p:txBody>
          <a:bodyPr/>
          <a:lstStyle/>
          <a:p>
            <a:endParaRPr lang="en-US"/>
          </a:p>
        </p:txBody>
      </p:sp>
      <p:sp>
        <p:nvSpPr>
          <p:cNvPr id="19" name="Shape 17"/>
          <p:cNvSpPr/>
          <p:nvPr/>
        </p:nvSpPr>
        <p:spPr>
          <a:xfrm>
            <a:off x="8001000" y="0"/>
            <a:ext cx="0" cy="6858000"/>
          </a:xfrm>
          <a:prstGeom prst="line">
            <a:avLst/>
          </a:prstGeom>
          <a:noFill/>
          <a:ln w="5080">
            <a:solidFill>
              <a:srgbClr val="22384E">
                <a:alpha val="6000"/>
              </a:srgbClr>
            </a:solidFill>
            <a:prstDash val="solid"/>
          </a:ln>
        </p:spPr>
        <p:txBody>
          <a:bodyPr/>
          <a:lstStyle/>
          <a:p>
            <a:endParaRPr lang="en-US"/>
          </a:p>
        </p:txBody>
      </p:sp>
      <p:sp>
        <p:nvSpPr>
          <p:cNvPr id="20" name="Shape 18"/>
          <p:cNvSpPr/>
          <p:nvPr/>
        </p:nvSpPr>
        <p:spPr>
          <a:xfrm>
            <a:off x="8503920" y="0"/>
            <a:ext cx="0" cy="6858000"/>
          </a:xfrm>
          <a:prstGeom prst="line">
            <a:avLst/>
          </a:prstGeom>
          <a:noFill/>
          <a:ln w="5080">
            <a:solidFill>
              <a:srgbClr val="22384E">
                <a:alpha val="6000"/>
              </a:srgbClr>
            </a:solidFill>
            <a:prstDash val="solid"/>
          </a:ln>
        </p:spPr>
        <p:txBody>
          <a:bodyPr/>
          <a:lstStyle/>
          <a:p>
            <a:endParaRPr lang="en-US"/>
          </a:p>
        </p:txBody>
      </p:sp>
      <p:sp>
        <p:nvSpPr>
          <p:cNvPr id="21" name="Shape 19"/>
          <p:cNvSpPr/>
          <p:nvPr/>
        </p:nvSpPr>
        <p:spPr>
          <a:xfrm>
            <a:off x="9006840" y="0"/>
            <a:ext cx="0" cy="6858000"/>
          </a:xfrm>
          <a:prstGeom prst="line">
            <a:avLst/>
          </a:prstGeom>
          <a:noFill/>
          <a:ln w="5080">
            <a:solidFill>
              <a:srgbClr val="22384E">
                <a:alpha val="6000"/>
              </a:srgbClr>
            </a:solidFill>
            <a:prstDash val="solid"/>
          </a:ln>
        </p:spPr>
        <p:txBody>
          <a:bodyPr/>
          <a:lstStyle/>
          <a:p>
            <a:endParaRPr lang="en-US"/>
          </a:p>
        </p:txBody>
      </p:sp>
      <p:sp>
        <p:nvSpPr>
          <p:cNvPr id="22" name="Shape 20"/>
          <p:cNvSpPr/>
          <p:nvPr/>
        </p:nvSpPr>
        <p:spPr>
          <a:xfrm>
            <a:off x="9509760" y="0"/>
            <a:ext cx="0" cy="6858000"/>
          </a:xfrm>
          <a:prstGeom prst="line">
            <a:avLst/>
          </a:prstGeom>
          <a:noFill/>
          <a:ln w="5080">
            <a:solidFill>
              <a:srgbClr val="22384E">
                <a:alpha val="6000"/>
              </a:srgbClr>
            </a:solidFill>
            <a:prstDash val="solid"/>
          </a:ln>
        </p:spPr>
        <p:txBody>
          <a:bodyPr/>
          <a:lstStyle/>
          <a:p>
            <a:endParaRPr lang="en-US"/>
          </a:p>
        </p:txBody>
      </p:sp>
      <p:sp>
        <p:nvSpPr>
          <p:cNvPr id="23" name="Shape 21"/>
          <p:cNvSpPr/>
          <p:nvPr/>
        </p:nvSpPr>
        <p:spPr>
          <a:xfrm>
            <a:off x="10012680" y="0"/>
            <a:ext cx="0" cy="6858000"/>
          </a:xfrm>
          <a:prstGeom prst="line">
            <a:avLst/>
          </a:prstGeom>
          <a:noFill/>
          <a:ln w="5080">
            <a:solidFill>
              <a:srgbClr val="22384E">
                <a:alpha val="6000"/>
              </a:srgbClr>
            </a:solidFill>
            <a:prstDash val="solid"/>
          </a:ln>
        </p:spPr>
        <p:txBody>
          <a:bodyPr/>
          <a:lstStyle/>
          <a:p>
            <a:endParaRPr lang="en-US"/>
          </a:p>
        </p:txBody>
      </p:sp>
      <p:sp>
        <p:nvSpPr>
          <p:cNvPr id="24" name="Shape 22"/>
          <p:cNvSpPr/>
          <p:nvPr/>
        </p:nvSpPr>
        <p:spPr>
          <a:xfrm>
            <a:off x="10515600" y="0"/>
            <a:ext cx="0" cy="6858000"/>
          </a:xfrm>
          <a:prstGeom prst="line">
            <a:avLst/>
          </a:prstGeom>
          <a:noFill/>
          <a:ln w="5080">
            <a:solidFill>
              <a:srgbClr val="22384E">
                <a:alpha val="6000"/>
              </a:srgbClr>
            </a:solidFill>
            <a:prstDash val="solid"/>
          </a:ln>
        </p:spPr>
        <p:txBody>
          <a:bodyPr/>
          <a:lstStyle/>
          <a:p>
            <a:endParaRPr lang="en-US"/>
          </a:p>
        </p:txBody>
      </p:sp>
      <p:sp>
        <p:nvSpPr>
          <p:cNvPr id="25" name="Shape 23"/>
          <p:cNvSpPr/>
          <p:nvPr/>
        </p:nvSpPr>
        <p:spPr>
          <a:xfrm>
            <a:off x="11018520" y="0"/>
            <a:ext cx="0" cy="6858000"/>
          </a:xfrm>
          <a:prstGeom prst="line">
            <a:avLst/>
          </a:prstGeom>
          <a:noFill/>
          <a:ln w="5080">
            <a:solidFill>
              <a:srgbClr val="22384E">
                <a:alpha val="6000"/>
              </a:srgbClr>
            </a:solidFill>
            <a:prstDash val="solid"/>
          </a:ln>
        </p:spPr>
        <p:txBody>
          <a:bodyPr/>
          <a:lstStyle/>
          <a:p>
            <a:endParaRPr lang="en-US"/>
          </a:p>
        </p:txBody>
      </p:sp>
      <p:sp>
        <p:nvSpPr>
          <p:cNvPr id="26" name="Shape 24"/>
          <p:cNvSpPr/>
          <p:nvPr/>
        </p:nvSpPr>
        <p:spPr>
          <a:xfrm>
            <a:off x="11521440" y="0"/>
            <a:ext cx="0" cy="6858000"/>
          </a:xfrm>
          <a:prstGeom prst="line">
            <a:avLst/>
          </a:prstGeom>
          <a:noFill/>
          <a:ln w="5080">
            <a:solidFill>
              <a:srgbClr val="22384E">
                <a:alpha val="6000"/>
              </a:srgbClr>
            </a:solidFill>
            <a:prstDash val="solid"/>
          </a:ln>
        </p:spPr>
        <p:txBody>
          <a:bodyPr/>
          <a:lstStyle/>
          <a:p>
            <a:endParaRPr lang="en-US"/>
          </a:p>
        </p:txBody>
      </p:sp>
      <p:sp>
        <p:nvSpPr>
          <p:cNvPr id="27" name="Shape 25"/>
          <p:cNvSpPr/>
          <p:nvPr/>
        </p:nvSpPr>
        <p:spPr>
          <a:xfrm>
            <a:off x="0" y="320040"/>
            <a:ext cx="12191695" cy="0"/>
          </a:xfrm>
          <a:prstGeom prst="line">
            <a:avLst/>
          </a:prstGeom>
          <a:noFill/>
          <a:ln w="5080">
            <a:solidFill>
              <a:srgbClr val="22384E">
                <a:alpha val="5000"/>
              </a:srgbClr>
            </a:solidFill>
            <a:prstDash val="solid"/>
          </a:ln>
        </p:spPr>
        <p:txBody>
          <a:bodyPr/>
          <a:lstStyle/>
          <a:p>
            <a:endParaRPr lang="en-US"/>
          </a:p>
        </p:txBody>
      </p:sp>
      <p:sp>
        <p:nvSpPr>
          <p:cNvPr id="28" name="Shape 26"/>
          <p:cNvSpPr/>
          <p:nvPr/>
        </p:nvSpPr>
        <p:spPr>
          <a:xfrm>
            <a:off x="0" y="822960"/>
            <a:ext cx="12191695" cy="0"/>
          </a:xfrm>
          <a:prstGeom prst="line">
            <a:avLst/>
          </a:prstGeom>
          <a:noFill/>
          <a:ln w="5080">
            <a:solidFill>
              <a:srgbClr val="22384E">
                <a:alpha val="5000"/>
              </a:srgbClr>
            </a:solidFill>
            <a:prstDash val="solid"/>
          </a:ln>
        </p:spPr>
        <p:txBody>
          <a:bodyPr/>
          <a:lstStyle/>
          <a:p>
            <a:endParaRPr lang="en-US"/>
          </a:p>
        </p:txBody>
      </p:sp>
      <p:sp>
        <p:nvSpPr>
          <p:cNvPr id="29" name="Shape 27"/>
          <p:cNvSpPr/>
          <p:nvPr/>
        </p:nvSpPr>
        <p:spPr>
          <a:xfrm>
            <a:off x="0" y="1325880"/>
            <a:ext cx="12191695" cy="0"/>
          </a:xfrm>
          <a:prstGeom prst="line">
            <a:avLst/>
          </a:prstGeom>
          <a:noFill/>
          <a:ln w="5080">
            <a:solidFill>
              <a:srgbClr val="22384E">
                <a:alpha val="5000"/>
              </a:srgbClr>
            </a:solidFill>
            <a:prstDash val="solid"/>
          </a:ln>
        </p:spPr>
        <p:txBody>
          <a:bodyPr/>
          <a:lstStyle/>
          <a:p>
            <a:endParaRPr lang="en-US"/>
          </a:p>
        </p:txBody>
      </p:sp>
      <p:sp>
        <p:nvSpPr>
          <p:cNvPr id="30" name="Shape 28"/>
          <p:cNvSpPr/>
          <p:nvPr/>
        </p:nvSpPr>
        <p:spPr>
          <a:xfrm>
            <a:off x="0" y="1828800"/>
            <a:ext cx="12191695" cy="0"/>
          </a:xfrm>
          <a:prstGeom prst="line">
            <a:avLst/>
          </a:prstGeom>
          <a:noFill/>
          <a:ln w="5080">
            <a:solidFill>
              <a:srgbClr val="22384E">
                <a:alpha val="5000"/>
              </a:srgbClr>
            </a:solidFill>
            <a:prstDash val="solid"/>
          </a:ln>
        </p:spPr>
        <p:txBody>
          <a:bodyPr/>
          <a:lstStyle/>
          <a:p>
            <a:endParaRPr lang="en-US"/>
          </a:p>
        </p:txBody>
      </p:sp>
      <p:sp>
        <p:nvSpPr>
          <p:cNvPr id="31" name="Shape 29"/>
          <p:cNvSpPr/>
          <p:nvPr/>
        </p:nvSpPr>
        <p:spPr>
          <a:xfrm>
            <a:off x="0" y="2331720"/>
            <a:ext cx="12191695" cy="0"/>
          </a:xfrm>
          <a:prstGeom prst="line">
            <a:avLst/>
          </a:prstGeom>
          <a:noFill/>
          <a:ln w="5080">
            <a:solidFill>
              <a:srgbClr val="22384E">
                <a:alpha val="5000"/>
              </a:srgbClr>
            </a:solidFill>
            <a:prstDash val="solid"/>
          </a:ln>
        </p:spPr>
        <p:txBody>
          <a:bodyPr/>
          <a:lstStyle/>
          <a:p>
            <a:endParaRPr lang="en-US"/>
          </a:p>
        </p:txBody>
      </p:sp>
      <p:sp>
        <p:nvSpPr>
          <p:cNvPr id="32" name="Shape 30"/>
          <p:cNvSpPr/>
          <p:nvPr/>
        </p:nvSpPr>
        <p:spPr>
          <a:xfrm>
            <a:off x="0" y="2834640"/>
            <a:ext cx="12191695" cy="0"/>
          </a:xfrm>
          <a:prstGeom prst="line">
            <a:avLst/>
          </a:prstGeom>
          <a:noFill/>
          <a:ln w="5080">
            <a:solidFill>
              <a:srgbClr val="22384E">
                <a:alpha val="5000"/>
              </a:srgbClr>
            </a:solidFill>
            <a:prstDash val="solid"/>
          </a:ln>
        </p:spPr>
        <p:txBody>
          <a:bodyPr/>
          <a:lstStyle/>
          <a:p>
            <a:endParaRPr lang="en-US"/>
          </a:p>
        </p:txBody>
      </p:sp>
      <p:sp>
        <p:nvSpPr>
          <p:cNvPr id="33" name="Shape 31"/>
          <p:cNvSpPr/>
          <p:nvPr/>
        </p:nvSpPr>
        <p:spPr>
          <a:xfrm>
            <a:off x="0" y="3337560"/>
            <a:ext cx="12191695" cy="0"/>
          </a:xfrm>
          <a:prstGeom prst="line">
            <a:avLst/>
          </a:prstGeom>
          <a:noFill/>
          <a:ln w="5080">
            <a:solidFill>
              <a:srgbClr val="22384E">
                <a:alpha val="5000"/>
              </a:srgbClr>
            </a:solidFill>
            <a:prstDash val="solid"/>
          </a:ln>
        </p:spPr>
        <p:txBody>
          <a:bodyPr/>
          <a:lstStyle/>
          <a:p>
            <a:endParaRPr lang="en-US"/>
          </a:p>
        </p:txBody>
      </p:sp>
      <p:sp>
        <p:nvSpPr>
          <p:cNvPr id="34" name="Shape 32"/>
          <p:cNvSpPr/>
          <p:nvPr/>
        </p:nvSpPr>
        <p:spPr>
          <a:xfrm>
            <a:off x="0" y="3840480"/>
            <a:ext cx="12191695" cy="0"/>
          </a:xfrm>
          <a:prstGeom prst="line">
            <a:avLst/>
          </a:prstGeom>
          <a:noFill/>
          <a:ln w="5080">
            <a:solidFill>
              <a:srgbClr val="22384E">
                <a:alpha val="5000"/>
              </a:srgbClr>
            </a:solidFill>
            <a:prstDash val="solid"/>
          </a:ln>
        </p:spPr>
        <p:txBody>
          <a:bodyPr/>
          <a:lstStyle/>
          <a:p>
            <a:endParaRPr lang="en-US"/>
          </a:p>
        </p:txBody>
      </p:sp>
      <p:sp>
        <p:nvSpPr>
          <p:cNvPr id="35" name="Shape 33"/>
          <p:cNvSpPr/>
          <p:nvPr/>
        </p:nvSpPr>
        <p:spPr>
          <a:xfrm>
            <a:off x="0" y="4343400"/>
            <a:ext cx="12191695" cy="0"/>
          </a:xfrm>
          <a:prstGeom prst="line">
            <a:avLst/>
          </a:prstGeom>
          <a:noFill/>
          <a:ln w="5080">
            <a:solidFill>
              <a:srgbClr val="22384E">
                <a:alpha val="5000"/>
              </a:srgbClr>
            </a:solidFill>
            <a:prstDash val="solid"/>
          </a:ln>
        </p:spPr>
        <p:txBody>
          <a:bodyPr/>
          <a:lstStyle/>
          <a:p>
            <a:endParaRPr lang="en-US"/>
          </a:p>
        </p:txBody>
      </p:sp>
      <p:sp>
        <p:nvSpPr>
          <p:cNvPr id="36" name="Shape 34"/>
          <p:cNvSpPr/>
          <p:nvPr/>
        </p:nvSpPr>
        <p:spPr>
          <a:xfrm>
            <a:off x="0" y="4846320"/>
            <a:ext cx="12191695" cy="0"/>
          </a:xfrm>
          <a:prstGeom prst="line">
            <a:avLst/>
          </a:prstGeom>
          <a:noFill/>
          <a:ln w="5080">
            <a:solidFill>
              <a:srgbClr val="22384E">
                <a:alpha val="5000"/>
              </a:srgbClr>
            </a:solidFill>
            <a:prstDash val="solid"/>
          </a:ln>
        </p:spPr>
        <p:txBody>
          <a:bodyPr/>
          <a:lstStyle/>
          <a:p>
            <a:endParaRPr lang="en-US"/>
          </a:p>
        </p:txBody>
      </p:sp>
      <p:sp>
        <p:nvSpPr>
          <p:cNvPr id="37" name="Shape 35"/>
          <p:cNvSpPr/>
          <p:nvPr/>
        </p:nvSpPr>
        <p:spPr>
          <a:xfrm>
            <a:off x="0" y="5349240"/>
            <a:ext cx="12191695" cy="0"/>
          </a:xfrm>
          <a:prstGeom prst="line">
            <a:avLst/>
          </a:prstGeom>
          <a:noFill/>
          <a:ln w="5080">
            <a:solidFill>
              <a:srgbClr val="22384E">
                <a:alpha val="5000"/>
              </a:srgbClr>
            </a:solidFill>
            <a:prstDash val="solid"/>
          </a:ln>
        </p:spPr>
        <p:txBody>
          <a:bodyPr/>
          <a:lstStyle/>
          <a:p>
            <a:endParaRPr lang="en-US"/>
          </a:p>
        </p:txBody>
      </p:sp>
      <p:sp>
        <p:nvSpPr>
          <p:cNvPr id="38" name="Shape 36"/>
          <p:cNvSpPr/>
          <p:nvPr/>
        </p:nvSpPr>
        <p:spPr>
          <a:xfrm>
            <a:off x="0" y="5852160"/>
            <a:ext cx="12191695" cy="0"/>
          </a:xfrm>
          <a:prstGeom prst="line">
            <a:avLst/>
          </a:prstGeom>
          <a:noFill/>
          <a:ln w="5080">
            <a:solidFill>
              <a:srgbClr val="22384E">
                <a:alpha val="5000"/>
              </a:srgbClr>
            </a:solidFill>
            <a:prstDash val="solid"/>
          </a:ln>
        </p:spPr>
        <p:txBody>
          <a:bodyPr/>
          <a:lstStyle/>
          <a:p>
            <a:endParaRPr lang="en-US"/>
          </a:p>
        </p:txBody>
      </p:sp>
      <p:sp>
        <p:nvSpPr>
          <p:cNvPr id="39" name="Shape 37"/>
          <p:cNvSpPr/>
          <p:nvPr/>
        </p:nvSpPr>
        <p:spPr>
          <a:xfrm>
            <a:off x="0" y="6355080"/>
            <a:ext cx="12191695" cy="0"/>
          </a:xfrm>
          <a:prstGeom prst="line">
            <a:avLst/>
          </a:prstGeom>
          <a:noFill/>
          <a:ln w="5080">
            <a:solidFill>
              <a:srgbClr val="22384E">
                <a:alpha val="5000"/>
              </a:srgbClr>
            </a:solidFill>
            <a:prstDash val="solid"/>
          </a:ln>
        </p:spPr>
        <p:txBody>
          <a:bodyPr/>
          <a:lstStyle/>
          <a:p>
            <a:endParaRPr lang="en-US"/>
          </a:p>
        </p:txBody>
      </p:sp>
      <p:sp>
        <p:nvSpPr>
          <p:cNvPr id="40" name="Shape 38"/>
          <p:cNvSpPr/>
          <p:nvPr/>
        </p:nvSpPr>
        <p:spPr>
          <a:xfrm>
            <a:off x="0" y="6858000"/>
            <a:ext cx="12191695" cy="0"/>
          </a:xfrm>
          <a:prstGeom prst="line">
            <a:avLst/>
          </a:prstGeom>
          <a:noFill/>
          <a:ln w="5080">
            <a:solidFill>
              <a:srgbClr val="22384E">
                <a:alpha val="5000"/>
              </a:srgbClr>
            </a:solidFill>
            <a:prstDash val="solid"/>
          </a:ln>
        </p:spPr>
        <p:txBody>
          <a:bodyPr/>
          <a:lstStyle/>
          <a:p>
            <a:endParaRPr lang="en-US"/>
          </a:p>
        </p:txBody>
      </p:sp>
      <p:sp>
        <p:nvSpPr>
          <p:cNvPr id="41" name="Text 39"/>
          <p:cNvSpPr/>
          <p:nvPr/>
        </p:nvSpPr>
        <p:spPr>
          <a:xfrm>
            <a:off x="438912" y="256032"/>
            <a:ext cx="4114800" cy="201168"/>
          </a:xfrm>
          <a:prstGeom prst="rect">
            <a:avLst/>
          </a:prstGeom>
          <a:noFill/>
          <a:ln/>
        </p:spPr>
        <p:txBody>
          <a:bodyPr wrap="square" lIns="0" tIns="0" rIns="0" bIns="0" rtlCol="0" anchor="ctr"/>
          <a:lstStyle/>
          <a:p>
            <a:pPr marL="0" indent="0">
              <a:buNone/>
            </a:pPr>
            <a:r>
              <a:rPr lang="en-US" sz="950" b="1" kern="0" spc="170" dirty="0">
                <a:solidFill>
                  <a:srgbClr val="38D9E6"/>
                </a:solidFill>
                <a:latin typeface="Inter" pitchFamily="34" charset="0"/>
                <a:ea typeface="Inter" pitchFamily="34" charset="-122"/>
                <a:cs typeface="Inter" pitchFamily="34" charset="-120"/>
              </a:rPr>
              <a:t>PROJECT OVERVIEW</a:t>
            </a:r>
            <a:endParaRPr lang="en-US" sz="950" dirty="0"/>
          </a:p>
        </p:txBody>
      </p:sp>
      <p:sp>
        <p:nvSpPr>
          <p:cNvPr id="42" name="Shape 40"/>
          <p:cNvSpPr/>
          <p:nvPr/>
        </p:nvSpPr>
        <p:spPr>
          <a:xfrm>
            <a:off x="438912" y="539496"/>
            <a:ext cx="438912" cy="0"/>
          </a:xfrm>
          <a:prstGeom prst="line">
            <a:avLst/>
          </a:prstGeom>
          <a:noFill/>
          <a:ln w="44450">
            <a:solidFill>
              <a:srgbClr val="38D9E6"/>
            </a:solidFill>
            <a:prstDash val="solid"/>
            <a:headEnd type="none"/>
            <a:tailEnd type="none"/>
          </a:ln>
        </p:spPr>
        <p:txBody>
          <a:bodyPr/>
          <a:lstStyle/>
          <a:p>
            <a:endParaRPr lang="en-US"/>
          </a:p>
        </p:txBody>
      </p:sp>
      <p:sp>
        <p:nvSpPr>
          <p:cNvPr id="43" name="Text 41"/>
          <p:cNvSpPr/>
          <p:nvPr/>
        </p:nvSpPr>
        <p:spPr>
          <a:xfrm>
            <a:off x="438912" y="658368"/>
            <a:ext cx="11064240" cy="566928"/>
          </a:xfrm>
          <a:prstGeom prst="rect">
            <a:avLst/>
          </a:prstGeom>
          <a:noFill/>
          <a:ln/>
        </p:spPr>
        <p:txBody>
          <a:bodyPr wrap="square" lIns="0" tIns="0" rIns="0" bIns="0" rtlCol="0" anchor="ctr">
            <a:normAutofit/>
          </a:bodyPr>
          <a:lstStyle/>
          <a:p>
            <a:pPr marL="0" indent="0">
              <a:buNone/>
            </a:pPr>
            <a:r>
              <a:rPr lang="en-US" sz="2700" b="1" dirty="0">
                <a:solidFill>
                  <a:srgbClr val="F4F8FB"/>
                </a:solidFill>
                <a:latin typeface="Inter Display" pitchFamily="34" charset="0"/>
                <a:ea typeface="Inter Display" pitchFamily="34" charset="-122"/>
                <a:cs typeface="Inter Display" pitchFamily="34" charset="-120"/>
              </a:rPr>
              <a:t>What we set out to build — and how success was judged</a:t>
            </a:r>
            <a:endParaRPr lang="en-US" sz="2700" dirty="0"/>
          </a:p>
        </p:txBody>
      </p:sp>
      <p:sp>
        <p:nvSpPr>
          <p:cNvPr id="44" name="Text 42"/>
          <p:cNvSpPr/>
          <p:nvPr/>
        </p:nvSpPr>
        <p:spPr>
          <a:xfrm>
            <a:off x="457200" y="1225296"/>
            <a:ext cx="10881360" cy="292608"/>
          </a:xfrm>
          <a:prstGeom prst="rect">
            <a:avLst/>
          </a:prstGeom>
          <a:noFill/>
          <a:ln/>
        </p:spPr>
        <p:txBody>
          <a:bodyPr wrap="square" lIns="0" tIns="0" rIns="0" bIns="0" rtlCol="0" anchor="ctr">
            <a:normAutofit/>
          </a:bodyPr>
          <a:lstStyle/>
          <a:p>
            <a:pPr marL="0" indent="0">
              <a:buNone/>
            </a:pPr>
            <a:r>
              <a:rPr lang="en-US" sz="1250" dirty="0">
                <a:solidFill>
                  <a:srgbClr val="A8B6C5"/>
                </a:solidFill>
                <a:latin typeface="Inter" pitchFamily="34" charset="0"/>
                <a:ea typeface="Inter" pitchFamily="34" charset="-122"/>
                <a:cs typeface="Inter" pitchFamily="34" charset="-120"/>
              </a:rPr>
              <a:t>The goal was not only to move code into hardware, but to improve the complete compression workload.</a:t>
            </a:r>
            <a:endParaRPr lang="en-US" sz="1250" dirty="0"/>
          </a:p>
        </p:txBody>
      </p:sp>
      <p:sp>
        <p:nvSpPr>
          <p:cNvPr id="45" name="Shape 43"/>
          <p:cNvSpPr/>
          <p:nvPr/>
        </p:nvSpPr>
        <p:spPr>
          <a:xfrm>
            <a:off x="457200" y="1719072"/>
            <a:ext cx="5074920" cy="4370832"/>
          </a:xfrm>
          <a:prstGeom prst="roundRect">
            <a:avLst>
              <a:gd name="adj" fmla="val 1674"/>
            </a:avLst>
          </a:prstGeom>
          <a:solidFill>
            <a:srgbClr val="0D1C2D"/>
          </a:solidFill>
          <a:ln w="12700">
            <a:solidFill>
              <a:srgbClr val="22384E">
                <a:alpha val="90000"/>
              </a:srgbClr>
            </a:solidFill>
            <a:prstDash val="solid"/>
          </a:ln>
          <a:effectLst>
            <a:outerShdw algn="bl" rotWithShape="0">
              <a:srgbClr val="000000">
                <a:alpha val="0"/>
              </a:srgbClr>
            </a:outerShdw>
          </a:effectLst>
        </p:spPr>
        <p:txBody>
          <a:bodyPr/>
          <a:lstStyle/>
          <a:p>
            <a:endParaRPr lang="en-US"/>
          </a:p>
        </p:txBody>
      </p:sp>
      <p:sp>
        <p:nvSpPr>
          <p:cNvPr id="46" name="Text 44"/>
          <p:cNvSpPr/>
          <p:nvPr/>
        </p:nvSpPr>
        <p:spPr>
          <a:xfrm>
            <a:off x="713232" y="1938528"/>
            <a:ext cx="1371600" cy="274320"/>
          </a:xfrm>
          <a:prstGeom prst="rect">
            <a:avLst/>
          </a:prstGeom>
          <a:noFill/>
          <a:ln/>
        </p:spPr>
        <p:txBody>
          <a:bodyPr wrap="square" lIns="0" tIns="0" rIns="0" bIns="0" rtlCol="0" anchor="ctr"/>
          <a:lstStyle/>
          <a:p>
            <a:pPr marL="0" indent="0">
              <a:buNone/>
            </a:pPr>
            <a:r>
              <a:rPr lang="en-US" sz="1800" b="1" dirty="0">
                <a:solidFill>
                  <a:srgbClr val="F4F8FB"/>
                </a:solidFill>
                <a:latin typeface="Inter Display" pitchFamily="34" charset="0"/>
                <a:ea typeface="Inter Display" pitchFamily="34" charset="-122"/>
                <a:cs typeface="Inter Display" pitchFamily="34" charset="-120"/>
              </a:rPr>
              <a:t>Problem</a:t>
            </a:r>
            <a:endParaRPr lang="en-US" sz="1800" dirty="0"/>
          </a:p>
        </p:txBody>
      </p:sp>
      <p:sp>
        <p:nvSpPr>
          <p:cNvPr id="47" name="Text 45"/>
          <p:cNvSpPr/>
          <p:nvPr/>
        </p:nvSpPr>
        <p:spPr>
          <a:xfrm>
            <a:off x="713232" y="2331720"/>
            <a:ext cx="4526280" cy="685800"/>
          </a:xfrm>
          <a:prstGeom prst="rect">
            <a:avLst/>
          </a:prstGeom>
          <a:noFill/>
          <a:ln/>
        </p:spPr>
        <p:txBody>
          <a:bodyPr wrap="square" lIns="0" tIns="0" rIns="0" bIns="0" rtlCol="0" anchor="ctr">
            <a:normAutofit/>
          </a:bodyPr>
          <a:lstStyle/>
          <a:p>
            <a:pPr marL="0" indent="0">
              <a:buNone/>
            </a:pPr>
            <a:r>
              <a:rPr lang="en-US" sz="1310" dirty="0">
                <a:solidFill>
                  <a:srgbClr val="A8B6C5"/>
                </a:solidFill>
                <a:latin typeface="Inter" pitchFamily="34" charset="0"/>
                <a:ea typeface="Inter" pitchFamily="34" charset="-122"/>
                <a:cs typeface="Inter" pitchFamily="34" charset="-120"/>
              </a:rPr>
              <a:t>Image compression contains both regular arithmetic and irregular variable-length coding. The first is naturally parallel; the second is much harder to map efficiently to an FPGA.</a:t>
            </a:r>
            <a:endParaRPr lang="en-US" sz="1310" dirty="0"/>
          </a:p>
        </p:txBody>
      </p:sp>
      <p:sp>
        <p:nvSpPr>
          <p:cNvPr id="48" name="Shape 46"/>
          <p:cNvSpPr/>
          <p:nvPr/>
        </p:nvSpPr>
        <p:spPr>
          <a:xfrm>
            <a:off x="713232" y="3218688"/>
            <a:ext cx="292608" cy="292608"/>
          </a:xfrm>
          <a:prstGeom prst="ellipse">
            <a:avLst/>
          </a:prstGeom>
          <a:solidFill>
            <a:srgbClr val="38D9E6">
              <a:alpha val="92000"/>
            </a:srgbClr>
          </a:solidFill>
          <a:ln w="12700">
            <a:solidFill>
              <a:srgbClr val="38D9E6">
                <a:alpha val="0"/>
              </a:srgbClr>
            </a:solidFill>
            <a:prstDash val="solid"/>
          </a:ln>
        </p:spPr>
        <p:txBody>
          <a:bodyPr/>
          <a:lstStyle/>
          <a:p>
            <a:endParaRPr lang="en-US"/>
          </a:p>
        </p:txBody>
      </p:sp>
      <p:sp>
        <p:nvSpPr>
          <p:cNvPr id="49" name="Text 47"/>
          <p:cNvSpPr/>
          <p:nvPr/>
        </p:nvSpPr>
        <p:spPr>
          <a:xfrm>
            <a:off x="713232" y="3200400"/>
            <a:ext cx="292608" cy="274320"/>
          </a:xfrm>
          <a:prstGeom prst="rect">
            <a:avLst/>
          </a:prstGeom>
          <a:noFill/>
          <a:ln/>
        </p:spPr>
        <p:txBody>
          <a:bodyPr wrap="square" lIns="0" tIns="0" rIns="0" bIns="0" rtlCol="0" anchor="ctr"/>
          <a:lstStyle/>
          <a:p>
            <a:pPr marL="0" indent="0" algn="ctr">
              <a:buNone/>
            </a:pPr>
            <a:r>
              <a:rPr lang="en-US" sz="1000" b="1" dirty="0">
                <a:solidFill>
                  <a:srgbClr val="07111F"/>
                </a:solidFill>
                <a:latin typeface="Inter" pitchFamily="34" charset="0"/>
                <a:ea typeface="Inter" pitchFamily="34" charset="-122"/>
                <a:cs typeface="Inter" pitchFamily="34" charset="-120"/>
              </a:rPr>
              <a:t>1</a:t>
            </a:r>
            <a:endParaRPr lang="en-US" sz="1000" dirty="0"/>
          </a:p>
        </p:txBody>
      </p:sp>
      <p:sp>
        <p:nvSpPr>
          <p:cNvPr id="50" name="Text 48"/>
          <p:cNvSpPr/>
          <p:nvPr/>
        </p:nvSpPr>
        <p:spPr>
          <a:xfrm>
            <a:off x="1143000" y="3182112"/>
            <a:ext cx="4096512" cy="219456"/>
          </a:xfrm>
          <a:prstGeom prst="rect">
            <a:avLst/>
          </a:prstGeom>
          <a:noFill/>
          <a:ln/>
        </p:spPr>
        <p:txBody>
          <a:bodyPr wrap="square" lIns="0" tIns="0" rIns="0" bIns="0" rtlCol="0" anchor="ctr">
            <a:normAutofit/>
          </a:bodyPr>
          <a:lstStyle/>
          <a:p>
            <a:pPr marL="0" indent="0">
              <a:buNone/>
            </a:pPr>
            <a:r>
              <a:rPr lang="en-US" sz="1320" b="1" dirty="0">
                <a:solidFill>
                  <a:srgbClr val="F4F8FB"/>
                </a:solidFill>
                <a:latin typeface="Inter" pitchFamily="34" charset="0"/>
                <a:ea typeface="Inter" pitchFamily="34" charset="-122"/>
                <a:cs typeface="Inter" pitchFamily="34" charset="-120"/>
              </a:rPr>
              <a:t>Accelerate the full compressor</a:t>
            </a:r>
            <a:endParaRPr lang="en-US" sz="1320" dirty="0"/>
          </a:p>
        </p:txBody>
      </p:sp>
      <p:sp>
        <p:nvSpPr>
          <p:cNvPr id="51" name="Text 49"/>
          <p:cNvSpPr/>
          <p:nvPr/>
        </p:nvSpPr>
        <p:spPr>
          <a:xfrm>
            <a:off x="1143000" y="3429000"/>
            <a:ext cx="4096512" cy="402336"/>
          </a:xfrm>
          <a:prstGeom prst="rect">
            <a:avLst/>
          </a:prstGeom>
          <a:noFill/>
          <a:ln/>
        </p:spPr>
        <p:txBody>
          <a:bodyPr wrap="square" lIns="0" tIns="0" rIns="0" bIns="0" rtlCol="0" anchor="ctr">
            <a:normAutofit/>
          </a:bodyPr>
          <a:lstStyle/>
          <a:p>
            <a:pPr marL="0" indent="0">
              <a:buNone/>
            </a:pPr>
            <a:r>
              <a:rPr lang="en-US" sz="1050" dirty="0">
                <a:solidFill>
                  <a:srgbClr val="A8B6C5"/>
                </a:solidFill>
                <a:latin typeface="Inter" pitchFamily="34" charset="0"/>
                <a:ea typeface="Inter" pitchFamily="34" charset="-122"/>
                <a:cs typeface="Inter" pitchFamily="34" charset="-120"/>
              </a:rPr>
              <a:t>Implement the 8×8 processing pipeline in Vitis HLS and run it on the KV260 programmable logic.</a:t>
            </a:r>
            <a:endParaRPr lang="en-US" sz="1050" dirty="0"/>
          </a:p>
        </p:txBody>
      </p:sp>
      <p:sp>
        <p:nvSpPr>
          <p:cNvPr id="52" name="Shape 50"/>
          <p:cNvSpPr/>
          <p:nvPr/>
        </p:nvSpPr>
        <p:spPr>
          <a:xfrm>
            <a:off x="713232" y="3995928"/>
            <a:ext cx="292608" cy="292608"/>
          </a:xfrm>
          <a:prstGeom prst="ellipse">
            <a:avLst/>
          </a:prstGeom>
          <a:solidFill>
            <a:srgbClr val="24C9AA">
              <a:alpha val="92000"/>
            </a:srgbClr>
          </a:solidFill>
          <a:ln w="12700">
            <a:solidFill>
              <a:srgbClr val="24C9AA">
                <a:alpha val="0"/>
              </a:srgbClr>
            </a:solidFill>
            <a:prstDash val="solid"/>
          </a:ln>
        </p:spPr>
        <p:txBody>
          <a:bodyPr/>
          <a:lstStyle/>
          <a:p>
            <a:endParaRPr lang="en-US"/>
          </a:p>
        </p:txBody>
      </p:sp>
      <p:sp>
        <p:nvSpPr>
          <p:cNvPr id="53" name="Text 51"/>
          <p:cNvSpPr/>
          <p:nvPr/>
        </p:nvSpPr>
        <p:spPr>
          <a:xfrm>
            <a:off x="713232" y="3977640"/>
            <a:ext cx="292608" cy="274320"/>
          </a:xfrm>
          <a:prstGeom prst="rect">
            <a:avLst/>
          </a:prstGeom>
          <a:noFill/>
          <a:ln/>
        </p:spPr>
        <p:txBody>
          <a:bodyPr wrap="square" lIns="0" tIns="0" rIns="0" bIns="0" rtlCol="0" anchor="ctr"/>
          <a:lstStyle/>
          <a:p>
            <a:pPr marL="0" indent="0" algn="ctr">
              <a:buNone/>
            </a:pPr>
            <a:r>
              <a:rPr lang="en-US" sz="1000" b="1" dirty="0">
                <a:solidFill>
                  <a:srgbClr val="07111F"/>
                </a:solidFill>
                <a:latin typeface="Inter" pitchFamily="34" charset="0"/>
                <a:ea typeface="Inter" pitchFamily="34" charset="-122"/>
                <a:cs typeface="Inter" pitchFamily="34" charset="-120"/>
              </a:rPr>
              <a:t>2</a:t>
            </a:r>
            <a:endParaRPr lang="en-US" sz="1000" dirty="0"/>
          </a:p>
        </p:txBody>
      </p:sp>
      <p:sp>
        <p:nvSpPr>
          <p:cNvPr id="54" name="Text 52"/>
          <p:cNvSpPr/>
          <p:nvPr/>
        </p:nvSpPr>
        <p:spPr>
          <a:xfrm>
            <a:off x="1143000" y="3959352"/>
            <a:ext cx="4096512" cy="219456"/>
          </a:xfrm>
          <a:prstGeom prst="rect">
            <a:avLst/>
          </a:prstGeom>
          <a:noFill/>
          <a:ln/>
        </p:spPr>
        <p:txBody>
          <a:bodyPr wrap="square" lIns="0" tIns="0" rIns="0" bIns="0" rtlCol="0" anchor="ctr">
            <a:normAutofit/>
          </a:bodyPr>
          <a:lstStyle/>
          <a:p>
            <a:pPr marL="0" indent="0">
              <a:buNone/>
            </a:pPr>
            <a:r>
              <a:rPr lang="en-US" sz="1320" b="1" dirty="0">
                <a:solidFill>
                  <a:srgbClr val="F4F8FB"/>
                </a:solidFill>
                <a:latin typeface="Inter" pitchFamily="34" charset="0"/>
                <a:ea typeface="Inter" pitchFamily="34" charset="-122"/>
                <a:cs typeface="Inter" pitchFamily="34" charset="-120"/>
              </a:rPr>
              <a:t>Preserve useful compression</a:t>
            </a:r>
            <a:endParaRPr lang="en-US" sz="1320" dirty="0"/>
          </a:p>
        </p:txBody>
      </p:sp>
      <p:sp>
        <p:nvSpPr>
          <p:cNvPr id="55" name="Text 53"/>
          <p:cNvSpPr/>
          <p:nvPr/>
        </p:nvSpPr>
        <p:spPr>
          <a:xfrm>
            <a:off x="1143000" y="4206240"/>
            <a:ext cx="4096512" cy="402336"/>
          </a:xfrm>
          <a:prstGeom prst="rect">
            <a:avLst/>
          </a:prstGeom>
          <a:noFill/>
          <a:ln/>
        </p:spPr>
        <p:txBody>
          <a:bodyPr wrap="square" lIns="0" tIns="0" rIns="0" bIns="0" rtlCol="0" anchor="ctr">
            <a:normAutofit/>
          </a:bodyPr>
          <a:lstStyle/>
          <a:p>
            <a:pPr marL="0" indent="0">
              <a:buNone/>
            </a:pPr>
            <a:r>
              <a:rPr lang="en-US" sz="1050" dirty="0">
                <a:solidFill>
                  <a:srgbClr val="A8B6C5"/>
                </a:solidFill>
                <a:latin typeface="Inter" pitchFamily="34" charset="0"/>
                <a:ea typeface="Inter" pitchFamily="34" charset="-122"/>
                <a:cs typeface="Inter" pitchFamily="34" charset="-120"/>
              </a:rPr>
              <a:t>Compare total compressed size and compression ratio across the identical 41-image suite.</a:t>
            </a:r>
            <a:endParaRPr lang="en-US" sz="1050" dirty="0"/>
          </a:p>
        </p:txBody>
      </p:sp>
      <p:sp>
        <p:nvSpPr>
          <p:cNvPr id="56" name="Shape 54"/>
          <p:cNvSpPr/>
          <p:nvPr/>
        </p:nvSpPr>
        <p:spPr>
          <a:xfrm>
            <a:off x="713232" y="4773168"/>
            <a:ext cx="292608" cy="292608"/>
          </a:xfrm>
          <a:prstGeom prst="ellipse">
            <a:avLst/>
          </a:prstGeom>
          <a:solidFill>
            <a:srgbClr val="FFA24C">
              <a:alpha val="92000"/>
            </a:srgbClr>
          </a:solidFill>
          <a:ln w="12700">
            <a:solidFill>
              <a:srgbClr val="FFA24C">
                <a:alpha val="0"/>
              </a:srgbClr>
            </a:solidFill>
            <a:prstDash val="solid"/>
          </a:ln>
        </p:spPr>
        <p:txBody>
          <a:bodyPr/>
          <a:lstStyle/>
          <a:p>
            <a:endParaRPr lang="en-US"/>
          </a:p>
        </p:txBody>
      </p:sp>
      <p:sp>
        <p:nvSpPr>
          <p:cNvPr id="57" name="Text 55"/>
          <p:cNvSpPr/>
          <p:nvPr/>
        </p:nvSpPr>
        <p:spPr>
          <a:xfrm>
            <a:off x="713232" y="4754880"/>
            <a:ext cx="292608" cy="274320"/>
          </a:xfrm>
          <a:prstGeom prst="rect">
            <a:avLst/>
          </a:prstGeom>
          <a:noFill/>
          <a:ln/>
        </p:spPr>
        <p:txBody>
          <a:bodyPr wrap="square" lIns="0" tIns="0" rIns="0" bIns="0" rtlCol="0" anchor="ctr"/>
          <a:lstStyle/>
          <a:p>
            <a:pPr marL="0" indent="0" algn="ctr">
              <a:buNone/>
            </a:pPr>
            <a:r>
              <a:rPr lang="en-US" sz="1000" b="1" dirty="0">
                <a:solidFill>
                  <a:srgbClr val="07111F"/>
                </a:solidFill>
                <a:latin typeface="Inter" pitchFamily="34" charset="0"/>
                <a:ea typeface="Inter" pitchFamily="34" charset="-122"/>
                <a:cs typeface="Inter" pitchFamily="34" charset="-120"/>
              </a:rPr>
              <a:t>3</a:t>
            </a:r>
            <a:endParaRPr lang="en-US" sz="1000" dirty="0"/>
          </a:p>
        </p:txBody>
      </p:sp>
      <p:sp>
        <p:nvSpPr>
          <p:cNvPr id="58" name="Text 56"/>
          <p:cNvSpPr/>
          <p:nvPr/>
        </p:nvSpPr>
        <p:spPr>
          <a:xfrm>
            <a:off x="1143000" y="4736592"/>
            <a:ext cx="4096512" cy="219456"/>
          </a:xfrm>
          <a:prstGeom prst="rect">
            <a:avLst/>
          </a:prstGeom>
          <a:noFill/>
          <a:ln/>
        </p:spPr>
        <p:txBody>
          <a:bodyPr wrap="square" lIns="0" tIns="0" rIns="0" bIns="0" rtlCol="0" anchor="ctr">
            <a:normAutofit/>
          </a:bodyPr>
          <a:lstStyle/>
          <a:p>
            <a:pPr marL="0" indent="0">
              <a:buNone/>
            </a:pPr>
            <a:r>
              <a:rPr lang="en-US" sz="1320" b="1" dirty="0">
                <a:solidFill>
                  <a:srgbClr val="F4F8FB"/>
                </a:solidFill>
                <a:latin typeface="Inter" pitchFamily="34" charset="0"/>
                <a:ea typeface="Inter" pitchFamily="34" charset="-122"/>
                <a:cs typeface="Inter" pitchFamily="34" charset="-120"/>
              </a:rPr>
              <a:t>Measure the whole system</a:t>
            </a:r>
            <a:endParaRPr lang="en-US" sz="1320" dirty="0"/>
          </a:p>
        </p:txBody>
      </p:sp>
      <p:sp>
        <p:nvSpPr>
          <p:cNvPr id="59" name="Text 57"/>
          <p:cNvSpPr/>
          <p:nvPr/>
        </p:nvSpPr>
        <p:spPr>
          <a:xfrm>
            <a:off x="1143000" y="4983480"/>
            <a:ext cx="4096512" cy="402336"/>
          </a:xfrm>
          <a:prstGeom prst="rect">
            <a:avLst/>
          </a:prstGeom>
          <a:noFill/>
          <a:ln/>
        </p:spPr>
        <p:txBody>
          <a:bodyPr wrap="square" lIns="0" tIns="0" rIns="0" bIns="0" rtlCol="0" anchor="ctr">
            <a:normAutofit/>
          </a:bodyPr>
          <a:lstStyle/>
          <a:p>
            <a:pPr marL="0" indent="0">
              <a:buNone/>
            </a:pPr>
            <a:r>
              <a:rPr lang="en-US" sz="1050" dirty="0">
                <a:solidFill>
                  <a:srgbClr val="A8B6C5"/>
                </a:solidFill>
                <a:latin typeface="Inter" pitchFamily="34" charset="0"/>
                <a:ea typeface="Inter" pitchFamily="34" charset="-122"/>
                <a:cs typeface="Inter" pitchFamily="34" charset="-120"/>
              </a:rPr>
              <a:t>Profile individual stages, transfer overheads and file I/O — not only HLS latency.</a:t>
            </a:r>
            <a:endParaRPr lang="en-US" sz="1050" dirty="0"/>
          </a:p>
        </p:txBody>
      </p:sp>
      <p:sp>
        <p:nvSpPr>
          <p:cNvPr id="60" name="Shape 58"/>
          <p:cNvSpPr/>
          <p:nvPr/>
        </p:nvSpPr>
        <p:spPr>
          <a:xfrm>
            <a:off x="5779008" y="1719072"/>
            <a:ext cx="5952744" cy="4370832"/>
          </a:xfrm>
          <a:prstGeom prst="roundRect">
            <a:avLst>
              <a:gd name="adj" fmla="val 1674"/>
            </a:avLst>
          </a:prstGeom>
          <a:solidFill>
            <a:srgbClr val="0D1C2D"/>
          </a:solidFill>
          <a:ln w="12700">
            <a:solidFill>
              <a:srgbClr val="38D9E6">
                <a:alpha val="45000"/>
              </a:srgbClr>
            </a:solidFill>
            <a:prstDash val="solid"/>
          </a:ln>
          <a:effectLst>
            <a:outerShdw algn="bl" rotWithShape="0">
              <a:srgbClr val="000000">
                <a:alpha val="0"/>
              </a:srgbClr>
            </a:outerShdw>
          </a:effectLst>
        </p:spPr>
        <p:txBody>
          <a:bodyPr/>
          <a:lstStyle/>
          <a:p>
            <a:endParaRPr lang="en-US"/>
          </a:p>
        </p:txBody>
      </p:sp>
      <p:sp>
        <p:nvSpPr>
          <p:cNvPr id="61" name="Text 59"/>
          <p:cNvSpPr/>
          <p:nvPr/>
        </p:nvSpPr>
        <p:spPr>
          <a:xfrm>
            <a:off x="6062472" y="1938528"/>
            <a:ext cx="1280160" cy="274320"/>
          </a:xfrm>
          <a:prstGeom prst="rect">
            <a:avLst/>
          </a:prstGeom>
          <a:noFill/>
          <a:ln/>
        </p:spPr>
        <p:txBody>
          <a:bodyPr wrap="square" lIns="0" tIns="0" rIns="0" bIns="0" rtlCol="0" anchor="ctr"/>
          <a:lstStyle/>
          <a:p>
            <a:pPr marL="0" indent="0">
              <a:buNone/>
            </a:pPr>
            <a:r>
              <a:rPr lang="en-US" sz="1800" b="1" dirty="0">
                <a:solidFill>
                  <a:srgbClr val="F4F8FB"/>
                </a:solidFill>
                <a:latin typeface="Inter Display" pitchFamily="34" charset="0"/>
                <a:ea typeface="Inter Display" pitchFamily="34" charset="-122"/>
                <a:cs typeface="Inter Display" pitchFamily="34" charset="-120"/>
              </a:rPr>
              <a:t>Scope</a:t>
            </a:r>
            <a:endParaRPr lang="en-US" sz="1800" dirty="0"/>
          </a:p>
        </p:txBody>
      </p:sp>
      <p:sp>
        <p:nvSpPr>
          <p:cNvPr id="62" name="Shape 60"/>
          <p:cNvSpPr/>
          <p:nvPr/>
        </p:nvSpPr>
        <p:spPr>
          <a:xfrm>
            <a:off x="6053328" y="2395728"/>
            <a:ext cx="1600200" cy="859536"/>
          </a:xfrm>
          <a:prstGeom prst="roundRect">
            <a:avLst>
              <a:gd name="adj" fmla="val 8511"/>
            </a:avLst>
          </a:prstGeom>
          <a:solidFill>
            <a:srgbClr val="0D1C2D"/>
          </a:solidFill>
          <a:ln w="12700">
            <a:solidFill>
              <a:srgbClr val="38D9E6">
                <a:alpha val="45000"/>
              </a:srgbClr>
            </a:solidFill>
            <a:prstDash val="solid"/>
          </a:ln>
          <a:effectLst>
            <a:outerShdw algn="bl" rotWithShape="0">
              <a:srgbClr val="000000">
                <a:alpha val="0"/>
              </a:srgbClr>
            </a:outerShdw>
          </a:effectLst>
        </p:spPr>
        <p:txBody>
          <a:bodyPr/>
          <a:lstStyle/>
          <a:p>
            <a:endParaRPr lang="en-US"/>
          </a:p>
        </p:txBody>
      </p:sp>
      <p:sp>
        <p:nvSpPr>
          <p:cNvPr id="63" name="Shape 61"/>
          <p:cNvSpPr/>
          <p:nvPr/>
        </p:nvSpPr>
        <p:spPr>
          <a:xfrm>
            <a:off x="6199632" y="2542032"/>
            <a:ext cx="0" cy="566928"/>
          </a:xfrm>
          <a:prstGeom prst="line">
            <a:avLst/>
          </a:prstGeom>
          <a:noFill/>
          <a:ln w="44450">
            <a:solidFill>
              <a:srgbClr val="38D9E6"/>
            </a:solidFill>
            <a:prstDash val="solid"/>
          </a:ln>
        </p:spPr>
        <p:txBody>
          <a:bodyPr/>
          <a:lstStyle/>
          <a:p>
            <a:endParaRPr lang="en-US"/>
          </a:p>
        </p:txBody>
      </p:sp>
      <p:sp>
        <p:nvSpPr>
          <p:cNvPr id="64" name="Text 62"/>
          <p:cNvSpPr/>
          <p:nvPr/>
        </p:nvSpPr>
        <p:spPr>
          <a:xfrm>
            <a:off x="6364224" y="2532888"/>
            <a:ext cx="1161288" cy="347472"/>
          </a:xfrm>
          <a:prstGeom prst="rect">
            <a:avLst/>
          </a:prstGeom>
          <a:noFill/>
          <a:ln/>
        </p:spPr>
        <p:txBody>
          <a:bodyPr wrap="square" lIns="0" tIns="0" rIns="0" bIns="0" rtlCol="0" anchor="ctr">
            <a:normAutofit/>
          </a:bodyPr>
          <a:lstStyle/>
          <a:p>
            <a:pPr marL="0" indent="0">
              <a:buNone/>
            </a:pPr>
            <a:r>
              <a:rPr lang="en-US" sz="2200" b="1" dirty="0">
                <a:solidFill>
                  <a:srgbClr val="F4F8FB"/>
                </a:solidFill>
                <a:latin typeface="Inter Display" pitchFamily="34" charset="0"/>
                <a:ea typeface="Inter Display" pitchFamily="34" charset="-122"/>
                <a:cs typeface="Inter Display" pitchFamily="34" charset="-120"/>
              </a:rPr>
              <a:t>512×512</a:t>
            </a:r>
            <a:endParaRPr lang="en-US" sz="2200" dirty="0"/>
          </a:p>
        </p:txBody>
      </p:sp>
      <p:sp>
        <p:nvSpPr>
          <p:cNvPr id="65" name="Text 63"/>
          <p:cNvSpPr/>
          <p:nvPr/>
        </p:nvSpPr>
        <p:spPr>
          <a:xfrm>
            <a:off x="6364224" y="2926080"/>
            <a:ext cx="1161288" cy="228600"/>
          </a:xfrm>
          <a:prstGeom prst="rect">
            <a:avLst/>
          </a:prstGeom>
          <a:noFill/>
          <a:ln/>
        </p:spPr>
        <p:txBody>
          <a:bodyPr wrap="square" lIns="0" tIns="0" rIns="0" bIns="0" rtlCol="0" anchor="ctr">
            <a:normAutofit/>
          </a:bodyPr>
          <a:lstStyle/>
          <a:p>
            <a:pPr marL="0" indent="0">
              <a:buNone/>
            </a:pPr>
            <a:r>
              <a:rPr lang="en-US" sz="1050" b="1" dirty="0">
                <a:solidFill>
                  <a:srgbClr val="38D9E6"/>
                </a:solidFill>
                <a:latin typeface="Inter" pitchFamily="34" charset="0"/>
                <a:ea typeface="Inter" pitchFamily="34" charset="-122"/>
                <a:cs typeface="Inter" pitchFamily="34" charset="-120"/>
              </a:rPr>
              <a:t>8-bit PGM P5</a:t>
            </a:r>
            <a:endParaRPr lang="en-US" sz="1050" dirty="0"/>
          </a:p>
        </p:txBody>
      </p:sp>
      <p:sp>
        <p:nvSpPr>
          <p:cNvPr id="66" name="Shape 64"/>
          <p:cNvSpPr/>
          <p:nvPr/>
        </p:nvSpPr>
        <p:spPr>
          <a:xfrm>
            <a:off x="7818120" y="2395728"/>
            <a:ext cx="1600200" cy="859536"/>
          </a:xfrm>
          <a:prstGeom prst="roundRect">
            <a:avLst>
              <a:gd name="adj" fmla="val 8511"/>
            </a:avLst>
          </a:prstGeom>
          <a:solidFill>
            <a:srgbClr val="0D1C2D"/>
          </a:solidFill>
          <a:ln w="12700">
            <a:solidFill>
              <a:srgbClr val="668EFF">
                <a:alpha val="45000"/>
              </a:srgbClr>
            </a:solidFill>
            <a:prstDash val="solid"/>
          </a:ln>
          <a:effectLst>
            <a:outerShdw algn="bl" rotWithShape="0">
              <a:srgbClr val="000000">
                <a:alpha val="0"/>
              </a:srgbClr>
            </a:outerShdw>
          </a:effectLst>
        </p:spPr>
        <p:txBody>
          <a:bodyPr/>
          <a:lstStyle/>
          <a:p>
            <a:endParaRPr lang="en-US"/>
          </a:p>
        </p:txBody>
      </p:sp>
      <p:sp>
        <p:nvSpPr>
          <p:cNvPr id="67" name="Shape 65"/>
          <p:cNvSpPr/>
          <p:nvPr/>
        </p:nvSpPr>
        <p:spPr>
          <a:xfrm>
            <a:off x="7964424" y="2542032"/>
            <a:ext cx="0" cy="566928"/>
          </a:xfrm>
          <a:prstGeom prst="line">
            <a:avLst/>
          </a:prstGeom>
          <a:noFill/>
          <a:ln w="44450">
            <a:solidFill>
              <a:srgbClr val="668EFF"/>
            </a:solidFill>
            <a:prstDash val="solid"/>
          </a:ln>
        </p:spPr>
        <p:txBody>
          <a:bodyPr/>
          <a:lstStyle/>
          <a:p>
            <a:endParaRPr lang="en-US"/>
          </a:p>
        </p:txBody>
      </p:sp>
      <p:sp>
        <p:nvSpPr>
          <p:cNvPr id="68" name="Text 66"/>
          <p:cNvSpPr/>
          <p:nvPr/>
        </p:nvSpPr>
        <p:spPr>
          <a:xfrm>
            <a:off x="8129016" y="2532888"/>
            <a:ext cx="1161288" cy="347472"/>
          </a:xfrm>
          <a:prstGeom prst="rect">
            <a:avLst/>
          </a:prstGeom>
          <a:noFill/>
          <a:ln/>
        </p:spPr>
        <p:txBody>
          <a:bodyPr wrap="square" lIns="0" tIns="0" rIns="0" bIns="0" rtlCol="0" anchor="ctr">
            <a:normAutofit/>
          </a:bodyPr>
          <a:lstStyle/>
          <a:p>
            <a:pPr marL="0" indent="0">
              <a:buNone/>
            </a:pPr>
            <a:r>
              <a:rPr lang="en-US" sz="2200" b="1" dirty="0">
                <a:solidFill>
                  <a:srgbClr val="F4F8FB"/>
                </a:solidFill>
                <a:latin typeface="Inter Display" pitchFamily="34" charset="0"/>
                <a:ea typeface="Inter Display" pitchFamily="34" charset="-122"/>
                <a:cs typeface="Inter Display" pitchFamily="34" charset="-120"/>
              </a:rPr>
              <a:t>4,096</a:t>
            </a:r>
            <a:endParaRPr lang="en-US" sz="2200" dirty="0"/>
          </a:p>
        </p:txBody>
      </p:sp>
      <p:sp>
        <p:nvSpPr>
          <p:cNvPr id="69" name="Text 67"/>
          <p:cNvSpPr/>
          <p:nvPr/>
        </p:nvSpPr>
        <p:spPr>
          <a:xfrm>
            <a:off x="8129016" y="2926080"/>
            <a:ext cx="1161288" cy="228600"/>
          </a:xfrm>
          <a:prstGeom prst="rect">
            <a:avLst/>
          </a:prstGeom>
          <a:noFill/>
          <a:ln/>
        </p:spPr>
        <p:txBody>
          <a:bodyPr wrap="square" lIns="0" tIns="0" rIns="0" bIns="0" rtlCol="0" anchor="ctr">
            <a:normAutofit/>
          </a:bodyPr>
          <a:lstStyle/>
          <a:p>
            <a:pPr marL="0" indent="0">
              <a:buNone/>
            </a:pPr>
            <a:r>
              <a:rPr lang="en-US" sz="1050" b="1" dirty="0">
                <a:solidFill>
                  <a:srgbClr val="668EFF"/>
                </a:solidFill>
                <a:latin typeface="Inter" pitchFamily="34" charset="0"/>
                <a:ea typeface="Inter" pitchFamily="34" charset="-122"/>
                <a:cs typeface="Inter" pitchFamily="34" charset="-120"/>
              </a:rPr>
              <a:t>8×8 blocks/image</a:t>
            </a:r>
            <a:endParaRPr lang="en-US" sz="1050" dirty="0"/>
          </a:p>
        </p:txBody>
      </p:sp>
      <p:sp>
        <p:nvSpPr>
          <p:cNvPr id="70" name="Shape 68"/>
          <p:cNvSpPr/>
          <p:nvPr/>
        </p:nvSpPr>
        <p:spPr>
          <a:xfrm>
            <a:off x="9582912" y="2395728"/>
            <a:ext cx="1600200" cy="859536"/>
          </a:xfrm>
          <a:prstGeom prst="roundRect">
            <a:avLst>
              <a:gd name="adj" fmla="val 8511"/>
            </a:avLst>
          </a:prstGeom>
          <a:solidFill>
            <a:srgbClr val="0D1C2D"/>
          </a:solidFill>
          <a:ln w="12700">
            <a:solidFill>
              <a:srgbClr val="24C9AA">
                <a:alpha val="45000"/>
              </a:srgbClr>
            </a:solidFill>
            <a:prstDash val="solid"/>
          </a:ln>
          <a:effectLst>
            <a:outerShdw algn="bl" rotWithShape="0">
              <a:srgbClr val="000000">
                <a:alpha val="0"/>
              </a:srgbClr>
            </a:outerShdw>
          </a:effectLst>
        </p:spPr>
        <p:txBody>
          <a:bodyPr/>
          <a:lstStyle/>
          <a:p>
            <a:endParaRPr lang="en-US"/>
          </a:p>
        </p:txBody>
      </p:sp>
      <p:sp>
        <p:nvSpPr>
          <p:cNvPr id="71" name="Shape 69"/>
          <p:cNvSpPr/>
          <p:nvPr/>
        </p:nvSpPr>
        <p:spPr>
          <a:xfrm>
            <a:off x="9729216" y="2542032"/>
            <a:ext cx="0" cy="566928"/>
          </a:xfrm>
          <a:prstGeom prst="line">
            <a:avLst/>
          </a:prstGeom>
          <a:noFill/>
          <a:ln w="44450">
            <a:solidFill>
              <a:srgbClr val="24C9AA"/>
            </a:solidFill>
            <a:prstDash val="solid"/>
          </a:ln>
        </p:spPr>
        <p:txBody>
          <a:bodyPr/>
          <a:lstStyle/>
          <a:p>
            <a:endParaRPr lang="en-US"/>
          </a:p>
        </p:txBody>
      </p:sp>
      <p:sp>
        <p:nvSpPr>
          <p:cNvPr id="72" name="Text 70"/>
          <p:cNvSpPr/>
          <p:nvPr/>
        </p:nvSpPr>
        <p:spPr>
          <a:xfrm>
            <a:off x="9893808" y="2532888"/>
            <a:ext cx="1161288" cy="347472"/>
          </a:xfrm>
          <a:prstGeom prst="rect">
            <a:avLst/>
          </a:prstGeom>
          <a:noFill/>
          <a:ln/>
        </p:spPr>
        <p:txBody>
          <a:bodyPr wrap="square" lIns="0" tIns="0" rIns="0" bIns="0" rtlCol="0" anchor="ctr">
            <a:normAutofit/>
          </a:bodyPr>
          <a:lstStyle/>
          <a:p>
            <a:pPr marL="0" indent="0">
              <a:buNone/>
            </a:pPr>
            <a:r>
              <a:rPr lang="en-US" sz="2200" b="1" dirty="0">
                <a:solidFill>
                  <a:srgbClr val="F4F8FB"/>
                </a:solidFill>
                <a:latin typeface="Inter Display" pitchFamily="34" charset="0"/>
                <a:ea typeface="Inter Display" pitchFamily="34" charset="-122"/>
                <a:cs typeface="Inter Display" pitchFamily="34" charset="-120"/>
              </a:rPr>
              <a:t>167,936</a:t>
            </a:r>
            <a:endParaRPr lang="en-US" sz="2200" dirty="0"/>
          </a:p>
        </p:txBody>
      </p:sp>
      <p:sp>
        <p:nvSpPr>
          <p:cNvPr id="73" name="Text 71"/>
          <p:cNvSpPr/>
          <p:nvPr/>
        </p:nvSpPr>
        <p:spPr>
          <a:xfrm>
            <a:off x="9893808" y="2926080"/>
            <a:ext cx="1161288" cy="228600"/>
          </a:xfrm>
          <a:prstGeom prst="rect">
            <a:avLst/>
          </a:prstGeom>
          <a:noFill/>
          <a:ln/>
        </p:spPr>
        <p:txBody>
          <a:bodyPr wrap="square" lIns="0" tIns="0" rIns="0" bIns="0" rtlCol="0" anchor="ctr">
            <a:normAutofit/>
          </a:bodyPr>
          <a:lstStyle/>
          <a:p>
            <a:pPr marL="0" indent="0">
              <a:buNone/>
            </a:pPr>
            <a:r>
              <a:rPr lang="en-US" sz="1050" b="1" dirty="0">
                <a:solidFill>
                  <a:srgbClr val="24C9AA"/>
                </a:solidFill>
                <a:latin typeface="Inter" pitchFamily="34" charset="0"/>
                <a:ea typeface="Inter" pitchFamily="34" charset="-122"/>
                <a:cs typeface="Inter" pitchFamily="34" charset="-120"/>
              </a:rPr>
              <a:t>blocks in suite</a:t>
            </a:r>
            <a:endParaRPr lang="en-US" sz="1050" dirty="0"/>
          </a:p>
        </p:txBody>
      </p:sp>
      <p:sp>
        <p:nvSpPr>
          <p:cNvPr id="74" name="Text 72"/>
          <p:cNvSpPr/>
          <p:nvPr/>
        </p:nvSpPr>
        <p:spPr>
          <a:xfrm>
            <a:off x="6062472" y="3529584"/>
            <a:ext cx="2468880" cy="256032"/>
          </a:xfrm>
          <a:prstGeom prst="rect">
            <a:avLst/>
          </a:prstGeom>
          <a:noFill/>
          <a:ln/>
        </p:spPr>
        <p:txBody>
          <a:bodyPr wrap="square" lIns="0" tIns="0" rIns="0" bIns="0" rtlCol="0" anchor="ctr"/>
          <a:lstStyle/>
          <a:p>
            <a:pPr marL="0" indent="0">
              <a:buNone/>
            </a:pPr>
            <a:r>
              <a:rPr lang="en-US" sz="1250" b="1" dirty="0">
                <a:solidFill>
                  <a:srgbClr val="38D9E6"/>
                </a:solidFill>
                <a:latin typeface="Inter" pitchFamily="34" charset="0"/>
                <a:ea typeface="Inter" pitchFamily="34" charset="-122"/>
                <a:cs typeface="Inter" pitchFamily="34" charset="-120"/>
              </a:rPr>
              <a:t>Outcome snapshot</a:t>
            </a:r>
            <a:endParaRPr lang="en-US" sz="1250" dirty="0"/>
          </a:p>
        </p:txBody>
      </p:sp>
      <p:sp>
        <p:nvSpPr>
          <p:cNvPr id="75" name="Shape 73"/>
          <p:cNvSpPr/>
          <p:nvPr/>
        </p:nvSpPr>
        <p:spPr>
          <a:xfrm>
            <a:off x="6053328" y="3840480"/>
            <a:ext cx="5394960" cy="1572768"/>
          </a:xfrm>
          <a:prstGeom prst="roundRect">
            <a:avLst>
              <a:gd name="adj" fmla="val 4651"/>
            </a:avLst>
          </a:prstGeom>
          <a:solidFill>
            <a:srgbClr val="0A1625"/>
          </a:solidFill>
          <a:ln w="12700">
            <a:solidFill>
              <a:srgbClr val="22384E">
                <a:alpha val="70000"/>
              </a:srgbClr>
            </a:solidFill>
            <a:prstDash val="solid"/>
          </a:ln>
        </p:spPr>
        <p:txBody>
          <a:bodyPr/>
          <a:lstStyle/>
          <a:p>
            <a:endParaRPr lang="en-US"/>
          </a:p>
        </p:txBody>
      </p:sp>
      <p:sp>
        <p:nvSpPr>
          <p:cNvPr id="76" name="Shape 74"/>
          <p:cNvSpPr/>
          <p:nvPr/>
        </p:nvSpPr>
        <p:spPr>
          <a:xfrm>
            <a:off x="6309360" y="4114800"/>
            <a:ext cx="320040" cy="320040"/>
          </a:xfrm>
          <a:prstGeom prst="ellipse">
            <a:avLst/>
          </a:prstGeom>
          <a:solidFill>
            <a:srgbClr val="49D486"/>
          </a:solidFill>
          <a:ln w="12700">
            <a:solidFill>
              <a:srgbClr val="49D486">
                <a:alpha val="0"/>
              </a:srgbClr>
            </a:solidFill>
            <a:prstDash val="solid"/>
          </a:ln>
        </p:spPr>
        <p:txBody>
          <a:bodyPr/>
          <a:lstStyle/>
          <a:p>
            <a:endParaRPr lang="en-US"/>
          </a:p>
        </p:txBody>
      </p:sp>
      <p:sp>
        <p:nvSpPr>
          <p:cNvPr id="77" name="Text 75"/>
          <p:cNvSpPr/>
          <p:nvPr/>
        </p:nvSpPr>
        <p:spPr>
          <a:xfrm>
            <a:off x="6748272" y="4050792"/>
            <a:ext cx="914400" cy="182880"/>
          </a:xfrm>
          <a:prstGeom prst="rect">
            <a:avLst/>
          </a:prstGeom>
          <a:noFill/>
          <a:ln/>
        </p:spPr>
        <p:txBody>
          <a:bodyPr wrap="square" lIns="0" tIns="0" rIns="0" bIns="0" rtlCol="0" anchor="ctr"/>
          <a:lstStyle/>
          <a:p>
            <a:pPr marL="0" indent="0">
              <a:buNone/>
            </a:pPr>
            <a:r>
              <a:rPr lang="en-US" sz="1100" b="1" dirty="0">
                <a:solidFill>
                  <a:srgbClr val="49D486"/>
                </a:solidFill>
                <a:latin typeface="Inter" pitchFamily="34" charset="0"/>
                <a:ea typeface="Inter" pitchFamily="34" charset="-122"/>
                <a:cs typeface="Inter" pitchFamily="34" charset="-120"/>
              </a:rPr>
              <a:t>Worked</a:t>
            </a:r>
            <a:endParaRPr lang="en-US" sz="1100" dirty="0"/>
          </a:p>
        </p:txBody>
      </p:sp>
      <p:sp>
        <p:nvSpPr>
          <p:cNvPr id="78" name="Text 76"/>
          <p:cNvSpPr/>
          <p:nvPr/>
        </p:nvSpPr>
        <p:spPr>
          <a:xfrm>
            <a:off x="7607808" y="4014216"/>
            <a:ext cx="3456432" cy="475488"/>
          </a:xfrm>
          <a:prstGeom prst="rect">
            <a:avLst/>
          </a:prstGeom>
          <a:noFill/>
          <a:ln/>
        </p:spPr>
        <p:txBody>
          <a:bodyPr wrap="square" lIns="0" tIns="0" rIns="0" bIns="0" rtlCol="0" anchor="ctr">
            <a:normAutofit/>
          </a:bodyPr>
          <a:lstStyle/>
          <a:p>
            <a:pPr marL="0" indent="0">
              <a:buNone/>
            </a:pPr>
            <a:r>
              <a:rPr lang="en-US" sz="1050" dirty="0">
                <a:solidFill>
                  <a:srgbClr val="F4F8FB"/>
                </a:solidFill>
                <a:latin typeface="Inter" pitchFamily="34" charset="0"/>
                <a:ea typeface="Inter" pitchFamily="34" charset="-122"/>
                <a:cs typeface="Inter" pitchFamily="34" charset="-120"/>
              </a:rPr>
              <a:t>Complete 41-image hardware run; arithmetic stages accelerated; compression ratio retained.</a:t>
            </a:r>
            <a:endParaRPr lang="en-US" sz="1050" dirty="0"/>
          </a:p>
        </p:txBody>
      </p:sp>
      <p:sp>
        <p:nvSpPr>
          <p:cNvPr id="79" name="Shape 77"/>
          <p:cNvSpPr/>
          <p:nvPr/>
        </p:nvSpPr>
        <p:spPr>
          <a:xfrm>
            <a:off x="6309360" y="4736592"/>
            <a:ext cx="320040" cy="320040"/>
          </a:xfrm>
          <a:prstGeom prst="ellipse">
            <a:avLst/>
          </a:prstGeom>
          <a:solidFill>
            <a:srgbClr val="FFA24C"/>
          </a:solidFill>
          <a:ln w="12700">
            <a:solidFill>
              <a:srgbClr val="FFA24C">
                <a:alpha val="0"/>
              </a:srgbClr>
            </a:solidFill>
            <a:prstDash val="solid"/>
          </a:ln>
        </p:spPr>
        <p:txBody>
          <a:bodyPr/>
          <a:lstStyle/>
          <a:p>
            <a:endParaRPr lang="en-US"/>
          </a:p>
        </p:txBody>
      </p:sp>
      <p:sp>
        <p:nvSpPr>
          <p:cNvPr id="80" name="Text 78"/>
          <p:cNvSpPr/>
          <p:nvPr/>
        </p:nvSpPr>
        <p:spPr>
          <a:xfrm>
            <a:off x="6748272" y="4672584"/>
            <a:ext cx="914400" cy="182880"/>
          </a:xfrm>
          <a:prstGeom prst="rect">
            <a:avLst/>
          </a:prstGeom>
          <a:noFill/>
          <a:ln/>
        </p:spPr>
        <p:txBody>
          <a:bodyPr wrap="square" lIns="0" tIns="0" rIns="0" bIns="0" rtlCol="0" anchor="ctr"/>
          <a:lstStyle/>
          <a:p>
            <a:pPr marL="0" indent="0">
              <a:buNone/>
            </a:pPr>
            <a:r>
              <a:rPr lang="en-US" sz="1100" b="1" dirty="0">
                <a:solidFill>
                  <a:srgbClr val="FFA24C"/>
                </a:solidFill>
                <a:latin typeface="Inter" pitchFamily="34" charset="0"/>
                <a:ea typeface="Inter" pitchFamily="34" charset="-122"/>
                <a:cs typeface="Inter" pitchFamily="34" charset="-120"/>
              </a:rPr>
              <a:t>Did not</a:t>
            </a:r>
            <a:endParaRPr lang="en-US" sz="1100" dirty="0"/>
          </a:p>
        </p:txBody>
      </p:sp>
      <p:sp>
        <p:nvSpPr>
          <p:cNvPr id="81" name="Text 79"/>
          <p:cNvSpPr/>
          <p:nvPr/>
        </p:nvSpPr>
        <p:spPr>
          <a:xfrm>
            <a:off x="7607808" y="4636008"/>
            <a:ext cx="3456432" cy="475488"/>
          </a:xfrm>
          <a:prstGeom prst="rect">
            <a:avLst/>
          </a:prstGeom>
          <a:noFill/>
          <a:ln/>
        </p:spPr>
        <p:txBody>
          <a:bodyPr wrap="square" lIns="0" tIns="0" rIns="0" bIns="0" rtlCol="0" anchor="ctr">
            <a:normAutofit/>
          </a:bodyPr>
          <a:lstStyle/>
          <a:p>
            <a:pPr marL="0" indent="0">
              <a:buNone/>
            </a:pPr>
            <a:r>
              <a:rPr lang="en-US" sz="1050" dirty="0">
                <a:solidFill>
                  <a:srgbClr val="F4F8FB"/>
                </a:solidFill>
                <a:latin typeface="Inter" pitchFamily="34" charset="0"/>
                <a:ea typeface="Inter" pitchFamily="34" charset="-122"/>
                <a:cs typeface="Inter" pitchFamily="34" charset="-120"/>
              </a:rPr>
              <a:t>The current full FPGA implementation did not beat the CPU because packed encoding remained serial.</a:t>
            </a:r>
            <a:endParaRPr lang="en-US" sz="1050" dirty="0"/>
          </a:p>
        </p:txBody>
      </p:sp>
      <p:sp>
        <p:nvSpPr>
          <p:cNvPr id="82" name="Shape 80"/>
          <p:cNvSpPr/>
          <p:nvPr/>
        </p:nvSpPr>
        <p:spPr>
          <a:xfrm>
            <a:off x="9006840" y="5641848"/>
            <a:ext cx="2423160" cy="292608"/>
          </a:xfrm>
          <a:prstGeom prst="roundRect">
            <a:avLst>
              <a:gd name="adj" fmla="val 50000"/>
            </a:avLst>
          </a:prstGeom>
          <a:solidFill>
            <a:srgbClr val="132943"/>
          </a:solidFill>
          <a:ln w="10160">
            <a:solidFill>
              <a:srgbClr val="FFA24C">
                <a:alpha val="75000"/>
              </a:srgbClr>
            </a:solidFill>
            <a:prstDash val="solid"/>
          </a:ln>
        </p:spPr>
        <p:txBody>
          <a:bodyPr/>
          <a:lstStyle/>
          <a:p>
            <a:endParaRPr lang="en-US"/>
          </a:p>
        </p:txBody>
      </p:sp>
      <p:sp>
        <p:nvSpPr>
          <p:cNvPr id="83" name="Text 81"/>
          <p:cNvSpPr/>
          <p:nvPr/>
        </p:nvSpPr>
        <p:spPr>
          <a:xfrm>
            <a:off x="9079992" y="5705856"/>
            <a:ext cx="2276856" cy="146304"/>
          </a:xfrm>
          <a:prstGeom prst="rect">
            <a:avLst/>
          </a:prstGeom>
          <a:noFill/>
          <a:ln/>
        </p:spPr>
        <p:txBody>
          <a:bodyPr wrap="square" lIns="0" tIns="0" rIns="0" bIns="0" rtlCol="0" anchor="ctr">
            <a:normAutofit/>
          </a:bodyPr>
          <a:lstStyle/>
          <a:p>
            <a:pPr marL="0" indent="0" algn="ctr">
              <a:buNone/>
            </a:pPr>
            <a:r>
              <a:rPr lang="en-US" sz="820" b="1" dirty="0">
                <a:solidFill>
                  <a:srgbClr val="FFA24C"/>
                </a:solidFill>
                <a:latin typeface="Inter" pitchFamily="34" charset="0"/>
                <a:ea typeface="Inter" pitchFamily="34" charset="-122"/>
                <a:cs typeface="Inter" pitchFamily="34" charset="-120"/>
              </a:rPr>
              <a:t>SUCCESS = SYSTEM-LEVEL SPEEDUP</a:t>
            </a:r>
            <a:endParaRPr lang="en-US" sz="820" dirty="0"/>
          </a:p>
        </p:txBody>
      </p:sp>
      <p:sp>
        <p:nvSpPr>
          <p:cNvPr id="84" name="Shape 82"/>
          <p:cNvSpPr/>
          <p:nvPr/>
        </p:nvSpPr>
        <p:spPr>
          <a:xfrm>
            <a:off x="438912" y="6519672"/>
            <a:ext cx="11064240" cy="0"/>
          </a:xfrm>
          <a:prstGeom prst="line">
            <a:avLst/>
          </a:prstGeom>
          <a:noFill/>
          <a:ln w="10160">
            <a:solidFill>
              <a:srgbClr val="22384E">
                <a:alpha val="70000"/>
              </a:srgbClr>
            </a:solidFill>
            <a:prstDash val="solid"/>
          </a:ln>
        </p:spPr>
        <p:txBody>
          <a:bodyPr/>
          <a:lstStyle/>
          <a:p>
            <a:endParaRPr lang="en-US"/>
          </a:p>
        </p:txBody>
      </p:sp>
      <p:sp>
        <p:nvSpPr>
          <p:cNvPr id="86" name="Slide Number Placeholder 0"/>
          <p:cNvSpPr>
            <a:spLocks noGrp="1"/>
          </p:cNvSpPr>
          <p:nvPr>
            <p:ph type="sldNum" sz="quarter" idx="4294967295"/>
          </p:nvPr>
        </p:nvSpPr>
        <p:spPr>
          <a:xfrm>
            <a:off x="11430000" y="6473952"/>
            <a:ext cx="438912"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7890A4"/>
                </a:solidFill>
                <a:latin typeface="Inter"/>
                <a:ea typeface="Inter"/>
                <a:cs typeface="Inter"/>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9802368" y="0"/>
            <a:ext cx="2386584" cy="2971800"/>
          </a:xfrm>
          <a:prstGeom prst="ellipse">
            <a:avLst/>
          </a:prstGeom>
          <a:solidFill>
            <a:srgbClr val="38D9E6">
              <a:alpha val="8000"/>
            </a:srgbClr>
          </a:solidFill>
          <a:ln w="12700">
            <a:solidFill>
              <a:srgbClr val="38D9E6">
                <a:alpha val="0"/>
              </a:srgbClr>
            </a:solidFill>
            <a:prstDash val="solid"/>
          </a:ln>
        </p:spPr>
        <p:txBody>
          <a:bodyPr/>
          <a:lstStyle/>
          <a:p>
            <a:endParaRPr lang="en-US"/>
          </a:p>
        </p:txBody>
      </p:sp>
      <p:sp>
        <p:nvSpPr>
          <p:cNvPr id="3" name="Shape 1"/>
          <p:cNvSpPr/>
          <p:nvPr/>
        </p:nvSpPr>
        <p:spPr>
          <a:xfrm>
            <a:off x="0" y="5230368"/>
            <a:ext cx="2395728" cy="1627632"/>
          </a:xfrm>
          <a:prstGeom prst="ellipse">
            <a:avLst/>
          </a:prstGeom>
          <a:solidFill>
            <a:srgbClr val="668EFF">
              <a:alpha val="6000"/>
            </a:srgbClr>
          </a:solidFill>
          <a:ln w="12700">
            <a:solidFill>
              <a:srgbClr val="668EFF">
                <a:alpha val="0"/>
              </a:srgbClr>
            </a:solidFill>
            <a:prstDash val="solid"/>
          </a:ln>
        </p:spPr>
        <p:txBody>
          <a:bodyPr/>
          <a:lstStyle/>
          <a:p>
            <a:endParaRPr lang="en-US"/>
          </a:p>
        </p:txBody>
      </p:sp>
      <p:sp>
        <p:nvSpPr>
          <p:cNvPr id="4" name="Shape 2"/>
          <p:cNvSpPr/>
          <p:nvPr/>
        </p:nvSpPr>
        <p:spPr>
          <a:xfrm>
            <a:off x="457200" y="0"/>
            <a:ext cx="0" cy="6858000"/>
          </a:xfrm>
          <a:prstGeom prst="line">
            <a:avLst/>
          </a:prstGeom>
          <a:noFill/>
          <a:ln w="5080">
            <a:solidFill>
              <a:srgbClr val="22384E">
                <a:alpha val="6000"/>
              </a:srgbClr>
            </a:solidFill>
            <a:prstDash val="solid"/>
          </a:ln>
        </p:spPr>
        <p:txBody>
          <a:bodyPr/>
          <a:lstStyle/>
          <a:p>
            <a:endParaRPr lang="en-US"/>
          </a:p>
        </p:txBody>
      </p:sp>
      <p:sp>
        <p:nvSpPr>
          <p:cNvPr id="5" name="Shape 3"/>
          <p:cNvSpPr/>
          <p:nvPr/>
        </p:nvSpPr>
        <p:spPr>
          <a:xfrm>
            <a:off x="960120" y="0"/>
            <a:ext cx="0" cy="6858000"/>
          </a:xfrm>
          <a:prstGeom prst="line">
            <a:avLst/>
          </a:prstGeom>
          <a:noFill/>
          <a:ln w="5080">
            <a:solidFill>
              <a:srgbClr val="22384E">
                <a:alpha val="6000"/>
              </a:srgbClr>
            </a:solidFill>
            <a:prstDash val="solid"/>
          </a:ln>
        </p:spPr>
        <p:txBody>
          <a:bodyPr/>
          <a:lstStyle/>
          <a:p>
            <a:endParaRPr lang="en-US"/>
          </a:p>
        </p:txBody>
      </p:sp>
      <p:sp>
        <p:nvSpPr>
          <p:cNvPr id="6" name="Shape 4"/>
          <p:cNvSpPr/>
          <p:nvPr/>
        </p:nvSpPr>
        <p:spPr>
          <a:xfrm>
            <a:off x="1463040" y="0"/>
            <a:ext cx="0" cy="6858000"/>
          </a:xfrm>
          <a:prstGeom prst="line">
            <a:avLst/>
          </a:prstGeom>
          <a:noFill/>
          <a:ln w="5080">
            <a:solidFill>
              <a:srgbClr val="22384E">
                <a:alpha val="6000"/>
              </a:srgbClr>
            </a:solidFill>
            <a:prstDash val="solid"/>
          </a:ln>
        </p:spPr>
        <p:txBody>
          <a:bodyPr/>
          <a:lstStyle/>
          <a:p>
            <a:endParaRPr lang="en-US"/>
          </a:p>
        </p:txBody>
      </p:sp>
      <p:sp>
        <p:nvSpPr>
          <p:cNvPr id="7" name="Shape 5"/>
          <p:cNvSpPr/>
          <p:nvPr/>
        </p:nvSpPr>
        <p:spPr>
          <a:xfrm>
            <a:off x="1965960" y="0"/>
            <a:ext cx="0" cy="6858000"/>
          </a:xfrm>
          <a:prstGeom prst="line">
            <a:avLst/>
          </a:prstGeom>
          <a:noFill/>
          <a:ln w="5080">
            <a:solidFill>
              <a:srgbClr val="22384E">
                <a:alpha val="6000"/>
              </a:srgbClr>
            </a:solidFill>
            <a:prstDash val="solid"/>
          </a:ln>
        </p:spPr>
        <p:txBody>
          <a:bodyPr/>
          <a:lstStyle/>
          <a:p>
            <a:endParaRPr lang="en-US"/>
          </a:p>
        </p:txBody>
      </p:sp>
      <p:sp>
        <p:nvSpPr>
          <p:cNvPr id="8" name="Shape 6"/>
          <p:cNvSpPr/>
          <p:nvPr/>
        </p:nvSpPr>
        <p:spPr>
          <a:xfrm>
            <a:off x="2468880" y="0"/>
            <a:ext cx="0" cy="6858000"/>
          </a:xfrm>
          <a:prstGeom prst="line">
            <a:avLst/>
          </a:prstGeom>
          <a:noFill/>
          <a:ln w="5080">
            <a:solidFill>
              <a:srgbClr val="22384E">
                <a:alpha val="6000"/>
              </a:srgbClr>
            </a:solidFill>
            <a:prstDash val="solid"/>
          </a:ln>
        </p:spPr>
        <p:txBody>
          <a:bodyPr/>
          <a:lstStyle/>
          <a:p>
            <a:endParaRPr lang="en-US"/>
          </a:p>
        </p:txBody>
      </p:sp>
      <p:sp>
        <p:nvSpPr>
          <p:cNvPr id="9" name="Shape 7"/>
          <p:cNvSpPr/>
          <p:nvPr/>
        </p:nvSpPr>
        <p:spPr>
          <a:xfrm>
            <a:off x="2971800" y="0"/>
            <a:ext cx="0" cy="6858000"/>
          </a:xfrm>
          <a:prstGeom prst="line">
            <a:avLst/>
          </a:prstGeom>
          <a:noFill/>
          <a:ln w="5080">
            <a:solidFill>
              <a:srgbClr val="22384E">
                <a:alpha val="6000"/>
              </a:srgbClr>
            </a:solidFill>
            <a:prstDash val="solid"/>
          </a:ln>
        </p:spPr>
        <p:txBody>
          <a:bodyPr/>
          <a:lstStyle/>
          <a:p>
            <a:endParaRPr lang="en-US"/>
          </a:p>
        </p:txBody>
      </p:sp>
      <p:sp>
        <p:nvSpPr>
          <p:cNvPr id="10" name="Shape 8"/>
          <p:cNvSpPr/>
          <p:nvPr/>
        </p:nvSpPr>
        <p:spPr>
          <a:xfrm>
            <a:off x="3474720" y="0"/>
            <a:ext cx="0" cy="6858000"/>
          </a:xfrm>
          <a:prstGeom prst="line">
            <a:avLst/>
          </a:prstGeom>
          <a:noFill/>
          <a:ln w="5080">
            <a:solidFill>
              <a:srgbClr val="22384E">
                <a:alpha val="6000"/>
              </a:srgbClr>
            </a:solidFill>
            <a:prstDash val="solid"/>
          </a:ln>
        </p:spPr>
        <p:txBody>
          <a:bodyPr/>
          <a:lstStyle/>
          <a:p>
            <a:endParaRPr lang="en-US"/>
          </a:p>
        </p:txBody>
      </p:sp>
      <p:sp>
        <p:nvSpPr>
          <p:cNvPr id="11" name="Shape 9"/>
          <p:cNvSpPr/>
          <p:nvPr/>
        </p:nvSpPr>
        <p:spPr>
          <a:xfrm>
            <a:off x="3977640" y="0"/>
            <a:ext cx="0" cy="6858000"/>
          </a:xfrm>
          <a:prstGeom prst="line">
            <a:avLst/>
          </a:prstGeom>
          <a:noFill/>
          <a:ln w="5080">
            <a:solidFill>
              <a:srgbClr val="22384E">
                <a:alpha val="6000"/>
              </a:srgbClr>
            </a:solidFill>
            <a:prstDash val="solid"/>
          </a:ln>
        </p:spPr>
        <p:txBody>
          <a:bodyPr/>
          <a:lstStyle/>
          <a:p>
            <a:endParaRPr lang="en-US"/>
          </a:p>
        </p:txBody>
      </p:sp>
      <p:sp>
        <p:nvSpPr>
          <p:cNvPr id="12" name="Shape 10"/>
          <p:cNvSpPr/>
          <p:nvPr/>
        </p:nvSpPr>
        <p:spPr>
          <a:xfrm>
            <a:off x="4480560" y="0"/>
            <a:ext cx="0" cy="6858000"/>
          </a:xfrm>
          <a:prstGeom prst="line">
            <a:avLst/>
          </a:prstGeom>
          <a:noFill/>
          <a:ln w="5080">
            <a:solidFill>
              <a:srgbClr val="22384E">
                <a:alpha val="6000"/>
              </a:srgbClr>
            </a:solidFill>
            <a:prstDash val="solid"/>
          </a:ln>
        </p:spPr>
        <p:txBody>
          <a:bodyPr/>
          <a:lstStyle/>
          <a:p>
            <a:endParaRPr lang="en-US"/>
          </a:p>
        </p:txBody>
      </p:sp>
      <p:sp>
        <p:nvSpPr>
          <p:cNvPr id="13" name="Shape 11"/>
          <p:cNvSpPr/>
          <p:nvPr/>
        </p:nvSpPr>
        <p:spPr>
          <a:xfrm>
            <a:off x="4983480" y="0"/>
            <a:ext cx="0" cy="6858000"/>
          </a:xfrm>
          <a:prstGeom prst="line">
            <a:avLst/>
          </a:prstGeom>
          <a:noFill/>
          <a:ln w="5080">
            <a:solidFill>
              <a:srgbClr val="22384E">
                <a:alpha val="6000"/>
              </a:srgbClr>
            </a:solidFill>
            <a:prstDash val="solid"/>
          </a:ln>
        </p:spPr>
        <p:txBody>
          <a:bodyPr/>
          <a:lstStyle/>
          <a:p>
            <a:endParaRPr lang="en-US"/>
          </a:p>
        </p:txBody>
      </p:sp>
      <p:sp>
        <p:nvSpPr>
          <p:cNvPr id="14" name="Shape 12"/>
          <p:cNvSpPr/>
          <p:nvPr/>
        </p:nvSpPr>
        <p:spPr>
          <a:xfrm>
            <a:off x="5486400" y="0"/>
            <a:ext cx="0" cy="6858000"/>
          </a:xfrm>
          <a:prstGeom prst="line">
            <a:avLst/>
          </a:prstGeom>
          <a:noFill/>
          <a:ln w="5080">
            <a:solidFill>
              <a:srgbClr val="22384E">
                <a:alpha val="6000"/>
              </a:srgbClr>
            </a:solidFill>
            <a:prstDash val="solid"/>
          </a:ln>
        </p:spPr>
        <p:txBody>
          <a:bodyPr/>
          <a:lstStyle/>
          <a:p>
            <a:endParaRPr lang="en-US"/>
          </a:p>
        </p:txBody>
      </p:sp>
      <p:sp>
        <p:nvSpPr>
          <p:cNvPr id="15" name="Shape 13"/>
          <p:cNvSpPr/>
          <p:nvPr/>
        </p:nvSpPr>
        <p:spPr>
          <a:xfrm>
            <a:off x="5989320" y="0"/>
            <a:ext cx="0" cy="6858000"/>
          </a:xfrm>
          <a:prstGeom prst="line">
            <a:avLst/>
          </a:prstGeom>
          <a:noFill/>
          <a:ln w="5080">
            <a:solidFill>
              <a:srgbClr val="22384E">
                <a:alpha val="6000"/>
              </a:srgbClr>
            </a:solidFill>
            <a:prstDash val="solid"/>
          </a:ln>
        </p:spPr>
        <p:txBody>
          <a:bodyPr/>
          <a:lstStyle/>
          <a:p>
            <a:endParaRPr lang="en-US"/>
          </a:p>
        </p:txBody>
      </p:sp>
      <p:sp>
        <p:nvSpPr>
          <p:cNvPr id="16" name="Shape 14"/>
          <p:cNvSpPr/>
          <p:nvPr/>
        </p:nvSpPr>
        <p:spPr>
          <a:xfrm>
            <a:off x="6492240" y="0"/>
            <a:ext cx="0" cy="6858000"/>
          </a:xfrm>
          <a:prstGeom prst="line">
            <a:avLst/>
          </a:prstGeom>
          <a:noFill/>
          <a:ln w="5080">
            <a:solidFill>
              <a:srgbClr val="22384E">
                <a:alpha val="6000"/>
              </a:srgbClr>
            </a:solidFill>
            <a:prstDash val="solid"/>
          </a:ln>
        </p:spPr>
        <p:txBody>
          <a:bodyPr/>
          <a:lstStyle/>
          <a:p>
            <a:endParaRPr lang="en-US"/>
          </a:p>
        </p:txBody>
      </p:sp>
      <p:sp>
        <p:nvSpPr>
          <p:cNvPr id="17" name="Shape 15"/>
          <p:cNvSpPr/>
          <p:nvPr/>
        </p:nvSpPr>
        <p:spPr>
          <a:xfrm>
            <a:off x="6995160" y="0"/>
            <a:ext cx="0" cy="6858000"/>
          </a:xfrm>
          <a:prstGeom prst="line">
            <a:avLst/>
          </a:prstGeom>
          <a:noFill/>
          <a:ln w="5080">
            <a:solidFill>
              <a:srgbClr val="22384E">
                <a:alpha val="6000"/>
              </a:srgbClr>
            </a:solidFill>
            <a:prstDash val="solid"/>
          </a:ln>
        </p:spPr>
        <p:txBody>
          <a:bodyPr/>
          <a:lstStyle/>
          <a:p>
            <a:endParaRPr lang="en-US"/>
          </a:p>
        </p:txBody>
      </p:sp>
      <p:sp>
        <p:nvSpPr>
          <p:cNvPr id="18" name="Shape 16"/>
          <p:cNvSpPr/>
          <p:nvPr/>
        </p:nvSpPr>
        <p:spPr>
          <a:xfrm>
            <a:off x="7498080" y="0"/>
            <a:ext cx="0" cy="6858000"/>
          </a:xfrm>
          <a:prstGeom prst="line">
            <a:avLst/>
          </a:prstGeom>
          <a:noFill/>
          <a:ln w="5080">
            <a:solidFill>
              <a:srgbClr val="22384E">
                <a:alpha val="6000"/>
              </a:srgbClr>
            </a:solidFill>
            <a:prstDash val="solid"/>
          </a:ln>
        </p:spPr>
        <p:txBody>
          <a:bodyPr/>
          <a:lstStyle/>
          <a:p>
            <a:endParaRPr lang="en-US"/>
          </a:p>
        </p:txBody>
      </p:sp>
      <p:sp>
        <p:nvSpPr>
          <p:cNvPr id="19" name="Shape 17"/>
          <p:cNvSpPr/>
          <p:nvPr/>
        </p:nvSpPr>
        <p:spPr>
          <a:xfrm>
            <a:off x="8001000" y="0"/>
            <a:ext cx="0" cy="6858000"/>
          </a:xfrm>
          <a:prstGeom prst="line">
            <a:avLst/>
          </a:prstGeom>
          <a:noFill/>
          <a:ln w="5080">
            <a:solidFill>
              <a:srgbClr val="22384E">
                <a:alpha val="6000"/>
              </a:srgbClr>
            </a:solidFill>
            <a:prstDash val="solid"/>
          </a:ln>
        </p:spPr>
        <p:txBody>
          <a:bodyPr/>
          <a:lstStyle/>
          <a:p>
            <a:endParaRPr lang="en-US"/>
          </a:p>
        </p:txBody>
      </p:sp>
      <p:sp>
        <p:nvSpPr>
          <p:cNvPr id="20" name="Shape 18"/>
          <p:cNvSpPr/>
          <p:nvPr/>
        </p:nvSpPr>
        <p:spPr>
          <a:xfrm>
            <a:off x="8503920" y="0"/>
            <a:ext cx="0" cy="6858000"/>
          </a:xfrm>
          <a:prstGeom prst="line">
            <a:avLst/>
          </a:prstGeom>
          <a:noFill/>
          <a:ln w="5080">
            <a:solidFill>
              <a:srgbClr val="22384E">
                <a:alpha val="6000"/>
              </a:srgbClr>
            </a:solidFill>
            <a:prstDash val="solid"/>
          </a:ln>
        </p:spPr>
        <p:txBody>
          <a:bodyPr/>
          <a:lstStyle/>
          <a:p>
            <a:endParaRPr lang="en-US"/>
          </a:p>
        </p:txBody>
      </p:sp>
      <p:sp>
        <p:nvSpPr>
          <p:cNvPr id="21" name="Shape 19"/>
          <p:cNvSpPr/>
          <p:nvPr/>
        </p:nvSpPr>
        <p:spPr>
          <a:xfrm>
            <a:off x="9006840" y="0"/>
            <a:ext cx="0" cy="6858000"/>
          </a:xfrm>
          <a:prstGeom prst="line">
            <a:avLst/>
          </a:prstGeom>
          <a:noFill/>
          <a:ln w="5080">
            <a:solidFill>
              <a:srgbClr val="22384E">
                <a:alpha val="6000"/>
              </a:srgbClr>
            </a:solidFill>
            <a:prstDash val="solid"/>
          </a:ln>
        </p:spPr>
        <p:txBody>
          <a:bodyPr/>
          <a:lstStyle/>
          <a:p>
            <a:endParaRPr lang="en-US"/>
          </a:p>
        </p:txBody>
      </p:sp>
      <p:sp>
        <p:nvSpPr>
          <p:cNvPr id="22" name="Shape 20"/>
          <p:cNvSpPr/>
          <p:nvPr/>
        </p:nvSpPr>
        <p:spPr>
          <a:xfrm>
            <a:off x="9509760" y="0"/>
            <a:ext cx="0" cy="6858000"/>
          </a:xfrm>
          <a:prstGeom prst="line">
            <a:avLst/>
          </a:prstGeom>
          <a:noFill/>
          <a:ln w="5080">
            <a:solidFill>
              <a:srgbClr val="22384E">
                <a:alpha val="6000"/>
              </a:srgbClr>
            </a:solidFill>
            <a:prstDash val="solid"/>
          </a:ln>
        </p:spPr>
        <p:txBody>
          <a:bodyPr/>
          <a:lstStyle/>
          <a:p>
            <a:endParaRPr lang="en-US"/>
          </a:p>
        </p:txBody>
      </p:sp>
      <p:sp>
        <p:nvSpPr>
          <p:cNvPr id="23" name="Shape 21"/>
          <p:cNvSpPr/>
          <p:nvPr/>
        </p:nvSpPr>
        <p:spPr>
          <a:xfrm>
            <a:off x="10012680" y="0"/>
            <a:ext cx="0" cy="6858000"/>
          </a:xfrm>
          <a:prstGeom prst="line">
            <a:avLst/>
          </a:prstGeom>
          <a:noFill/>
          <a:ln w="5080">
            <a:solidFill>
              <a:srgbClr val="22384E">
                <a:alpha val="6000"/>
              </a:srgbClr>
            </a:solidFill>
            <a:prstDash val="solid"/>
          </a:ln>
        </p:spPr>
        <p:txBody>
          <a:bodyPr/>
          <a:lstStyle/>
          <a:p>
            <a:endParaRPr lang="en-US"/>
          </a:p>
        </p:txBody>
      </p:sp>
      <p:sp>
        <p:nvSpPr>
          <p:cNvPr id="24" name="Shape 22"/>
          <p:cNvSpPr/>
          <p:nvPr/>
        </p:nvSpPr>
        <p:spPr>
          <a:xfrm>
            <a:off x="10515600" y="0"/>
            <a:ext cx="0" cy="6858000"/>
          </a:xfrm>
          <a:prstGeom prst="line">
            <a:avLst/>
          </a:prstGeom>
          <a:noFill/>
          <a:ln w="5080">
            <a:solidFill>
              <a:srgbClr val="22384E">
                <a:alpha val="6000"/>
              </a:srgbClr>
            </a:solidFill>
            <a:prstDash val="solid"/>
          </a:ln>
        </p:spPr>
        <p:txBody>
          <a:bodyPr/>
          <a:lstStyle/>
          <a:p>
            <a:endParaRPr lang="en-US"/>
          </a:p>
        </p:txBody>
      </p:sp>
      <p:sp>
        <p:nvSpPr>
          <p:cNvPr id="25" name="Shape 23"/>
          <p:cNvSpPr/>
          <p:nvPr/>
        </p:nvSpPr>
        <p:spPr>
          <a:xfrm>
            <a:off x="11018520" y="0"/>
            <a:ext cx="0" cy="6858000"/>
          </a:xfrm>
          <a:prstGeom prst="line">
            <a:avLst/>
          </a:prstGeom>
          <a:noFill/>
          <a:ln w="5080">
            <a:solidFill>
              <a:srgbClr val="22384E">
                <a:alpha val="6000"/>
              </a:srgbClr>
            </a:solidFill>
            <a:prstDash val="solid"/>
          </a:ln>
        </p:spPr>
        <p:txBody>
          <a:bodyPr/>
          <a:lstStyle/>
          <a:p>
            <a:endParaRPr lang="en-US"/>
          </a:p>
        </p:txBody>
      </p:sp>
      <p:sp>
        <p:nvSpPr>
          <p:cNvPr id="26" name="Shape 24"/>
          <p:cNvSpPr/>
          <p:nvPr/>
        </p:nvSpPr>
        <p:spPr>
          <a:xfrm>
            <a:off x="11521440" y="0"/>
            <a:ext cx="0" cy="6858000"/>
          </a:xfrm>
          <a:prstGeom prst="line">
            <a:avLst/>
          </a:prstGeom>
          <a:noFill/>
          <a:ln w="5080">
            <a:solidFill>
              <a:srgbClr val="22384E">
                <a:alpha val="6000"/>
              </a:srgbClr>
            </a:solidFill>
            <a:prstDash val="solid"/>
          </a:ln>
        </p:spPr>
        <p:txBody>
          <a:bodyPr/>
          <a:lstStyle/>
          <a:p>
            <a:endParaRPr lang="en-US"/>
          </a:p>
        </p:txBody>
      </p:sp>
      <p:sp>
        <p:nvSpPr>
          <p:cNvPr id="27" name="Shape 25"/>
          <p:cNvSpPr/>
          <p:nvPr/>
        </p:nvSpPr>
        <p:spPr>
          <a:xfrm>
            <a:off x="0" y="320040"/>
            <a:ext cx="12191695" cy="0"/>
          </a:xfrm>
          <a:prstGeom prst="line">
            <a:avLst/>
          </a:prstGeom>
          <a:noFill/>
          <a:ln w="5080">
            <a:solidFill>
              <a:srgbClr val="22384E">
                <a:alpha val="5000"/>
              </a:srgbClr>
            </a:solidFill>
            <a:prstDash val="solid"/>
          </a:ln>
        </p:spPr>
        <p:txBody>
          <a:bodyPr/>
          <a:lstStyle/>
          <a:p>
            <a:endParaRPr lang="en-US"/>
          </a:p>
        </p:txBody>
      </p:sp>
      <p:sp>
        <p:nvSpPr>
          <p:cNvPr id="28" name="Shape 26"/>
          <p:cNvSpPr/>
          <p:nvPr/>
        </p:nvSpPr>
        <p:spPr>
          <a:xfrm>
            <a:off x="0" y="822960"/>
            <a:ext cx="12191695" cy="0"/>
          </a:xfrm>
          <a:prstGeom prst="line">
            <a:avLst/>
          </a:prstGeom>
          <a:noFill/>
          <a:ln w="5080">
            <a:solidFill>
              <a:srgbClr val="22384E">
                <a:alpha val="5000"/>
              </a:srgbClr>
            </a:solidFill>
            <a:prstDash val="solid"/>
          </a:ln>
        </p:spPr>
        <p:txBody>
          <a:bodyPr/>
          <a:lstStyle/>
          <a:p>
            <a:endParaRPr lang="en-US"/>
          </a:p>
        </p:txBody>
      </p:sp>
      <p:sp>
        <p:nvSpPr>
          <p:cNvPr id="29" name="Shape 27"/>
          <p:cNvSpPr/>
          <p:nvPr/>
        </p:nvSpPr>
        <p:spPr>
          <a:xfrm>
            <a:off x="0" y="1325880"/>
            <a:ext cx="12191695" cy="0"/>
          </a:xfrm>
          <a:prstGeom prst="line">
            <a:avLst/>
          </a:prstGeom>
          <a:noFill/>
          <a:ln w="5080">
            <a:solidFill>
              <a:srgbClr val="22384E">
                <a:alpha val="5000"/>
              </a:srgbClr>
            </a:solidFill>
            <a:prstDash val="solid"/>
          </a:ln>
        </p:spPr>
        <p:txBody>
          <a:bodyPr/>
          <a:lstStyle/>
          <a:p>
            <a:endParaRPr lang="en-US"/>
          </a:p>
        </p:txBody>
      </p:sp>
      <p:sp>
        <p:nvSpPr>
          <p:cNvPr id="30" name="Shape 28"/>
          <p:cNvSpPr/>
          <p:nvPr/>
        </p:nvSpPr>
        <p:spPr>
          <a:xfrm>
            <a:off x="0" y="1828800"/>
            <a:ext cx="12191695" cy="0"/>
          </a:xfrm>
          <a:prstGeom prst="line">
            <a:avLst/>
          </a:prstGeom>
          <a:noFill/>
          <a:ln w="5080">
            <a:solidFill>
              <a:srgbClr val="22384E">
                <a:alpha val="5000"/>
              </a:srgbClr>
            </a:solidFill>
            <a:prstDash val="solid"/>
          </a:ln>
        </p:spPr>
        <p:txBody>
          <a:bodyPr/>
          <a:lstStyle/>
          <a:p>
            <a:endParaRPr lang="en-US"/>
          </a:p>
        </p:txBody>
      </p:sp>
      <p:sp>
        <p:nvSpPr>
          <p:cNvPr id="31" name="Shape 29"/>
          <p:cNvSpPr/>
          <p:nvPr/>
        </p:nvSpPr>
        <p:spPr>
          <a:xfrm>
            <a:off x="0" y="2331720"/>
            <a:ext cx="12191695" cy="0"/>
          </a:xfrm>
          <a:prstGeom prst="line">
            <a:avLst/>
          </a:prstGeom>
          <a:noFill/>
          <a:ln w="5080">
            <a:solidFill>
              <a:srgbClr val="22384E">
                <a:alpha val="5000"/>
              </a:srgbClr>
            </a:solidFill>
            <a:prstDash val="solid"/>
          </a:ln>
        </p:spPr>
        <p:txBody>
          <a:bodyPr/>
          <a:lstStyle/>
          <a:p>
            <a:endParaRPr lang="en-US"/>
          </a:p>
        </p:txBody>
      </p:sp>
      <p:sp>
        <p:nvSpPr>
          <p:cNvPr id="32" name="Shape 30"/>
          <p:cNvSpPr/>
          <p:nvPr/>
        </p:nvSpPr>
        <p:spPr>
          <a:xfrm>
            <a:off x="0" y="2834640"/>
            <a:ext cx="12191695" cy="0"/>
          </a:xfrm>
          <a:prstGeom prst="line">
            <a:avLst/>
          </a:prstGeom>
          <a:noFill/>
          <a:ln w="5080">
            <a:solidFill>
              <a:srgbClr val="22384E">
                <a:alpha val="5000"/>
              </a:srgbClr>
            </a:solidFill>
            <a:prstDash val="solid"/>
          </a:ln>
        </p:spPr>
        <p:txBody>
          <a:bodyPr/>
          <a:lstStyle/>
          <a:p>
            <a:endParaRPr lang="en-US"/>
          </a:p>
        </p:txBody>
      </p:sp>
      <p:sp>
        <p:nvSpPr>
          <p:cNvPr id="33" name="Shape 31"/>
          <p:cNvSpPr/>
          <p:nvPr/>
        </p:nvSpPr>
        <p:spPr>
          <a:xfrm>
            <a:off x="0" y="3337560"/>
            <a:ext cx="12191695" cy="0"/>
          </a:xfrm>
          <a:prstGeom prst="line">
            <a:avLst/>
          </a:prstGeom>
          <a:noFill/>
          <a:ln w="5080">
            <a:solidFill>
              <a:srgbClr val="22384E">
                <a:alpha val="5000"/>
              </a:srgbClr>
            </a:solidFill>
            <a:prstDash val="solid"/>
          </a:ln>
        </p:spPr>
        <p:txBody>
          <a:bodyPr/>
          <a:lstStyle/>
          <a:p>
            <a:endParaRPr lang="en-US"/>
          </a:p>
        </p:txBody>
      </p:sp>
      <p:sp>
        <p:nvSpPr>
          <p:cNvPr id="34" name="Shape 32"/>
          <p:cNvSpPr/>
          <p:nvPr/>
        </p:nvSpPr>
        <p:spPr>
          <a:xfrm>
            <a:off x="0" y="3840480"/>
            <a:ext cx="12191695" cy="0"/>
          </a:xfrm>
          <a:prstGeom prst="line">
            <a:avLst/>
          </a:prstGeom>
          <a:noFill/>
          <a:ln w="5080">
            <a:solidFill>
              <a:srgbClr val="22384E">
                <a:alpha val="5000"/>
              </a:srgbClr>
            </a:solidFill>
            <a:prstDash val="solid"/>
          </a:ln>
        </p:spPr>
        <p:txBody>
          <a:bodyPr/>
          <a:lstStyle/>
          <a:p>
            <a:endParaRPr lang="en-US"/>
          </a:p>
        </p:txBody>
      </p:sp>
      <p:sp>
        <p:nvSpPr>
          <p:cNvPr id="35" name="Shape 33"/>
          <p:cNvSpPr/>
          <p:nvPr/>
        </p:nvSpPr>
        <p:spPr>
          <a:xfrm>
            <a:off x="0" y="4343400"/>
            <a:ext cx="12191695" cy="0"/>
          </a:xfrm>
          <a:prstGeom prst="line">
            <a:avLst/>
          </a:prstGeom>
          <a:noFill/>
          <a:ln w="5080">
            <a:solidFill>
              <a:srgbClr val="22384E">
                <a:alpha val="5000"/>
              </a:srgbClr>
            </a:solidFill>
            <a:prstDash val="solid"/>
          </a:ln>
        </p:spPr>
        <p:txBody>
          <a:bodyPr/>
          <a:lstStyle/>
          <a:p>
            <a:endParaRPr lang="en-US"/>
          </a:p>
        </p:txBody>
      </p:sp>
      <p:sp>
        <p:nvSpPr>
          <p:cNvPr id="36" name="Shape 34"/>
          <p:cNvSpPr/>
          <p:nvPr/>
        </p:nvSpPr>
        <p:spPr>
          <a:xfrm>
            <a:off x="0" y="4846320"/>
            <a:ext cx="12191695" cy="0"/>
          </a:xfrm>
          <a:prstGeom prst="line">
            <a:avLst/>
          </a:prstGeom>
          <a:noFill/>
          <a:ln w="5080">
            <a:solidFill>
              <a:srgbClr val="22384E">
                <a:alpha val="5000"/>
              </a:srgbClr>
            </a:solidFill>
            <a:prstDash val="solid"/>
          </a:ln>
        </p:spPr>
        <p:txBody>
          <a:bodyPr/>
          <a:lstStyle/>
          <a:p>
            <a:endParaRPr lang="en-US"/>
          </a:p>
        </p:txBody>
      </p:sp>
      <p:sp>
        <p:nvSpPr>
          <p:cNvPr id="37" name="Shape 35"/>
          <p:cNvSpPr/>
          <p:nvPr/>
        </p:nvSpPr>
        <p:spPr>
          <a:xfrm>
            <a:off x="0" y="5349240"/>
            <a:ext cx="12191695" cy="0"/>
          </a:xfrm>
          <a:prstGeom prst="line">
            <a:avLst/>
          </a:prstGeom>
          <a:noFill/>
          <a:ln w="5080">
            <a:solidFill>
              <a:srgbClr val="22384E">
                <a:alpha val="5000"/>
              </a:srgbClr>
            </a:solidFill>
            <a:prstDash val="solid"/>
          </a:ln>
        </p:spPr>
        <p:txBody>
          <a:bodyPr/>
          <a:lstStyle/>
          <a:p>
            <a:endParaRPr lang="en-US"/>
          </a:p>
        </p:txBody>
      </p:sp>
      <p:sp>
        <p:nvSpPr>
          <p:cNvPr id="38" name="Shape 36"/>
          <p:cNvSpPr/>
          <p:nvPr/>
        </p:nvSpPr>
        <p:spPr>
          <a:xfrm>
            <a:off x="0" y="5852160"/>
            <a:ext cx="12191695" cy="0"/>
          </a:xfrm>
          <a:prstGeom prst="line">
            <a:avLst/>
          </a:prstGeom>
          <a:noFill/>
          <a:ln w="5080">
            <a:solidFill>
              <a:srgbClr val="22384E">
                <a:alpha val="5000"/>
              </a:srgbClr>
            </a:solidFill>
            <a:prstDash val="solid"/>
          </a:ln>
        </p:spPr>
        <p:txBody>
          <a:bodyPr/>
          <a:lstStyle/>
          <a:p>
            <a:endParaRPr lang="en-US"/>
          </a:p>
        </p:txBody>
      </p:sp>
      <p:sp>
        <p:nvSpPr>
          <p:cNvPr id="39" name="Shape 37"/>
          <p:cNvSpPr/>
          <p:nvPr/>
        </p:nvSpPr>
        <p:spPr>
          <a:xfrm>
            <a:off x="0" y="6355080"/>
            <a:ext cx="12191695" cy="0"/>
          </a:xfrm>
          <a:prstGeom prst="line">
            <a:avLst/>
          </a:prstGeom>
          <a:noFill/>
          <a:ln w="5080">
            <a:solidFill>
              <a:srgbClr val="22384E">
                <a:alpha val="5000"/>
              </a:srgbClr>
            </a:solidFill>
            <a:prstDash val="solid"/>
          </a:ln>
        </p:spPr>
        <p:txBody>
          <a:bodyPr/>
          <a:lstStyle/>
          <a:p>
            <a:endParaRPr lang="en-US"/>
          </a:p>
        </p:txBody>
      </p:sp>
      <p:sp>
        <p:nvSpPr>
          <p:cNvPr id="40" name="Shape 38"/>
          <p:cNvSpPr/>
          <p:nvPr/>
        </p:nvSpPr>
        <p:spPr>
          <a:xfrm>
            <a:off x="0" y="6858000"/>
            <a:ext cx="12191695" cy="0"/>
          </a:xfrm>
          <a:prstGeom prst="line">
            <a:avLst/>
          </a:prstGeom>
          <a:noFill/>
          <a:ln w="5080">
            <a:solidFill>
              <a:srgbClr val="22384E">
                <a:alpha val="5000"/>
              </a:srgbClr>
            </a:solidFill>
            <a:prstDash val="solid"/>
          </a:ln>
        </p:spPr>
        <p:txBody>
          <a:bodyPr/>
          <a:lstStyle/>
          <a:p>
            <a:endParaRPr lang="en-US"/>
          </a:p>
        </p:txBody>
      </p:sp>
      <p:sp>
        <p:nvSpPr>
          <p:cNvPr id="41" name="Text 39"/>
          <p:cNvSpPr/>
          <p:nvPr/>
        </p:nvSpPr>
        <p:spPr>
          <a:xfrm>
            <a:off x="438912" y="256032"/>
            <a:ext cx="4114800" cy="201168"/>
          </a:xfrm>
          <a:prstGeom prst="rect">
            <a:avLst/>
          </a:prstGeom>
          <a:noFill/>
          <a:ln/>
        </p:spPr>
        <p:txBody>
          <a:bodyPr wrap="square" lIns="0" tIns="0" rIns="0" bIns="0" rtlCol="0" anchor="ctr"/>
          <a:lstStyle/>
          <a:p>
            <a:pPr marL="0" indent="0">
              <a:buNone/>
            </a:pPr>
            <a:r>
              <a:rPr lang="en-US" sz="950" b="1" kern="0" spc="170" dirty="0">
                <a:solidFill>
                  <a:srgbClr val="38D9E6"/>
                </a:solidFill>
                <a:latin typeface="Inter" pitchFamily="34" charset="0"/>
                <a:ea typeface="Inter" pitchFamily="34" charset="-122"/>
                <a:cs typeface="Inter" pitchFamily="34" charset="-120"/>
              </a:rPr>
              <a:t>DESIGN — ALGORITHM</a:t>
            </a:r>
            <a:endParaRPr lang="en-US" sz="950" dirty="0"/>
          </a:p>
        </p:txBody>
      </p:sp>
      <p:sp>
        <p:nvSpPr>
          <p:cNvPr id="42" name="Shape 40"/>
          <p:cNvSpPr/>
          <p:nvPr/>
        </p:nvSpPr>
        <p:spPr>
          <a:xfrm>
            <a:off x="438912" y="539496"/>
            <a:ext cx="438912" cy="0"/>
          </a:xfrm>
          <a:prstGeom prst="line">
            <a:avLst/>
          </a:prstGeom>
          <a:noFill/>
          <a:ln w="44450">
            <a:solidFill>
              <a:srgbClr val="38D9E6"/>
            </a:solidFill>
            <a:prstDash val="solid"/>
            <a:headEnd type="none"/>
            <a:tailEnd type="none"/>
          </a:ln>
        </p:spPr>
        <p:txBody>
          <a:bodyPr/>
          <a:lstStyle/>
          <a:p>
            <a:endParaRPr lang="en-US"/>
          </a:p>
        </p:txBody>
      </p:sp>
      <p:sp>
        <p:nvSpPr>
          <p:cNvPr id="43" name="Text 41"/>
          <p:cNvSpPr/>
          <p:nvPr/>
        </p:nvSpPr>
        <p:spPr>
          <a:xfrm>
            <a:off x="438912" y="658368"/>
            <a:ext cx="11064240" cy="566928"/>
          </a:xfrm>
          <a:prstGeom prst="rect">
            <a:avLst/>
          </a:prstGeom>
          <a:noFill/>
          <a:ln/>
        </p:spPr>
        <p:txBody>
          <a:bodyPr wrap="square" lIns="0" tIns="0" rIns="0" bIns="0" rtlCol="0" anchor="ctr">
            <a:normAutofit/>
          </a:bodyPr>
          <a:lstStyle/>
          <a:p>
            <a:pPr marL="0" indent="0">
              <a:buNone/>
            </a:pPr>
            <a:r>
              <a:rPr lang="en-US" sz="2700" b="1" dirty="0">
                <a:solidFill>
                  <a:srgbClr val="F4F8FB"/>
                </a:solidFill>
                <a:latin typeface="Inter Display" pitchFamily="34" charset="0"/>
                <a:ea typeface="Inter Display" pitchFamily="34" charset="-122"/>
                <a:cs typeface="Inter Display" pitchFamily="34" charset="-120"/>
              </a:rPr>
              <a:t>How the JPEG-style compression pipeline works</a:t>
            </a:r>
            <a:endParaRPr lang="en-US" sz="2700" dirty="0"/>
          </a:p>
        </p:txBody>
      </p:sp>
      <p:sp>
        <p:nvSpPr>
          <p:cNvPr id="44" name="Text 42"/>
          <p:cNvSpPr/>
          <p:nvPr/>
        </p:nvSpPr>
        <p:spPr>
          <a:xfrm>
            <a:off x="457200" y="1225296"/>
            <a:ext cx="10881360" cy="292608"/>
          </a:xfrm>
          <a:prstGeom prst="rect">
            <a:avLst/>
          </a:prstGeom>
          <a:noFill/>
          <a:ln/>
        </p:spPr>
        <p:txBody>
          <a:bodyPr wrap="square" lIns="0" tIns="0" rIns="0" bIns="0" rtlCol="0" anchor="ctr">
            <a:normAutofit/>
          </a:bodyPr>
          <a:lstStyle/>
          <a:p>
            <a:pPr marL="0" indent="0">
              <a:buNone/>
            </a:pPr>
            <a:r>
              <a:rPr lang="en-US" sz="1250" dirty="0">
                <a:solidFill>
                  <a:srgbClr val="A8B6C5"/>
                </a:solidFill>
                <a:latin typeface="Inter" pitchFamily="34" charset="0"/>
                <a:ea typeface="Inter" pitchFamily="34" charset="-122"/>
                <a:cs typeface="Inter" pitchFamily="34" charset="-120"/>
              </a:rPr>
              <a:t>The compressor removes visual redundancy first, then represents the remaining information compactly.</a:t>
            </a:r>
            <a:endParaRPr lang="en-US" sz="1250" dirty="0"/>
          </a:p>
        </p:txBody>
      </p:sp>
      <p:sp>
        <p:nvSpPr>
          <p:cNvPr id="45" name="Shape 43"/>
          <p:cNvSpPr/>
          <p:nvPr/>
        </p:nvSpPr>
        <p:spPr>
          <a:xfrm>
            <a:off x="438912" y="1874520"/>
            <a:ext cx="1664208" cy="1874520"/>
          </a:xfrm>
          <a:prstGeom prst="roundRect">
            <a:avLst>
              <a:gd name="adj" fmla="val 4396"/>
            </a:avLst>
          </a:prstGeom>
          <a:solidFill>
            <a:srgbClr val="0D1C2D"/>
          </a:solidFill>
          <a:ln w="12700">
            <a:solidFill>
              <a:srgbClr val="38D9E6">
                <a:alpha val="45000"/>
              </a:srgbClr>
            </a:solidFill>
            <a:prstDash val="solid"/>
          </a:ln>
          <a:effectLst>
            <a:outerShdw algn="bl" rotWithShape="0">
              <a:srgbClr val="000000">
                <a:alpha val="0"/>
              </a:srgbClr>
            </a:outerShdw>
          </a:effectLst>
        </p:spPr>
        <p:txBody>
          <a:bodyPr/>
          <a:lstStyle/>
          <a:p>
            <a:endParaRPr lang="en-US"/>
          </a:p>
        </p:txBody>
      </p:sp>
      <p:sp>
        <p:nvSpPr>
          <p:cNvPr id="46" name="Shape 44"/>
          <p:cNvSpPr/>
          <p:nvPr/>
        </p:nvSpPr>
        <p:spPr>
          <a:xfrm>
            <a:off x="1005840" y="2103120"/>
            <a:ext cx="530352" cy="530352"/>
          </a:xfrm>
          <a:prstGeom prst="ellipse">
            <a:avLst/>
          </a:prstGeom>
          <a:solidFill>
            <a:srgbClr val="38D9E6">
              <a:alpha val="92000"/>
            </a:srgbClr>
          </a:solidFill>
          <a:ln w="12700">
            <a:solidFill>
              <a:srgbClr val="38D9E6">
                <a:alpha val="0"/>
              </a:srgbClr>
            </a:solidFill>
            <a:prstDash val="solid"/>
          </a:ln>
        </p:spPr>
        <p:txBody>
          <a:bodyPr/>
          <a:lstStyle/>
          <a:p>
            <a:endParaRPr lang="en-US"/>
          </a:p>
        </p:txBody>
      </p:sp>
      <p:sp>
        <p:nvSpPr>
          <p:cNvPr id="47" name="Text 45"/>
          <p:cNvSpPr/>
          <p:nvPr/>
        </p:nvSpPr>
        <p:spPr>
          <a:xfrm>
            <a:off x="1005840" y="2185416"/>
            <a:ext cx="530352" cy="237744"/>
          </a:xfrm>
          <a:prstGeom prst="rect">
            <a:avLst/>
          </a:prstGeom>
          <a:noFill/>
          <a:ln/>
        </p:spPr>
        <p:txBody>
          <a:bodyPr wrap="square" lIns="0" tIns="0" rIns="0" bIns="0" rtlCol="0" anchor="ctr"/>
          <a:lstStyle/>
          <a:p>
            <a:pPr marL="0" indent="0" algn="ctr">
              <a:buNone/>
            </a:pPr>
            <a:r>
              <a:rPr lang="en-US" sz="1400" b="1" dirty="0">
                <a:solidFill>
                  <a:srgbClr val="07111F"/>
                </a:solidFill>
                <a:latin typeface="Inter Display" pitchFamily="34" charset="0"/>
                <a:ea typeface="Inter Display" pitchFamily="34" charset="-122"/>
                <a:cs typeface="Inter Display" pitchFamily="34" charset="-120"/>
              </a:rPr>
              <a:t>1</a:t>
            </a:r>
            <a:endParaRPr lang="en-US" sz="1400" dirty="0"/>
          </a:p>
        </p:txBody>
      </p:sp>
      <p:sp>
        <p:nvSpPr>
          <p:cNvPr id="48" name="Text 46"/>
          <p:cNvSpPr/>
          <p:nvPr/>
        </p:nvSpPr>
        <p:spPr>
          <a:xfrm>
            <a:off x="557784" y="2770632"/>
            <a:ext cx="1426464" cy="228600"/>
          </a:xfrm>
          <a:prstGeom prst="rect">
            <a:avLst/>
          </a:prstGeom>
          <a:noFill/>
          <a:ln/>
        </p:spPr>
        <p:txBody>
          <a:bodyPr wrap="square" lIns="0" tIns="0" rIns="0" bIns="0" rtlCol="0" anchor="ctr">
            <a:normAutofit/>
          </a:bodyPr>
          <a:lstStyle/>
          <a:p>
            <a:pPr marL="0" indent="0" algn="ctr">
              <a:buNone/>
            </a:pPr>
            <a:r>
              <a:rPr lang="en-US" sz="1130" b="1" dirty="0">
                <a:solidFill>
                  <a:srgbClr val="F4F8FB"/>
                </a:solidFill>
                <a:latin typeface="Inter" pitchFamily="34" charset="0"/>
                <a:ea typeface="Inter" pitchFamily="34" charset="-122"/>
                <a:cs typeface="Inter" pitchFamily="34" charset="-120"/>
              </a:rPr>
              <a:t>Level shift</a:t>
            </a:r>
            <a:endParaRPr lang="en-US" sz="1130" dirty="0"/>
          </a:p>
        </p:txBody>
      </p:sp>
      <p:sp>
        <p:nvSpPr>
          <p:cNvPr id="49" name="Text 47"/>
          <p:cNvSpPr/>
          <p:nvPr/>
        </p:nvSpPr>
        <p:spPr>
          <a:xfrm>
            <a:off x="557784" y="3044952"/>
            <a:ext cx="1426464" cy="219456"/>
          </a:xfrm>
          <a:prstGeom prst="rect">
            <a:avLst/>
          </a:prstGeom>
          <a:noFill/>
          <a:ln/>
        </p:spPr>
        <p:txBody>
          <a:bodyPr wrap="square" lIns="0" tIns="0" rIns="0" bIns="0" rtlCol="0" anchor="ctr">
            <a:normAutofit/>
          </a:bodyPr>
          <a:lstStyle/>
          <a:p>
            <a:pPr marL="0" indent="0" algn="ctr">
              <a:buNone/>
            </a:pPr>
            <a:r>
              <a:rPr lang="en-US" sz="980" b="1" dirty="0">
                <a:solidFill>
                  <a:srgbClr val="38D9E6"/>
                </a:solidFill>
                <a:latin typeface="Inter" pitchFamily="34" charset="0"/>
                <a:ea typeface="Inter" pitchFamily="34" charset="-122"/>
                <a:cs typeface="Inter" pitchFamily="34" charset="-120"/>
              </a:rPr>
              <a:t>pixel − 128</a:t>
            </a:r>
            <a:endParaRPr lang="en-US" sz="980" dirty="0"/>
          </a:p>
        </p:txBody>
      </p:sp>
      <p:sp>
        <p:nvSpPr>
          <p:cNvPr id="50" name="Text 48"/>
          <p:cNvSpPr/>
          <p:nvPr/>
        </p:nvSpPr>
        <p:spPr>
          <a:xfrm>
            <a:off x="566928" y="3310128"/>
            <a:ext cx="1408176" cy="265176"/>
          </a:xfrm>
          <a:prstGeom prst="rect">
            <a:avLst/>
          </a:prstGeom>
          <a:noFill/>
          <a:ln/>
        </p:spPr>
        <p:txBody>
          <a:bodyPr wrap="square" lIns="0" tIns="0" rIns="0" bIns="0" rtlCol="0" anchor="ctr">
            <a:normAutofit/>
          </a:bodyPr>
          <a:lstStyle/>
          <a:p>
            <a:pPr marL="0" indent="0" algn="ctr">
              <a:buNone/>
            </a:pPr>
            <a:r>
              <a:rPr lang="en-US" sz="870" dirty="0">
                <a:solidFill>
                  <a:srgbClr val="A8B6C5"/>
                </a:solidFill>
                <a:latin typeface="Inter" pitchFamily="34" charset="0"/>
                <a:ea typeface="Inter" pitchFamily="34" charset="-122"/>
                <a:cs typeface="Inter" pitchFamily="34" charset="-120"/>
              </a:rPr>
              <a:t>Centre values around zero</a:t>
            </a:r>
            <a:endParaRPr lang="en-US" sz="870" dirty="0"/>
          </a:p>
        </p:txBody>
      </p:sp>
      <p:sp>
        <p:nvSpPr>
          <p:cNvPr id="51" name="Shape 49"/>
          <p:cNvSpPr/>
          <p:nvPr/>
        </p:nvSpPr>
        <p:spPr>
          <a:xfrm>
            <a:off x="2139696" y="2642616"/>
            <a:ext cx="201168" cy="329184"/>
          </a:xfrm>
          <a:prstGeom prst="chevron">
            <a:avLst/>
          </a:prstGeom>
          <a:solidFill>
            <a:srgbClr val="668EFF">
              <a:alpha val="82000"/>
            </a:srgbClr>
          </a:solidFill>
          <a:ln w="12700">
            <a:solidFill>
              <a:srgbClr val="668EFF">
                <a:alpha val="0"/>
              </a:srgbClr>
            </a:solidFill>
            <a:prstDash val="solid"/>
          </a:ln>
        </p:spPr>
        <p:txBody>
          <a:bodyPr/>
          <a:lstStyle/>
          <a:p>
            <a:endParaRPr lang="en-US"/>
          </a:p>
        </p:txBody>
      </p:sp>
      <p:sp>
        <p:nvSpPr>
          <p:cNvPr id="52" name="Shape 50"/>
          <p:cNvSpPr/>
          <p:nvPr/>
        </p:nvSpPr>
        <p:spPr>
          <a:xfrm>
            <a:off x="2359152" y="1874520"/>
            <a:ext cx="1664208" cy="1874520"/>
          </a:xfrm>
          <a:prstGeom prst="roundRect">
            <a:avLst>
              <a:gd name="adj" fmla="val 4396"/>
            </a:avLst>
          </a:prstGeom>
          <a:solidFill>
            <a:srgbClr val="0D1C2D"/>
          </a:solidFill>
          <a:ln w="12700">
            <a:solidFill>
              <a:srgbClr val="668EFF">
                <a:alpha val="45000"/>
              </a:srgbClr>
            </a:solidFill>
            <a:prstDash val="solid"/>
          </a:ln>
          <a:effectLst>
            <a:outerShdw algn="bl" rotWithShape="0">
              <a:srgbClr val="000000">
                <a:alpha val="0"/>
              </a:srgbClr>
            </a:outerShdw>
          </a:effectLst>
        </p:spPr>
        <p:txBody>
          <a:bodyPr/>
          <a:lstStyle/>
          <a:p>
            <a:endParaRPr lang="en-US"/>
          </a:p>
        </p:txBody>
      </p:sp>
      <p:sp>
        <p:nvSpPr>
          <p:cNvPr id="53" name="Shape 51"/>
          <p:cNvSpPr/>
          <p:nvPr/>
        </p:nvSpPr>
        <p:spPr>
          <a:xfrm>
            <a:off x="2926080" y="2103120"/>
            <a:ext cx="530352" cy="530352"/>
          </a:xfrm>
          <a:prstGeom prst="ellipse">
            <a:avLst/>
          </a:prstGeom>
          <a:solidFill>
            <a:srgbClr val="668EFF">
              <a:alpha val="92000"/>
            </a:srgbClr>
          </a:solidFill>
          <a:ln w="12700">
            <a:solidFill>
              <a:srgbClr val="668EFF">
                <a:alpha val="0"/>
              </a:srgbClr>
            </a:solidFill>
            <a:prstDash val="solid"/>
          </a:ln>
        </p:spPr>
        <p:txBody>
          <a:bodyPr/>
          <a:lstStyle/>
          <a:p>
            <a:endParaRPr lang="en-US"/>
          </a:p>
        </p:txBody>
      </p:sp>
      <p:sp>
        <p:nvSpPr>
          <p:cNvPr id="54" name="Text 52"/>
          <p:cNvSpPr/>
          <p:nvPr/>
        </p:nvSpPr>
        <p:spPr>
          <a:xfrm>
            <a:off x="2926080" y="2185416"/>
            <a:ext cx="530352" cy="237744"/>
          </a:xfrm>
          <a:prstGeom prst="rect">
            <a:avLst/>
          </a:prstGeom>
          <a:noFill/>
          <a:ln/>
        </p:spPr>
        <p:txBody>
          <a:bodyPr wrap="square" lIns="0" tIns="0" rIns="0" bIns="0" rtlCol="0" anchor="ctr"/>
          <a:lstStyle/>
          <a:p>
            <a:pPr marL="0" indent="0" algn="ctr">
              <a:buNone/>
            </a:pPr>
            <a:r>
              <a:rPr lang="en-US" sz="1400" b="1" dirty="0">
                <a:solidFill>
                  <a:srgbClr val="07111F"/>
                </a:solidFill>
                <a:latin typeface="Inter Display" pitchFamily="34" charset="0"/>
                <a:ea typeface="Inter Display" pitchFamily="34" charset="-122"/>
                <a:cs typeface="Inter Display" pitchFamily="34" charset="-120"/>
              </a:rPr>
              <a:t>2</a:t>
            </a:r>
            <a:endParaRPr lang="en-US" sz="1400" dirty="0"/>
          </a:p>
        </p:txBody>
      </p:sp>
      <p:sp>
        <p:nvSpPr>
          <p:cNvPr id="55" name="Text 53"/>
          <p:cNvSpPr/>
          <p:nvPr/>
        </p:nvSpPr>
        <p:spPr>
          <a:xfrm>
            <a:off x="2478024" y="2770632"/>
            <a:ext cx="1426464" cy="228600"/>
          </a:xfrm>
          <a:prstGeom prst="rect">
            <a:avLst/>
          </a:prstGeom>
          <a:noFill/>
          <a:ln/>
        </p:spPr>
        <p:txBody>
          <a:bodyPr wrap="square" lIns="0" tIns="0" rIns="0" bIns="0" rtlCol="0" anchor="ctr">
            <a:normAutofit/>
          </a:bodyPr>
          <a:lstStyle/>
          <a:p>
            <a:pPr marL="0" indent="0" algn="ctr">
              <a:buNone/>
            </a:pPr>
            <a:r>
              <a:rPr lang="en-US" sz="1130" b="1" dirty="0">
                <a:solidFill>
                  <a:srgbClr val="F4F8FB"/>
                </a:solidFill>
                <a:latin typeface="Inter" pitchFamily="34" charset="0"/>
                <a:ea typeface="Inter" pitchFamily="34" charset="-122"/>
                <a:cs typeface="Inter" pitchFamily="34" charset="-120"/>
              </a:rPr>
              <a:t>2D DCT</a:t>
            </a:r>
            <a:endParaRPr lang="en-US" sz="1130" dirty="0"/>
          </a:p>
        </p:txBody>
      </p:sp>
      <p:sp>
        <p:nvSpPr>
          <p:cNvPr id="56" name="Text 54"/>
          <p:cNvSpPr/>
          <p:nvPr/>
        </p:nvSpPr>
        <p:spPr>
          <a:xfrm>
            <a:off x="2478024" y="3044952"/>
            <a:ext cx="1426464" cy="219456"/>
          </a:xfrm>
          <a:prstGeom prst="rect">
            <a:avLst/>
          </a:prstGeom>
          <a:noFill/>
          <a:ln/>
        </p:spPr>
        <p:txBody>
          <a:bodyPr wrap="square" lIns="0" tIns="0" rIns="0" bIns="0" rtlCol="0" anchor="ctr">
            <a:normAutofit/>
          </a:bodyPr>
          <a:lstStyle/>
          <a:p>
            <a:pPr marL="0" indent="0" algn="ctr">
              <a:buNone/>
            </a:pPr>
            <a:r>
              <a:rPr lang="en-US" sz="980" b="1" dirty="0">
                <a:solidFill>
                  <a:srgbClr val="668EFF"/>
                </a:solidFill>
                <a:latin typeface="Inter" pitchFamily="34" charset="0"/>
                <a:ea typeface="Inter" pitchFamily="34" charset="-122"/>
                <a:cs typeface="Inter" pitchFamily="34" charset="-120"/>
              </a:rPr>
              <a:t>F = CXCᵀ</a:t>
            </a:r>
            <a:endParaRPr lang="en-US" sz="980" dirty="0"/>
          </a:p>
        </p:txBody>
      </p:sp>
      <p:sp>
        <p:nvSpPr>
          <p:cNvPr id="57" name="Text 55"/>
          <p:cNvSpPr/>
          <p:nvPr/>
        </p:nvSpPr>
        <p:spPr>
          <a:xfrm>
            <a:off x="2487168" y="3310128"/>
            <a:ext cx="1408176" cy="265176"/>
          </a:xfrm>
          <a:prstGeom prst="rect">
            <a:avLst/>
          </a:prstGeom>
          <a:noFill/>
          <a:ln/>
        </p:spPr>
        <p:txBody>
          <a:bodyPr wrap="square" lIns="0" tIns="0" rIns="0" bIns="0" rtlCol="0" anchor="ctr">
            <a:normAutofit/>
          </a:bodyPr>
          <a:lstStyle/>
          <a:p>
            <a:pPr marL="0" indent="0" algn="ctr">
              <a:buNone/>
            </a:pPr>
            <a:r>
              <a:rPr lang="en-US" sz="870" dirty="0">
                <a:solidFill>
                  <a:srgbClr val="A8B6C5"/>
                </a:solidFill>
                <a:latin typeface="Inter" pitchFamily="34" charset="0"/>
                <a:ea typeface="Inter" pitchFamily="34" charset="-122"/>
                <a:cs typeface="Inter" pitchFamily="34" charset="-120"/>
              </a:rPr>
              <a:t>Convert pixels to frequencies</a:t>
            </a:r>
            <a:endParaRPr lang="en-US" sz="870" dirty="0"/>
          </a:p>
        </p:txBody>
      </p:sp>
      <p:sp>
        <p:nvSpPr>
          <p:cNvPr id="58" name="Shape 56"/>
          <p:cNvSpPr/>
          <p:nvPr/>
        </p:nvSpPr>
        <p:spPr>
          <a:xfrm>
            <a:off x="4059936" y="2642616"/>
            <a:ext cx="201168" cy="329184"/>
          </a:xfrm>
          <a:prstGeom prst="chevron">
            <a:avLst/>
          </a:prstGeom>
          <a:solidFill>
            <a:srgbClr val="49D486">
              <a:alpha val="82000"/>
            </a:srgbClr>
          </a:solidFill>
          <a:ln w="12700">
            <a:solidFill>
              <a:srgbClr val="49D486">
                <a:alpha val="0"/>
              </a:srgbClr>
            </a:solidFill>
            <a:prstDash val="solid"/>
          </a:ln>
        </p:spPr>
        <p:txBody>
          <a:bodyPr/>
          <a:lstStyle/>
          <a:p>
            <a:endParaRPr lang="en-US"/>
          </a:p>
        </p:txBody>
      </p:sp>
      <p:sp>
        <p:nvSpPr>
          <p:cNvPr id="59" name="Shape 57"/>
          <p:cNvSpPr/>
          <p:nvPr/>
        </p:nvSpPr>
        <p:spPr>
          <a:xfrm>
            <a:off x="4279392" y="1874520"/>
            <a:ext cx="1664208" cy="1874520"/>
          </a:xfrm>
          <a:prstGeom prst="roundRect">
            <a:avLst>
              <a:gd name="adj" fmla="val 4396"/>
            </a:avLst>
          </a:prstGeom>
          <a:solidFill>
            <a:srgbClr val="0D1C2D"/>
          </a:solidFill>
          <a:ln w="12700">
            <a:solidFill>
              <a:srgbClr val="49D486">
                <a:alpha val="45000"/>
              </a:srgbClr>
            </a:solidFill>
            <a:prstDash val="solid"/>
          </a:ln>
          <a:effectLst>
            <a:outerShdw algn="bl" rotWithShape="0">
              <a:srgbClr val="000000">
                <a:alpha val="0"/>
              </a:srgbClr>
            </a:outerShdw>
          </a:effectLst>
        </p:spPr>
        <p:txBody>
          <a:bodyPr/>
          <a:lstStyle/>
          <a:p>
            <a:endParaRPr lang="en-US"/>
          </a:p>
        </p:txBody>
      </p:sp>
      <p:sp>
        <p:nvSpPr>
          <p:cNvPr id="60" name="Shape 58"/>
          <p:cNvSpPr/>
          <p:nvPr/>
        </p:nvSpPr>
        <p:spPr>
          <a:xfrm>
            <a:off x="4846320" y="2103120"/>
            <a:ext cx="530352" cy="530352"/>
          </a:xfrm>
          <a:prstGeom prst="ellipse">
            <a:avLst/>
          </a:prstGeom>
          <a:solidFill>
            <a:srgbClr val="49D486">
              <a:alpha val="92000"/>
            </a:srgbClr>
          </a:solidFill>
          <a:ln w="12700">
            <a:solidFill>
              <a:srgbClr val="49D486">
                <a:alpha val="0"/>
              </a:srgbClr>
            </a:solidFill>
            <a:prstDash val="solid"/>
          </a:ln>
        </p:spPr>
        <p:txBody>
          <a:bodyPr/>
          <a:lstStyle/>
          <a:p>
            <a:endParaRPr lang="en-US"/>
          </a:p>
        </p:txBody>
      </p:sp>
      <p:sp>
        <p:nvSpPr>
          <p:cNvPr id="61" name="Text 59"/>
          <p:cNvSpPr/>
          <p:nvPr/>
        </p:nvSpPr>
        <p:spPr>
          <a:xfrm>
            <a:off x="4846320" y="2185416"/>
            <a:ext cx="530352" cy="237744"/>
          </a:xfrm>
          <a:prstGeom prst="rect">
            <a:avLst/>
          </a:prstGeom>
          <a:noFill/>
          <a:ln/>
        </p:spPr>
        <p:txBody>
          <a:bodyPr wrap="square" lIns="0" tIns="0" rIns="0" bIns="0" rtlCol="0" anchor="ctr"/>
          <a:lstStyle/>
          <a:p>
            <a:pPr marL="0" indent="0" algn="ctr">
              <a:buNone/>
            </a:pPr>
            <a:r>
              <a:rPr lang="en-US" sz="1400" b="1" dirty="0">
                <a:solidFill>
                  <a:srgbClr val="07111F"/>
                </a:solidFill>
                <a:latin typeface="Inter Display" pitchFamily="34" charset="0"/>
                <a:ea typeface="Inter Display" pitchFamily="34" charset="-122"/>
                <a:cs typeface="Inter Display" pitchFamily="34" charset="-120"/>
              </a:rPr>
              <a:t>3</a:t>
            </a:r>
            <a:endParaRPr lang="en-US" sz="1400" dirty="0"/>
          </a:p>
        </p:txBody>
      </p:sp>
      <p:sp>
        <p:nvSpPr>
          <p:cNvPr id="62" name="Text 60"/>
          <p:cNvSpPr/>
          <p:nvPr/>
        </p:nvSpPr>
        <p:spPr>
          <a:xfrm>
            <a:off x="4398264" y="2770632"/>
            <a:ext cx="1426464" cy="228600"/>
          </a:xfrm>
          <a:prstGeom prst="rect">
            <a:avLst/>
          </a:prstGeom>
          <a:noFill/>
          <a:ln/>
        </p:spPr>
        <p:txBody>
          <a:bodyPr wrap="square" lIns="0" tIns="0" rIns="0" bIns="0" rtlCol="0" anchor="ctr">
            <a:normAutofit/>
          </a:bodyPr>
          <a:lstStyle/>
          <a:p>
            <a:pPr marL="0" indent="0" algn="ctr">
              <a:buNone/>
            </a:pPr>
            <a:r>
              <a:rPr lang="en-US" sz="1130" b="1" dirty="0">
                <a:solidFill>
                  <a:srgbClr val="F4F8FB"/>
                </a:solidFill>
                <a:latin typeface="Inter" pitchFamily="34" charset="0"/>
                <a:ea typeface="Inter" pitchFamily="34" charset="-122"/>
                <a:cs typeface="Inter" pitchFamily="34" charset="-120"/>
              </a:rPr>
              <a:t>Quantise</a:t>
            </a:r>
            <a:endParaRPr lang="en-US" sz="1130" dirty="0"/>
          </a:p>
        </p:txBody>
      </p:sp>
      <p:sp>
        <p:nvSpPr>
          <p:cNvPr id="63" name="Text 61"/>
          <p:cNvSpPr/>
          <p:nvPr/>
        </p:nvSpPr>
        <p:spPr>
          <a:xfrm>
            <a:off x="4398264" y="3044952"/>
            <a:ext cx="1426464" cy="219456"/>
          </a:xfrm>
          <a:prstGeom prst="rect">
            <a:avLst/>
          </a:prstGeom>
          <a:noFill/>
          <a:ln/>
        </p:spPr>
        <p:txBody>
          <a:bodyPr wrap="square" lIns="0" tIns="0" rIns="0" bIns="0" rtlCol="0" anchor="ctr">
            <a:normAutofit/>
          </a:bodyPr>
          <a:lstStyle/>
          <a:p>
            <a:pPr marL="0" indent="0" algn="ctr">
              <a:buNone/>
            </a:pPr>
            <a:r>
              <a:rPr lang="en-US" sz="980" b="1" dirty="0">
                <a:solidFill>
                  <a:srgbClr val="49D486"/>
                </a:solidFill>
                <a:latin typeface="Inter" pitchFamily="34" charset="0"/>
                <a:ea typeface="Inter" pitchFamily="34" charset="-122"/>
                <a:cs typeface="Inter" pitchFamily="34" charset="-120"/>
              </a:rPr>
              <a:t>round(F / Q)</a:t>
            </a:r>
            <a:endParaRPr lang="en-US" sz="980" dirty="0"/>
          </a:p>
        </p:txBody>
      </p:sp>
      <p:sp>
        <p:nvSpPr>
          <p:cNvPr id="64" name="Text 62"/>
          <p:cNvSpPr/>
          <p:nvPr/>
        </p:nvSpPr>
        <p:spPr>
          <a:xfrm>
            <a:off x="4407408" y="3310128"/>
            <a:ext cx="1408176" cy="265176"/>
          </a:xfrm>
          <a:prstGeom prst="rect">
            <a:avLst/>
          </a:prstGeom>
          <a:noFill/>
          <a:ln/>
        </p:spPr>
        <p:txBody>
          <a:bodyPr wrap="square" lIns="0" tIns="0" rIns="0" bIns="0" rtlCol="0" anchor="ctr">
            <a:normAutofit/>
          </a:bodyPr>
          <a:lstStyle/>
          <a:p>
            <a:pPr marL="0" indent="0" algn="ctr">
              <a:buNone/>
            </a:pPr>
            <a:r>
              <a:rPr lang="en-US" sz="870" dirty="0">
                <a:solidFill>
                  <a:srgbClr val="A8B6C5"/>
                </a:solidFill>
                <a:latin typeface="Inter" pitchFamily="34" charset="0"/>
                <a:ea typeface="Inter" pitchFamily="34" charset="-122"/>
                <a:cs typeface="Inter" pitchFamily="34" charset="-120"/>
              </a:rPr>
              <a:t>Discard fine detail; create zeros</a:t>
            </a:r>
            <a:endParaRPr lang="en-US" sz="870" dirty="0"/>
          </a:p>
        </p:txBody>
      </p:sp>
      <p:sp>
        <p:nvSpPr>
          <p:cNvPr id="65" name="Shape 63"/>
          <p:cNvSpPr/>
          <p:nvPr/>
        </p:nvSpPr>
        <p:spPr>
          <a:xfrm>
            <a:off x="5980176" y="2642616"/>
            <a:ext cx="201168" cy="329184"/>
          </a:xfrm>
          <a:prstGeom prst="chevron">
            <a:avLst/>
          </a:prstGeom>
          <a:solidFill>
            <a:srgbClr val="24C9AA">
              <a:alpha val="82000"/>
            </a:srgbClr>
          </a:solidFill>
          <a:ln w="12700">
            <a:solidFill>
              <a:srgbClr val="24C9AA">
                <a:alpha val="0"/>
              </a:srgbClr>
            </a:solidFill>
            <a:prstDash val="solid"/>
          </a:ln>
        </p:spPr>
        <p:txBody>
          <a:bodyPr/>
          <a:lstStyle/>
          <a:p>
            <a:endParaRPr lang="en-US"/>
          </a:p>
        </p:txBody>
      </p:sp>
      <p:sp>
        <p:nvSpPr>
          <p:cNvPr id="66" name="Shape 64"/>
          <p:cNvSpPr/>
          <p:nvPr/>
        </p:nvSpPr>
        <p:spPr>
          <a:xfrm>
            <a:off x="6199632" y="1874520"/>
            <a:ext cx="1664208" cy="1874520"/>
          </a:xfrm>
          <a:prstGeom prst="roundRect">
            <a:avLst>
              <a:gd name="adj" fmla="val 4396"/>
            </a:avLst>
          </a:prstGeom>
          <a:solidFill>
            <a:srgbClr val="0D1C2D"/>
          </a:solidFill>
          <a:ln w="12700">
            <a:solidFill>
              <a:srgbClr val="24C9AA">
                <a:alpha val="45000"/>
              </a:srgbClr>
            </a:solidFill>
            <a:prstDash val="solid"/>
          </a:ln>
          <a:effectLst>
            <a:outerShdw algn="bl" rotWithShape="0">
              <a:srgbClr val="000000">
                <a:alpha val="0"/>
              </a:srgbClr>
            </a:outerShdw>
          </a:effectLst>
        </p:spPr>
        <p:txBody>
          <a:bodyPr/>
          <a:lstStyle/>
          <a:p>
            <a:endParaRPr lang="en-US"/>
          </a:p>
        </p:txBody>
      </p:sp>
      <p:sp>
        <p:nvSpPr>
          <p:cNvPr id="67" name="Shape 65"/>
          <p:cNvSpPr/>
          <p:nvPr/>
        </p:nvSpPr>
        <p:spPr>
          <a:xfrm>
            <a:off x="6766560" y="2103120"/>
            <a:ext cx="530352" cy="530352"/>
          </a:xfrm>
          <a:prstGeom prst="ellipse">
            <a:avLst/>
          </a:prstGeom>
          <a:solidFill>
            <a:srgbClr val="24C9AA">
              <a:alpha val="92000"/>
            </a:srgbClr>
          </a:solidFill>
          <a:ln w="12700">
            <a:solidFill>
              <a:srgbClr val="24C9AA">
                <a:alpha val="0"/>
              </a:srgbClr>
            </a:solidFill>
            <a:prstDash val="solid"/>
          </a:ln>
        </p:spPr>
        <p:txBody>
          <a:bodyPr/>
          <a:lstStyle/>
          <a:p>
            <a:endParaRPr lang="en-US"/>
          </a:p>
        </p:txBody>
      </p:sp>
      <p:sp>
        <p:nvSpPr>
          <p:cNvPr id="68" name="Text 66"/>
          <p:cNvSpPr/>
          <p:nvPr/>
        </p:nvSpPr>
        <p:spPr>
          <a:xfrm>
            <a:off x="6766560" y="2185416"/>
            <a:ext cx="530352" cy="237744"/>
          </a:xfrm>
          <a:prstGeom prst="rect">
            <a:avLst/>
          </a:prstGeom>
          <a:noFill/>
          <a:ln/>
        </p:spPr>
        <p:txBody>
          <a:bodyPr wrap="square" lIns="0" tIns="0" rIns="0" bIns="0" rtlCol="0" anchor="ctr"/>
          <a:lstStyle/>
          <a:p>
            <a:pPr marL="0" indent="0" algn="ctr">
              <a:buNone/>
            </a:pPr>
            <a:r>
              <a:rPr lang="en-US" sz="1400" b="1" dirty="0">
                <a:solidFill>
                  <a:srgbClr val="07111F"/>
                </a:solidFill>
                <a:latin typeface="Inter Display" pitchFamily="34" charset="0"/>
                <a:ea typeface="Inter Display" pitchFamily="34" charset="-122"/>
                <a:cs typeface="Inter Display" pitchFamily="34" charset="-120"/>
              </a:rPr>
              <a:t>4</a:t>
            </a:r>
            <a:endParaRPr lang="en-US" sz="1400" dirty="0"/>
          </a:p>
        </p:txBody>
      </p:sp>
      <p:sp>
        <p:nvSpPr>
          <p:cNvPr id="69" name="Text 67"/>
          <p:cNvSpPr/>
          <p:nvPr/>
        </p:nvSpPr>
        <p:spPr>
          <a:xfrm>
            <a:off x="6318504" y="2770632"/>
            <a:ext cx="1426464" cy="228600"/>
          </a:xfrm>
          <a:prstGeom prst="rect">
            <a:avLst/>
          </a:prstGeom>
          <a:noFill/>
          <a:ln/>
        </p:spPr>
        <p:txBody>
          <a:bodyPr wrap="square" lIns="0" tIns="0" rIns="0" bIns="0" rtlCol="0" anchor="ctr">
            <a:normAutofit/>
          </a:bodyPr>
          <a:lstStyle/>
          <a:p>
            <a:pPr marL="0" indent="0" algn="ctr">
              <a:buNone/>
            </a:pPr>
            <a:r>
              <a:rPr lang="en-US" sz="1130" b="1" dirty="0">
                <a:solidFill>
                  <a:srgbClr val="F4F8FB"/>
                </a:solidFill>
                <a:latin typeface="Inter" pitchFamily="34" charset="0"/>
                <a:ea typeface="Inter" pitchFamily="34" charset="-122"/>
                <a:cs typeface="Inter" pitchFamily="34" charset="-120"/>
              </a:rPr>
              <a:t>Zigzag</a:t>
            </a:r>
            <a:endParaRPr lang="en-US" sz="1130" dirty="0"/>
          </a:p>
        </p:txBody>
      </p:sp>
      <p:sp>
        <p:nvSpPr>
          <p:cNvPr id="70" name="Text 68"/>
          <p:cNvSpPr/>
          <p:nvPr/>
        </p:nvSpPr>
        <p:spPr>
          <a:xfrm>
            <a:off x="6318504" y="3044952"/>
            <a:ext cx="1426464" cy="219456"/>
          </a:xfrm>
          <a:prstGeom prst="rect">
            <a:avLst/>
          </a:prstGeom>
          <a:noFill/>
          <a:ln/>
        </p:spPr>
        <p:txBody>
          <a:bodyPr wrap="square" lIns="0" tIns="0" rIns="0" bIns="0" rtlCol="0" anchor="ctr">
            <a:normAutofit/>
          </a:bodyPr>
          <a:lstStyle/>
          <a:p>
            <a:pPr marL="0" indent="0" algn="ctr">
              <a:buNone/>
            </a:pPr>
            <a:r>
              <a:rPr lang="en-US" sz="980" b="1" dirty="0">
                <a:solidFill>
                  <a:srgbClr val="24C9AA"/>
                </a:solidFill>
                <a:latin typeface="Inter" pitchFamily="34" charset="0"/>
                <a:ea typeface="Inter" pitchFamily="34" charset="-122"/>
                <a:cs typeface="Inter" pitchFamily="34" charset="-120"/>
              </a:rPr>
              <a:t>low → high f</a:t>
            </a:r>
            <a:endParaRPr lang="en-US" sz="980" dirty="0"/>
          </a:p>
        </p:txBody>
      </p:sp>
      <p:sp>
        <p:nvSpPr>
          <p:cNvPr id="71" name="Text 69"/>
          <p:cNvSpPr/>
          <p:nvPr/>
        </p:nvSpPr>
        <p:spPr>
          <a:xfrm>
            <a:off x="6327648" y="3310128"/>
            <a:ext cx="1408176" cy="265176"/>
          </a:xfrm>
          <a:prstGeom prst="rect">
            <a:avLst/>
          </a:prstGeom>
          <a:noFill/>
          <a:ln/>
        </p:spPr>
        <p:txBody>
          <a:bodyPr wrap="square" lIns="0" tIns="0" rIns="0" bIns="0" rtlCol="0" anchor="ctr">
            <a:normAutofit/>
          </a:bodyPr>
          <a:lstStyle/>
          <a:p>
            <a:pPr marL="0" indent="0" algn="ctr">
              <a:buNone/>
            </a:pPr>
            <a:r>
              <a:rPr lang="en-US" sz="870" dirty="0">
                <a:solidFill>
                  <a:srgbClr val="A8B6C5"/>
                </a:solidFill>
                <a:latin typeface="Inter" pitchFamily="34" charset="0"/>
                <a:ea typeface="Inter" pitchFamily="34" charset="-122"/>
                <a:cs typeface="Inter" pitchFamily="34" charset="-120"/>
              </a:rPr>
              <a:t>Move likely zeros together</a:t>
            </a:r>
            <a:endParaRPr lang="en-US" sz="870" dirty="0"/>
          </a:p>
        </p:txBody>
      </p:sp>
      <p:sp>
        <p:nvSpPr>
          <p:cNvPr id="72" name="Shape 70"/>
          <p:cNvSpPr/>
          <p:nvPr/>
        </p:nvSpPr>
        <p:spPr>
          <a:xfrm>
            <a:off x="7900416" y="2642616"/>
            <a:ext cx="201168" cy="329184"/>
          </a:xfrm>
          <a:prstGeom prst="chevron">
            <a:avLst/>
          </a:prstGeom>
          <a:solidFill>
            <a:srgbClr val="FFA24C">
              <a:alpha val="82000"/>
            </a:srgbClr>
          </a:solidFill>
          <a:ln w="12700">
            <a:solidFill>
              <a:srgbClr val="FFA24C">
                <a:alpha val="0"/>
              </a:srgbClr>
            </a:solidFill>
            <a:prstDash val="solid"/>
          </a:ln>
        </p:spPr>
        <p:txBody>
          <a:bodyPr/>
          <a:lstStyle/>
          <a:p>
            <a:endParaRPr lang="en-US"/>
          </a:p>
        </p:txBody>
      </p:sp>
      <p:sp>
        <p:nvSpPr>
          <p:cNvPr id="73" name="Shape 71"/>
          <p:cNvSpPr/>
          <p:nvPr/>
        </p:nvSpPr>
        <p:spPr>
          <a:xfrm>
            <a:off x="8119872" y="1874520"/>
            <a:ext cx="1664208" cy="1874520"/>
          </a:xfrm>
          <a:prstGeom prst="roundRect">
            <a:avLst>
              <a:gd name="adj" fmla="val 4396"/>
            </a:avLst>
          </a:prstGeom>
          <a:solidFill>
            <a:srgbClr val="0D1C2D"/>
          </a:solidFill>
          <a:ln w="12700">
            <a:solidFill>
              <a:srgbClr val="FFA24C">
                <a:alpha val="45000"/>
              </a:srgbClr>
            </a:solidFill>
            <a:prstDash val="solid"/>
          </a:ln>
          <a:effectLst>
            <a:outerShdw algn="bl" rotWithShape="0">
              <a:srgbClr val="000000">
                <a:alpha val="0"/>
              </a:srgbClr>
            </a:outerShdw>
          </a:effectLst>
        </p:spPr>
        <p:txBody>
          <a:bodyPr/>
          <a:lstStyle/>
          <a:p>
            <a:endParaRPr lang="en-US"/>
          </a:p>
        </p:txBody>
      </p:sp>
      <p:sp>
        <p:nvSpPr>
          <p:cNvPr id="74" name="Shape 72"/>
          <p:cNvSpPr/>
          <p:nvPr/>
        </p:nvSpPr>
        <p:spPr>
          <a:xfrm>
            <a:off x="8686800" y="2103120"/>
            <a:ext cx="530352" cy="530352"/>
          </a:xfrm>
          <a:prstGeom prst="ellipse">
            <a:avLst/>
          </a:prstGeom>
          <a:solidFill>
            <a:srgbClr val="FFA24C">
              <a:alpha val="92000"/>
            </a:srgbClr>
          </a:solidFill>
          <a:ln w="12700">
            <a:solidFill>
              <a:srgbClr val="FFA24C">
                <a:alpha val="0"/>
              </a:srgbClr>
            </a:solidFill>
            <a:prstDash val="solid"/>
          </a:ln>
        </p:spPr>
        <p:txBody>
          <a:bodyPr/>
          <a:lstStyle/>
          <a:p>
            <a:endParaRPr lang="en-US"/>
          </a:p>
        </p:txBody>
      </p:sp>
      <p:sp>
        <p:nvSpPr>
          <p:cNvPr id="75" name="Text 73"/>
          <p:cNvSpPr/>
          <p:nvPr/>
        </p:nvSpPr>
        <p:spPr>
          <a:xfrm>
            <a:off x="8686800" y="2185416"/>
            <a:ext cx="530352" cy="237744"/>
          </a:xfrm>
          <a:prstGeom prst="rect">
            <a:avLst/>
          </a:prstGeom>
          <a:noFill/>
          <a:ln/>
        </p:spPr>
        <p:txBody>
          <a:bodyPr wrap="square" lIns="0" tIns="0" rIns="0" bIns="0" rtlCol="0" anchor="ctr"/>
          <a:lstStyle/>
          <a:p>
            <a:pPr marL="0" indent="0" algn="ctr">
              <a:buNone/>
            </a:pPr>
            <a:r>
              <a:rPr lang="en-US" sz="1400" b="1" dirty="0">
                <a:solidFill>
                  <a:srgbClr val="07111F"/>
                </a:solidFill>
                <a:latin typeface="Inter Display" pitchFamily="34" charset="0"/>
                <a:ea typeface="Inter Display" pitchFamily="34" charset="-122"/>
                <a:cs typeface="Inter Display" pitchFamily="34" charset="-120"/>
              </a:rPr>
              <a:t>5</a:t>
            </a:r>
            <a:endParaRPr lang="en-US" sz="1400" dirty="0"/>
          </a:p>
        </p:txBody>
      </p:sp>
      <p:sp>
        <p:nvSpPr>
          <p:cNvPr id="76" name="Text 74"/>
          <p:cNvSpPr/>
          <p:nvPr/>
        </p:nvSpPr>
        <p:spPr>
          <a:xfrm>
            <a:off x="8238744" y="2770632"/>
            <a:ext cx="1426464" cy="228600"/>
          </a:xfrm>
          <a:prstGeom prst="rect">
            <a:avLst/>
          </a:prstGeom>
          <a:noFill/>
          <a:ln/>
        </p:spPr>
        <p:txBody>
          <a:bodyPr wrap="square" lIns="0" tIns="0" rIns="0" bIns="0" rtlCol="0" anchor="ctr">
            <a:normAutofit/>
          </a:bodyPr>
          <a:lstStyle/>
          <a:p>
            <a:pPr marL="0" indent="0" algn="ctr">
              <a:buNone/>
            </a:pPr>
            <a:r>
              <a:rPr lang="en-US" sz="1130" b="1" dirty="0">
                <a:solidFill>
                  <a:srgbClr val="F4F8FB"/>
                </a:solidFill>
                <a:latin typeface="Inter" pitchFamily="34" charset="0"/>
                <a:ea typeface="Inter" pitchFamily="34" charset="-122"/>
                <a:cs typeface="Inter" pitchFamily="34" charset="-120"/>
              </a:rPr>
              <a:t>RUN/SIZE</a:t>
            </a:r>
            <a:endParaRPr lang="en-US" sz="1130" dirty="0"/>
          </a:p>
        </p:txBody>
      </p:sp>
      <p:sp>
        <p:nvSpPr>
          <p:cNvPr id="77" name="Text 75"/>
          <p:cNvSpPr/>
          <p:nvPr/>
        </p:nvSpPr>
        <p:spPr>
          <a:xfrm>
            <a:off x="8238744" y="3044952"/>
            <a:ext cx="1426464" cy="219456"/>
          </a:xfrm>
          <a:prstGeom prst="rect">
            <a:avLst/>
          </a:prstGeom>
          <a:noFill/>
          <a:ln/>
        </p:spPr>
        <p:txBody>
          <a:bodyPr wrap="square" lIns="0" tIns="0" rIns="0" bIns="0" rtlCol="0" anchor="ctr">
            <a:normAutofit/>
          </a:bodyPr>
          <a:lstStyle/>
          <a:p>
            <a:pPr marL="0" indent="0" algn="ctr">
              <a:buNone/>
            </a:pPr>
            <a:r>
              <a:rPr lang="en-US" sz="980" b="1" dirty="0">
                <a:solidFill>
                  <a:srgbClr val="FFA24C"/>
                </a:solidFill>
                <a:latin typeface="Inter" pitchFamily="34" charset="0"/>
                <a:ea typeface="Inter" pitchFamily="34" charset="-122"/>
                <a:cs typeface="Inter" pitchFamily="34" charset="-120"/>
              </a:rPr>
              <a:t>ZRL + EOB</a:t>
            </a:r>
            <a:endParaRPr lang="en-US" sz="980" dirty="0"/>
          </a:p>
        </p:txBody>
      </p:sp>
      <p:sp>
        <p:nvSpPr>
          <p:cNvPr id="78" name="Text 76"/>
          <p:cNvSpPr/>
          <p:nvPr/>
        </p:nvSpPr>
        <p:spPr>
          <a:xfrm>
            <a:off x="8247888" y="3310128"/>
            <a:ext cx="1408176" cy="265176"/>
          </a:xfrm>
          <a:prstGeom prst="rect">
            <a:avLst/>
          </a:prstGeom>
          <a:noFill/>
          <a:ln/>
        </p:spPr>
        <p:txBody>
          <a:bodyPr wrap="square" lIns="0" tIns="0" rIns="0" bIns="0" rtlCol="0" anchor="ctr">
            <a:normAutofit/>
          </a:bodyPr>
          <a:lstStyle/>
          <a:p>
            <a:pPr marL="0" indent="0" algn="ctr">
              <a:buNone/>
            </a:pPr>
            <a:r>
              <a:rPr lang="en-US" sz="870" dirty="0">
                <a:solidFill>
                  <a:srgbClr val="A8B6C5"/>
                </a:solidFill>
                <a:latin typeface="Inter" pitchFamily="34" charset="0"/>
                <a:ea typeface="Inter" pitchFamily="34" charset="-122"/>
                <a:cs typeface="Inter" pitchFamily="34" charset="-120"/>
              </a:rPr>
              <a:t>Encode zero runs and values</a:t>
            </a:r>
            <a:endParaRPr lang="en-US" sz="870" dirty="0"/>
          </a:p>
        </p:txBody>
      </p:sp>
      <p:sp>
        <p:nvSpPr>
          <p:cNvPr id="79" name="Shape 77"/>
          <p:cNvSpPr/>
          <p:nvPr/>
        </p:nvSpPr>
        <p:spPr>
          <a:xfrm>
            <a:off x="9820656" y="2642616"/>
            <a:ext cx="201168" cy="329184"/>
          </a:xfrm>
          <a:prstGeom prst="chevron">
            <a:avLst/>
          </a:prstGeom>
          <a:solidFill>
            <a:srgbClr val="38D9E6">
              <a:alpha val="82000"/>
            </a:srgbClr>
          </a:solidFill>
          <a:ln w="12700">
            <a:solidFill>
              <a:srgbClr val="38D9E6">
                <a:alpha val="0"/>
              </a:srgbClr>
            </a:solidFill>
            <a:prstDash val="solid"/>
          </a:ln>
        </p:spPr>
        <p:txBody>
          <a:bodyPr/>
          <a:lstStyle/>
          <a:p>
            <a:endParaRPr lang="en-US"/>
          </a:p>
        </p:txBody>
      </p:sp>
      <p:sp>
        <p:nvSpPr>
          <p:cNvPr id="80" name="Shape 78"/>
          <p:cNvSpPr/>
          <p:nvPr/>
        </p:nvSpPr>
        <p:spPr>
          <a:xfrm>
            <a:off x="10040112" y="1874520"/>
            <a:ext cx="1664208" cy="1874520"/>
          </a:xfrm>
          <a:prstGeom prst="roundRect">
            <a:avLst>
              <a:gd name="adj" fmla="val 4396"/>
            </a:avLst>
          </a:prstGeom>
          <a:solidFill>
            <a:srgbClr val="0D1C2D"/>
          </a:solidFill>
          <a:ln w="12700">
            <a:solidFill>
              <a:srgbClr val="38D9E6">
                <a:alpha val="45000"/>
              </a:srgbClr>
            </a:solidFill>
            <a:prstDash val="solid"/>
          </a:ln>
          <a:effectLst>
            <a:outerShdw algn="bl" rotWithShape="0">
              <a:srgbClr val="000000">
                <a:alpha val="0"/>
              </a:srgbClr>
            </a:outerShdw>
          </a:effectLst>
        </p:spPr>
        <p:txBody>
          <a:bodyPr/>
          <a:lstStyle/>
          <a:p>
            <a:endParaRPr lang="en-US"/>
          </a:p>
        </p:txBody>
      </p:sp>
      <p:sp>
        <p:nvSpPr>
          <p:cNvPr id="81" name="Shape 79"/>
          <p:cNvSpPr/>
          <p:nvPr/>
        </p:nvSpPr>
        <p:spPr>
          <a:xfrm>
            <a:off x="10607040" y="2103120"/>
            <a:ext cx="530352" cy="530352"/>
          </a:xfrm>
          <a:prstGeom prst="ellipse">
            <a:avLst/>
          </a:prstGeom>
          <a:solidFill>
            <a:srgbClr val="38D9E6">
              <a:alpha val="92000"/>
            </a:srgbClr>
          </a:solidFill>
          <a:ln w="12700">
            <a:solidFill>
              <a:srgbClr val="38D9E6">
                <a:alpha val="0"/>
              </a:srgbClr>
            </a:solidFill>
            <a:prstDash val="solid"/>
          </a:ln>
        </p:spPr>
        <p:txBody>
          <a:bodyPr/>
          <a:lstStyle/>
          <a:p>
            <a:endParaRPr lang="en-US"/>
          </a:p>
        </p:txBody>
      </p:sp>
      <p:sp>
        <p:nvSpPr>
          <p:cNvPr id="82" name="Text 80"/>
          <p:cNvSpPr/>
          <p:nvPr/>
        </p:nvSpPr>
        <p:spPr>
          <a:xfrm>
            <a:off x="10607040" y="2185416"/>
            <a:ext cx="530352" cy="237744"/>
          </a:xfrm>
          <a:prstGeom prst="rect">
            <a:avLst/>
          </a:prstGeom>
          <a:noFill/>
          <a:ln/>
        </p:spPr>
        <p:txBody>
          <a:bodyPr wrap="square" lIns="0" tIns="0" rIns="0" bIns="0" rtlCol="0" anchor="ctr"/>
          <a:lstStyle/>
          <a:p>
            <a:pPr marL="0" indent="0" algn="ctr">
              <a:buNone/>
            </a:pPr>
            <a:r>
              <a:rPr lang="en-US" sz="1400" b="1" dirty="0">
                <a:solidFill>
                  <a:srgbClr val="07111F"/>
                </a:solidFill>
                <a:latin typeface="Inter Display" pitchFamily="34" charset="0"/>
                <a:ea typeface="Inter Display" pitchFamily="34" charset="-122"/>
                <a:cs typeface="Inter Display" pitchFamily="34" charset="-120"/>
              </a:rPr>
              <a:t>6</a:t>
            </a:r>
            <a:endParaRPr lang="en-US" sz="1400" dirty="0"/>
          </a:p>
        </p:txBody>
      </p:sp>
      <p:sp>
        <p:nvSpPr>
          <p:cNvPr id="83" name="Text 81"/>
          <p:cNvSpPr/>
          <p:nvPr/>
        </p:nvSpPr>
        <p:spPr>
          <a:xfrm>
            <a:off x="10158984" y="2770632"/>
            <a:ext cx="1426464" cy="228600"/>
          </a:xfrm>
          <a:prstGeom prst="rect">
            <a:avLst/>
          </a:prstGeom>
          <a:noFill/>
          <a:ln/>
        </p:spPr>
        <p:txBody>
          <a:bodyPr wrap="square" lIns="0" tIns="0" rIns="0" bIns="0" rtlCol="0" anchor="ctr">
            <a:normAutofit/>
          </a:bodyPr>
          <a:lstStyle/>
          <a:p>
            <a:pPr marL="0" indent="0" algn="ctr">
              <a:buNone/>
            </a:pPr>
            <a:r>
              <a:rPr lang="en-US" sz="1130" b="1" dirty="0">
                <a:solidFill>
                  <a:srgbClr val="F4F8FB"/>
                </a:solidFill>
                <a:latin typeface="Inter" pitchFamily="34" charset="0"/>
                <a:ea typeface="Inter" pitchFamily="34" charset="-122"/>
                <a:cs typeface="Inter" pitchFamily="34" charset="-120"/>
              </a:rPr>
              <a:t>Packed file</a:t>
            </a:r>
            <a:endParaRPr lang="en-US" sz="1130" dirty="0"/>
          </a:p>
        </p:txBody>
      </p:sp>
      <p:sp>
        <p:nvSpPr>
          <p:cNvPr id="84" name="Text 82"/>
          <p:cNvSpPr/>
          <p:nvPr/>
        </p:nvSpPr>
        <p:spPr>
          <a:xfrm>
            <a:off x="10158984" y="3044952"/>
            <a:ext cx="1426464" cy="219456"/>
          </a:xfrm>
          <a:prstGeom prst="rect">
            <a:avLst/>
          </a:prstGeom>
          <a:noFill/>
          <a:ln/>
        </p:spPr>
        <p:txBody>
          <a:bodyPr wrap="square" lIns="0" tIns="0" rIns="0" bIns="0" rtlCol="0" anchor="ctr">
            <a:normAutofit/>
          </a:bodyPr>
          <a:lstStyle/>
          <a:p>
            <a:pPr marL="0" indent="0" algn="ctr">
              <a:buNone/>
            </a:pPr>
            <a:r>
              <a:rPr lang="en-US" sz="980" b="1" dirty="0">
                <a:solidFill>
                  <a:srgbClr val="38D9E6"/>
                </a:solidFill>
                <a:latin typeface="Inter" pitchFamily="34" charset="0"/>
                <a:ea typeface="Inter" pitchFamily="34" charset="-122"/>
                <a:cs typeface="Inter" pitchFamily="34" charset="-120"/>
              </a:rPr>
              <a:t>GSC3 bytes</a:t>
            </a:r>
            <a:endParaRPr lang="en-US" sz="980" dirty="0"/>
          </a:p>
        </p:txBody>
      </p:sp>
      <p:sp>
        <p:nvSpPr>
          <p:cNvPr id="85" name="Text 83"/>
          <p:cNvSpPr/>
          <p:nvPr/>
        </p:nvSpPr>
        <p:spPr>
          <a:xfrm>
            <a:off x="10168128" y="3310128"/>
            <a:ext cx="1408176" cy="265176"/>
          </a:xfrm>
          <a:prstGeom prst="rect">
            <a:avLst/>
          </a:prstGeom>
          <a:noFill/>
          <a:ln/>
        </p:spPr>
        <p:txBody>
          <a:bodyPr wrap="square" lIns="0" tIns="0" rIns="0" bIns="0" rtlCol="0" anchor="ctr">
            <a:normAutofit/>
          </a:bodyPr>
          <a:lstStyle/>
          <a:p>
            <a:pPr marL="0" indent="0" algn="ctr">
              <a:buNone/>
            </a:pPr>
            <a:r>
              <a:rPr lang="en-US" sz="870" dirty="0">
                <a:solidFill>
                  <a:srgbClr val="A8B6C5"/>
                </a:solidFill>
                <a:latin typeface="Inter" pitchFamily="34" charset="0"/>
                <a:ea typeface="Inter" pitchFamily="34" charset="-122"/>
                <a:cs typeface="Inter" pitchFamily="34" charset="-120"/>
              </a:rPr>
              <a:t>Write compact block stream</a:t>
            </a:r>
            <a:endParaRPr lang="en-US" sz="870" dirty="0"/>
          </a:p>
        </p:txBody>
      </p:sp>
      <p:sp>
        <p:nvSpPr>
          <p:cNvPr id="86" name="Shape 84"/>
          <p:cNvSpPr/>
          <p:nvPr/>
        </p:nvSpPr>
        <p:spPr>
          <a:xfrm>
            <a:off x="502920" y="4096512"/>
            <a:ext cx="11183112" cy="1581912"/>
          </a:xfrm>
          <a:prstGeom prst="roundRect">
            <a:avLst>
              <a:gd name="adj" fmla="val 4624"/>
            </a:avLst>
          </a:prstGeom>
          <a:solidFill>
            <a:srgbClr val="0D1C2D"/>
          </a:solidFill>
          <a:ln w="12700">
            <a:solidFill>
              <a:srgbClr val="22384E">
                <a:alpha val="75000"/>
              </a:srgbClr>
            </a:solidFill>
            <a:prstDash val="solid"/>
          </a:ln>
        </p:spPr>
        <p:txBody>
          <a:bodyPr/>
          <a:lstStyle/>
          <a:p>
            <a:endParaRPr lang="en-US"/>
          </a:p>
        </p:txBody>
      </p:sp>
      <p:sp>
        <p:nvSpPr>
          <p:cNvPr id="87" name="Text 85"/>
          <p:cNvSpPr/>
          <p:nvPr/>
        </p:nvSpPr>
        <p:spPr>
          <a:xfrm>
            <a:off x="758952" y="4343400"/>
            <a:ext cx="2103120" cy="256032"/>
          </a:xfrm>
          <a:prstGeom prst="rect">
            <a:avLst/>
          </a:prstGeom>
          <a:noFill/>
          <a:ln/>
        </p:spPr>
        <p:txBody>
          <a:bodyPr wrap="square" lIns="0" tIns="0" rIns="0" bIns="0" rtlCol="0" anchor="ctr"/>
          <a:lstStyle/>
          <a:p>
            <a:pPr marL="0" indent="0">
              <a:buNone/>
            </a:pPr>
            <a:r>
              <a:rPr lang="en-US" sz="1700" b="1" dirty="0">
                <a:solidFill>
                  <a:srgbClr val="F4F8FB"/>
                </a:solidFill>
                <a:latin typeface="Inter Display" pitchFamily="34" charset="0"/>
                <a:ea typeface="Inter Display" pitchFamily="34" charset="-122"/>
                <a:cs typeface="Inter Display" pitchFamily="34" charset="-120"/>
              </a:rPr>
              <a:t>Why compression emerges</a:t>
            </a:r>
            <a:endParaRPr lang="en-US" sz="1700" dirty="0"/>
          </a:p>
        </p:txBody>
      </p:sp>
      <p:sp>
        <p:nvSpPr>
          <p:cNvPr id="88" name="Shape 86"/>
          <p:cNvSpPr/>
          <p:nvPr/>
        </p:nvSpPr>
        <p:spPr>
          <a:xfrm>
            <a:off x="2834640" y="4297680"/>
            <a:ext cx="292608" cy="292608"/>
          </a:xfrm>
          <a:prstGeom prst="ellipse">
            <a:avLst/>
          </a:prstGeom>
          <a:solidFill>
            <a:srgbClr val="668EFF">
              <a:alpha val="92000"/>
            </a:srgbClr>
          </a:solidFill>
          <a:ln w="12700">
            <a:solidFill>
              <a:srgbClr val="668EFF">
                <a:alpha val="0"/>
              </a:srgbClr>
            </a:solidFill>
            <a:prstDash val="solid"/>
          </a:ln>
        </p:spPr>
        <p:txBody>
          <a:bodyPr/>
          <a:lstStyle/>
          <a:p>
            <a:endParaRPr lang="en-US"/>
          </a:p>
        </p:txBody>
      </p:sp>
      <p:sp>
        <p:nvSpPr>
          <p:cNvPr id="89" name="Text 87"/>
          <p:cNvSpPr/>
          <p:nvPr/>
        </p:nvSpPr>
        <p:spPr>
          <a:xfrm>
            <a:off x="2834640" y="4279392"/>
            <a:ext cx="292608" cy="274320"/>
          </a:xfrm>
          <a:prstGeom prst="rect">
            <a:avLst/>
          </a:prstGeom>
          <a:noFill/>
          <a:ln/>
        </p:spPr>
        <p:txBody>
          <a:bodyPr wrap="square" lIns="0" tIns="0" rIns="0" bIns="0" rtlCol="0" anchor="ctr"/>
          <a:lstStyle/>
          <a:p>
            <a:pPr marL="0" indent="0" algn="ctr">
              <a:buNone/>
            </a:pPr>
            <a:r>
              <a:rPr lang="en-US" sz="1400" b="1" dirty="0">
                <a:solidFill>
                  <a:srgbClr val="07111F"/>
                </a:solidFill>
                <a:latin typeface="Inter" pitchFamily="34" charset="0"/>
                <a:ea typeface="Inter" pitchFamily="34" charset="-122"/>
                <a:cs typeface="Inter" pitchFamily="34" charset="-120"/>
              </a:rPr>
              <a:t>•</a:t>
            </a:r>
            <a:endParaRPr lang="en-US" sz="1400" dirty="0"/>
          </a:p>
        </p:txBody>
      </p:sp>
      <p:sp>
        <p:nvSpPr>
          <p:cNvPr id="90" name="Text 88"/>
          <p:cNvSpPr/>
          <p:nvPr/>
        </p:nvSpPr>
        <p:spPr>
          <a:xfrm>
            <a:off x="3264408" y="4261104"/>
            <a:ext cx="2084832" cy="219456"/>
          </a:xfrm>
          <a:prstGeom prst="rect">
            <a:avLst/>
          </a:prstGeom>
          <a:noFill/>
          <a:ln/>
        </p:spPr>
        <p:txBody>
          <a:bodyPr wrap="square" lIns="0" tIns="0" rIns="0" bIns="0" rtlCol="0" anchor="ctr">
            <a:normAutofit/>
          </a:bodyPr>
          <a:lstStyle/>
          <a:p>
            <a:pPr marL="0" indent="0">
              <a:buNone/>
            </a:pPr>
            <a:r>
              <a:rPr lang="en-US" sz="1320" b="1" dirty="0">
                <a:solidFill>
                  <a:srgbClr val="F4F8FB"/>
                </a:solidFill>
                <a:latin typeface="Inter" pitchFamily="34" charset="0"/>
                <a:ea typeface="Inter" pitchFamily="34" charset="-122"/>
                <a:cs typeface="Inter" pitchFamily="34" charset="-120"/>
              </a:rPr>
              <a:t>Energy concentration</a:t>
            </a:r>
            <a:endParaRPr lang="en-US" sz="1320" dirty="0"/>
          </a:p>
        </p:txBody>
      </p:sp>
      <p:sp>
        <p:nvSpPr>
          <p:cNvPr id="91" name="Text 89"/>
          <p:cNvSpPr/>
          <p:nvPr/>
        </p:nvSpPr>
        <p:spPr>
          <a:xfrm>
            <a:off x="3264408" y="4507992"/>
            <a:ext cx="2084832" cy="402336"/>
          </a:xfrm>
          <a:prstGeom prst="rect">
            <a:avLst/>
          </a:prstGeom>
          <a:noFill/>
          <a:ln/>
        </p:spPr>
        <p:txBody>
          <a:bodyPr wrap="square" lIns="0" tIns="0" rIns="0" bIns="0" rtlCol="0" anchor="ctr">
            <a:normAutofit fontScale="92500" lnSpcReduction="20000"/>
          </a:bodyPr>
          <a:lstStyle/>
          <a:p>
            <a:pPr marL="0" indent="0">
              <a:buNone/>
            </a:pPr>
            <a:r>
              <a:rPr lang="en-US" sz="1050" dirty="0">
                <a:solidFill>
                  <a:srgbClr val="A8B6C5"/>
                </a:solidFill>
                <a:latin typeface="Inter" pitchFamily="34" charset="0"/>
                <a:ea typeface="Inter" pitchFamily="34" charset="-122"/>
                <a:cs typeface="Inter" pitchFamily="34" charset="-120"/>
              </a:rPr>
              <a:t>The DCT places most visible structure in a small number of low-frequency coefficients.</a:t>
            </a:r>
            <a:endParaRPr lang="en-US" sz="1050" dirty="0"/>
          </a:p>
        </p:txBody>
      </p:sp>
      <p:sp>
        <p:nvSpPr>
          <p:cNvPr id="92" name="Shape 90"/>
          <p:cNvSpPr/>
          <p:nvPr/>
        </p:nvSpPr>
        <p:spPr>
          <a:xfrm>
            <a:off x="5715000" y="4297680"/>
            <a:ext cx="292608" cy="292608"/>
          </a:xfrm>
          <a:prstGeom prst="ellipse">
            <a:avLst/>
          </a:prstGeom>
          <a:solidFill>
            <a:srgbClr val="49D486">
              <a:alpha val="92000"/>
            </a:srgbClr>
          </a:solidFill>
          <a:ln w="12700">
            <a:solidFill>
              <a:srgbClr val="49D486">
                <a:alpha val="0"/>
              </a:srgbClr>
            </a:solidFill>
            <a:prstDash val="solid"/>
          </a:ln>
        </p:spPr>
        <p:txBody>
          <a:bodyPr/>
          <a:lstStyle/>
          <a:p>
            <a:endParaRPr lang="en-US"/>
          </a:p>
        </p:txBody>
      </p:sp>
      <p:sp>
        <p:nvSpPr>
          <p:cNvPr id="93" name="Text 91"/>
          <p:cNvSpPr/>
          <p:nvPr/>
        </p:nvSpPr>
        <p:spPr>
          <a:xfrm>
            <a:off x="5715000" y="4279392"/>
            <a:ext cx="292608" cy="274320"/>
          </a:xfrm>
          <a:prstGeom prst="rect">
            <a:avLst/>
          </a:prstGeom>
          <a:noFill/>
          <a:ln/>
        </p:spPr>
        <p:txBody>
          <a:bodyPr wrap="square" lIns="0" tIns="0" rIns="0" bIns="0" rtlCol="0" anchor="ctr"/>
          <a:lstStyle/>
          <a:p>
            <a:pPr marL="0" indent="0" algn="ctr">
              <a:buNone/>
            </a:pPr>
            <a:r>
              <a:rPr lang="en-US" sz="1400" b="1" dirty="0">
                <a:solidFill>
                  <a:srgbClr val="07111F"/>
                </a:solidFill>
                <a:latin typeface="Inter" pitchFamily="34" charset="0"/>
                <a:ea typeface="Inter" pitchFamily="34" charset="-122"/>
                <a:cs typeface="Inter" pitchFamily="34" charset="-120"/>
              </a:rPr>
              <a:t>•</a:t>
            </a:r>
            <a:endParaRPr lang="en-US" sz="1400" dirty="0"/>
          </a:p>
        </p:txBody>
      </p:sp>
      <p:sp>
        <p:nvSpPr>
          <p:cNvPr id="94" name="Text 92"/>
          <p:cNvSpPr/>
          <p:nvPr/>
        </p:nvSpPr>
        <p:spPr>
          <a:xfrm>
            <a:off x="6144768" y="4261104"/>
            <a:ext cx="2084832" cy="219456"/>
          </a:xfrm>
          <a:prstGeom prst="rect">
            <a:avLst/>
          </a:prstGeom>
          <a:noFill/>
          <a:ln/>
        </p:spPr>
        <p:txBody>
          <a:bodyPr wrap="square" lIns="0" tIns="0" rIns="0" bIns="0" rtlCol="0" anchor="ctr">
            <a:normAutofit/>
          </a:bodyPr>
          <a:lstStyle/>
          <a:p>
            <a:pPr marL="0" indent="0">
              <a:buNone/>
            </a:pPr>
            <a:r>
              <a:rPr lang="en-US" sz="1320" b="1" dirty="0">
                <a:solidFill>
                  <a:srgbClr val="F4F8FB"/>
                </a:solidFill>
                <a:latin typeface="Inter" pitchFamily="34" charset="0"/>
                <a:ea typeface="Inter" pitchFamily="34" charset="-122"/>
                <a:cs typeface="Inter" pitchFamily="34" charset="-120"/>
              </a:rPr>
              <a:t>Sparsity</a:t>
            </a:r>
            <a:endParaRPr lang="en-US" sz="1320" dirty="0"/>
          </a:p>
        </p:txBody>
      </p:sp>
      <p:sp>
        <p:nvSpPr>
          <p:cNvPr id="95" name="Text 93"/>
          <p:cNvSpPr/>
          <p:nvPr/>
        </p:nvSpPr>
        <p:spPr>
          <a:xfrm>
            <a:off x="6144768" y="4507992"/>
            <a:ext cx="2084832" cy="402336"/>
          </a:xfrm>
          <a:prstGeom prst="rect">
            <a:avLst/>
          </a:prstGeom>
          <a:noFill/>
          <a:ln/>
        </p:spPr>
        <p:txBody>
          <a:bodyPr wrap="square" lIns="0" tIns="0" rIns="0" bIns="0" rtlCol="0" anchor="ctr">
            <a:normAutofit fontScale="92500" lnSpcReduction="20000"/>
          </a:bodyPr>
          <a:lstStyle/>
          <a:p>
            <a:pPr marL="0" indent="0">
              <a:buNone/>
            </a:pPr>
            <a:r>
              <a:rPr lang="en-US" sz="1050" dirty="0">
                <a:solidFill>
                  <a:srgbClr val="A8B6C5"/>
                </a:solidFill>
                <a:latin typeface="Inter" pitchFamily="34" charset="0"/>
                <a:ea typeface="Inter" pitchFamily="34" charset="-122"/>
                <a:cs typeface="Inter" pitchFamily="34" charset="-120"/>
              </a:rPr>
              <a:t>Quantisation rounds many high-frequency coefficients to zero, especially in smooth blocks.</a:t>
            </a:r>
            <a:endParaRPr lang="en-US" sz="1050" dirty="0"/>
          </a:p>
        </p:txBody>
      </p:sp>
      <p:sp>
        <p:nvSpPr>
          <p:cNvPr id="96" name="Shape 94"/>
          <p:cNvSpPr/>
          <p:nvPr/>
        </p:nvSpPr>
        <p:spPr>
          <a:xfrm>
            <a:off x="8595360" y="4297680"/>
            <a:ext cx="292608" cy="292608"/>
          </a:xfrm>
          <a:prstGeom prst="ellipse">
            <a:avLst/>
          </a:prstGeom>
          <a:solidFill>
            <a:srgbClr val="FFA24C">
              <a:alpha val="92000"/>
            </a:srgbClr>
          </a:solidFill>
          <a:ln w="12700">
            <a:solidFill>
              <a:srgbClr val="FFA24C">
                <a:alpha val="0"/>
              </a:srgbClr>
            </a:solidFill>
            <a:prstDash val="solid"/>
          </a:ln>
        </p:spPr>
        <p:txBody>
          <a:bodyPr/>
          <a:lstStyle/>
          <a:p>
            <a:endParaRPr lang="en-US"/>
          </a:p>
        </p:txBody>
      </p:sp>
      <p:sp>
        <p:nvSpPr>
          <p:cNvPr id="97" name="Text 95"/>
          <p:cNvSpPr/>
          <p:nvPr/>
        </p:nvSpPr>
        <p:spPr>
          <a:xfrm>
            <a:off x="8595360" y="4279392"/>
            <a:ext cx="292608" cy="274320"/>
          </a:xfrm>
          <a:prstGeom prst="rect">
            <a:avLst/>
          </a:prstGeom>
          <a:noFill/>
          <a:ln/>
        </p:spPr>
        <p:txBody>
          <a:bodyPr wrap="square" lIns="0" tIns="0" rIns="0" bIns="0" rtlCol="0" anchor="ctr"/>
          <a:lstStyle/>
          <a:p>
            <a:pPr marL="0" indent="0" algn="ctr">
              <a:buNone/>
            </a:pPr>
            <a:r>
              <a:rPr lang="en-US" sz="1400" b="1" dirty="0">
                <a:solidFill>
                  <a:srgbClr val="07111F"/>
                </a:solidFill>
                <a:latin typeface="Inter" pitchFamily="34" charset="0"/>
                <a:ea typeface="Inter" pitchFamily="34" charset="-122"/>
                <a:cs typeface="Inter" pitchFamily="34" charset="-120"/>
              </a:rPr>
              <a:t>•</a:t>
            </a:r>
            <a:endParaRPr lang="en-US" sz="1400" dirty="0"/>
          </a:p>
        </p:txBody>
      </p:sp>
      <p:sp>
        <p:nvSpPr>
          <p:cNvPr id="98" name="Text 96"/>
          <p:cNvSpPr/>
          <p:nvPr/>
        </p:nvSpPr>
        <p:spPr>
          <a:xfrm>
            <a:off x="9025128" y="4261104"/>
            <a:ext cx="2267712" cy="219456"/>
          </a:xfrm>
          <a:prstGeom prst="rect">
            <a:avLst/>
          </a:prstGeom>
          <a:noFill/>
          <a:ln/>
        </p:spPr>
        <p:txBody>
          <a:bodyPr wrap="square" lIns="0" tIns="0" rIns="0" bIns="0" rtlCol="0" anchor="ctr">
            <a:normAutofit/>
          </a:bodyPr>
          <a:lstStyle/>
          <a:p>
            <a:pPr marL="0" indent="0">
              <a:buNone/>
            </a:pPr>
            <a:r>
              <a:rPr lang="en-US" sz="1320" b="1" dirty="0">
                <a:solidFill>
                  <a:srgbClr val="F4F8FB"/>
                </a:solidFill>
                <a:latin typeface="Inter" pitchFamily="34" charset="0"/>
                <a:ea typeface="Inter" pitchFamily="34" charset="-122"/>
                <a:cs typeface="Inter" pitchFamily="34" charset="-120"/>
              </a:rPr>
              <a:t>Compact coding</a:t>
            </a:r>
            <a:endParaRPr lang="en-US" sz="1320" dirty="0"/>
          </a:p>
        </p:txBody>
      </p:sp>
      <p:sp>
        <p:nvSpPr>
          <p:cNvPr id="99" name="Text 97"/>
          <p:cNvSpPr/>
          <p:nvPr/>
        </p:nvSpPr>
        <p:spPr>
          <a:xfrm>
            <a:off x="9025128" y="4507992"/>
            <a:ext cx="2267712" cy="402336"/>
          </a:xfrm>
          <a:prstGeom prst="rect">
            <a:avLst/>
          </a:prstGeom>
          <a:noFill/>
          <a:ln/>
        </p:spPr>
        <p:txBody>
          <a:bodyPr wrap="square" lIns="0" tIns="0" rIns="0" bIns="0" rtlCol="0" anchor="ctr">
            <a:normAutofit/>
          </a:bodyPr>
          <a:lstStyle/>
          <a:p>
            <a:pPr marL="0" indent="0">
              <a:buNone/>
            </a:pPr>
            <a:r>
              <a:rPr lang="en-US" sz="1050" dirty="0">
                <a:solidFill>
                  <a:srgbClr val="A8B6C5"/>
                </a:solidFill>
                <a:latin typeface="Inter" pitchFamily="34" charset="0"/>
                <a:ea typeface="Inter" pitchFamily="34" charset="-122"/>
                <a:cs typeface="Inter" pitchFamily="34" charset="-120"/>
              </a:rPr>
              <a:t>Zigzag scanning groups zeros so RUN/SIZE symbols and EOB markers use fewer bits.</a:t>
            </a:r>
            <a:endParaRPr lang="en-US" sz="1050" dirty="0"/>
          </a:p>
        </p:txBody>
      </p:sp>
      <p:sp>
        <p:nvSpPr>
          <p:cNvPr id="100" name="Text 98"/>
          <p:cNvSpPr/>
          <p:nvPr/>
        </p:nvSpPr>
        <p:spPr>
          <a:xfrm>
            <a:off x="768096" y="4892040"/>
            <a:ext cx="1005840" cy="164592"/>
          </a:xfrm>
          <a:prstGeom prst="rect">
            <a:avLst/>
          </a:prstGeom>
          <a:noFill/>
          <a:ln/>
        </p:spPr>
        <p:txBody>
          <a:bodyPr wrap="square" lIns="0" tIns="0" rIns="0" bIns="0" rtlCol="0" anchor="ctr"/>
          <a:lstStyle/>
          <a:p>
            <a:pPr marL="0" indent="0">
              <a:buNone/>
            </a:pPr>
            <a:r>
              <a:rPr lang="en-US" sz="850" b="1" dirty="0">
                <a:solidFill>
                  <a:srgbClr val="FFA24C"/>
                </a:solidFill>
                <a:latin typeface="Inter" pitchFamily="34" charset="0"/>
                <a:ea typeface="Inter" pitchFamily="34" charset="-122"/>
                <a:cs typeface="Inter" pitchFamily="34" charset="-120"/>
              </a:rPr>
              <a:t>Lossy step</a:t>
            </a:r>
            <a:endParaRPr lang="en-US" sz="850" dirty="0"/>
          </a:p>
        </p:txBody>
      </p:sp>
      <p:sp>
        <p:nvSpPr>
          <p:cNvPr id="101" name="Text 99"/>
          <p:cNvSpPr/>
          <p:nvPr/>
        </p:nvSpPr>
        <p:spPr>
          <a:xfrm>
            <a:off x="768096" y="5111496"/>
            <a:ext cx="1874520" cy="384048"/>
          </a:xfrm>
          <a:prstGeom prst="rect">
            <a:avLst/>
          </a:prstGeom>
          <a:noFill/>
          <a:ln/>
        </p:spPr>
        <p:txBody>
          <a:bodyPr wrap="square" lIns="0" tIns="0" rIns="0" bIns="0" rtlCol="0" anchor="ctr">
            <a:normAutofit fontScale="92500" lnSpcReduction="10000"/>
          </a:bodyPr>
          <a:lstStyle/>
          <a:p>
            <a:pPr marL="0" indent="0">
              <a:buNone/>
            </a:pPr>
            <a:r>
              <a:rPr lang="en-US" sz="940" dirty="0">
                <a:solidFill>
                  <a:srgbClr val="A8B6C5"/>
                </a:solidFill>
                <a:latin typeface="Inter" pitchFamily="34" charset="0"/>
                <a:ea typeface="Inter" pitchFamily="34" charset="-122"/>
                <a:cs typeface="Inter" pitchFamily="34" charset="-120"/>
              </a:rPr>
              <a:t>Quantisation is the intentional quality–compression trade-off. All later stages preserve the quantised coefficients.</a:t>
            </a:r>
            <a:endParaRPr lang="en-US" sz="940" dirty="0"/>
          </a:p>
        </p:txBody>
      </p:sp>
      <p:sp>
        <p:nvSpPr>
          <p:cNvPr id="102" name="Shape 100"/>
          <p:cNvSpPr/>
          <p:nvPr/>
        </p:nvSpPr>
        <p:spPr>
          <a:xfrm>
            <a:off x="438912" y="6519672"/>
            <a:ext cx="11064240" cy="0"/>
          </a:xfrm>
          <a:prstGeom prst="line">
            <a:avLst/>
          </a:prstGeom>
          <a:noFill/>
          <a:ln w="10160">
            <a:solidFill>
              <a:srgbClr val="22384E">
                <a:alpha val="70000"/>
              </a:srgbClr>
            </a:solidFill>
            <a:prstDash val="solid"/>
          </a:ln>
        </p:spPr>
        <p:txBody>
          <a:bodyPr/>
          <a:lstStyle/>
          <a:p>
            <a:endParaRPr lang="en-US"/>
          </a:p>
        </p:txBody>
      </p:sp>
      <p:sp>
        <p:nvSpPr>
          <p:cNvPr id="104" name="Slide Number Placeholder 0"/>
          <p:cNvSpPr>
            <a:spLocks noGrp="1"/>
          </p:cNvSpPr>
          <p:nvPr>
            <p:ph type="sldNum" sz="quarter" idx="4294967295"/>
          </p:nvPr>
        </p:nvSpPr>
        <p:spPr>
          <a:xfrm>
            <a:off x="11430000" y="6473952"/>
            <a:ext cx="438912"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7890A4"/>
                </a:solidFill>
                <a:latin typeface="Inter"/>
                <a:ea typeface="Inter"/>
                <a:cs typeface="Inter"/>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9802368" y="0"/>
            <a:ext cx="2386584" cy="2971800"/>
          </a:xfrm>
          <a:prstGeom prst="ellipse">
            <a:avLst/>
          </a:prstGeom>
          <a:solidFill>
            <a:srgbClr val="38D9E6">
              <a:alpha val="8000"/>
            </a:srgbClr>
          </a:solidFill>
          <a:ln w="12700">
            <a:solidFill>
              <a:srgbClr val="38D9E6">
                <a:alpha val="0"/>
              </a:srgbClr>
            </a:solidFill>
            <a:prstDash val="solid"/>
          </a:ln>
        </p:spPr>
        <p:txBody>
          <a:bodyPr/>
          <a:lstStyle/>
          <a:p>
            <a:endParaRPr lang="en-US"/>
          </a:p>
        </p:txBody>
      </p:sp>
      <p:sp>
        <p:nvSpPr>
          <p:cNvPr id="3" name="Shape 1"/>
          <p:cNvSpPr/>
          <p:nvPr/>
        </p:nvSpPr>
        <p:spPr>
          <a:xfrm>
            <a:off x="0" y="5230368"/>
            <a:ext cx="2395728" cy="1627632"/>
          </a:xfrm>
          <a:prstGeom prst="ellipse">
            <a:avLst/>
          </a:prstGeom>
          <a:solidFill>
            <a:srgbClr val="668EFF">
              <a:alpha val="6000"/>
            </a:srgbClr>
          </a:solidFill>
          <a:ln w="12700">
            <a:solidFill>
              <a:srgbClr val="668EFF">
                <a:alpha val="0"/>
              </a:srgbClr>
            </a:solidFill>
            <a:prstDash val="solid"/>
          </a:ln>
        </p:spPr>
        <p:txBody>
          <a:bodyPr/>
          <a:lstStyle/>
          <a:p>
            <a:endParaRPr lang="en-US"/>
          </a:p>
        </p:txBody>
      </p:sp>
      <p:sp>
        <p:nvSpPr>
          <p:cNvPr id="4" name="Shape 2"/>
          <p:cNvSpPr/>
          <p:nvPr/>
        </p:nvSpPr>
        <p:spPr>
          <a:xfrm>
            <a:off x="457200" y="0"/>
            <a:ext cx="0" cy="6858000"/>
          </a:xfrm>
          <a:prstGeom prst="line">
            <a:avLst/>
          </a:prstGeom>
          <a:noFill/>
          <a:ln w="5080">
            <a:solidFill>
              <a:srgbClr val="22384E">
                <a:alpha val="6000"/>
              </a:srgbClr>
            </a:solidFill>
            <a:prstDash val="solid"/>
          </a:ln>
        </p:spPr>
        <p:txBody>
          <a:bodyPr/>
          <a:lstStyle/>
          <a:p>
            <a:endParaRPr lang="en-US"/>
          </a:p>
        </p:txBody>
      </p:sp>
      <p:sp>
        <p:nvSpPr>
          <p:cNvPr id="5" name="Shape 3"/>
          <p:cNvSpPr/>
          <p:nvPr/>
        </p:nvSpPr>
        <p:spPr>
          <a:xfrm>
            <a:off x="960120" y="0"/>
            <a:ext cx="0" cy="6858000"/>
          </a:xfrm>
          <a:prstGeom prst="line">
            <a:avLst/>
          </a:prstGeom>
          <a:noFill/>
          <a:ln w="5080">
            <a:solidFill>
              <a:srgbClr val="22384E">
                <a:alpha val="6000"/>
              </a:srgbClr>
            </a:solidFill>
            <a:prstDash val="solid"/>
          </a:ln>
        </p:spPr>
        <p:txBody>
          <a:bodyPr/>
          <a:lstStyle/>
          <a:p>
            <a:endParaRPr lang="en-US"/>
          </a:p>
        </p:txBody>
      </p:sp>
      <p:sp>
        <p:nvSpPr>
          <p:cNvPr id="6" name="Shape 4"/>
          <p:cNvSpPr/>
          <p:nvPr/>
        </p:nvSpPr>
        <p:spPr>
          <a:xfrm>
            <a:off x="1463040" y="0"/>
            <a:ext cx="0" cy="6858000"/>
          </a:xfrm>
          <a:prstGeom prst="line">
            <a:avLst/>
          </a:prstGeom>
          <a:noFill/>
          <a:ln w="5080">
            <a:solidFill>
              <a:srgbClr val="22384E">
                <a:alpha val="6000"/>
              </a:srgbClr>
            </a:solidFill>
            <a:prstDash val="solid"/>
          </a:ln>
        </p:spPr>
        <p:txBody>
          <a:bodyPr/>
          <a:lstStyle/>
          <a:p>
            <a:endParaRPr lang="en-US"/>
          </a:p>
        </p:txBody>
      </p:sp>
      <p:sp>
        <p:nvSpPr>
          <p:cNvPr id="7" name="Shape 5"/>
          <p:cNvSpPr/>
          <p:nvPr/>
        </p:nvSpPr>
        <p:spPr>
          <a:xfrm>
            <a:off x="1965960" y="0"/>
            <a:ext cx="0" cy="6858000"/>
          </a:xfrm>
          <a:prstGeom prst="line">
            <a:avLst/>
          </a:prstGeom>
          <a:noFill/>
          <a:ln w="5080">
            <a:solidFill>
              <a:srgbClr val="22384E">
                <a:alpha val="6000"/>
              </a:srgbClr>
            </a:solidFill>
            <a:prstDash val="solid"/>
          </a:ln>
        </p:spPr>
        <p:txBody>
          <a:bodyPr/>
          <a:lstStyle/>
          <a:p>
            <a:endParaRPr lang="en-US"/>
          </a:p>
        </p:txBody>
      </p:sp>
      <p:sp>
        <p:nvSpPr>
          <p:cNvPr id="8" name="Shape 6"/>
          <p:cNvSpPr/>
          <p:nvPr/>
        </p:nvSpPr>
        <p:spPr>
          <a:xfrm>
            <a:off x="2468880" y="0"/>
            <a:ext cx="0" cy="6858000"/>
          </a:xfrm>
          <a:prstGeom prst="line">
            <a:avLst/>
          </a:prstGeom>
          <a:noFill/>
          <a:ln w="5080">
            <a:solidFill>
              <a:srgbClr val="22384E">
                <a:alpha val="6000"/>
              </a:srgbClr>
            </a:solidFill>
            <a:prstDash val="solid"/>
          </a:ln>
        </p:spPr>
        <p:txBody>
          <a:bodyPr/>
          <a:lstStyle/>
          <a:p>
            <a:endParaRPr lang="en-US"/>
          </a:p>
        </p:txBody>
      </p:sp>
      <p:sp>
        <p:nvSpPr>
          <p:cNvPr id="9" name="Shape 7"/>
          <p:cNvSpPr/>
          <p:nvPr/>
        </p:nvSpPr>
        <p:spPr>
          <a:xfrm>
            <a:off x="2971800" y="0"/>
            <a:ext cx="0" cy="6858000"/>
          </a:xfrm>
          <a:prstGeom prst="line">
            <a:avLst/>
          </a:prstGeom>
          <a:noFill/>
          <a:ln w="5080">
            <a:solidFill>
              <a:srgbClr val="22384E">
                <a:alpha val="6000"/>
              </a:srgbClr>
            </a:solidFill>
            <a:prstDash val="solid"/>
          </a:ln>
        </p:spPr>
        <p:txBody>
          <a:bodyPr/>
          <a:lstStyle/>
          <a:p>
            <a:endParaRPr lang="en-US"/>
          </a:p>
        </p:txBody>
      </p:sp>
      <p:sp>
        <p:nvSpPr>
          <p:cNvPr id="10" name="Shape 8"/>
          <p:cNvSpPr/>
          <p:nvPr/>
        </p:nvSpPr>
        <p:spPr>
          <a:xfrm>
            <a:off x="3474720" y="0"/>
            <a:ext cx="0" cy="6858000"/>
          </a:xfrm>
          <a:prstGeom prst="line">
            <a:avLst/>
          </a:prstGeom>
          <a:noFill/>
          <a:ln w="5080">
            <a:solidFill>
              <a:srgbClr val="22384E">
                <a:alpha val="6000"/>
              </a:srgbClr>
            </a:solidFill>
            <a:prstDash val="solid"/>
          </a:ln>
        </p:spPr>
        <p:txBody>
          <a:bodyPr/>
          <a:lstStyle/>
          <a:p>
            <a:endParaRPr lang="en-US"/>
          </a:p>
        </p:txBody>
      </p:sp>
      <p:sp>
        <p:nvSpPr>
          <p:cNvPr id="11" name="Shape 9"/>
          <p:cNvSpPr/>
          <p:nvPr/>
        </p:nvSpPr>
        <p:spPr>
          <a:xfrm>
            <a:off x="3977640" y="0"/>
            <a:ext cx="0" cy="6858000"/>
          </a:xfrm>
          <a:prstGeom prst="line">
            <a:avLst/>
          </a:prstGeom>
          <a:noFill/>
          <a:ln w="5080">
            <a:solidFill>
              <a:srgbClr val="22384E">
                <a:alpha val="6000"/>
              </a:srgbClr>
            </a:solidFill>
            <a:prstDash val="solid"/>
          </a:ln>
        </p:spPr>
        <p:txBody>
          <a:bodyPr/>
          <a:lstStyle/>
          <a:p>
            <a:endParaRPr lang="en-US"/>
          </a:p>
        </p:txBody>
      </p:sp>
      <p:sp>
        <p:nvSpPr>
          <p:cNvPr id="12" name="Shape 10"/>
          <p:cNvSpPr/>
          <p:nvPr/>
        </p:nvSpPr>
        <p:spPr>
          <a:xfrm>
            <a:off x="4480560" y="0"/>
            <a:ext cx="0" cy="6858000"/>
          </a:xfrm>
          <a:prstGeom prst="line">
            <a:avLst/>
          </a:prstGeom>
          <a:noFill/>
          <a:ln w="5080">
            <a:solidFill>
              <a:srgbClr val="22384E">
                <a:alpha val="6000"/>
              </a:srgbClr>
            </a:solidFill>
            <a:prstDash val="solid"/>
          </a:ln>
        </p:spPr>
        <p:txBody>
          <a:bodyPr/>
          <a:lstStyle/>
          <a:p>
            <a:endParaRPr lang="en-US"/>
          </a:p>
        </p:txBody>
      </p:sp>
      <p:sp>
        <p:nvSpPr>
          <p:cNvPr id="13" name="Shape 11"/>
          <p:cNvSpPr/>
          <p:nvPr/>
        </p:nvSpPr>
        <p:spPr>
          <a:xfrm>
            <a:off x="4983480" y="0"/>
            <a:ext cx="0" cy="6858000"/>
          </a:xfrm>
          <a:prstGeom prst="line">
            <a:avLst/>
          </a:prstGeom>
          <a:noFill/>
          <a:ln w="5080">
            <a:solidFill>
              <a:srgbClr val="22384E">
                <a:alpha val="6000"/>
              </a:srgbClr>
            </a:solidFill>
            <a:prstDash val="solid"/>
          </a:ln>
        </p:spPr>
        <p:txBody>
          <a:bodyPr/>
          <a:lstStyle/>
          <a:p>
            <a:endParaRPr lang="en-US"/>
          </a:p>
        </p:txBody>
      </p:sp>
      <p:sp>
        <p:nvSpPr>
          <p:cNvPr id="14" name="Shape 12"/>
          <p:cNvSpPr/>
          <p:nvPr/>
        </p:nvSpPr>
        <p:spPr>
          <a:xfrm>
            <a:off x="5486400" y="0"/>
            <a:ext cx="0" cy="6858000"/>
          </a:xfrm>
          <a:prstGeom prst="line">
            <a:avLst/>
          </a:prstGeom>
          <a:noFill/>
          <a:ln w="5080">
            <a:solidFill>
              <a:srgbClr val="22384E">
                <a:alpha val="6000"/>
              </a:srgbClr>
            </a:solidFill>
            <a:prstDash val="solid"/>
          </a:ln>
        </p:spPr>
        <p:txBody>
          <a:bodyPr/>
          <a:lstStyle/>
          <a:p>
            <a:endParaRPr lang="en-US"/>
          </a:p>
        </p:txBody>
      </p:sp>
      <p:sp>
        <p:nvSpPr>
          <p:cNvPr id="15" name="Shape 13"/>
          <p:cNvSpPr/>
          <p:nvPr/>
        </p:nvSpPr>
        <p:spPr>
          <a:xfrm>
            <a:off x="5989320" y="0"/>
            <a:ext cx="0" cy="6858000"/>
          </a:xfrm>
          <a:prstGeom prst="line">
            <a:avLst/>
          </a:prstGeom>
          <a:noFill/>
          <a:ln w="5080">
            <a:solidFill>
              <a:srgbClr val="22384E">
                <a:alpha val="6000"/>
              </a:srgbClr>
            </a:solidFill>
            <a:prstDash val="solid"/>
          </a:ln>
        </p:spPr>
        <p:txBody>
          <a:bodyPr/>
          <a:lstStyle/>
          <a:p>
            <a:endParaRPr lang="en-US"/>
          </a:p>
        </p:txBody>
      </p:sp>
      <p:sp>
        <p:nvSpPr>
          <p:cNvPr id="16" name="Shape 14"/>
          <p:cNvSpPr/>
          <p:nvPr/>
        </p:nvSpPr>
        <p:spPr>
          <a:xfrm>
            <a:off x="6492240" y="0"/>
            <a:ext cx="0" cy="6858000"/>
          </a:xfrm>
          <a:prstGeom prst="line">
            <a:avLst/>
          </a:prstGeom>
          <a:noFill/>
          <a:ln w="5080">
            <a:solidFill>
              <a:srgbClr val="22384E">
                <a:alpha val="6000"/>
              </a:srgbClr>
            </a:solidFill>
            <a:prstDash val="solid"/>
          </a:ln>
        </p:spPr>
        <p:txBody>
          <a:bodyPr/>
          <a:lstStyle/>
          <a:p>
            <a:endParaRPr lang="en-US"/>
          </a:p>
        </p:txBody>
      </p:sp>
      <p:sp>
        <p:nvSpPr>
          <p:cNvPr id="17" name="Shape 15"/>
          <p:cNvSpPr/>
          <p:nvPr/>
        </p:nvSpPr>
        <p:spPr>
          <a:xfrm>
            <a:off x="6995160" y="0"/>
            <a:ext cx="0" cy="6858000"/>
          </a:xfrm>
          <a:prstGeom prst="line">
            <a:avLst/>
          </a:prstGeom>
          <a:noFill/>
          <a:ln w="5080">
            <a:solidFill>
              <a:srgbClr val="22384E">
                <a:alpha val="6000"/>
              </a:srgbClr>
            </a:solidFill>
            <a:prstDash val="solid"/>
          </a:ln>
        </p:spPr>
        <p:txBody>
          <a:bodyPr/>
          <a:lstStyle/>
          <a:p>
            <a:endParaRPr lang="en-US"/>
          </a:p>
        </p:txBody>
      </p:sp>
      <p:sp>
        <p:nvSpPr>
          <p:cNvPr id="18" name="Shape 16"/>
          <p:cNvSpPr/>
          <p:nvPr/>
        </p:nvSpPr>
        <p:spPr>
          <a:xfrm>
            <a:off x="7498080" y="0"/>
            <a:ext cx="0" cy="6858000"/>
          </a:xfrm>
          <a:prstGeom prst="line">
            <a:avLst/>
          </a:prstGeom>
          <a:noFill/>
          <a:ln w="5080">
            <a:solidFill>
              <a:srgbClr val="22384E">
                <a:alpha val="6000"/>
              </a:srgbClr>
            </a:solidFill>
            <a:prstDash val="solid"/>
          </a:ln>
        </p:spPr>
        <p:txBody>
          <a:bodyPr/>
          <a:lstStyle/>
          <a:p>
            <a:endParaRPr lang="en-US"/>
          </a:p>
        </p:txBody>
      </p:sp>
      <p:sp>
        <p:nvSpPr>
          <p:cNvPr id="19" name="Shape 17"/>
          <p:cNvSpPr/>
          <p:nvPr/>
        </p:nvSpPr>
        <p:spPr>
          <a:xfrm>
            <a:off x="8001000" y="0"/>
            <a:ext cx="0" cy="6858000"/>
          </a:xfrm>
          <a:prstGeom prst="line">
            <a:avLst/>
          </a:prstGeom>
          <a:noFill/>
          <a:ln w="5080">
            <a:solidFill>
              <a:srgbClr val="22384E">
                <a:alpha val="6000"/>
              </a:srgbClr>
            </a:solidFill>
            <a:prstDash val="solid"/>
          </a:ln>
        </p:spPr>
        <p:txBody>
          <a:bodyPr/>
          <a:lstStyle/>
          <a:p>
            <a:endParaRPr lang="en-US"/>
          </a:p>
        </p:txBody>
      </p:sp>
      <p:sp>
        <p:nvSpPr>
          <p:cNvPr id="20" name="Shape 18"/>
          <p:cNvSpPr/>
          <p:nvPr/>
        </p:nvSpPr>
        <p:spPr>
          <a:xfrm>
            <a:off x="8503920" y="0"/>
            <a:ext cx="0" cy="6858000"/>
          </a:xfrm>
          <a:prstGeom prst="line">
            <a:avLst/>
          </a:prstGeom>
          <a:noFill/>
          <a:ln w="5080">
            <a:solidFill>
              <a:srgbClr val="22384E">
                <a:alpha val="6000"/>
              </a:srgbClr>
            </a:solidFill>
            <a:prstDash val="solid"/>
          </a:ln>
        </p:spPr>
        <p:txBody>
          <a:bodyPr/>
          <a:lstStyle/>
          <a:p>
            <a:endParaRPr lang="en-US"/>
          </a:p>
        </p:txBody>
      </p:sp>
      <p:sp>
        <p:nvSpPr>
          <p:cNvPr id="21" name="Shape 19"/>
          <p:cNvSpPr/>
          <p:nvPr/>
        </p:nvSpPr>
        <p:spPr>
          <a:xfrm>
            <a:off x="9006840" y="0"/>
            <a:ext cx="0" cy="6858000"/>
          </a:xfrm>
          <a:prstGeom prst="line">
            <a:avLst/>
          </a:prstGeom>
          <a:noFill/>
          <a:ln w="5080">
            <a:solidFill>
              <a:srgbClr val="22384E">
                <a:alpha val="6000"/>
              </a:srgbClr>
            </a:solidFill>
            <a:prstDash val="solid"/>
          </a:ln>
        </p:spPr>
        <p:txBody>
          <a:bodyPr/>
          <a:lstStyle/>
          <a:p>
            <a:endParaRPr lang="en-US"/>
          </a:p>
        </p:txBody>
      </p:sp>
      <p:sp>
        <p:nvSpPr>
          <p:cNvPr id="22" name="Shape 20"/>
          <p:cNvSpPr/>
          <p:nvPr/>
        </p:nvSpPr>
        <p:spPr>
          <a:xfrm>
            <a:off x="9509760" y="0"/>
            <a:ext cx="0" cy="6858000"/>
          </a:xfrm>
          <a:prstGeom prst="line">
            <a:avLst/>
          </a:prstGeom>
          <a:noFill/>
          <a:ln w="5080">
            <a:solidFill>
              <a:srgbClr val="22384E">
                <a:alpha val="6000"/>
              </a:srgbClr>
            </a:solidFill>
            <a:prstDash val="solid"/>
          </a:ln>
        </p:spPr>
        <p:txBody>
          <a:bodyPr/>
          <a:lstStyle/>
          <a:p>
            <a:endParaRPr lang="en-US"/>
          </a:p>
        </p:txBody>
      </p:sp>
      <p:sp>
        <p:nvSpPr>
          <p:cNvPr id="23" name="Shape 21"/>
          <p:cNvSpPr/>
          <p:nvPr/>
        </p:nvSpPr>
        <p:spPr>
          <a:xfrm>
            <a:off x="10012680" y="0"/>
            <a:ext cx="0" cy="6858000"/>
          </a:xfrm>
          <a:prstGeom prst="line">
            <a:avLst/>
          </a:prstGeom>
          <a:noFill/>
          <a:ln w="5080">
            <a:solidFill>
              <a:srgbClr val="22384E">
                <a:alpha val="6000"/>
              </a:srgbClr>
            </a:solidFill>
            <a:prstDash val="solid"/>
          </a:ln>
        </p:spPr>
        <p:txBody>
          <a:bodyPr/>
          <a:lstStyle/>
          <a:p>
            <a:endParaRPr lang="en-US"/>
          </a:p>
        </p:txBody>
      </p:sp>
      <p:sp>
        <p:nvSpPr>
          <p:cNvPr id="24" name="Shape 22"/>
          <p:cNvSpPr/>
          <p:nvPr/>
        </p:nvSpPr>
        <p:spPr>
          <a:xfrm>
            <a:off x="10515600" y="0"/>
            <a:ext cx="0" cy="6858000"/>
          </a:xfrm>
          <a:prstGeom prst="line">
            <a:avLst/>
          </a:prstGeom>
          <a:noFill/>
          <a:ln w="5080">
            <a:solidFill>
              <a:srgbClr val="22384E">
                <a:alpha val="6000"/>
              </a:srgbClr>
            </a:solidFill>
            <a:prstDash val="solid"/>
          </a:ln>
        </p:spPr>
        <p:txBody>
          <a:bodyPr/>
          <a:lstStyle/>
          <a:p>
            <a:endParaRPr lang="en-US"/>
          </a:p>
        </p:txBody>
      </p:sp>
      <p:sp>
        <p:nvSpPr>
          <p:cNvPr id="25" name="Shape 23"/>
          <p:cNvSpPr/>
          <p:nvPr/>
        </p:nvSpPr>
        <p:spPr>
          <a:xfrm>
            <a:off x="11018520" y="0"/>
            <a:ext cx="0" cy="6858000"/>
          </a:xfrm>
          <a:prstGeom prst="line">
            <a:avLst/>
          </a:prstGeom>
          <a:noFill/>
          <a:ln w="5080">
            <a:solidFill>
              <a:srgbClr val="22384E">
                <a:alpha val="6000"/>
              </a:srgbClr>
            </a:solidFill>
            <a:prstDash val="solid"/>
          </a:ln>
        </p:spPr>
        <p:txBody>
          <a:bodyPr/>
          <a:lstStyle/>
          <a:p>
            <a:endParaRPr lang="en-US"/>
          </a:p>
        </p:txBody>
      </p:sp>
      <p:sp>
        <p:nvSpPr>
          <p:cNvPr id="26" name="Shape 24"/>
          <p:cNvSpPr/>
          <p:nvPr/>
        </p:nvSpPr>
        <p:spPr>
          <a:xfrm>
            <a:off x="11521440" y="0"/>
            <a:ext cx="0" cy="6858000"/>
          </a:xfrm>
          <a:prstGeom prst="line">
            <a:avLst/>
          </a:prstGeom>
          <a:noFill/>
          <a:ln w="5080">
            <a:solidFill>
              <a:srgbClr val="22384E">
                <a:alpha val="6000"/>
              </a:srgbClr>
            </a:solidFill>
            <a:prstDash val="solid"/>
          </a:ln>
        </p:spPr>
        <p:txBody>
          <a:bodyPr/>
          <a:lstStyle/>
          <a:p>
            <a:endParaRPr lang="en-US"/>
          </a:p>
        </p:txBody>
      </p:sp>
      <p:sp>
        <p:nvSpPr>
          <p:cNvPr id="27" name="Shape 25"/>
          <p:cNvSpPr/>
          <p:nvPr/>
        </p:nvSpPr>
        <p:spPr>
          <a:xfrm>
            <a:off x="0" y="320040"/>
            <a:ext cx="12191695" cy="0"/>
          </a:xfrm>
          <a:prstGeom prst="line">
            <a:avLst/>
          </a:prstGeom>
          <a:noFill/>
          <a:ln w="5080">
            <a:solidFill>
              <a:srgbClr val="22384E">
                <a:alpha val="5000"/>
              </a:srgbClr>
            </a:solidFill>
            <a:prstDash val="solid"/>
          </a:ln>
        </p:spPr>
        <p:txBody>
          <a:bodyPr/>
          <a:lstStyle/>
          <a:p>
            <a:endParaRPr lang="en-US"/>
          </a:p>
        </p:txBody>
      </p:sp>
      <p:sp>
        <p:nvSpPr>
          <p:cNvPr id="28" name="Shape 26"/>
          <p:cNvSpPr/>
          <p:nvPr/>
        </p:nvSpPr>
        <p:spPr>
          <a:xfrm>
            <a:off x="0" y="822960"/>
            <a:ext cx="12191695" cy="0"/>
          </a:xfrm>
          <a:prstGeom prst="line">
            <a:avLst/>
          </a:prstGeom>
          <a:noFill/>
          <a:ln w="5080">
            <a:solidFill>
              <a:srgbClr val="22384E">
                <a:alpha val="5000"/>
              </a:srgbClr>
            </a:solidFill>
            <a:prstDash val="solid"/>
          </a:ln>
        </p:spPr>
        <p:txBody>
          <a:bodyPr/>
          <a:lstStyle/>
          <a:p>
            <a:endParaRPr lang="en-US"/>
          </a:p>
        </p:txBody>
      </p:sp>
      <p:sp>
        <p:nvSpPr>
          <p:cNvPr id="29" name="Shape 27"/>
          <p:cNvSpPr/>
          <p:nvPr/>
        </p:nvSpPr>
        <p:spPr>
          <a:xfrm>
            <a:off x="0" y="1325880"/>
            <a:ext cx="12191695" cy="0"/>
          </a:xfrm>
          <a:prstGeom prst="line">
            <a:avLst/>
          </a:prstGeom>
          <a:noFill/>
          <a:ln w="5080">
            <a:solidFill>
              <a:srgbClr val="22384E">
                <a:alpha val="5000"/>
              </a:srgbClr>
            </a:solidFill>
            <a:prstDash val="solid"/>
          </a:ln>
        </p:spPr>
        <p:txBody>
          <a:bodyPr/>
          <a:lstStyle/>
          <a:p>
            <a:endParaRPr lang="en-US"/>
          </a:p>
        </p:txBody>
      </p:sp>
      <p:sp>
        <p:nvSpPr>
          <p:cNvPr id="30" name="Shape 28"/>
          <p:cNvSpPr/>
          <p:nvPr/>
        </p:nvSpPr>
        <p:spPr>
          <a:xfrm>
            <a:off x="0" y="1828800"/>
            <a:ext cx="12191695" cy="0"/>
          </a:xfrm>
          <a:prstGeom prst="line">
            <a:avLst/>
          </a:prstGeom>
          <a:noFill/>
          <a:ln w="5080">
            <a:solidFill>
              <a:srgbClr val="22384E">
                <a:alpha val="5000"/>
              </a:srgbClr>
            </a:solidFill>
            <a:prstDash val="solid"/>
          </a:ln>
        </p:spPr>
        <p:txBody>
          <a:bodyPr/>
          <a:lstStyle/>
          <a:p>
            <a:endParaRPr lang="en-US"/>
          </a:p>
        </p:txBody>
      </p:sp>
      <p:sp>
        <p:nvSpPr>
          <p:cNvPr id="31" name="Shape 29"/>
          <p:cNvSpPr/>
          <p:nvPr/>
        </p:nvSpPr>
        <p:spPr>
          <a:xfrm>
            <a:off x="0" y="2331720"/>
            <a:ext cx="12191695" cy="0"/>
          </a:xfrm>
          <a:prstGeom prst="line">
            <a:avLst/>
          </a:prstGeom>
          <a:noFill/>
          <a:ln w="5080">
            <a:solidFill>
              <a:srgbClr val="22384E">
                <a:alpha val="5000"/>
              </a:srgbClr>
            </a:solidFill>
            <a:prstDash val="solid"/>
          </a:ln>
        </p:spPr>
        <p:txBody>
          <a:bodyPr/>
          <a:lstStyle/>
          <a:p>
            <a:endParaRPr lang="en-US"/>
          </a:p>
        </p:txBody>
      </p:sp>
      <p:sp>
        <p:nvSpPr>
          <p:cNvPr id="32" name="Shape 30"/>
          <p:cNvSpPr/>
          <p:nvPr/>
        </p:nvSpPr>
        <p:spPr>
          <a:xfrm>
            <a:off x="0" y="2834640"/>
            <a:ext cx="12191695" cy="0"/>
          </a:xfrm>
          <a:prstGeom prst="line">
            <a:avLst/>
          </a:prstGeom>
          <a:noFill/>
          <a:ln w="5080">
            <a:solidFill>
              <a:srgbClr val="22384E">
                <a:alpha val="5000"/>
              </a:srgbClr>
            </a:solidFill>
            <a:prstDash val="solid"/>
          </a:ln>
        </p:spPr>
        <p:txBody>
          <a:bodyPr/>
          <a:lstStyle/>
          <a:p>
            <a:endParaRPr lang="en-US"/>
          </a:p>
        </p:txBody>
      </p:sp>
      <p:sp>
        <p:nvSpPr>
          <p:cNvPr id="33" name="Shape 31"/>
          <p:cNvSpPr/>
          <p:nvPr/>
        </p:nvSpPr>
        <p:spPr>
          <a:xfrm>
            <a:off x="0" y="3337560"/>
            <a:ext cx="12191695" cy="0"/>
          </a:xfrm>
          <a:prstGeom prst="line">
            <a:avLst/>
          </a:prstGeom>
          <a:noFill/>
          <a:ln w="5080">
            <a:solidFill>
              <a:srgbClr val="22384E">
                <a:alpha val="5000"/>
              </a:srgbClr>
            </a:solidFill>
            <a:prstDash val="solid"/>
          </a:ln>
        </p:spPr>
        <p:txBody>
          <a:bodyPr/>
          <a:lstStyle/>
          <a:p>
            <a:endParaRPr lang="en-US"/>
          </a:p>
        </p:txBody>
      </p:sp>
      <p:sp>
        <p:nvSpPr>
          <p:cNvPr id="34" name="Shape 32"/>
          <p:cNvSpPr/>
          <p:nvPr/>
        </p:nvSpPr>
        <p:spPr>
          <a:xfrm>
            <a:off x="0" y="3840480"/>
            <a:ext cx="12191695" cy="0"/>
          </a:xfrm>
          <a:prstGeom prst="line">
            <a:avLst/>
          </a:prstGeom>
          <a:noFill/>
          <a:ln w="5080">
            <a:solidFill>
              <a:srgbClr val="22384E">
                <a:alpha val="5000"/>
              </a:srgbClr>
            </a:solidFill>
            <a:prstDash val="solid"/>
          </a:ln>
        </p:spPr>
        <p:txBody>
          <a:bodyPr/>
          <a:lstStyle/>
          <a:p>
            <a:endParaRPr lang="en-US"/>
          </a:p>
        </p:txBody>
      </p:sp>
      <p:sp>
        <p:nvSpPr>
          <p:cNvPr id="35" name="Shape 33"/>
          <p:cNvSpPr/>
          <p:nvPr/>
        </p:nvSpPr>
        <p:spPr>
          <a:xfrm>
            <a:off x="0" y="4343400"/>
            <a:ext cx="12191695" cy="0"/>
          </a:xfrm>
          <a:prstGeom prst="line">
            <a:avLst/>
          </a:prstGeom>
          <a:noFill/>
          <a:ln w="5080">
            <a:solidFill>
              <a:srgbClr val="22384E">
                <a:alpha val="5000"/>
              </a:srgbClr>
            </a:solidFill>
            <a:prstDash val="solid"/>
          </a:ln>
        </p:spPr>
        <p:txBody>
          <a:bodyPr/>
          <a:lstStyle/>
          <a:p>
            <a:endParaRPr lang="en-US"/>
          </a:p>
        </p:txBody>
      </p:sp>
      <p:sp>
        <p:nvSpPr>
          <p:cNvPr id="36" name="Shape 34"/>
          <p:cNvSpPr/>
          <p:nvPr/>
        </p:nvSpPr>
        <p:spPr>
          <a:xfrm>
            <a:off x="0" y="4846320"/>
            <a:ext cx="12191695" cy="0"/>
          </a:xfrm>
          <a:prstGeom prst="line">
            <a:avLst/>
          </a:prstGeom>
          <a:noFill/>
          <a:ln w="5080">
            <a:solidFill>
              <a:srgbClr val="22384E">
                <a:alpha val="5000"/>
              </a:srgbClr>
            </a:solidFill>
            <a:prstDash val="solid"/>
          </a:ln>
        </p:spPr>
        <p:txBody>
          <a:bodyPr/>
          <a:lstStyle/>
          <a:p>
            <a:endParaRPr lang="en-US"/>
          </a:p>
        </p:txBody>
      </p:sp>
      <p:sp>
        <p:nvSpPr>
          <p:cNvPr id="37" name="Shape 35"/>
          <p:cNvSpPr/>
          <p:nvPr/>
        </p:nvSpPr>
        <p:spPr>
          <a:xfrm>
            <a:off x="0" y="5349240"/>
            <a:ext cx="12191695" cy="0"/>
          </a:xfrm>
          <a:prstGeom prst="line">
            <a:avLst/>
          </a:prstGeom>
          <a:noFill/>
          <a:ln w="5080">
            <a:solidFill>
              <a:srgbClr val="22384E">
                <a:alpha val="5000"/>
              </a:srgbClr>
            </a:solidFill>
            <a:prstDash val="solid"/>
          </a:ln>
        </p:spPr>
        <p:txBody>
          <a:bodyPr/>
          <a:lstStyle/>
          <a:p>
            <a:endParaRPr lang="en-US"/>
          </a:p>
        </p:txBody>
      </p:sp>
      <p:sp>
        <p:nvSpPr>
          <p:cNvPr id="38" name="Shape 36"/>
          <p:cNvSpPr/>
          <p:nvPr/>
        </p:nvSpPr>
        <p:spPr>
          <a:xfrm>
            <a:off x="0" y="5852160"/>
            <a:ext cx="12191695" cy="0"/>
          </a:xfrm>
          <a:prstGeom prst="line">
            <a:avLst/>
          </a:prstGeom>
          <a:noFill/>
          <a:ln w="5080">
            <a:solidFill>
              <a:srgbClr val="22384E">
                <a:alpha val="5000"/>
              </a:srgbClr>
            </a:solidFill>
            <a:prstDash val="solid"/>
          </a:ln>
        </p:spPr>
        <p:txBody>
          <a:bodyPr/>
          <a:lstStyle/>
          <a:p>
            <a:endParaRPr lang="en-US"/>
          </a:p>
        </p:txBody>
      </p:sp>
      <p:sp>
        <p:nvSpPr>
          <p:cNvPr id="39" name="Shape 37"/>
          <p:cNvSpPr/>
          <p:nvPr/>
        </p:nvSpPr>
        <p:spPr>
          <a:xfrm>
            <a:off x="0" y="6355080"/>
            <a:ext cx="12191695" cy="0"/>
          </a:xfrm>
          <a:prstGeom prst="line">
            <a:avLst/>
          </a:prstGeom>
          <a:noFill/>
          <a:ln w="5080">
            <a:solidFill>
              <a:srgbClr val="22384E">
                <a:alpha val="5000"/>
              </a:srgbClr>
            </a:solidFill>
            <a:prstDash val="solid"/>
          </a:ln>
        </p:spPr>
        <p:txBody>
          <a:bodyPr/>
          <a:lstStyle/>
          <a:p>
            <a:endParaRPr lang="en-US"/>
          </a:p>
        </p:txBody>
      </p:sp>
      <p:sp>
        <p:nvSpPr>
          <p:cNvPr id="40" name="Shape 38"/>
          <p:cNvSpPr/>
          <p:nvPr/>
        </p:nvSpPr>
        <p:spPr>
          <a:xfrm>
            <a:off x="0" y="6858000"/>
            <a:ext cx="12191695" cy="0"/>
          </a:xfrm>
          <a:prstGeom prst="line">
            <a:avLst/>
          </a:prstGeom>
          <a:noFill/>
          <a:ln w="5080">
            <a:solidFill>
              <a:srgbClr val="22384E">
                <a:alpha val="5000"/>
              </a:srgbClr>
            </a:solidFill>
            <a:prstDash val="solid"/>
          </a:ln>
        </p:spPr>
        <p:txBody>
          <a:bodyPr/>
          <a:lstStyle/>
          <a:p>
            <a:endParaRPr lang="en-US"/>
          </a:p>
        </p:txBody>
      </p:sp>
      <p:sp>
        <p:nvSpPr>
          <p:cNvPr id="41" name="Text 39"/>
          <p:cNvSpPr/>
          <p:nvPr/>
        </p:nvSpPr>
        <p:spPr>
          <a:xfrm>
            <a:off x="438912" y="256032"/>
            <a:ext cx="4114800" cy="201168"/>
          </a:xfrm>
          <a:prstGeom prst="rect">
            <a:avLst/>
          </a:prstGeom>
          <a:noFill/>
          <a:ln/>
        </p:spPr>
        <p:txBody>
          <a:bodyPr wrap="square" lIns="0" tIns="0" rIns="0" bIns="0" rtlCol="0" anchor="ctr"/>
          <a:lstStyle/>
          <a:p>
            <a:pPr marL="0" indent="0">
              <a:buNone/>
            </a:pPr>
            <a:r>
              <a:rPr lang="en-US" sz="950" b="1" kern="0" spc="170" dirty="0">
                <a:solidFill>
                  <a:srgbClr val="38D9E6"/>
                </a:solidFill>
                <a:latin typeface="Inter" pitchFamily="34" charset="0"/>
                <a:ea typeface="Inter" pitchFamily="34" charset="-122"/>
                <a:cs typeface="Inter" pitchFamily="34" charset="-120"/>
              </a:rPr>
              <a:t>DESIGN — ARCHITECTURE</a:t>
            </a:r>
            <a:endParaRPr lang="en-US" sz="950" dirty="0"/>
          </a:p>
        </p:txBody>
      </p:sp>
      <p:sp>
        <p:nvSpPr>
          <p:cNvPr id="42" name="Shape 40"/>
          <p:cNvSpPr/>
          <p:nvPr/>
        </p:nvSpPr>
        <p:spPr>
          <a:xfrm>
            <a:off x="438912" y="539496"/>
            <a:ext cx="438912" cy="0"/>
          </a:xfrm>
          <a:prstGeom prst="line">
            <a:avLst/>
          </a:prstGeom>
          <a:noFill/>
          <a:ln w="44450">
            <a:solidFill>
              <a:srgbClr val="38D9E6"/>
            </a:solidFill>
            <a:prstDash val="solid"/>
            <a:headEnd type="none"/>
            <a:tailEnd type="none"/>
          </a:ln>
        </p:spPr>
        <p:txBody>
          <a:bodyPr/>
          <a:lstStyle/>
          <a:p>
            <a:endParaRPr lang="en-US"/>
          </a:p>
        </p:txBody>
      </p:sp>
      <p:sp>
        <p:nvSpPr>
          <p:cNvPr id="43" name="Text 41"/>
          <p:cNvSpPr/>
          <p:nvPr/>
        </p:nvSpPr>
        <p:spPr>
          <a:xfrm>
            <a:off x="438912" y="658368"/>
            <a:ext cx="11064240" cy="566928"/>
          </a:xfrm>
          <a:prstGeom prst="rect">
            <a:avLst/>
          </a:prstGeom>
          <a:noFill/>
          <a:ln/>
        </p:spPr>
        <p:txBody>
          <a:bodyPr wrap="square" lIns="0" tIns="0" rIns="0" bIns="0" rtlCol="0" anchor="ctr">
            <a:normAutofit/>
          </a:bodyPr>
          <a:lstStyle/>
          <a:p>
            <a:pPr marL="0" indent="0">
              <a:buNone/>
            </a:pPr>
            <a:r>
              <a:rPr lang="en-US" sz="2700" b="1" dirty="0">
                <a:solidFill>
                  <a:srgbClr val="F4F8FB"/>
                </a:solidFill>
                <a:latin typeface="Inter Display" pitchFamily="34" charset="0"/>
                <a:ea typeface="Inter Display" pitchFamily="34" charset="-122"/>
                <a:cs typeface="Inter Display" pitchFamily="34" charset="-120"/>
              </a:rPr>
              <a:t>Hardware/software partitioning on the Kria KV260</a:t>
            </a:r>
            <a:endParaRPr lang="en-US" sz="2700" dirty="0"/>
          </a:p>
        </p:txBody>
      </p:sp>
      <p:sp>
        <p:nvSpPr>
          <p:cNvPr id="44" name="Text 42"/>
          <p:cNvSpPr/>
          <p:nvPr/>
        </p:nvSpPr>
        <p:spPr>
          <a:xfrm>
            <a:off x="457200" y="1225296"/>
            <a:ext cx="10881360" cy="292608"/>
          </a:xfrm>
          <a:prstGeom prst="rect">
            <a:avLst/>
          </a:prstGeom>
          <a:noFill/>
          <a:ln/>
        </p:spPr>
        <p:txBody>
          <a:bodyPr wrap="square" lIns="0" tIns="0" rIns="0" bIns="0" rtlCol="0" anchor="ctr">
            <a:normAutofit/>
          </a:bodyPr>
          <a:lstStyle/>
          <a:p>
            <a:pPr marL="0" indent="0">
              <a:buNone/>
            </a:pPr>
            <a:r>
              <a:rPr lang="en-US" sz="1250" dirty="0">
                <a:solidFill>
                  <a:srgbClr val="A8B6C5"/>
                </a:solidFill>
                <a:latin typeface="Inter" pitchFamily="34" charset="0"/>
                <a:ea typeface="Inter" pitchFamily="34" charset="-122"/>
                <a:cs typeface="Inter" pitchFamily="34" charset="-120"/>
              </a:rPr>
              <a:t>Linux and XRT manage files and buffers; the programmable logic executes the block-compression kernel.</a:t>
            </a:r>
            <a:endParaRPr lang="en-US" sz="1250" dirty="0"/>
          </a:p>
        </p:txBody>
      </p:sp>
      <p:sp>
        <p:nvSpPr>
          <p:cNvPr id="45" name="Shape 43"/>
          <p:cNvSpPr/>
          <p:nvPr/>
        </p:nvSpPr>
        <p:spPr>
          <a:xfrm>
            <a:off x="475488" y="1755648"/>
            <a:ext cx="2880360" cy="4206240"/>
          </a:xfrm>
          <a:prstGeom prst="roundRect">
            <a:avLst>
              <a:gd name="adj" fmla="val 2540"/>
            </a:avLst>
          </a:prstGeom>
          <a:solidFill>
            <a:srgbClr val="0D1C2D"/>
          </a:solidFill>
          <a:ln w="12700">
            <a:solidFill>
              <a:srgbClr val="668EFF">
                <a:alpha val="65000"/>
              </a:srgbClr>
            </a:solidFill>
            <a:prstDash val="solid"/>
          </a:ln>
          <a:effectLst>
            <a:outerShdw algn="bl" rotWithShape="0">
              <a:srgbClr val="000000">
                <a:alpha val="0"/>
              </a:srgbClr>
            </a:outerShdw>
          </a:effectLst>
        </p:spPr>
        <p:txBody>
          <a:bodyPr/>
          <a:lstStyle/>
          <a:p>
            <a:endParaRPr lang="en-US"/>
          </a:p>
        </p:txBody>
      </p:sp>
      <p:sp>
        <p:nvSpPr>
          <p:cNvPr id="46" name="Text 44"/>
          <p:cNvSpPr/>
          <p:nvPr/>
        </p:nvSpPr>
        <p:spPr>
          <a:xfrm>
            <a:off x="722376" y="1993392"/>
            <a:ext cx="2395728" cy="292608"/>
          </a:xfrm>
          <a:prstGeom prst="rect">
            <a:avLst/>
          </a:prstGeom>
          <a:noFill/>
          <a:ln/>
        </p:spPr>
        <p:txBody>
          <a:bodyPr wrap="square" lIns="0" tIns="0" rIns="0" bIns="0" rtlCol="0" anchor="ctr">
            <a:normAutofit fontScale="85000" lnSpcReduction="10000"/>
          </a:bodyPr>
          <a:lstStyle/>
          <a:p>
            <a:pPr marL="0" indent="0">
              <a:buNone/>
            </a:pPr>
            <a:r>
              <a:rPr lang="en-US" sz="1650" b="1" dirty="0">
                <a:solidFill>
                  <a:srgbClr val="F4F8FB"/>
                </a:solidFill>
                <a:latin typeface="Inter Display" pitchFamily="34" charset="0"/>
                <a:ea typeface="Inter Display" pitchFamily="34" charset="-122"/>
                <a:cs typeface="Inter Display" pitchFamily="34" charset="-120"/>
              </a:rPr>
              <a:t>Processing system (ARM/Linux)</a:t>
            </a:r>
            <a:endParaRPr lang="en-US" sz="1650" dirty="0"/>
          </a:p>
        </p:txBody>
      </p:sp>
      <p:sp>
        <p:nvSpPr>
          <p:cNvPr id="47" name="Shape 45"/>
          <p:cNvSpPr/>
          <p:nvPr/>
        </p:nvSpPr>
        <p:spPr>
          <a:xfrm>
            <a:off x="731520" y="2395728"/>
            <a:ext cx="969264" cy="292608"/>
          </a:xfrm>
          <a:prstGeom prst="roundRect">
            <a:avLst>
              <a:gd name="adj" fmla="val 50000"/>
            </a:avLst>
          </a:prstGeom>
          <a:solidFill>
            <a:srgbClr val="132943"/>
          </a:solidFill>
          <a:ln w="10160">
            <a:solidFill>
              <a:srgbClr val="668EFF">
                <a:alpha val="75000"/>
              </a:srgbClr>
            </a:solidFill>
            <a:prstDash val="solid"/>
          </a:ln>
        </p:spPr>
        <p:txBody>
          <a:bodyPr/>
          <a:lstStyle/>
          <a:p>
            <a:endParaRPr lang="en-US"/>
          </a:p>
        </p:txBody>
      </p:sp>
      <p:sp>
        <p:nvSpPr>
          <p:cNvPr id="48" name="Text 46"/>
          <p:cNvSpPr/>
          <p:nvPr/>
        </p:nvSpPr>
        <p:spPr>
          <a:xfrm>
            <a:off x="804672" y="2459736"/>
            <a:ext cx="822960" cy="146304"/>
          </a:xfrm>
          <a:prstGeom prst="rect">
            <a:avLst/>
          </a:prstGeom>
          <a:noFill/>
          <a:ln/>
        </p:spPr>
        <p:txBody>
          <a:bodyPr wrap="square" lIns="0" tIns="0" rIns="0" bIns="0" rtlCol="0" anchor="ctr">
            <a:normAutofit/>
          </a:bodyPr>
          <a:lstStyle/>
          <a:p>
            <a:pPr marL="0" indent="0" algn="ctr">
              <a:buNone/>
            </a:pPr>
            <a:r>
              <a:rPr lang="en-US" sz="820" b="1" dirty="0">
                <a:solidFill>
                  <a:srgbClr val="668EFF"/>
                </a:solidFill>
                <a:latin typeface="Inter" pitchFamily="34" charset="0"/>
                <a:ea typeface="Inter" pitchFamily="34" charset="-122"/>
                <a:cs typeface="Inter" pitchFamily="34" charset="-120"/>
              </a:rPr>
              <a:t>SOFTWARE</a:t>
            </a:r>
            <a:endParaRPr lang="en-US" sz="820" dirty="0"/>
          </a:p>
        </p:txBody>
      </p:sp>
      <p:sp>
        <p:nvSpPr>
          <p:cNvPr id="49" name="Shape 47"/>
          <p:cNvSpPr/>
          <p:nvPr/>
        </p:nvSpPr>
        <p:spPr>
          <a:xfrm>
            <a:off x="731520" y="2852928"/>
            <a:ext cx="2359152" cy="438912"/>
          </a:xfrm>
          <a:prstGeom prst="roundRect">
            <a:avLst>
              <a:gd name="adj" fmla="val 16667"/>
            </a:avLst>
          </a:prstGeom>
          <a:solidFill>
            <a:srgbClr val="0A1625"/>
          </a:solidFill>
          <a:ln w="10160">
            <a:solidFill>
              <a:srgbClr val="22384E"/>
            </a:solidFill>
            <a:prstDash val="solid"/>
          </a:ln>
        </p:spPr>
        <p:txBody>
          <a:bodyPr/>
          <a:lstStyle/>
          <a:p>
            <a:endParaRPr lang="en-US"/>
          </a:p>
        </p:txBody>
      </p:sp>
      <p:sp>
        <p:nvSpPr>
          <p:cNvPr id="50" name="Text 48"/>
          <p:cNvSpPr/>
          <p:nvPr/>
        </p:nvSpPr>
        <p:spPr>
          <a:xfrm>
            <a:off x="877824" y="2916936"/>
            <a:ext cx="1097280" cy="155448"/>
          </a:xfrm>
          <a:prstGeom prst="rect">
            <a:avLst/>
          </a:prstGeom>
          <a:noFill/>
          <a:ln/>
        </p:spPr>
        <p:txBody>
          <a:bodyPr wrap="square" lIns="0" tIns="0" rIns="0" bIns="0" rtlCol="0" anchor="ctr">
            <a:normAutofit/>
          </a:bodyPr>
          <a:lstStyle/>
          <a:p>
            <a:pPr marL="0" indent="0">
              <a:buNone/>
            </a:pPr>
            <a:r>
              <a:rPr lang="en-US" sz="950" b="1" dirty="0">
                <a:solidFill>
                  <a:srgbClr val="F4F8FB"/>
                </a:solidFill>
                <a:latin typeface="Inter" pitchFamily="34" charset="0"/>
                <a:ea typeface="Inter" pitchFamily="34" charset="-122"/>
                <a:cs typeface="Inter" pitchFamily="34" charset="-120"/>
              </a:rPr>
              <a:t>Read PGM P5</a:t>
            </a:r>
            <a:endParaRPr lang="en-US" sz="950" dirty="0"/>
          </a:p>
        </p:txBody>
      </p:sp>
      <p:sp>
        <p:nvSpPr>
          <p:cNvPr id="51" name="Text 49"/>
          <p:cNvSpPr/>
          <p:nvPr/>
        </p:nvSpPr>
        <p:spPr>
          <a:xfrm>
            <a:off x="1938528" y="2907792"/>
            <a:ext cx="987552" cy="256032"/>
          </a:xfrm>
          <a:prstGeom prst="rect">
            <a:avLst/>
          </a:prstGeom>
          <a:noFill/>
          <a:ln/>
        </p:spPr>
        <p:txBody>
          <a:bodyPr wrap="square" lIns="0" tIns="0" rIns="0" bIns="0" rtlCol="0" anchor="ctr">
            <a:normAutofit/>
          </a:bodyPr>
          <a:lstStyle/>
          <a:p>
            <a:pPr marL="0" indent="0">
              <a:buNone/>
            </a:pPr>
            <a:r>
              <a:rPr lang="en-US" sz="760" dirty="0">
                <a:solidFill>
                  <a:srgbClr val="A8B6C5"/>
                </a:solidFill>
                <a:latin typeface="Inter" pitchFamily="34" charset="0"/>
                <a:ea typeface="Inter" pitchFamily="34" charset="-122"/>
                <a:cs typeface="Inter" pitchFamily="34" charset="-120"/>
              </a:rPr>
              <a:t>Parse header and pixels</a:t>
            </a:r>
            <a:endParaRPr lang="en-US" sz="760" dirty="0"/>
          </a:p>
        </p:txBody>
      </p:sp>
      <p:sp>
        <p:nvSpPr>
          <p:cNvPr id="52" name="Shape 50"/>
          <p:cNvSpPr/>
          <p:nvPr/>
        </p:nvSpPr>
        <p:spPr>
          <a:xfrm>
            <a:off x="731520" y="3419856"/>
            <a:ext cx="2359152" cy="438912"/>
          </a:xfrm>
          <a:prstGeom prst="roundRect">
            <a:avLst>
              <a:gd name="adj" fmla="val 16667"/>
            </a:avLst>
          </a:prstGeom>
          <a:solidFill>
            <a:srgbClr val="0A1625"/>
          </a:solidFill>
          <a:ln w="10160">
            <a:solidFill>
              <a:srgbClr val="22384E"/>
            </a:solidFill>
            <a:prstDash val="solid"/>
          </a:ln>
        </p:spPr>
        <p:txBody>
          <a:bodyPr/>
          <a:lstStyle/>
          <a:p>
            <a:endParaRPr lang="en-US"/>
          </a:p>
        </p:txBody>
      </p:sp>
      <p:sp>
        <p:nvSpPr>
          <p:cNvPr id="53" name="Text 51"/>
          <p:cNvSpPr/>
          <p:nvPr/>
        </p:nvSpPr>
        <p:spPr>
          <a:xfrm>
            <a:off x="877824" y="3483864"/>
            <a:ext cx="1097280" cy="155448"/>
          </a:xfrm>
          <a:prstGeom prst="rect">
            <a:avLst/>
          </a:prstGeom>
          <a:noFill/>
          <a:ln/>
        </p:spPr>
        <p:txBody>
          <a:bodyPr wrap="square" lIns="0" tIns="0" rIns="0" bIns="0" rtlCol="0" anchor="ctr">
            <a:normAutofit/>
          </a:bodyPr>
          <a:lstStyle/>
          <a:p>
            <a:pPr marL="0" indent="0">
              <a:buNone/>
            </a:pPr>
            <a:r>
              <a:rPr lang="en-US" sz="950" b="1" dirty="0">
                <a:solidFill>
                  <a:srgbClr val="F4F8FB"/>
                </a:solidFill>
                <a:latin typeface="Inter" pitchFamily="34" charset="0"/>
                <a:ea typeface="Inter" pitchFamily="34" charset="-122"/>
                <a:cs typeface="Inter" pitchFamily="34" charset="-120"/>
              </a:rPr>
              <a:t>Prepare buffers</a:t>
            </a:r>
            <a:endParaRPr lang="en-US" sz="950" dirty="0"/>
          </a:p>
        </p:txBody>
      </p:sp>
      <p:sp>
        <p:nvSpPr>
          <p:cNvPr id="54" name="Text 52"/>
          <p:cNvSpPr/>
          <p:nvPr/>
        </p:nvSpPr>
        <p:spPr>
          <a:xfrm>
            <a:off x="1938528" y="3474720"/>
            <a:ext cx="987552" cy="256032"/>
          </a:xfrm>
          <a:prstGeom prst="rect">
            <a:avLst/>
          </a:prstGeom>
          <a:noFill/>
          <a:ln/>
        </p:spPr>
        <p:txBody>
          <a:bodyPr wrap="square" lIns="0" tIns="0" rIns="0" bIns="0" rtlCol="0" anchor="ctr">
            <a:normAutofit/>
          </a:bodyPr>
          <a:lstStyle/>
          <a:p>
            <a:pPr marL="0" indent="0">
              <a:buNone/>
            </a:pPr>
            <a:r>
              <a:rPr lang="en-US" sz="760" dirty="0">
                <a:solidFill>
                  <a:srgbClr val="A8B6C5"/>
                </a:solidFill>
                <a:latin typeface="Inter" pitchFamily="34" charset="0"/>
                <a:ea typeface="Inter" pitchFamily="34" charset="-122"/>
                <a:cs typeface="Inter" pitchFamily="34" charset="-120"/>
              </a:rPr>
              <a:t>Copy or pack image data</a:t>
            </a:r>
            <a:endParaRPr lang="en-US" sz="760" dirty="0"/>
          </a:p>
        </p:txBody>
      </p:sp>
      <p:sp>
        <p:nvSpPr>
          <p:cNvPr id="55" name="Shape 53"/>
          <p:cNvSpPr/>
          <p:nvPr/>
        </p:nvSpPr>
        <p:spPr>
          <a:xfrm>
            <a:off x="731520" y="3986784"/>
            <a:ext cx="2359152" cy="438912"/>
          </a:xfrm>
          <a:prstGeom prst="roundRect">
            <a:avLst>
              <a:gd name="adj" fmla="val 16667"/>
            </a:avLst>
          </a:prstGeom>
          <a:solidFill>
            <a:srgbClr val="0A1625"/>
          </a:solidFill>
          <a:ln w="10160">
            <a:solidFill>
              <a:srgbClr val="22384E"/>
            </a:solidFill>
            <a:prstDash val="solid"/>
          </a:ln>
        </p:spPr>
        <p:txBody>
          <a:bodyPr/>
          <a:lstStyle/>
          <a:p>
            <a:endParaRPr lang="en-US"/>
          </a:p>
        </p:txBody>
      </p:sp>
      <p:sp>
        <p:nvSpPr>
          <p:cNvPr id="56" name="Text 54"/>
          <p:cNvSpPr/>
          <p:nvPr/>
        </p:nvSpPr>
        <p:spPr>
          <a:xfrm>
            <a:off x="877824" y="4050792"/>
            <a:ext cx="1097280" cy="155448"/>
          </a:xfrm>
          <a:prstGeom prst="rect">
            <a:avLst/>
          </a:prstGeom>
          <a:noFill/>
          <a:ln/>
        </p:spPr>
        <p:txBody>
          <a:bodyPr wrap="square" lIns="0" tIns="0" rIns="0" bIns="0" rtlCol="0" anchor="ctr">
            <a:normAutofit/>
          </a:bodyPr>
          <a:lstStyle/>
          <a:p>
            <a:pPr marL="0" indent="0">
              <a:buNone/>
            </a:pPr>
            <a:r>
              <a:rPr lang="en-US" sz="950" b="1" dirty="0">
                <a:solidFill>
                  <a:srgbClr val="F4F8FB"/>
                </a:solidFill>
                <a:latin typeface="Inter" pitchFamily="34" charset="0"/>
                <a:ea typeface="Inter" pitchFamily="34" charset="-122"/>
                <a:cs typeface="Inter" pitchFamily="34" charset="-120"/>
              </a:rPr>
              <a:t>Control accelerator</a:t>
            </a:r>
            <a:endParaRPr lang="en-US" sz="950" dirty="0"/>
          </a:p>
        </p:txBody>
      </p:sp>
      <p:sp>
        <p:nvSpPr>
          <p:cNvPr id="57" name="Text 55"/>
          <p:cNvSpPr/>
          <p:nvPr/>
        </p:nvSpPr>
        <p:spPr>
          <a:xfrm>
            <a:off x="1938528" y="4041648"/>
            <a:ext cx="987552" cy="256032"/>
          </a:xfrm>
          <a:prstGeom prst="rect">
            <a:avLst/>
          </a:prstGeom>
          <a:noFill/>
          <a:ln/>
        </p:spPr>
        <p:txBody>
          <a:bodyPr wrap="square" lIns="0" tIns="0" rIns="0" bIns="0" rtlCol="0" anchor="ctr">
            <a:normAutofit/>
          </a:bodyPr>
          <a:lstStyle/>
          <a:p>
            <a:pPr marL="0" indent="0">
              <a:buNone/>
            </a:pPr>
            <a:r>
              <a:rPr lang="en-US" sz="760" dirty="0">
                <a:solidFill>
                  <a:srgbClr val="A8B6C5"/>
                </a:solidFill>
                <a:latin typeface="Inter" pitchFamily="34" charset="0"/>
                <a:ea typeface="Inter" pitchFamily="34" charset="-122"/>
                <a:cs typeface="Inter" pitchFamily="34" charset="-120"/>
              </a:rPr>
              <a:t>XRT launch and synchronization</a:t>
            </a:r>
            <a:endParaRPr lang="en-US" sz="760" dirty="0"/>
          </a:p>
        </p:txBody>
      </p:sp>
      <p:sp>
        <p:nvSpPr>
          <p:cNvPr id="58" name="Shape 56"/>
          <p:cNvSpPr/>
          <p:nvPr/>
        </p:nvSpPr>
        <p:spPr>
          <a:xfrm>
            <a:off x="731520" y="4553712"/>
            <a:ext cx="2359152" cy="438912"/>
          </a:xfrm>
          <a:prstGeom prst="roundRect">
            <a:avLst>
              <a:gd name="adj" fmla="val 16667"/>
            </a:avLst>
          </a:prstGeom>
          <a:solidFill>
            <a:srgbClr val="0A1625"/>
          </a:solidFill>
          <a:ln w="10160">
            <a:solidFill>
              <a:srgbClr val="22384E"/>
            </a:solidFill>
            <a:prstDash val="solid"/>
          </a:ln>
        </p:spPr>
        <p:txBody>
          <a:bodyPr/>
          <a:lstStyle/>
          <a:p>
            <a:endParaRPr lang="en-US"/>
          </a:p>
        </p:txBody>
      </p:sp>
      <p:sp>
        <p:nvSpPr>
          <p:cNvPr id="59" name="Text 57"/>
          <p:cNvSpPr/>
          <p:nvPr/>
        </p:nvSpPr>
        <p:spPr>
          <a:xfrm>
            <a:off x="877824" y="4617720"/>
            <a:ext cx="1097280" cy="155448"/>
          </a:xfrm>
          <a:prstGeom prst="rect">
            <a:avLst/>
          </a:prstGeom>
          <a:noFill/>
          <a:ln/>
        </p:spPr>
        <p:txBody>
          <a:bodyPr wrap="square" lIns="0" tIns="0" rIns="0" bIns="0" rtlCol="0" anchor="ctr">
            <a:normAutofit/>
          </a:bodyPr>
          <a:lstStyle/>
          <a:p>
            <a:pPr marL="0" indent="0">
              <a:buNone/>
            </a:pPr>
            <a:r>
              <a:rPr lang="en-US" sz="950" b="1" dirty="0">
                <a:solidFill>
                  <a:srgbClr val="F4F8FB"/>
                </a:solidFill>
                <a:latin typeface="Inter" pitchFamily="34" charset="0"/>
                <a:ea typeface="Inter" pitchFamily="34" charset="-122"/>
                <a:cs typeface="Inter" pitchFamily="34" charset="-120"/>
              </a:rPr>
              <a:t>Write GSC3 file</a:t>
            </a:r>
            <a:endParaRPr lang="en-US" sz="950" dirty="0"/>
          </a:p>
        </p:txBody>
      </p:sp>
      <p:sp>
        <p:nvSpPr>
          <p:cNvPr id="60" name="Text 58"/>
          <p:cNvSpPr/>
          <p:nvPr/>
        </p:nvSpPr>
        <p:spPr>
          <a:xfrm>
            <a:off x="1938528" y="4608576"/>
            <a:ext cx="987552" cy="256032"/>
          </a:xfrm>
          <a:prstGeom prst="rect">
            <a:avLst/>
          </a:prstGeom>
          <a:noFill/>
          <a:ln/>
        </p:spPr>
        <p:txBody>
          <a:bodyPr wrap="square" lIns="0" tIns="0" rIns="0" bIns="0" rtlCol="0" anchor="ctr">
            <a:normAutofit/>
          </a:bodyPr>
          <a:lstStyle/>
          <a:p>
            <a:pPr marL="0" indent="0">
              <a:buNone/>
            </a:pPr>
            <a:r>
              <a:rPr lang="en-US" sz="760" dirty="0">
                <a:solidFill>
                  <a:srgbClr val="A8B6C5"/>
                </a:solidFill>
                <a:latin typeface="Inter" pitchFamily="34" charset="0"/>
                <a:ea typeface="Inter" pitchFamily="34" charset="-122"/>
                <a:cs typeface="Inter" pitchFamily="34" charset="-120"/>
              </a:rPr>
              <a:t>Store metadata and packed bytes</a:t>
            </a:r>
            <a:endParaRPr lang="en-US" sz="760" dirty="0"/>
          </a:p>
        </p:txBody>
      </p:sp>
      <p:sp>
        <p:nvSpPr>
          <p:cNvPr id="61" name="Shape 59"/>
          <p:cNvSpPr/>
          <p:nvPr/>
        </p:nvSpPr>
        <p:spPr>
          <a:xfrm>
            <a:off x="731520" y="5120640"/>
            <a:ext cx="2359152" cy="438912"/>
          </a:xfrm>
          <a:prstGeom prst="roundRect">
            <a:avLst>
              <a:gd name="adj" fmla="val 16667"/>
            </a:avLst>
          </a:prstGeom>
          <a:solidFill>
            <a:srgbClr val="0A1625"/>
          </a:solidFill>
          <a:ln w="10160">
            <a:solidFill>
              <a:srgbClr val="22384E"/>
            </a:solidFill>
            <a:prstDash val="solid"/>
          </a:ln>
        </p:spPr>
        <p:txBody>
          <a:bodyPr/>
          <a:lstStyle/>
          <a:p>
            <a:endParaRPr lang="en-US"/>
          </a:p>
        </p:txBody>
      </p:sp>
      <p:sp>
        <p:nvSpPr>
          <p:cNvPr id="62" name="Text 60"/>
          <p:cNvSpPr/>
          <p:nvPr/>
        </p:nvSpPr>
        <p:spPr>
          <a:xfrm>
            <a:off x="877824" y="5184648"/>
            <a:ext cx="1097280" cy="155448"/>
          </a:xfrm>
          <a:prstGeom prst="rect">
            <a:avLst/>
          </a:prstGeom>
          <a:noFill/>
          <a:ln/>
        </p:spPr>
        <p:txBody>
          <a:bodyPr wrap="square" lIns="0" tIns="0" rIns="0" bIns="0" rtlCol="0" anchor="ctr">
            <a:normAutofit/>
          </a:bodyPr>
          <a:lstStyle/>
          <a:p>
            <a:pPr marL="0" indent="0">
              <a:buNone/>
            </a:pPr>
            <a:r>
              <a:rPr lang="en-US" sz="950" b="1" dirty="0">
                <a:solidFill>
                  <a:srgbClr val="F4F8FB"/>
                </a:solidFill>
                <a:latin typeface="Inter" pitchFamily="34" charset="0"/>
                <a:ea typeface="Inter" pitchFamily="34" charset="-122"/>
                <a:cs typeface="Inter" pitchFamily="34" charset="-120"/>
              </a:rPr>
              <a:t>Record metrics</a:t>
            </a:r>
            <a:endParaRPr lang="en-US" sz="950" dirty="0"/>
          </a:p>
        </p:txBody>
      </p:sp>
      <p:sp>
        <p:nvSpPr>
          <p:cNvPr id="63" name="Text 61"/>
          <p:cNvSpPr/>
          <p:nvPr/>
        </p:nvSpPr>
        <p:spPr>
          <a:xfrm>
            <a:off x="1938528" y="5175504"/>
            <a:ext cx="987552" cy="256032"/>
          </a:xfrm>
          <a:prstGeom prst="rect">
            <a:avLst/>
          </a:prstGeom>
          <a:noFill/>
          <a:ln/>
        </p:spPr>
        <p:txBody>
          <a:bodyPr wrap="square" lIns="0" tIns="0" rIns="0" bIns="0" rtlCol="0" anchor="ctr">
            <a:normAutofit/>
          </a:bodyPr>
          <a:lstStyle/>
          <a:p>
            <a:pPr marL="0" indent="0">
              <a:buNone/>
            </a:pPr>
            <a:r>
              <a:rPr lang="en-US" sz="760" dirty="0">
                <a:solidFill>
                  <a:srgbClr val="A8B6C5"/>
                </a:solidFill>
                <a:latin typeface="Inter" pitchFamily="34" charset="0"/>
                <a:ea typeface="Inter" pitchFamily="34" charset="-122"/>
                <a:cs typeface="Inter" pitchFamily="34" charset="-120"/>
              </a:rPr>
              <a:t>CSV timing and status</a:t>
            </a:r>
            <a:endParaRPr lang="en-US" sz="760" dirty="0"/>
          </a:p>
        </p:txBody>
      </p:sp>
      <p:sp>
        <p:nvSpPr>
          <p:cNvPr id="64" name="Shape 62"/>
          <p:cNvSpPr/>
          <p:nvPr/>
        </p:nvSpPr>
        <p:spPr>
          <a:xfrm>
            <a:off x="3694176" y="2221992"/>
            <a:ext cx="1435608" cy="2944368"/>
          </a:xfrm>
          <a:prstGeom prst="roundRect">
            <a:avLst>
              <a:gd name="adj" fmla="val 5096"/>
            </a:avLst>
          </a:prstGeom>
          <a:solidFill>
            <a:srgbClr val="0A1625"/>
          </a:solidFill>
          <a:ln w="12700">
            <a:solidFill>
              <a:srgbClr val="38D9E6">
                <a:alpha val="50000"/>
              </a:srgbClr>
            </a:solidFill>
            <a:prstDash val="solid"/>
          </a:ln>
        </p:spPr>
        <p:txBody>
          <a:bodyPr/>
          <a:lstStyle/>
          <a:p>
            <a:endParaRPr lang="en-US"/>
          </a:p>
        </p:txBody>
      </p:sp>
      <p:sp>
        <p:nvSpPr>
          <p:cNvPr id="65" name="Text 63"/>
          <p:cNvSpPr/>
          <p:nvPr/>
        </p:nvSpPr>
        <p:spPr>
          <a:xfrm>
            <a:off x="3858768" y="2468880"/>
            <a:ext cx="1097280" cy="256032"/>
          </a:xfrm>
          <a:prstGeom prst="rect">
            <a:avLst/>
          </a:prstGeom>
          <a:noFill/>
          <a:ln/>
        </p:spPr>
        <p:txBody>
          <a:bodyPr wrap="square" lIns="0" tIns="0" rIns="0" bIns="0" rtlCol="0" anchor="ctr"/>
          <a:lstStyle/>
          <a:p>
            <a:pPr marL="0" indent="0" algn="ctr">
              <a:buNone/>
            </a:pPr>
            <a:r>
              <a:rPr lang="en-US" sz="1400" b="1" dirty="0">
                <a:solidFill>
                  <a:srgbClr val="F4F8FB"/>
                </a:solidFill>
                <a:latin typeface="Inter Display" pitchFamily="34" charset="0"/>
                <a:ea typeface="Inter Display" pitchFamily="34" charset="-122"/>
                <a:cs typeface="Inter Display" pitchFamily="34" charset="-120"/>
              </a:rPr>
              <a:t>DDR / AXI</a:t>
            </a:r>
            <a:endParaRPr lang="en-US" sz="1400" dirty="0"/>
          </a:p>
        </p:txBody>
      </p:sp>
      <p:sp>
        <p:nvSpPr>
          <p:cNvPr id="66" name="Shape 64"/>
          <p:cNvSpPr/>
          <p:nvPr/>
        </p:nvSpPr>
        <p:spPr>
          <a:xfrm>
            <a:off x="4005072" y="2971800"/>
            <a:ext cx="804672" cy="1097280"/>
          </a:xfrm>
          <a:prstGeom prst="rect">
            <a:avLst/>
          </a:prstGeom>
          <a:solidFill>
            <a:srgbClr val="132943"/>
          </a:solidFill>
          <a:ln w="15240">
            <a:solidFill>
              <a:srgbClr val="38D9E6">
                <a:alpha val="70000"/>
              </a:srgbClr>
            </a:solidFill>
            <a:prstDash val="solid"/>
          </a:ln>
        </p:spPr>
        <p:txBody>
          <a:bodyPr/>
          <a:lstStyle/>
          <a:p>
            <a:endParaRPr lang="en-US"/>
          </a:p>
        </p:txBody>
      </p:sp>
      <p:sp>
        <p:nvSpPr>
          <p:cNvPr id="67" name="Shape 65"/>
          <p:cNvSpPr/>
          <p:nvPr/>
        </p:nvSpPr>
        <p:spPr>
          <a:xfrm>
            <a:off x="4096512" y="3154680"/>
            <a:ext cx="621792" cy="0"/>
          </a:xfrm>
          <a:prstGeom prst="line">
            <a:avLst/>
          </a:prstGeom>
          <a:noFill/>
          <a:ln w="12700">
            <a:solidFill>
              <a:srgbClr val="38D9E6">
                <a:alpha val="55000"/>
              </a:srgbClr>
            </a:solidFill>
            <a:prstDash val="solid"/>
          </a:ln>
        </p:spPr>
        <p:txBody>
          <a:bodyPr/>
          <a:lstStyle/>
          <a:p>
            <a:endParaRPr lang="en-US"/>
          </a:p>
        </p:txBody>
      </p:sp>
      <p:sp>
        <p:nvSpPr>
          <p:cNvPr id="68" name="Shape 66"/>
          <p:cNvSpPr/>
          <p:nvPr/>
        </p:nvSpPr>
        <p:spPr>
          <a:xfrm>
            <a:off x="4096512" y="3374136"/>
            <a:ext cx="621792" cy="0"/>
          </a:xfrm>
          <a:prstGeom prst="line">
            <a:avLst/>
          </a:prstGeom>
          <a:noFill/>
          <a:ln w="12700">
            <a:solidFill>
              <a:srgbClr val="38D9E6">
                <a:alpha val="55000"/>
              </a:srgbClr>
            </a:solidFill>
            <a:prstDash val="solid"/>
          </a:ln>
        </p:spPr>
        <p:txBody>
          <a:bodyPr/>
          <a:lstStyle/>
          <a:p>
            <a:endParaRPr lang="en-US"/>
          </a:p>
        </p:txBody>
      </p:sp>
      <p:sp>
        <p:nvSpPr>
          <p:cNvPr id="69" name="Shape 67"/>
          <p:cNvSpPr/>
          <p:nvPr/>
        </p:nvSpPr>
        <p:spPr>
          <a:xfrm>
            <a:off x="4096512" y="3593592"/>
            <a:ext cx="621792" cy="0"/>
          </a:xfrm>
          <a:prstGeom prst="line">
            <a:avLst/>
          </a:prstGeom>
          <a:noFill/>
          <a:ln w="12700">
            <a:solidFill>
              <a:srgbClr val="38D9E6">
                <a:alpha val="55000"/>
              </a:srgbClr>
            </a:solidFill>
            <a:prstDash val="solid"/>
          </a:ln>
        </p:spPr>
        <p:txBody>
          <a:bodyPr/>
          <a:lstStyle/>
          <a:p>
            <a:endParaRPr lang="en-US"/>
          </a:p>
        </p:txBody>
      </p:sp>
      <p:sp>
        <p:nvSpPr>
          <p:cNvPr id="70" name="Shape 68"/>
          <p:cNvSpPr/>
          <p:nvPr/>
        </p:nvSpPr>
        <p:spPr>
          <a:xfrm>
            <a:off x="4096512" y="3813048"/>
            <a:ext cx="621792" cy="0"/>
          </a:xfrm>
          <a:prstGeom prst="line">
            <a:avLst/>
          </a:prstGeom>
          <a:noFill/>
          <a:ln w="12700">
            <a:solidFill>
              <a:srgbClr val="38D9E6">
                <a:alpha val="55000"/>
              </a:srgbClr>
            </a:solidFill>
            <a:prstDash val="solid"/>
          </a:ln>
        </p:spPr>
        <p:txBody>
          <a:bodyPr/>
          <a:lstStyle/>
          <a:p>
            <a:endParaRPr lang="en-US"/>
          </a:p>
        </p:txBody>
      </p:sp>
      <p:sp>
        <p:nvSpPr>
          <p:cNvPr id="71" name="Text 69"/>
          <p:cNvSpPr/>
          <p:nvPr/>
        </p:nvSpPr>
        <p:spPr>
          <a:xfrm>
            <a:off x="3858768" y="4297680"/>
            <a:ext cx="1097280" cy="640080"/>
          </a:xfrm>
          <a:prstGeom prst="rect">
            <a:avLst/>
          </a:prstGeom>
          <a:noFill/>
          <a:ln/>
        </p:spPr>
        <p:txBody>
          <a:bodyPr wrap="square" lIns="0" tIns="0" rIns="0" bIns="0" rtlCol="0" anchor="ctr">
            <a:normAutofit/>
          </a:bodyPr>
          <a:lstStyle/>
          <a:p>
            <a:pPr marL="0" indent="0" algn="ctr">
              <a:buNone/>
            </a:pPr>
            <a:r>
              <a:rPr lang="en-US" sz="840" dirty="0">
                <a:solidFill>
                  <a:srgbClr val="A8B6C5"/>
                </a:solidFill>
                <a:latin typeface="Inter" pitchFamily="34" charset="0"/>
                <a:ea typeface="Inter" pitchFamily="34" charset="-122"/>
                <a:cs typeface="Inter" pitchFamily="34" charset="-120"/>
              </a:rPr>
              <a:t>Input pixels</a:t>
            </a:r>
            <a:endParaRPr lang="en-US" sz="840" dirty="0"/>
          </a:p>
          <a:p>
            <a:pPr marL="0" indent="0" algn="ctr">
              <a:buNone/>
            </a:pPr>
            <a:r>
              <a:rPr lang="en-US" sz="840" dirty="0">
                <a:solidFill>
                  <a:srgbClr val="A8B6C5"/>
                </a:solidFill>
                <a:latin typeface="Inter" pitchFamily="34" charset="0"/>
                <a:ea typeface="Inter" pitchFamily="34" charset="-122"/>
                <a:cs typeface="Inter" pitchFamily="34" charset="-120"/>
              </a:rPr>
              <a:t>Output DC + bit counts</a:t>
            </a:r>
            <a:endParaRPr lang="en-US" sz="840" dirty="0"/>
          </a:p>
          <a:p>
            <a:pPr marL="0" indent="0" algn="ctr">
              <a:buNone/>
            </a:pPr>
            <a:r>
              <a:rPr lang="en-US" sz="840" dirty="0">
                <a:solidFill>
                  <a:srgbClr val="A8B6C5"/>
                </a:solidFill>
                <a:latin typeface="Inter" pitchFamily="34" charset="0"/>
                <a:ea typeface="Inter" pitchFamily="34" charset="-122"/>
                <a:cs typeface="Inter" pitchFamily="34" charset="-120"/>
              </a:rPr>
              <a:t>Packed AC bytes</a:t>
            </a:r>
            <a:endParaRPr lang="en-US" sz="840" dirty="0"/>
          </a:p>
        </p:txBody>
      </p:sp>
      <p:sp>
        <p:nvSpPr>
          <p:cNvPr id="72" name="Shape 70"/>
          <p:cNvSpPr/>
          <p:nvPr/>
        </p:nvSpPr>
        <p:spPr>
          <a:xfrm>
            <a:off x="5513832" y="1755648"/>
            <a:ext cx="6208776" cy="4206240"/>
          </a:xfrm>
          <a:prstGeom prst="roundRect">
            <a:avLst>
              <a:gd name="adj" fmla="val 1739"/>
            </a:avLst>
          </a:prstGeom>
          <a:solidFill>
            <a:srgbClr val="0D1C2D"/>
          </a:solidFill>
          <a:ln w="12700">
            <a:solidFill>
              <a:srgbClr val="38D9E6">
                <a:alpha val="70000"/>
              </a:srgbClr>
            </a:solidFill>
            <a:prstDash val="solid"/>
          </a:ln>
          <a:effectLst>
            <a:outerShdw algn="bl" rotWithShape="0">
              <a:srgbClr val="000000">
                <a:alpha val="0"/>
              </a:srgbClr>
            </a:outerShdw>
          </a:effectLst>
        </p:spPr>
        <p:txBody>
          <a:bodyPr/>
          <a:lstStyle/>
          <a:p>
            <a:endParaRPr lang="en-US"/>
          </a:p>
        </p:txBody>
      </p:sp>
      <p:sp>
        <p:nvSpPr>
          <p:cNvPr id="73" name="Text 71"/>
          <p:cNvSpPr/>
          <p:nvPr/>
        </p:nvSpPr>
        <p:spPr>
          <a:xfrm>
            <a:off x="5815584" y="1993392"/>
            <a:ext cx="5440680" cy="292608"/>
          </a:xfrm>
          <a:prstGeom prst="rect">
            <a:avLst/>
          </a:prstGeom>
          <a:noFill/>
          <a:ln/>
        </p:spPr>
        <p:txBody>
          <a:bodyPr wrap="square" lIns="0" tIns="0" rIns="0" bIns="0" rtlCol="0" anchor="ctr">
            <a:normAutofit/>
          </a:bodyPr>
          <a:lstStyle/>
          <a:p>
            <a:pPr marL="0" indent="0">
              <a:buNone/>
            </a:pPr>
            <a:r>
              <a:rPr lang="en-US" sz="1650" b="1" dirty="0">
                <a:solidFill>
                  <a:srgbClr val="F4F8FB"/>
                </a:solidFill>
                <a:latin typeface="Inter Display" pitchFamily="34" charset="0"/>
                <a:ea typeface="Inter Display" pitchFamily="34" charset="-122"/>
                <a:cs typeface="Inter Display" pitchFamily="34" charset="-120"/>
              </a:rPr>
              <a:t>Programmable logic — full-image compression kernel</a:t>
            </a:r>
            <a:endParaRPr lang="en-US" sz="1650" dirty="0"/>
          </a:p>
        </p:txBody>
      </p:sp>
      <p:sp>
        <p:nvSpPr>
          <p:cNvPr id="74" name="Shape 72"/>
          <p:cNvSpPr/>
          <p:nvPr/>
        </p:nvSpPr>
        <p:spPr>
          <a:xfrm>
            <a:off x="10058400" y="2359152"/>
            <a:ext cx="1152144" cy="292608"/>
          </a:xfrm>
          <a:prstGeom prst="roundRect">
            <a:avLst>
              <a:gd name="adj" fmla="val 50000"/>
            </a:avLst>
          </a:prstGeom>
          <a:solidFill>
            <a:srgbClr val="132943"/>
          </a:solidFill>
          <a:ln w="10160">
            <a:solidFill>
              <a:srgbClr val="38D9E6">
                <a:alpha val="75000"/>
              </a:srgbClr>
            </a:solidFill>
            <a:prstDash val="solid"/>
          </a:ln>
        </p:spPr>
        <p:txBody>
          <a:bodyPr/>
          <a:lstStyle/>
          <a:p>
            <a:endParaRPr lang="en-US"/>
          </a:p>
        </p:txBody>
      </p:sp>
      <p:sp>
        <p:nvSpPr>
          <p:cNvPr id="75" name="Text 73"/>
          <p:cNvSpPr/>
          <p:nvPr/>
        </p:nvSpPr>
        <p:spPr>
          <a:xfrm>
            <a:off x="10131552" y="2423160"/>
            <a:ext cx="1005840" cy="146304"/>
          </a:xfrm>
          <a:prstGeom prst="rect">
            <a:avLst/>
          </a:prstGeom>
          <a:noFill/>
          <a:ln/>
        </p:spPr>
        <p:txBody>
          <a:bodyPr wrap="square" lIns="0" tIns="0" rIns="0" bIns="0" rtlCol="0" anchor="ctr">
            <a:normAutofit/>
          </a:bodyPr>
          <a:lstStyle/>
          <a:p>
            <a:pPr marL="0" indent="0" algn="ctr">
              <a:buNone/>
            </a:pPr>
            <a:r>
              <a:rPr lang="en-US" sz="820" b="1" dirty="0">
                <a:solidFill>
                  <a:srgbClr val="38D9E6"/>
                </a:solidFill>
                <a:latin typeface="Inter" pitchFamily="34" charset="0"/>
                <a:ea typeface="Inter" pitchFamily="34" charset="-122"/>
                <a:cs typeface="Inter" pitchFamily="34" charset="-120"/>
              </a:rPr>
              <a:t>VITIS HLS</a:t>
            </a:r>
            <a:endParaRPr lang="en-US" sz="820" dirty="0"/>
          </a:p>
        </p:txBody>
      </p:sp>
      <p:sp>
        <p:nvSpPr>
          <p:cNvPr id="76" name="Shape 74"/>
          <p:cNvSpPr/>
          <p:nvPr/>
        </p:nvSpPr>
        <p:spPr>
          <a:xfrm>
            <a:off x="5824728" y="2816352"/>
            <a:ext cx="1115568" cy="1078992"/>
          </a:xfrm>
          <a:prstGeom prst="roundRect">
            <a:avLst>
              <a:gd name="adj" fmla="val 6780"/>
            </a:avLst>
          </a:prstGeom>
          <a:solidFill>
            <a:srgbClr val="0A1625"/>
          </a:solidFill>
          <a:ln w="12700">
            <a:solidFill>
              <a:srgbClr val="38D9E6">
                <a:alpha val="75000"/>
              </a:srgbClr>
            </a:solidFill>
            <a:prstDash val="solid"/>
          </a:ln>
        </p:spPr>
        <p:txBody>
          <a:bodyPr/>
          <a:lstStyle/>
          <a:p>
            <a:endParaRPr lang="en-US"/>
          </a:p>
        </p:txBody>
      </p:sp>
      <p:sp>
        <p:nvSpPr>
          <p:cNvPr id="77" name="Text 75"/>
          <p:cNvSpPr/>
          <p:nvPr/>
        </p:nvSpPr>
        <p:spPr>
          <a:xfrm>
            <a:off x="5916168" y="3352879"/>
            <a:ext cx="932688" cy="274320"/>
          </a:xfrm>
          <a:prstGeom prst="rect">
            <a:avLst/>
          </a:prstGeom>
          <a:noFill/>
          <a:ln/>
        </p:spPr>
        <p:txBody>
          <a:bodyPr wrap="square" lIns="0" tIns="0" rIns="0" bIns="0" rtlCol="0" anchor="ctr">
            <a:normAutofit/>
          </a:bodyPr>
          <a:lstStyle/>
          <a:p>
            <a:pPr marL="0" indent="0" algn="ctr">
              <a:buNone/>
            </a:pPr>
            <a:r>
              <a:rPr lang="en-US" sz="960" b="1" dirty="0">
                <a:solidFill>
                  <a:srgbClr val="F4F8FB"/>
                </a:solidFill>
                <a:latin typeface="Inter" pitchFamily="34" charset="0"/>
                <a:ea typeface="Inter" pitchFamily="34" charset="-122"/>
                <a:cs typeface="Inter" pitchFamily="34" charset="-120"/>
              </a:rPr>
              <a:t>Load + shift</a:t>
            </a:r>
            <a:endParaRPr lang="en-US" sz="960" dirty="0"/>
          </a:p>
        </p:txBody>
      </p:sp>
      <p:sp>
        <p:nvSpPr>
          <p:cNvPr id="78" name="Shape 76"/>
          <p:cNvSpPr/>
          <p:nvPr/>
        </p:nvSpPr>
        <p:spPr>
          <a:xfrm>
            <a:off x="6217920" y="2898648"/>
            <a:ext cx="329184" cy="329184"/>
          </a:xfrm>
          <a:prstGeom prst="ellipse">
            <a:avLst/>
          </a:prstGeom>
          <a:solidFill>
            <a:srgbClr val="38D9E6"/>
          </a:solidFill>
          <a:ln w="12700">
            <a:solidFill>
              <a:srgbClr val="38D9E6">
                <a:alpha val="0"/>
              </a:srgbClr>
            </a:solidFill>
            <a:prstDash val="solid"/>
          </a:ln>
        </p:spPr>
        <p:txBody>
          <a:bodyPr/>
          <a:lstStyle/>
          <a:p>
            <a:endParaRPr lang="en-US"/>
          </a:p>
        </p:txBody>
      </p:sp>
      <p:sp>
        <p:nvSpPr>
          <p:cNvPr id="79" name="Shape 77"/>
          <p:cNvSpPr/>
          <p:nvPr/>
        </p:nvSpPr>
        <p:spPr>
          <a:xfrm>
            <a:off x="6940296" y="3191256"/>
            <a:ext cx="210312" cy="329184"/>
          </a:xfrm>
          <a:prstGeom prst="chevron">
            <a:avLst/>
          </a:prstGeom>
          <a:solidFill>
            <a:srgbClr val="668EFF">
              <a:alpha val="82000"/>
            </a:srgbClr>
          </a:solidFill>
          <a:ln w="12700">
            <a:solidFill>
              <a:srgbClr val="668EFF">
                <a:alpha val="0"/>
              </a:srgbClr>
            </a:solidFill>
            <a:prstDash val="solid"/>
          </a:ln>
        </p:spPr>
        <p:txBody>
          <a:bodyPr/>
          <a:lstStyle/>
          <a:p>
            <a:endParaRPr lang="en-US"/>
          </a:p>
        </p:txBody>
      </p:sp>
      <p:sp>
        <p:nvSpPr>
          <p:cNvPr id="80" name="Shape 78"/>
          <p:cNvSpPr/>
          <p:nvPr/>
        </p:nvSpPr>
        <p:spPr>
          <a:xfrm>
            <a:off x="7150608" y="2816352"/>
            <a:ext cx="1115568" cy="1078992"/>
          </a:xfrm>
          <a:prstGeom prst="roundRect">
            <a:avLst>
              <a:gd name="adj" fmla="val 6780"/>
            </a:avLst>
          </a:prstGeom>
          <a:solidFill>
            <a:srgbClr val="0A1625"/>
          </a:solidFill>
          <a:ln w="12700">
            <a:solidFill>
              <a:srgbClr val="668EFF">
                <a:alpha val="75000"/>
              </a:srgbClr>
            </a:solidFill>
            <a:prstDash val="solid"/>
          </a:ln>
        </p:spPr>
        <p:txBody>
          <a:bodyPr/>
          <a:lstStyle/>
          <a:p>
            <a:endParaRPr lang="en-US"/>
          </a:p>
        </p:txBody>
      </p:sp>
      <p:sp>
        <p:nvSpPr>
          <p:cNvPr id="81" name="Text 79"/>
          <p:cNvSpPr/>
          <p:nvPr/>
        </p:nvSpPr>
        <p:spPr>
          <a:xfrm>
            <a:off x="7242048" y="3352879"/>
            <a:ext cx="932688" cy="274320"/>
          </a:xfrm>
          <a:prstGeom prst="rect">
            <a:avLst/>
          </a:prstGeom>
          <a:noFill/>
          <a:ln/>
        </p:spPr>
        <p:txBody>
          <a:bodyPr wrap="square" lIns="0" tIns="0" rIns="0" bIns="0" rtlCol="0" anchor="ctr">
            <a:normAutofit/>
          </a:bodyPr>
          <a:lstStyle/>
          <a:p>
            <a:pPr marL="0" indent="0" algn="ctr">
              <a:buNone/>
            </a:pPr>
            <a:r>
              <a:rPr lang="en-US" sz="960" b="1" dirty="0">
                <a:solidFill>
                  <a:srgbClr val="F4F8FB"/>
                </a:solidFill>
                <a:latin typeface="Inter" pitchFamily="34" charset="0"/>
                <a:ea typeface="Inter" pitchFamily="34" charset="-122"/>
                <a:cs typeface="Inter" pitchFamily="34" charset="-120"/>
              </a:rPr>
              <a:t>Separable DCT</a:t>
            </a:r>
            <a:endParaRPr lang="en-US" sz="960" dirty="0"/>
          </a:p>
        </p:txBody>
      </p:sp>
      <p:sp>
        <p:nvSpPr>
          <p:cNvPr id="82" name="Shape 80"/>
          <p:cNvSpPr/>
          <p:nvPr/>
        </p:nvSpPr>
        <p:spPr>
          <a:xfrm>
            <a:off x="7543800" y="2898648"/>
            <a:ext cx="329184" cy="329184"/>
          </a:xfrm>
          <a:prstGeom prst="ellipse">
            <a:avLst/>
          </a:prstGeom>
          <a:solidFill>
            <a:srgbClr val="668EFF"/>
          </a:solidFill>
          <a:ln w="12700">
            <a:solidFill>
              <a:srgbClr val="668EFF">
                <a:alpha val="0"/>
              </a:srgbClr>
            </a:solidFill>
            <a:prstDash val="solid"/>
          </a:ln>
        </p:spPr>
        <p:txBody>
          <a:bodyPr/>
          <a:lstStyle/>
          <a:p>
            <a:endParaRPr lang="en-US"/>
          </a:p>
        </p:txBody>
      </p:sp>
      <p:sp>
        <p:nvSpPr>
          <p:cNvPr id="83" name="Shape 81"/>
          <p:cNvSpPr/>
          <p:nvPr/>
        </p:nvSpPr>
        <p:spPr>
          <a:xfrm>
            <a:off x="8266176" y="3191256"/>
            <a:ext cx="210312" cy="329184"/>
          </a:xfrm>
          <a:prstGeom prst="chevron">
            <a:avLst/>
          </a:prstGeom>
          <a:solidFill>
            <a:srgbClr val="49D486">
              <a:alpha val="82000"/>
            </a:srgbClr>
          </a:solidFill>
          <a:ln w="12700">
            <a:solidFill>
              <a:srgbClr val="49D486">
                <a:alpha val="0"/>
              </a:srgbClr>
            </a:solidFill>
            <a:prstDash val="solid"/>
          </a:ln>
        </p:spPr>
        <p:txBody>
          <a:bodyPr/>
          <a:lstStyle/>
          <a:p>
            <a:endParaRPr lang="en-US"/>
          </a:p>
        </p:txBody>
      </p:sp>
      <p:sp>
        <p:nvSpPr>
          <p:cNvPr id="84" name="Shape 82"/>
          <p:cNvSpPr/>
          <p:nvPr/>
        </p:nvSpPr>
        <p:spPr>
          <a:xfrm>
            <a:off x="8476488" y="2816352"/>
            <a:ext cx="1115568" cy="1078992"/>
          </a:xfrm>
          <a:prstGeom prst="roundRect">
            <a:avLst>
              <a:gd name="adj" fmla="val 6780"/>
            </a:avLst>
          </a:prstGeom>
          <a:solidFill>
            <a:srgbClr val="0A1625"/>
          </a:solidFill>
          <a:ln w="12700">
            <a:solidFill>
              <a:srgbClr val="49D486">
                <a:alpha val="75000"/>
              </a:srgbClr>
            </a:solidFill>
            <a:prstDash val="solid"/>
          </a:ln>
        </p:spPr>
        <p:txBody>
          <a:bodyPr/>
          <a:lstStyle/>
          <a:p>
            <a:endParaRPr lang="en-US"/>
          </a:p>
        </p:txBody>
      </p:sp>
      <p:sp>
        <p:nvSpPr>
          <p:cNvPr id="85" name="Text 83"/>
          <p:cNvSpPr/>
          <p:nvPr/>
        </p:nvSpPr>
        <p:spPr>
          <a:xfrm>
            <a:off x="8567928" y="3352879"/>
            <a:ext cx="932688" cy="274320"/>
          </a:xfrm>
          <a:prstGeom prst="rect">
            <a:avLst/>
          </a:prstGeom>
          <a:noFill/>
          <a:ln/>
        </p:spPr>
        <p:txBody>
          <a:bodyPr wrap="square" lIns="0" tIns="0" rIns="0" bIns="0" rtlCol="0" anchor="ctr">
            <a:normAutofit/>
          </a:bodyPr>
          <a:lstStyle/>
          <a:p>
            <a:pPr marL="0" indent="0" algn="ctr">
              <a:buNone/>
            </a:pPr>
            <a:r>
              <a:rPr lang="en-US" sz="960" b="1" dirty="0">
                <a:solidFill>
                  <a:srgbClr val="F4F8FB"/>
                </a:solidFill>
                <a:latin typeface="Inter" pitchFamily="34" charset="0"/>
                <a:ea typeface="Inter" pitchFamily="34" charset="-122"/>
                <a:cs typeface="Inter" pitchFamily="34" charset="-120"/>
              </a:rPr>
              <a:t>Quantise</a:t>
            </a:r>
            <a:endParaRPr lang="en-US" sz="960" dirty="0"/>
          </a:p>
        </p:txBody>
      </p:sp>
      <p:sp>
        <p:nvSpPr>
          <p:cNvPr id="86" name="Shape 84"/>
          <p:cNvSpPr/>
          <p:nvPr/>
        </p:nvSpPr>
        <p:spPr>
          <a:xfrm>
            <a:off x="8869680" y="2898648"/>
            <a:ext cx="329184" cy="329184"/>
          </a:xfrm>
          <a:prstGeom prst="ellipse">
            <a:avLst/>
          </a:prstGeom>
          <a:solidFill>
            <a:srgbClr val="49D486"/>
          </a:solidFill>
          <a:ln w="12700">
            <a:solidFill>
              <a:srgbClr val="49D486">
                <a:alpha val="0"/>
              </a:srgbClr>
            </a:solidFill>
            <a:prstDash val="solid"/>
          </a:ln>
        </p:spPr>
        <p:txBody>
          <a:bodyPr/>
          <a:lstStyle/>
          <a:p>
            <a:endParaRPr lang="en-US"/>
          </a:p>
        </p:txBody>
      </p:sp>
      <p:sp>
        <p:nvSpPr>
          <p:cNvPr id="87" name="Shape 85"/>
          <p:cNvSpPr/>
          <p:nvPr/>
        </p:nvSpPr>
        <p:spPr>
          <a:xfrm>
            <a:off x="9592056" y="3191256"/>
            <a:ext cx="210312" cy="329184"/>
          </a:xfrm>
          <a:prstGeom prst="chevron">
            <a:avLst/>
          </a:prstGeom>
          <a:solidFill>
            <a:srgbClr val="FFA24C">
              <a:alpha val="82000"/>
            </a:srgbClr>
          </a:solidFill>
          <a:ln w="12700">
            <a:solidFill>
              <a:srgbClr val="FFA24C">
                <a:alpha val="0"/>
              </a:srgbClr>
            </a:solidFill>
            <a:prstDash val="solid"/>
          </a:ln>
        </p:spPr>
        <p:txBody>
          <a:bodyPr/>
          <a:lstStyle/>
          <a:p>
            <a:endParaRPr lang="en-US"/>
          </a:p>
        </p:txBody>
      </p:sp>
      <p:sp>
        <p:nvSpPr>
          <p:cNvPr id="88" name="Shape 86"/>
          <p:cNvSpPr/>
          <p:nvPr/>
        </p:nvSpPr>
        <p:spPr>
          <a:xfrm>
            <a:off x="9802368" y="2816352"/>
            <a:ext cx="1115568" cy="1078992"/>
          </a:xfrm>
          <a:prstGeom prst="roundRect">
            <a:avLst>
              <a:gd name="adj" fmla="val 6780"/>
            </a:avLst>
          </a:prstGeom>
          <a:solidFill>
            <a:srgbClr val="0A1625"/>
          </a:solidFill>
          <a:ln w="12700">
            <a:solidFill>
              <a:srgbClr val="FFA24C">
                <a:alpha val="75000"/>
              </a:srgbClr>
            </a:solidFill>
            <a:prstDash val="solid"/>
          </a:ln>
        </p:spPr>
        <p:txBody>
          <a:bodyPr/>
          <a:lstStyle/>
          <a:p>
            <a:endParaRPr lang="en-US"/>
          </a:p>
        </p:txBody>
      </p:sp>
      <p:sp>
        <p:nvSpPr>
          <p:cNvPr id="89" name="Text 87"/>
          <p:cNvSpPr/>
          <p:nvPr/>
        </p:nvSpPr>
        <p:spPr>
          <a:xfrm>
            <a:off x="9893808" y="3352879"/>
            <a:ext cx="932688" cy="274320"/>
          </a:xfrm>
          <a:prstGeom prst="rect">
            <a:avLst/>
          </a:prstGeom>
          <a:noFill/>
          <a:ln/>
        </p:spPr>
        <p:txBody>
          <a:bodyPr wrap="square" lIns="0" tIns="0" rIns="0" bIns="0" rtlCol="0" anchor="ctr">
            <a:normAutofit/>
          </a:bodyPr>
          <a:lstStyle/>
          <a:p>
            <a:pPr marL="0" indent="0" algn="ctr">
              <a:buNone/>
            </a:pPr>
            <a:r>
              <a:rPr lang="en-US" sz="960" b="1" dirty="0">
                <a:solidFill>
                  <a:srgbClr val="F4F8FB"/>
                </a:solidFill>
                <a:latin typeface="Inter" pitchFamily="34" charset="0"/>
                <a:ea typeface="Inter" pitchFamily="34" charset="-122"/>
                <a:cs typeface="Inter" pitchFamily="34" charset="-120"/>
              </a:rPr>
              <a:t>Zigzag + encode</a:t>
            </a:r>
            <a:endParaRPr lang="en-US" sz="960" dirty="0"/>
          </a:p>
        </p:txBody>
      </p:sp>
      <p:sp>
        <p:nvSpPr>
          <p:cNvPr id="90" name="Shape 88"/>
          <p:cNvSpPr/>
          <p:nvPr/>
        </p:nvSpPr>
        <p:spPr>
          <a:xfrm>
            <a:off x="10195560" y="2898648"/>
            <a:ext cx="329184" cy="329184"/>
          </a:xfrm>
          <a:prstGeom prst="ellipse">
            <a:avLst/>
          </a:prstGeom>
          <a:solidFill>
            <a:srgbClr val="FFA24C"/>
          </a:solidFill>
          <a:ln w="12700">
            <a:solidFill>
              <a:srgbClr val="FFA24C">
                <a:alpha val="0"/>
              </a:srgbClr>
            </a:solidFill>
            <a:prstDash val="solid"/>
          </a:ln>
        </p:spPr>
        <p:txBody>
          <a:bodyPr/>
          <a:lstStyle/>
          <a:p>
            <a:endParaRPr lang="en-US"/>
          </a:p>
        </p:txBody>
      </p:sp>
      <p:sp>
        <p:nvSpPr>
          <p:cNvPr id="91" name="Text 89"/>
          <p:cNvSpPr/>
          <p:nvPr/>
        </p:nvSpPr>
        <p:spPr>
          <a:xfrm>
            <a:off x="5833872" y="4169664"/>
            <a:ext cx="5349240" cy="237744"/>
          </a:xfrm>
          <a:prstGeom prst="rect">
            <a:avLst/>
          </a:prstGeom>
          <a:noFill/>
          <a:ln/>
        </p:spPr>
        <p:txBody>
          <a:bodyPr wrap="square" lIns="0" tIns="0" rIns="0" bIns="0" rtlCol="0" anchor="ctr"/>
          <a:lstStyle/>
          <a:p>
            <a:pPr marL="0" indent="0" algn="ctr">
              <a:buNone/>
            </a:pPr>
            <a:r>
              <a:rPr lang="en-US" sz="1020" b="1" dirty="0">
                <a:solidFill>
                  <a:srgbClr val="A8B6C5"/>
                </a:solidFill>
                <a:latin typeface="Inter" pitchFamily="34" charset="0"/>
                <a:ea typeface="Inter" pitchFamily="34" charset="-122"/>
                <a:cs typeface="Inter" pitchFamily="34" charset="-120"/>
              </a:rPr>
              <a:t>Nested block traversal: 64 × 64 = 4,096 blocks per image</a:t>
            </a:r>
            <a:endParaRPr lang="en-US" sz="1020" dirty="0"/>
          </a:p>
        </p:txBody>
      </p:sp>
      <p:sp>
        <p:nvSpPr>
          <p:cNvPr id="92" name="Shape 90"/>
          <p:cNvSpPr/>
          <p:nvPr/>
        </p:nvSpPr>
        <p:spPr>
          <a:xfrm>
            <a:off x="5833872" y="4572000"/>
            <a:ext cx="5358384" cy="713232"/>
          </a:xfrm>
          <a:prstGeom prst="roundRect">
            <a:avLst>
              <a:gd name="adj" fmla="val 10256"/>
            </a:avLst>
          </a:prstGeom>
          <a:solidFill>
            <a:srgbClr val="0A1625"/>
          </a:solidFill>
          <a:ln w="10160">
            <a:solidFill>
              <a:srgbClr val="22384E"/>
            </a:solidFill>
            <a:prstDash val="solid"/>
          </a:ln>
        </p:spPr>
        <p:txBody>
          <a:bodyPr/>
          <a:lstStyle/>
          <a:p>
            <a:endParaRPr lang="en-US"/>
          </a:p>
        </p:txBody>
      </p:sp>
      <p:sp>
        <p:nvSpPr>
          <p:cNvPr id="93" name="Text 91"/>
          <p:cNvSpPr/>
          <p:nvPr/>
        </p:nvSpPr>
        <p:spPr>
          <a:xfrm>
            <a:off x="6053328" y="4754880"/>
            <a:ext cx="1280160" cy="173736"/>
          </a:xfrm>
          <a:prstGeom prst="rect">
            <a:avLst/>
          </a:prstGeom>
          <a:noFill/>
          <a:ln/>
        </p:spPr>
        <p:txBody>
          <a:bodyPr wrap="square" lIns="0" tIns="0" rIns="0" bIns="0" rtlCol="0" anchor="ctr"/>
          <a:lstStyle/>
          <a:p>
            <a:pPr marL="0" indent="0">
              <a:buNone/>
            </a:pPr>
            <a:r>
              <a:rPr lang="en-US" sz="940" b="1" dirty="0">
                <a:solidFill>
                  <a:srgbClr val="38D9E6"/>
                </a:solidFill>
                <a:latin typeface="Inter" pitchFamily="34" charset="0"/>
                <a:ea typeface="Inter" pitchFamily="34" charset="-122"/>
                <a:cs typeface="Inter" pitchFamily="34" charset="-120"/>
              </a:rPr>
              <a:t>AXI-Lite control</a:t>
            </a:r>
            <a:endParaRPr lang="en-US" sz="940" dirty="0"/>
          </a:p>
        </p:txBody>
      </p:sp>
      <p:sp>
        <p:nvSpPr>
          <p:cNvPr id="94" name="Text 92"/>
          <p:cNvSpPr/>
          <p:nvPr/>
        </p:nvSpPr>
        <p:spPr>
          <a:xfrm>
            <a:off x="6053328" y="4965192"/>
            <a:ext cx="1426464" cy="137160"/>
          </a:xfrm>
          <a:prstGeom prst="rect">
            <a:avLst/>
          </a:prstGeom>
          <a:noFill/>
          <a:ln/>
        </p:spPr>
        <p:txBody>
          <a:bodyPr wrap="square" lIns="0" tIns="0" rIns="0" bIns="0" rtlCol="0" anchor="ctr"/>
          <a:lstStyle/>
          <a:p>
            <a:pPr marL="0" indent="0">
              <a:buNone/>
            </a:pPr>
            <a:r>
              <a:rPr lang="en-US" sz="740" dirty="0">
                <a:solidFill>
                  <a:srgbClr val="A8B6C5"/>
                </a:solidFill>
                <a:latin typeface="Inter" pitchFamily="34" charset="0"/>
                <a:ea typeface="Inter" pitchFamily="34" charset="-122"/>
                <a:cs typeface="Inter" pitchFamily="34" charset="-120"/>
              </a:rPr>
              <a:t>kernel arguments + start/status</a:t>
            </a:r>
            <a:endParaRPr lang="en-US" sz="740" dirty="0"/>
          </a:p>
        </p:txBody>
      </p:sp>
      <p:sp>
        <p:nvSpPr>
          <p:cNvPr id="95" name="Text 93"/>
          <p:cNvSpPr/>
          <p:nvPr/>
        </p:nvSpPr>
        <p:spPr>
          <a:xfrm>
            <a:off x="7717536" y="4754880"/>
            <a:ext cx="1280160" cy="173736"/>
          </a:xfrm>
          <a:prstGeom prst="rect">
            <a:avLst/>
          </a:prstGeom>
          <a:noFill/>
          <a:ln/>
        </p:spPr>
        <p:txBody>
          <a:bodyPr wrap="square" lIns="0" tIns="0" rIns="0" bIns="0" rtlCol="0" anchor="ctr"/>
          <a:lstStyle/>
          <a:p>
            <a:pPr marL="0" indent="0">
              <a:buNone/>
            </a:pPr>
            <a:r>
              <a:rPr lang="en-US" sz="940" b="1" dirty="0">
                <a:solidFill>
                  <a:srgbClr val="24C9AA"/>
                </a:solidFill>
                <a:latin typeface="Inter" pitchFamily="34" charset="0"/>
                <a:ea typeface="Inter" pitchFamily="34" charset="-122"/>
                <a:cs typeface="Inter" pitchFamily="34" charset="-120"/>
              </a:rPr>
              <a:t>m_axi data ports</a:t>
            </a:r>
            <a:endParaRPr lang="en-US" sz="940" dirty="0"/>
          </a:p>
        </p:txBody>
      </p:sp>
      <p:sp>
        <p:nvSpPr>
          <p:cNvPr id="96" name="Text 94"/>
          <p:cNvSpPr/>
          <p:nvPr/>
        </p:nvSpPr>
        <p:spPr>
          <a:xfrm>
            <a:off x="7717536" y="4965192"/>
            <a:ext cx="1426464" cy="137160"/>
          </a:xfrm>
          <a:prstGeom prst="rect">
            <a:avLst/>
          </a:prstGeom>
          <a:noFill/>
          <a:ln/>
        </p:spPr>
        <p:txBody>
          <a:bodyPr wrap="square" lIns="0" tIns="0" rIns="0" bIns="0" rtlCol="0" anchor="ctr"/>
          <a:lstStyle/>
          <a:p>
            <a:pPr marL="0" indent="0">
              <a:buNone/>
            </a:pPr>
            <a:r>
              <a:rPr lang="en-US" sz="740" dirty="0">
                <a:solidFill>
                  <a:srgbClr val="A8B6C5"/>
                </a:solidFill>
                <a:latin typeface="Inter" pitchFamily="34" charset="0"/>
                <a:ea typeface="Inter" pitchFamily="34" charset="-122"/>
                <a:cs typeface="Inter" pitchFamily="34" charset="-120"/>
              </a:rPr>
              <a:t>burst reads/writes to memory</a:t>
            </a:r>
            <a:endParaRPr lang="en-US" sz="740" dirty="0"/>
          </a:p>
        </p:txBody>
      </p:sp>
      <p:sp>
        <p:nvSpPr>
          <p:cNvPr id="97" name="Text 95"/>
          <p:cNvSpPr/>
          <p:nvPr/>
        </p:nvSpPr>
        <p:spPr>
          <a:xfrm>
            <a:off x="9400032" y="4754880"/>
            <a:ext cx="1097280" cy="173736"/>
          </a:xfrm>
          <a:prstGeom prst="rect">
            <a:avLst/>
          </a:prstGeom>
          <a:noFill/>
          <a:ln/>
        </p:spPr>
        <p:txBody>
          <a:bodyPr wrap="square" lIns="0" tIns="0" rIns="0" bIns="0" rtlCol="0" anchor="ctr"/>
          <a:lstStyle/>
          <a:p>
            <a:pPr marL="0" indent="0">
              <a:buNone/>
            </a:pPr>
            <a:r>
              <a:rPr lang="en-US" sz="940" b="1" dirty="0">
                <a:solidFill>
                  <a:srgbClr val="FFA24C"/>
                </a:solidFill>
                <a:latin typeface="Inter" pitchFamily="34" charset="0"/>
                <a:ea typeface="Inter" pitchFamily="34" charset="-122"/>
                <a:cs typeface="Inter" pitchFamily="34" charset="-120"/>
              </a:rPr>
              <a:t>Output checks</a:t>
            </a:r>
            <a:endParaRPr lang="en-US" sz="940" dirty="0"/>
          </a:p>
        </p:txBody>
      </p:sp>
      <p:sp>
        <p:nvSpPr>
          <p:cNvPr id="98" name="Text 96"/>
          <p:cNvSpPr/>
          <p:nvPr/>
        </p:nvSpPr>
        <p:spPr>
          <a:xfrm>
            <a:off x="9400032" y="4965192"/>
            <a:ext cx="1371600" cy="137160"/>
          </a:xfrm>
          <a:prstGeom prst="rect">
            <a:avLst/>
          </a:prstGeom>
          <a:noFill/>
          <a:ln/>
        </p:spPr>
        <p:txBody>
          <a:bodyPr wrap="square" lIns="0" tIns="0" rIns="0" bIns="0" rtlCol="0" anchor="ctr"/>
          <a:lstStyle/>
          <a:p>
            <a:pPr marL="0" indent="0">
              <a:buNone/>
            </a:pPr>
            <a:r>
              <a:rPr lang="en-US" sz="740" dirty="0">
                <a:solidFill>
                  <a:srgbClr val="A8B6C5"/>
                </a:solidFill>
                <a:latin typeface="Inter" pitchFamily="34" charset="0"/>
                <a:ea typeface="Inter" pitchFamily="34" charset="-122"/>
                <a:cs typeface="Inter" pitchFamily="34" charset="-120"/>
              </a:rPr>
              <a:t>size + status flags</a:t>
            </a:r>
            <a:endParaRPr lang="en-US" sz="740" dirty="0"/>
          </a:p>
        </p:txBody>
      </p:sp>
      <p:sp>
        <p:nvSpPr>
          <p:cNvPr id="99" name="Shape 97"/>
          <p:cNvSpPr/>
          <p:nvPr/>
        </p:nvSpPr>
        <p:spPr>
          <a:xfrm>
            <a:off x="3355848" y="3246120"/>
            <a:ext cx="338328" cy="0"/>
          </a:xfrm>
          <a:prstGeom prst="line">
            <a:avLst/>
          </a:prstGeom>
          <a:noFill/>
          <a:ln w="27940">
            <a:solidFill>
              <a:srgbClr val="668EFF"/>
            </a:solidFill>
            <a:prstDash val="solid"/>
            <a:tailEnd type="triangle"/>
          </a:ln>
        </p:spPr>
        <p:txBody>
          <a:bodyPr/>
          <a:lstStyle/>
          <a:p>
            <a:endParaRPr lang="en-US"/>
          </a:p>
        </p:txBody>
      </p:sp>
      <p:sp>
        <p:nvSpPr>
          <p:cNvPr id="100" name="Shape 98"/>
          <p:cNvSpPr/>
          <p:nvPr/>
        </p:nvSpPr>
        <p:spPr>
          <a:xfrm>
            <a:off x="5129784" y="3246120"/>
            <a:ext cx="384048" cy="0"/>
          </a:xfrm>
          <a:prstGeom prst="line">
            <a:avLst/>
          </a:prstGeom>
          <a:noFill/>
          <a:ln w="27940">
            <a:solidFill>
              <a:srgbClr val="38D9E6"/>
            </a:solidFill>
            <a:prstDash val="solid"/>
            <a:tailEnd type="triangle"/>
          </a:ln>
        </p:spPr>
        <p:txBody>
          <a:bodyPr/>
          <a:lstStyle/>
          <a:p>
            <a:endParaRPr lang="en-US"/>
          </a:p>
        </p:txBody>
      </p:sp>
      <p:sp>
        <p:nvSpPr>
          <p:cNvPr id="101" name="Shape 99"/>
          <p:cNvSpPr/>
          <p:nvPr/>
        </p:nvSpPr>
        <p:spPr>
          <a:xfrm>
            <a:off x="5513832" y="5468112"/>
            <a:ext cx="0" cy="0"/>
          </a:xfrm>
          <a:prstGeom prst="line">
            <a:avLst/>
          </a:prstGeom>
          <a:noFill/>
          <a:ln w="20320">
            <a:solidFill>
              <a:srgbClr val="24C9AA"/>
            </a:solidFill>
            <a:prstDash val="solid"/>
            <a:tailEnd type="triangle"/>
          </a:ln>
        </p:spPr>
        <p:txBody>
          <a:bodyPr/>
          <a:lstStyle/>
          <a:p>
            <a:endParaRPr lang="en-US"/>
          </a:p>
        </p:txBody>
      </p:sp>
      <p:sp>
        <p:nvSpPr>
          <p:cNvPr id="102" name="Text 100"/>
          <p:cNvSpPr/>
          <p:nvPr/>
        </p:nvSpPr>
        <p:spPr>
          <a:xfrm>
            <a:off x="3730752" y="5568696"/>
            <a:ext cx="1828800" cy="146304"/>
          </a:xfrm>
          <a:prstGeom prst="rect">
            <a:avLst/>
          </a:prstGeom>
          <a:noFill/>
          <a:ln/>
        </p:spPr>
        <p:txBody>
          <a:bodyPr wrap="square" lIns="0" tIns="0" rIns="0" bIns="0" rtlCol="0" anchor="ctr"/>
          <a:lstStyle/>
          <a:p>
            <a:pPr marL="0" indent="0" algn="ctr">
              <a:buNone/>
            </a:pPr>
            <a:r>
              <a:rPr lang="en-US" sz="760" dirty="0">
                <a:solidFill>
                  <a:srgbClr val="24C9AA"/>
                </a:solidFill>
                <a:latin typeface="Inter" pitchFamily="34" charset="0"/>
                <a:ea typeface="Inter" pitchFamily="34" charset="-122"/>
                <a:cs typeface="Inter" pitchFamily="34" charset="-120"/>
              </a:rPr>
              <a:t>compressed metadata + payload</a:t>
            </a:r>
            <a:endParaRPr lang="en-US" sz="760" dirty="0"/>
          </a:p>
        </p:txBody>
      </p:sp>
      <p:sp>
        <p:nvSpPr>
          <p:cNvPr id="103" name="Shape 101"/>
          <p:cNvSpPr/>
          <p:nvPr/>
        </p:nvSpPr>
        <p:spPr>
          <a:xfrm>
            <a:off x="438912" y="6519672"/>
            <a:ext cx="11064240" cy="0"/>
          </a:xfrm>
          <a:prstGeom prst="line">
            <a:avLst/>
          </a:prstGeom>
          <a:noFill/>
          <a:ln w="10160">
            <a:solidFill>
              <a:srgbClr val="22384E">
                <a:alpha val="70000"/>
              </a:srgbClr>
            </a:solidFill>
            <a:prstDash val="solid"/>
          </a:ln>
        </p:spPr>
        <p:txBody>
          <a:bodyPr/>
          <a:lstStyle/>
          <a:p>
            <a:endParaRPr lang="en-US"/>
          </a:p>
        </p:txBody>
      </p:sp>
      <p:sp>
        <p:nvSpPr>
          <p:cNvPr id="105" name="Slide Number Placeholder 0"/>
          <p:cNvSpPr>
            <a:spLocks noGrp="1"/>
          </p:cNvSpPr>
          <p:nvPr>
            <p:ph type="sldNum" sz="quarter" idx="4294967295"/>
          </p:nvPr>
        </p:nvSpPr>
        <p:spPr>
          <a:xfrm>
            <a:off x="11430000" y="6473952"/>
            <a:ext cx="438912"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7890A4"/>
                </a:solidFill>
                <a:latin typeface="Inter"/>
                <a:ea typeface="Inter"/>
                <a:cs typeface="Inter"/>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9802368" y="0"/>
            <a:ext cx="2386584" cy="2971800"/>
          </a:xfrm>
          <a:prstGeom prst="ellipse">
            <a:avLst/>
          </a:prstGeom>
          <a:solidFill>
            <a:srgbClr val="38D9E6">
              <a:alpha val="8000"/>
            </a:srgbClr>
          </a:solidFill>
          <a:ln w="12700">
            <a:solidFill>
              <a:srgbClr val="38D9E6">
                <a:alpha val="0"/>
              </a:srgbClr>
            </a:solidFill>
            <a:prstDash val="solid"/>
          </a:ln>
        </p:spPr>
        <p:txBody>
          <a:bodyPr/>
          <a:lstStyle/>
          <a:p>
            <a:endParaRPr lang="en-US"/>
          </a:p>
        </p:txBody>
      </p:sp>
      <p:sp>
        <p:nvSpPr>
          <p:cNvPr id="3" name="Shape 1"/>
          <p:cNvSpPr/>
          <p:nvPr/>
        </p:nvSpPr>
        <p:spPr>
          <a:xfrm>
            <a:off x="0" y="5230368"/>
            <a:ext cx="2395728" cy="1627632"/>
          </a:xfrm>
          <a:prstGeom prst="ellipse">
            <a:avLst/>
          </a:prstGeom>
          <a:solidFill>
            <a:srgbClr val="668EFF">
              <a:alpha val="6000"/>
            </a:srgbClr>
          </a:solidFill>
          <a:ln w="12700">
            <a:solidFill>
              <a:srgbClr val="668EFF">
                <a:alpha val="0"/>
              </a:srgbClr>
            </a:solidFill>
            <a:prstDash val="solid"/>
          </a:ln>
        </p:spPr>
        <p:txBody>
          <a:bodyPr/>
          <a:lstStyle/>
          <a:p>
            <a:endParaRPr lang="en-US"/>
          </a:p>
        </p:txBody>
      </p:sp>
      <p:sp>
        <p:nvSpPr>
          <p:cNvPr id="4" name="Shape 2"/>
          <p:cNvSpPr/>
          <p:nvPr/>
        </p:nvSpPr>
        <p:spPr>
          <a:xfrm>
            <a:off x="457200" y="0"/>
            <a:ext cx="0" cy="6858000"/>
          </a:xfrm>
          <a:prstGeom prst="line">
            <a:avLst/>
          </a:prstGeom>
          <a:noFill/>
          <a:ln w="5080">
            <a:solidFill>
              <a:srgbClr val="22384E">
                <a:alpha val="6000"/>
              </a:srgbClr>
            </a:solidFill>
            <a:prstDash val="solid"/>
          </a:ln>
        </p:spPr>
        <p:txBody>
          <a:bodyPr/>
          <a:lstStyle/>
          <a:p>
            <a:endParaRPr lang="en-US"/>
          </a:p>
        </p:txBody>
      </p:sp>
      <p:sp>
        <p:nvSpPr>
          <p:cNvPr id="5" name="Shape 3"/>
          <p:cNvSpPr/>
          <p:nvPr/>
        </p:nvSpPr>
        <p:spPr>
          <a:xfrm>
            <a:off x="960120" y="0"/>
            <a:ext cx="0" cy="6858000"/>
          </a:xfrm>
          <a:prstGeom prst="line">
            <a:avLst/>
          </a:prstGeom>
          <a:noFill/>
          <a:ln w="5080">
            <a:solidFill>
              <a:srgbClr val="22384E">
                <a:alpha val="6000"/>
              </a:srgbClr>
            </a:solidFill>
            <a:prstDash val="solid"/>
          </a:ln>
        </p:spPr>
        <p:txBody>
          <a:bodyPr/>
          <a:lstStyle/>
          <a:p>
            <a:endParaRPr lang="en-US"/>
          </a:p>
        </p:txBody>
      </p:sp>
      <p:sp>
        <p:nvSpPr>
          <p:cNvPr id="6" name="Shape 4"/>
          <p:cNvSpPr/>
          <p:nvPr/>
        </p:nvSpPr>
        <p:spPr>
          <a:xfrm>
            <a:off x="1463040" y="0"/>
            <a:ext cx="0" cy="6858000"/>
          </a:xfrm>
          <a:prstGeom prst="line">
            <a:avLst/>
          </a:prstGeom>
          <a:noFill/>
          <a:ln w="5080">
            <a:solidFill>
              <a:srgbClr val="22384E">
                <a:alpha val="6000"/>
              </a:srgbClr>
            </a:solidFill>
            <a:prstDash val="solid"/>
          </a:ln>
        </p:spPr>
        <p:txBody>
          <a:bodyPr/>
          <a:lstStyle/>
          <a:p>
            <a:endParaRPr lang="en-US"/>
          </a:p>
        </p:txBody>
      </p:sp>
      <p:sp>
        <p:nvSpPr>
          <p:cNvPr id="7" name="Shape 5"/>
          <p:cNvSpPr/>
          <p:nvPr/>
        </p:nvSpPr>
        <p:spPr>
          <a:xfrm>
            <a:off x="1965960" y="0"/>
            <a:ext cx="0" cy="6858000"/>
          </a:xfrm>
          <a:prstGeom prst="line">
            <a:avLst/>
          </a:prstGeom>
          <a:noFill/>
          <a:ln w="5080">
            <a:solidFill>
              <a:srgbClr val="22384E">
                <a:alpha val="6000"/>
              </a:srgbClr>
            </a:solidFill>
            <a:prstDash val="solid"/>
          </a:ln>
        </p:spPr>
        <p:txBody>
          <a:bodyPr/>
          <a:lstStyle/>
          <a:p>
            <a:endParaRPr lang="en-US"/>
          </a:p>
        </p:txBody>
      </p:sp>
      <p:sp>
        <p:nvSpPr>
          <p:cNvPr id="8" name="Shape 6"/>
          <p:cNvSpPr/>
          <p:nvPr/>
        </p:nvSpPr>
        <p:spPr>
          <a:xfrm>
            <a:off x="2468880" y="0"/>
            <a:ext cx="0" cy="6858000"/>
          </a:xfrm>
          <a:prstGeom prst="line">
            <a:avLst/>
          </a:prstGeom>
          <a:noFill/>
          <a:ln w="5080">
            <a:solidFill>
              <a:srgbClr val="22384E">
                <a:alpha val="6000"/>
              </a:srgbClr>
            </a:solidFill>
            <a:prstDash val="solid"/>
          </a:ln>
        </p:spPr>
        <p:txBody>
          <a:bodyPr/>
          <a:lstStyle/>
          <a:p>
            <a:endParaRPr lang="en-US"/>
          </a:p>
        </p:txBody>
      </p:sp>
      <p:sp>
        <p:nvSpPr>
          <p:cNvPr id="9" name="Shape 7"/>
          <p:cNvSpPr/>
          <p:nvPr/>
        </p:nvSpPr>
        <p:spPr>
          <a:xfrm>
            <a:off x="2971800" y="0"/>
            <a:ext cx="0" cy="6858000"/>
          </a:xfrm>
          <a:prstGeom prst="line">
            <a:avLst/>
          </a:prstGeom>
          <a:noFill/>
          <a:ln w="5080">
            <a:solidFill>
              <a:srgbClr val="22384E">
                <a:alpha val="6000"/>
              </a:srgbClr>
            </a:solidFill>
            <a:prstDash val="solid"/>
          </a:ln>
        </p:spPr>
        <p:txBody>
          <a:bodyPr/>
          <a:lstStyle/>
          <a:p>
            <a:endParaRPr lang="en-US"/>
          </a:p>
        </p:txBody>
      </p:sp>
      <p:sp>
        <p:nvSpPr>
          <p:cNvPr id="10" name="Shape 8"/>
          <p:cNvSpPr/>
          <p:nvPr/>
        </p:nvSpPr>
        <p:spPr>
          <a:xfrm>
            <a:off x="3474720" y="0"/>
            <a:ext cx="0" cy="6858000"/>
          </a:xfrm>
          <a:prstGeom prst="line">
            <a:avLst/>
          </a:prstGeom>
          <a:noFill/>
          <a:ln w="5080">
            <a:solidFill>
              <a:srgbClr val="22384E">
                <a:alpha val="6000"/>
              </a:srgbClr>
            </a:solidFill>
            <a:prstDash val="solid"/>
          </a:ln>
        </p:spPr>
        <p:txBody>
          <a:bodyPr/>
          <a:lstStyle/>
          <a:p>
            <a:endParaRPr lang="en-US"/>
          </a:p>
        </p:txBody>
      </p:sp>
      <p:sp>
        <p:nvSpPr>
          <p:cNvPr id="11" name="Shape 9"/>
          <p:cNvSpPr/>
          <p:nvPr/>
        </p:nvSpPr>
        <p:spPr>
          <a:xfrm>
            <a:off x="3977640" y="0"/>
            <a:ext cx="0" cy="6858000"/>
          </a:xfrm>
          <a:prstGeom prst="line">
            <a:avLst/>
          </a:prstGeom>
          <a:noFill/>
          <a:ln w="5080">
            <a:solidFill>
              <a:srgbClr val="22384E">
                <a:alpha val="6000"/>
              </a:srgbClr>
            </a:solidFill>
            <a:prstDash val="solid"/>
          </a:ln>
        </p:spPr>
        <p:txBody>
          <a:bodyPr/>
          <a:lstStyle/>
          <a:p>
            <a:endParaRPr lang="en-US"/>
          </a:p>
        </p:txBody>
      </p:sp>
      <p:sp>
        <p:nvSpPr>
          <p:cNvPr id="12" name="Shape 10"/>
          <p:cNvSpPr/>
          <p:nvPr/>
        </p:nvSpPr>
        <p:spPr>
          <a:xfrm>
            <a:off x="4480560" y="0"/>
            <a:ext cx="0" cy="6858000"/>
          </a:xfrm>
          <a:prstGeom prst="line">
            <a:avLst/>
          </a:prstGeom>
          <a:noFill/>
          <a:ln w="5080">
            <a:solidFill>
              <a:srgbClr val="22384E">
                <a:alpha val="6000"/>
              </a:srgbClr>
            </a:solidFill>
            <a:prstDash val="solid"/>
          </a:ln>
        </p:spPr>
        <p:txBody>
          <a:bodyPr/>
          <a:lstStyle/>
          <a:p>
            <a:endParaRPr lang="en-US"/>
          </a:p>
        </p:txBody>
      </p:sp>
      <p:sp>
        <p:nvSpPr>
          <p:cNvPr id="13" name="Shape 11"/>
          <p:cNvSpPr/>
          <p:nvPr/>
        </p:nvSpPr>
        <p:spPr>
          <a:xfrm>
            <a:off x="4983480" y="0"/>
            <a:ext cx="0" cy="6858000"/>
          </a:xfrm>
          <a:prstGeom prst="line">
            <a:avLst/>
          </a:prstGeom>
          <a:noFill/>
          <a:ln w="5080">
            <a:solidFill>
              <a:srgbClr val="22384E">
                <a:alpha val="6000"/>
              </a:srgbClr>
            </a:solidFill>
            <a:prstDash val="solid"/>
          </a:ln>
        </p:spPr>
        <p:txBody>
          <a:bodyPr/>
          <a:lstStyle/>
          <a:p>
            <a:endParaRPr lang="en-US"/>
          </a:p>
        </p:txBody>
      </p:sp>
      <p:sp>
        <p:nvSpPr>
          <p:cNvPr id="14" name="Shape 12"/>
          <p:cNvSpPr/>
          <p:nvPr/>
        </p:nvSpPr>
        <p:spPr>
          <a:xfrm>
            <a:off x="5486400" y="0"/>
            <a:ext cx="0" cy="6858000"/>
          </a:xfrm>
          <a:prstGeom prst="line">
            <a:avLst/>
          </a:prstGeom>
          <a:noFill/>
          <a:ln w="5080">
            <a:solidFill>
              <a:srgbClr val="22384E">
                <a:alpha val="6000"/>
              </a:srgbClr>
            </a:solidFill>
            <a:prstDash val="solid"/>
          </a:ln>
        </p:spPr>
        <p:txBody>
          <a:bodyPr/>
          <a:lstStyle/>
          <a:p>
            <a:endParaRPr lang="en-US"/>
          </a:p>
        </p:txBody>
      </p:sp>
      <p:sp>
        <p:nvSpPr>
          <p:cNvPr id="15" name="Shape 13"/>
          <p:cNvSpPr/>
          <p:nvPr/>
        </p:nvSpPr>
        <p:spPr>
          <a:xfrm>
            <a:off x="5989320" y="0"/>
            <a:ext cx="0" cy="6858000"/>
          </a:xfrm>
          <a:prstGeom prst="line">
            <a:avLst/>
          </a:prstGeom>
          <a:noFill/>
          <a:ln w="5080">
            <a:solidFill>
              <a:srgbClr val="22384E">
                <a:alpha val="6000"/>
              </a:srgbClr>
            </a:solidFill>
            <a:prstDash val="solid"/>
          </a:ln>
        </p:spPr>
        <p:txBody>
          <a:bodyPr/>
          <a:lstStyle/>
          <a:p>
            <a:endParaRPr lang="en-US"/>
          </a:p>
        </p:txBody>
      </p:sp>
      <p:sp>
        <p:nvSpPr>
          <p:cNvPr id="16" name="Shape 14"/>
          <p:cNvSpPr/>
          <p:nvPr/>
        </p:nvSpPr>
        <p:spPr>
          <a:xfrm>
            <a:off x="6492240" y="0"/>
            <a:ext cx="0" cy="6858000"/>
          </a:xfrm>
          <a:prstGeom prst="line">
            <a:avLst/>
          </a:prstGeom>
          <a:noFill/>
          <a:ln w="5080">
            <a:solidFill>
              <a:srgbClr val="22384E">
                <a:alpha val="6000"/>
              </a:srgbClr>
            </a:solidFill>
            <a:prstDash val="solid"/>
          </a:ln>
        </p:spPr>
        <p:txBody>
          <a:bodyPr/>
          <a:lstStyle/>
          <a:p>
            <a:endParaRPr lang="en-US"/>
          </a:p>
        </p:txBody>
      </p:sp>
      <p:sp>
        <p:nvSpPr>
          <p:cNvPr id="17" name="Shape 15"/>
          <p:cNvSpPr/>
          <p:nvPr/>
        </p:nvSpPr>
        <p:spPr>
          <a:xfrm>
            <a:off x="6995160" y="0"/>
            <a:ext cx="0" cy="6858000"/>
          </a:xfrm>
          <a:prstGeom prst="line">
            <a:avLst/>
          </a:prstGeom>
          <a:noFill/>
          <a:ln w="5080">
            <a:solidFill>
              <a:srgbClr val="22384E">
                <a:alpha val="6000"/>
              </a:srgbClr>
            </a:solidFill>
            <a:prstDash val="solid"/>
          </a:ln>
        </p:spPr>
        <p:txBody>
          <a:bodyPr/>
          <a:lstStyle/>
          <a:p>
            <a:endParaRPr lang="en-US"/>
          </a:p>
        </p:txBody>
      </p:sp>
      <p:sp>
        <p:nvSpPr>
          <p:cNvPr id="18" name="Shape 16"/>
          <p:cNvSpPr/>
          <p:nvPr/>
        </p:nvSpPr>
        <p:spPr>
          <a:xfrm>
            <a:off x="7498080" y="0"/>
            <a:ext cx="0" cy="6858000"/>
          </a:xfrm>
          <a:prstGeom prst="line">
            <a:avLst/>
          </a:prstGeom>
          <a:noFill/>
          <a:ln w="5080">
            <a:solidFill>
              <a:srgbClr val="22384E">
                <a:alpha val="6000"/>
              </a:srgbClr>
            </a:solidFill>
            <a:prstDash val="solid"/>
          </a:ln>
        </p:spPr>
        <p:txBody>
          <a:bodyPr/>
          <a:lstStyle/>
          <a:p>
            <a:endParaRPr lang="en-US"/>
          </a:p>
        </p:txBody>
      </p:sp>
      <p:sp>
        <p:nvSpPr>
          <p:cNvPr id="19" name="Shape 17"/>
          <p:cNvSpPr/>
          <p:nvPr/>
        </p:nvSpPr>
        <p:spPr>
          <a:xfrm>
            <a:off x="8001000" y="0"/>
            <a:ext cx="0" cy="6858000"/>
          </a:xfrm>
          <a:prstGeom prst="line">
            <a:avLst/>
          </a:prstGeom>
          <a:noFill/>
          <a:ln w="5080">
            <a:solidFill>
              <a:srgbClr val="22384E">
                <a:alpha val="6000"/>
              </a:srgbClr>
            </a:solidFill>
            <a:prstDash val="solid"/>
          </a:ln>
        </p:spPr>
        <p:txBody>
          <a:bodyPr/>
          <a:lstStyle/>
          <a:p>
            <a:endParaRPr lang="en-US"/>
          </a:p>
        </p:txBody>
      </p:sp>
      <p:sp>
        <p:nvSpPr>
          <p:cNvPr id="20" name="Shape 18"/>
          <p:cNvSpPr/>
          <p:nvPr/>
        </p:nvSpPr>
        <p:spPr>
          <a:xfrm>
            <a:off x="8503920" y="0"/>
            <a:ext cx="0" cy="6858000"/>
          </a:xfrm>
          <a:prstGeom prst="line">
            <a:avLst/>
          </a:prstGeom>
          <a:noFill/>
          <a:ln w="5080">
            <a:solidFill>
              <a:srgbClr val="22384E">
                <a:alpha val="6000"/>
              </a:srgbClr>
            </a:solidFill>
            <a:prstDash val="solid"/>
          </a:ln>
        </p:spPr>
        <p:txBody>
          <a:bodyPr/>
          <a:lstStyle/>
          <a:p>
            <a:endParaRPr lang="en-US"/>
          </a:p>
        </p:txBody>
      </p:sp>
      <p:sp>
        <p:nvSpPr>
          <p:cNvPr id="21" name="Shape 19"/>
          <p:cNvSpPr/>
          <p:nvPr/>
        </p:nvSpPr>
        <p:spPr>
          <a:xfrm>
            <a:off x="9006840" y="0"/>
            <a:ext cx="0" cy="6858000"/>
          </a:xfrm>
          <a:prstGeom prst="line">
            <a:avLst/>
          </a:prstGeom>
          <a:noFill/>
          <a:ln w="5080">
            <a:solidFill>
              <a:srgbClr val="22384E">
                <a:alpha val="6000"/>
              </a:srgbClr>
            </a:solidFill>
            <a:prstDash val="solid"/>
          </a:ln>
        </p:spPr>
        <p:txBody>
          <a:bodyPr/>
          <a:lstStyle/>
          <a:p>
            <a:endParaRPr lang="en-US"/>
          </a:p>
        </p:txBody>
      </p:sp>
      <p:sp>
        <p:nvSpPr>
          <p:cNvPr id="22" name="Shape 20"/>
          <p:cNvSpPr/>
          <p:nvPr/>
        </p:nvSpPr>
        <p:spPr>
          <a:xfrm>
            <a:off x="9509760" y="0"/>
            <a:ext cx="0" cy="6858000"/>
          </a:xfrm>
          <a:prstGeom prst="line">
            <a:avLst/>
          </a:prstGeom>
          <a:noFill/>
          <a:ln w="5080">
            <a:solidFill>
              <a:srgbClr val="22384E">
                <a:alpha val="6000"/>
              </a:srgbClr>
            </a:solidFill>
            <a:prstDash val="solid"/>
          </a:ln>
        </p:spPr>
        <p:txBody>
          <a:bodyPr/>
          <a:lstStyle/>
          <a:p>
            <a:endParaRPr lang="en-US"/>
          </a:p>
        </p:txBody>
      </p:sp>
      <p:sp>
        <p:nvSpPr>
          <p:cNvPr id="23" name="Shape 21"/>
          <p:cNvSpPr/>
          <p:nvPr/>
        </p:nvSpPr>
        <p:spPr>
          <a:xfrm>
            <a:off x="10012680" y="0"/>
            <a:ext cx="0" cy="6858000"/>
          </a:xfrm>
          <a:prstGeom prst="line">
            <a:avLst/>
          </a:prstGeom>
          <a:noFill/>
          <a:ln w="5080">
            <a:solidFill>
              <a:srgbClr val="22384E">
                <a:alpha val="6000"/>
              </a:srgbClr>
            </a:solidFill>
            <a:prstDash val="solid"/>
          </a:ln>
        </p:spPr>
        <p:txBody>
          <a:bodyPr/>
          <a:lstStyle/>
          <a:p>
            <a:endParaRPr lang="en-US"/>
          </a:p>
        </p:txBody>
      </p:sp>
      <p:sp>
        <p:nvSpPr>
          <p:cNvPr id="24" name="Shape 22"/>
          <p:cNvSpPr/>
          <p:nvPr/>
        </p:nvSpPr>
        <p:spPr>
          <a:xfrm>
            <a:off x="10515600" y="0"/>
            <a:ext cx="0" cy="6858000"/>
          </a:xfrm>
          <a:prstGeom prst="line">
            <a:avLst/>
          </a:prstGeom>
          <a:noFill/>
          <a:ln w="5080">
            <a:solidFill>
              <a:srgbClr val="22384E">
                <a:alpha val="6000"/>
              </a:srgbClr>
            </a:solidFill>
            <a:prstDash val="solid"/>
          </a:ln>
        </p:spPr>
        <p:txBody>
          <a:bodyPr/>
          <a:lstStyle/>
          <a:p>
            <a:endParaRPr lang="en-US"/>
          </a:p>
        </p:txBody>
      </p:sp>
      <p:sp>
        <p:nvSpPr>
          <p:cNvPr id="25" name="Shape 23"/>
          <p:cNvSpPr/>
          <p:nvPr/>
        </p:nvSpPr>
        <p:spPr>
          <a:xfrm>
            <a:off x="11018520" y="0"/>
            <a:ext cx="0" cy="6858000"/>
          </a:xfrm>
          <a:prstGeom prst="line">
            <a:avLst/>
          </a:prstGeom>
          <a:noFill/>
          <a:ln w="5080">
            <a:solidFill>
              <a:srgbClr val="22384E">
                <a:alpha val="6000"/>
              </a:srgbClr>
            </a:solidFill>
            <a:prstDash val="solid"/>
          </a:ln>
        </p:spPr>
        <p:txBody>
          <a:bodyPr/>
          <a:lstStyle/>
          <a:p>
            <a:endParaRPr lang="en-US"/>
          </a:p>
        </p:txBody>
      </p:sp>
      <p:sp>
        <p:nvSpPr>
          <p:cNvPr id="26" name="Shape 24"/>
          <p:cNvSpPr/>
          <p:nvPr/>
        </p:nvSpPr>
        <p:spPr>
          <a:xfrm>
            <a:off x="11521440" y="0"/>
            <a:ext cx="0" cy="6858000"/>
          </a:xfrm>
          <a:prstGeom prst="line">
            <a:avLst/>
          </a:prstGeom>
          <a:noFill/>
          <a:ln w="5080">
            <a:solidFill>
              <a:srgbClr val="22384E">
                <a:alpha val="6000"/>
              </a:srgbClr>
            </a:solidFill>
            <a:prstDash val="solid"/>
          </a:ln>
        </p:spPr>
        <p:txBody>
          <a:bodyPr/>
          <a:lstStyle/>
          <a:p>
            <a:endParaRPr lang="en-US"/>
          </a:p>
        </p:txBody>
      </p:sp>
      <p:sp>
        <p:nvSpPr>
          <p:cNvPr id="27" name="Shape 25"/>
          <p:cNvSpPr/>
          <p:nvPr/>
        </p:nvSpPr>
        <p:spPr>
          <a:xfrm>
            <a:off x="0" y="320040"/>
            <a:ext cx="12191695" cy="0"/>
          </a:xfrm>
          <a:prstGeom prst="line">
            <a:avLst/>
          </a:prstGeom>
          <a:noFill/>
          <a:ln w="5080">
            <a:solidFill>
              <a:srgbClr val="22384E">
                <a:alpha val="5000"/>
              </a:srgbClr>
            </a:solidFill>
            <a:prstDash val="solid"/>
          </a:ln>
        </p:spPr>
        <p:txBody>
          <a:bodyPr/>
          <a:lstStyle/>
          <a:p>
            <a:endParaRPr lang="en-US"/>
          </a:p>
        </p:txBody>
      </p:sp>
      <p:sp>
        <p:nvSpPr>
          <p:cNvPr id="28" name="Shape 26"/>
          <p:cNvSpPr/>
          <p:nvPr/>
        </p:nvSpPr>
        <p:spPr>
          <a:xfrm>
            <a:off x="0" y="822960"/>
            <a:ext cx="12191695" cy="0"/>
          </a:xfrm>
          <a:prstGeom prst="line">
            <a:avLst/>
          </a:prstGeom>
          <a:noFill/>
          <a:ln w="5080">
            <a:solidFill>
              <a:srgbClr val="22384E">
                <a:alpha val="5000"/>
              </a:srgbClr>
            </a:solidFill>
            <a:prstDash val="solid"/>
          </a:ln>
        </p:spPr>
        <p:txBody>
          <a:bodyPr/>
          <a:lstStyle/>
          <a:p>
            <a:endParaRPr lang="en-US"/>
          </a:p>
        </p:txBody>
      </p:sp>
      <p:sp>
        <p:nvSpPr>
          <p:cNvPr id="29" name="Shape 27"/>
          <p:cNvSpPr/>
          <p:nvPr/>
        </p:nvSpPr>
        <p:spPr>
          <a:xfrm>
            <a:off x="0" y="1325880"/>
            <a:ext cx="12191695" cy="0"/>
          </a:xfrm>
          <a:prstGeom prst="line">
            <a:avLst/>
          </a:prstGeom>
          <a:noFill/>
          <a:ln w="5080">
            <a:solidFill>
              <a:srgbClr val="22384E">
                <a:alpha val="5000"/>
              </a:srgbClr>
            </a:solidFill>
            <a:prstDash val="solid"/>
          </a:ln>
        </p:spPr>
        <p:txBody>
          <a:bodyPr/>
          <a:lstStyle/>
          <a:p>
            <a:endParaRPr lang="en-US"/>
          </a:p>
        </p:txBody>
      </p:sp>
      <p:sp>
        <p:nvSpPr>
          <p:cNvPr id="30" name="Shape 28"/>
          <p:cNvSpPr/>
          <p:nvPr/>
        </p:nvSpPr>
        <p:spPr>
          <a:xfrm>
            <a:off x="0" y="1828800"/>
            <a:ext cx="12191695" cy="0"/>
          </a:xfrm>
          <a:prstGeom prst="line">
            <a:avLst/>
          </a:prstGeom>
          <a:noFill/>
          <a:ln w="5080">
            <a:solidFill>
              <a:srgbClr val="22384E">
                <a:alpha val="5000"/>
              </a:srgbClr>
            </a:solidFill>
            <a:prstDash val="solid"/>
          </a:ln>
        </p:spPr>
        <p:txBody>
          <a:bodyPr/>
          <a:lstStyle/>
          <a:p>
            <a:endParaRPr lang="en-US"/>
          </a:p>
        </p:txBody>
      </p:sp>
      <p:sp>
        <p:nvSpPr>
          <p:cNvPr id="31" name="Shape 29"/>
          <p:cNvSpPr/>
          <p:nvPr/>
        </p:nvSpPr>
        <p:spPr>
          <a:xfrm>
            <a:off x="0" y="2331720"/>
            <a:ext cx="12191695" cy="0"/>
          </a:xfrm>
          <a:prstGeom prst="line">
            <a:avLst/>
          </a:prstGeom>
          <a:noFill/>
          <a:ln w="5080">
            <a:solidFill>
              <a:srgbClr val="22384E">
                <a:alpha val="5000"/>
              </a:srgbClr>
            </a:solidFill>
            <a:prstDash val="solid"/>
          </a:ln>
        </p:spPr>
        <p:txBody>
          <a:bodyPr/>
          <a:lstStyle/>
          <a:p>
            <a:endParaRPr lang="en-US"/>
          </a:p>
        </p:txBody>
      </p:sp>
      <p:sp>
        <p:nvSpPr>
          <p:cNvPr id="32" name="Shape 30"/>
          <p:cNvSpPr/>
          <p:nvPr/>
        </p:nvSpPr>
        <p:spPr>
          <a:xfrm>
            <a:off x="0" y="2834640"/>
            <a:ext cx="12191695" cy="0"/>
          </a:xfrm>
          <a:prstGeom prst="line">
            <a:avLst/>
          </a:prstGeom>
          <a:noFill/>
          <a:ln w="5080">
            <a:solidFill>
              <a:srgbClr val="22384E">
                <a:alpha val="5000"/>
              </a:srgbClr>
            </a:solidFill>
            <a:prstDash val="solid"/>
          </a:ln>
        </p:spPr>
        <p:txBody>
          <a:bodyPr/>
          <a:lstStyle/>
          <a:p>
            <a:endParaRPr lang="en-US"/>
          </a:p>
        </p:txBody>
      </p:sp>
      <p:sp>
        <p:nvSpPr>
          <p:cNvPr id="33" name="Shape 31"/>
          <p:cNvSpPr/>
          <p:nvPr/>
        </p:nvSpPr>
        <p:spPr>
          <a:xfrm>
            <a:off x="0" y="3337560"/>
            <a:ext cx="12191695" cy="0"/>
          </a:xfrm>
          <a:prstGeom prst="line">
            <a:avLst/>
          </a:prstGeom>
          <a:noFill/>
          <a:ln w="5080">
            <a:solidFill>
              <a:srgbClr val="22384E">
                <a:alpha val="5000"/>
              </a:srgbClr>
            </a:solidFill>
            <a:prstDash val="solid"/>
          </a:ln>
        </p:spPr>
        <p:txBody>
          <a:bodyPr/>
          <a:lstStyle/>
          <a:p>
            <a:endParaRPr lang="en-US"/>
          </a:p>
        </p:txBody>
      </p:sp>
      <p:sp>
        <p:nvSpPr>
          <p:cNvPr id="34" name="Shape 32"/>
          <p:cNvSpPr/>
          <p:nvPr/>
        </p:nvSpPr>
        <p:spPr>
          <a:xfrm>
            <a:off x="0" y="3840480"/>
            <a:ext cx="12191695" cy="0"/>
          </a:xfrm>
          <a:prstGeom prst="line">
            <a:avLst/>
          </a:prstGeom>
          <a:noFill/>
          <a:ln w="5080">
            <a:solidFill>
              <a:srgbClr val="22384E">
                <a:alpha val="5000"/>
              </a:srgbClr>
            </a:solidFill>
            <a:prstDash val="solid"/>
          </a:ln>
        </p:spPr>
        <p:txBody>
          <a:bodyPr/>
          <a:lstStyle/>
          <a:p>
            <a:endParaRPr lang="en-US"/>
          </a:p>
        </p:txBody>
      </p:sp>
      <p:sp>
        <p:nvSpPr>
          <p:cNvPr id="35" name="Shape 33"/>
          <p:cNvSpPr/>
          <p:nvPr/>
        </p:nvSpPr>
        <p:spPr>
          <a:xfrm>
            <a:off x="0" y="4343400"/>
            <a:ext cx="12191695" cy="0"/>
          </a:xfrm>
          <a:prstGeom prst="line">
            <a:avLst/>
          </a:prstGeom>
          <a:noFill/>
          <a:ln w="5080">
            <a:solidFill>
              <a:srgbClr val="22384E">
                <a:alpha val="5000"/>
              </a:srgbClr>
            </a:solidFill>
            <a:prstDash val="solid"/>
          </a:ln>
        </p:spPr>
        <p:txBody>
          <a:bodyPr/>
          <a:lstStyle/>
          <a:p>
            <a:endParaRPr lang="en-US"/>
          </a:p>
        </p:txBody>
      </p:sp>
      <p:sp>
        <p:nvSpPr>
          <p:cNvPr id="36" name="Shape 34"/>
          <p:cNvSpPr/>
          <p:nvPr/>
        </p:nvSpPr>
        <p:spPr>
          <a:xfrm>
            <a:off x="0" y="4846320"/>
            <a:ext cx="12191695" cy="0"/>
          </a:xfrm>
          <a:prstGeom prst="line">
            <a:avLst/>
          </a:prstGeom>
          <a:noFill/>
          <a:ln w="5080">
            <a:solidFill>
              <a:srgbClr val="22384E">
                <a:alpha val="5000"/>
              </a:srgbClr>
            </a:solidFill>
            <a:prstDash val="solid"/>
          </a:ln>
        </p:spPr>
        <p:txBody>
          <a:bodyPr/>
          <a:lstStyle/>
          <a:p>
            <a:endParaRPr lang="en-US"/>
          </a:p>
        </p:txBody>
      </p:sp>
      <p:sp>
        <p:nvSpPr>
          <p:cNvPr id="37" name="Shape 35"/>
          <p:cNvSpPr/>
          <p:nvPr/>
        </p:nvSpPr>
        <p:spPr>
          <a:xfrm>
            <a:off x="0" y="5349240"/>
            <a:ext cx="12191695" cy="0"/>
          </a:xfrm>
          <a:prstGeom prst="line">
            <a:avLst/>
          </a:prstGeom>
          <a:noFill/>
          <a:ln w="5080">
            <a:solidFill>
              <a:srgbClr val="22384E">
                <a:alpha val="5000"/>
              </a:srgbClr>
            </a:solidFill>
            <a:prstDash val="solid"/>
          </a:ln>
        </p:spPr>
        <p:txBody>
          <a:bodyPr/>
          <a:lstStyle/>
          <a:p>
            <a:endParaRPr lang="en-US"/>
          </a:p>
        </p:txBody>
      </p:sp>
      <p:sp>
        <p:nvSpPr>
          <p:cNvPr id="38" name="Shape 36"/>
          <p:cNvSpPr/>
          <p:nvPr/>
        </p:nvSpPr>
        <p:spPr>
          <a:xfrm>
            <a:off x="0" y="5852160"/>
            <a:ext cx="12191695" cy="0"/>
          </a:xfrm>
          <a:prstGeom prst="line">
            <a:avLst/>
          </a:prstGeom>
          <a:noFill/>
          <a:ln w="5080">
            <a:solidFill>
              <a:srgbClr val="22384E">
                <a:alpha val="5000"/>
              </a:srgbClr>
            </a:solidFill>
            <a:prstDash val="solid"/>
          </a:ln>
        </p:spPr>
        <p:txBody>
          <a:bodyPr/>
          <a:lstStyle/>
          <a:p>
            <a:endParaRPr lang="en-US"/>
          </a:p>
        </p:txBody>
      </p:sp>
      <p:sp>
        <p:nvSpPr>
          <p:cNvPr id="39" name="Shape 37"/>
          <p:cNvSpPr/>
          <p:nvPr/>
        </p:nvSpPr>
        <p:spPr>
          <a:xfrm>
            <a:off x="0" y="6355080"/>
            <a:ext cx="12191695" cy="0"/>
          </a:xfrm>
          <a:prstGeom prst="line">
            <a:avLst/>
          </a:prstGeom>
          <a:noFill/>
          <a:ln w="5080">
            <a:solidFill>
              <a:srgbClr val="22384E">
                <a:alpha val="5000"/>
              </a:srgbClr>
            </a:solidFill>
            <a:prstDash val="solid"/>
          </a:ln>
        </p:spPr>
        <p:txBody>
          <a:bodyPr/>
          <a:lstStyle/>
          <a:p>
            <a:endParaRPr lang="en-US"/>
          </a:p>
        </p:txBody>
      </p:sp>
      <p:sp>
        <p:nvSpPr>
          <p:cNvPr id="40" name="Shape 38"/>
          <p:cNvSpPr/>
          <p:nvPr/>
        </p:nvSpPr>
        <p:spPr>
          <a:xfrm>
            <a:off x="0" y="6858000"/>
            <a:ext cx="12191695" cy="0"/>
          </a:xfrm>
          <a:prstGeom prst="line">
            <a:avLst/>
          </a:prstGeom>
          <a:noFill/>
          <a:ln w="5080">
            <a:solidFill>
              <a:srgbClr val="22384E">
                <a:alpha val="5000"/>
              </a:srgbClr>
            </a:solidFill>
            <a:prstDash val="solid"/>
          </a:ln>
        </p:spPr>
        <p:txBody>
          <a:bodyPr/>
          <a:lstStyle/>
          <a:p>
            <a:endParaRPr lang="en-US"/>
          </a:p>
        </p:txBody>
      </p:sp>
      <p:sp>
        <p:nvSpPr>
          <p:cNvPr id="41" name="Text 39"/>
          <p:cNvSpPr/>
          <p:nvPr/>
        </p:nvSpPr>
        <p:spPr>
          <a:xfrm>
            <a:off x="438912" y="256032"/>
            <a:ext cx="4114800" cy="201168"/>
          </a:xfrm>
          <a:prstGeom prst="rect">
            <a:avLst/>
          </a:prstGeom>
          <a:noFill/>
          <a:ln/>
        </p:spPr>
        <p:txBody>
          <a:bodyPr wrap="square" lIns="0" tIns="0" rIns="0" bIns="0" rtlCol="0" anchor="ctr"/>
          <a:lstStyle/>
          <a:p>
            <a:pPr marL="0" indent="0">
              <a:buNone/>
            </a:pPr>
            <a:r>
              <a:rPr lang="en-US" sz="950" b="1" kern="0" spc="170" dirty="0">
                <a:solidFill>
                  <a:srgbClr val="38D9E6"/>
                </a:solidFill>
                <a:latin typeface="Inter" pitchFamily="34" charset="0"/>
                <a:ea typeface="Inter" pitchFamily="34" charset="-122"/>
                <a:cs typeface="Inter" pitchFamily="34" charset="-120"/>
              </a:rPr>
              <a:t>DESIGN — HLS IMPLEMENTATION</a:t>
            </a:r>
            <a:endParaRPr lang="en-US" sz="950" dirty="0"/>
          </a:p>
        </p:txBody>
      </p:sp>
      <p:sp>
        <p:nvSpPr>
          <p:cNvPr id="42" name="Shape 40"/>
          <p:cNvSpPr/>
          <p:nvPr/>
        </p:nvSpPr>
        <p:spPr>
          <a:xfrm>
            <a:off x="438912" y="539496"/>
            <a:ext cx="438912" cy="0"/>
          </a:xfrm>
          <a:prstGeom prst="line">
            <a:avLst/>
          </a:prstGeom>
          <a:noFill/>
          <a:ln w="44450">
            <a:solidFill>
              <a:srgbClr val="38D9E6"/>
            </a:solidFill>
            <a:prstDash val="solid"/>
            <a:headEnd type="none"/>
            <a:tailEnd type="none"/>
          </a:ln>
        </p:spPr>
        <p:txBody>
          <a:bodyPr/>
          <a:lstStyle/>
          <a:p>
            <a:endParaRPr lang="en-US"/>
          </a:p>
        </p:txBody>
      </p:sp>
      <p:sp>
        <p:nvSpPr>
          <p:cNvPr id="43" name="Text 41"/>
          <p:cNvSpPr/>
          <p:nvPr/>
        </p:nvSpPr>
        <p:spPr>
          <a:xfrm>
            <a:off x="438912" y="658368"/>
            <a:ext cx="11064240" cy="566928"/>
          </a:xfrm>
          <a:prstGeom prst="rect">
            <a:avLst/>
          </a:prstGeom>
          <a:noFill/>
          <a:ln/>
        </p:spPr>
        <p:txBody>
          <a:bodyPr wrap="square" lIns="0" tIns="0" rIns="0" bIns="0" rtlCol="0" anchor="ctr">
            <a:normAutofit/>
          </a:bodyPr>
          <a:lstStyle/>
          <a:p>
            <a:pPr marL="0" indent="0">
              <a:buNone/>
            </a:pPr>
            <a:r>
              <a:rPr lang="en-US" sz="2700" b="1" dirty="0">
                <a:solidFill>
                  <a:srgbClr val="F4F8FB"/>
                </a:solidFill>
                <a:latin typeface="Inter Display" pitchFamily="34" charset="0"/>
                <a:ea typeface="Inter Display" pitchFamily="34" charset="-122"/>
                <a:cs typeface="Inter Display" pitchFamily="34" charset="-120"/>
              </a:rPr>
              <a:t>Where parallelism was introduced — and where it was not</a:t>
            </a:r>
            <a:endParaRPr lang="en-US" sz="2700" dirty="0"/>
          </a:p>
        </p:txBody>
      </p:sp>
      <p:sp>
        <p:nvSpPr>
          <p:cNvPr id="44" name="Text 42"/>
          <p:cNvSpPr/>
          <p:nvPr/>
        </p:nvSpPr>
        <p:spPr>
          <a:xfrm>
            <a:off x="457200" y="1225296"/>
            <a:ext cx="10881360" cy="292608"/>
          </a:xfrm>
          <a:prstGeom prst="rect">
            <a:avLst/>
          </a:prstGeom>
          <a:noFill/>
          <a:ln/>
        </p:spPr>
        <p:txBody>
          <a:bodyPr wrap="square" lIns="0" tIns="0" rIns="0" bIns="0" rtlCol="0" anchor="ctr">
            <a:normAutofit/>
          </a:bodyPr>
          <a:lstStyle/>
          <a:p>
            <a:pPr marL="0" indent="0">
              <a:buNone/>
            </a:pPr>
            <a:r>
              <a:rPr lang="en-US" sz="1250" dirty="0">
                <a:solidFill>
                  <a:srgbClr val="A8B6C5"/>
                </a:solidFill>
                <a:latin typeface="Inter" pitchFamily="34" charset="0"/>
                <a:ea typeface="Inter" pitchFamily="34" charset="-122"/>
                <a:cs typeface="Inter" pitchFamily="34" charset="-120"/>
              </a:rPr>
              <a:t>The datapath is highly parallel inside each 8×8 transform, but output generation remains data dependent.</a:t>
            </a:r>
            <a:endParaRPr lang="en-US" sz="1250" dirty="0"/>
          </a:p>
        </p:txBody>
      </p:sp>
      <p:sp>
        <p:nvSpPr>
          <p:cNvPr id="45" name="Shape 43"/>
          <p:cNvSpPr/>
          <p:nvPr/>
        </p:nvSpPr>
        <p:spPr>
          <a:xfrm>
            <a:off x="475488" y="1773936"/>
            <a:ext cx="2761488" cy="1627632"/>
          </a:xfrm>
          <a:prstGeom prst="roundRect">
            <a:avLst>
              <a:gd name="adj" fmla="val 4494"/>
            </a:avLst>
          </a:prstGeom>
          <a:solidFill>
            <a:srgbClr val="0D1C2D"/>
          </a:solidFill>
          <a:ln w="12700">
            <a:solidFill>
              <a:srgbClr val="38D9E6">
                <a:alpha val="65000"/>
              </a:srgbClr>
            </a:solidFill>
            <a:prstDash val="solid"/>
          </a:ln>
          <a:effectLst>
            <a:outerShdw algn="bl" rotWithShape="0">
              <a:srgbClr val="000000">
                <a:alpha val="0"/>
              </a:srgbClr>
            </a:outerShdw>
          </a:effectLst>
        </p:spPr>
        <p:txBody>
          <a:bodyPr/>
          <a:lstStyle/>
          <a:p>
            <a:endParaRPr lang="en-US"/>
          </a:p>
        </p:txBody>
      </p:sp>
      <p:sp>
        <p:nvSpPr>
          <p:cNvPr id="46" name="Shape 44"/>
          <p:cNvSpPr/>
          <p:nvPr/>
        </p:nvSpPr>
        <p:spPr>
          <a:xfrm>
            <a:off x="640080" y="1938528"/>
            <a:ext cx="0" cy="1298448"/>
          </a:xfrm>
          <a:prstGeom prst="line">
            <a:avLst/>
          </a:prstGeom>
          <a:noFill/>
          <a:ln w="40640">
            <a:solidFill>
              <a:srgbClr val="38D9E6"/>
            </a:solidFill>
            <a:prstDash val="solid"/>
          </a:ln>
        </p:spPr>
        <p:txBody>
          <a:bodyPr/>
          <a:lstStyle/>
          <a:p>
            <a:endParaRPr lang="en-US"/>
          </a:p>
        </p:txBody>
      </p:sp>
      <p:sp>
        <p:nvSpPr>
          <p:cNvPr id="47" name="Text 45"/>
          <p:cNvSpPr/>
          <p:nvPr/>
        </p:nvSpPr>
        <p:spPr>
          <a:xfrm>
            <a:off x="822960" y="1975104"/>
            <a:ext cx="2258568" cy="256032"/>
          </a:xfrm>
          <a:prstGeom prst="rect">
            <a:avLst/>
          </a:prstGeom>
          <a:noFill/>
          <a:ln/>
        </p:spPr>
        <p:txBody>
          <a:bodyPr wrap="square" lIns="0" tIns="0" rIns="0" bIns="0" rtlCol="0" anchor="ctr">
            <a:normAutofit/>
          </a:bodyPr>
          <a:lstStyle/>
          <a:p>
            <a:pPr marL="0" indent="0">
              <a:buNone/>
            </a:pPr>
            <a:r>
              <a:rPr lang="en-US" sz="1420" b="1" dirty="0">
                <a:solidFill>
                  <a:srgbClr val="F4F8FB"/>
                </a:solidFill>
                <a:latin typeface="Inter Display" pitchFamily="34" charset="0"/>
                <a:ea typeface="Inter Display" pitchFamily="34" charset="-122"/>
                <a:cs typeface="Inter Display" pitchFamily="34" charset="-120"/>
              </a:rPr>
              <a:t>Fixed-point datapath</a:t>
            </a:r>
            <a:endParaRPr lang="en-US" sz="1420" dirty="0"/>
          </a:p>
        </p:txBody>
      </p:sp>
      <p:sp>
        <p:nvSpPr>
          <p:cNvPr id="48" name="Text 46"/>
          <p:cNvSpPr/>
          <p:nvPr/>
        </p:nvSpPr>
        <p:spPr>
          <a:xfrm>
            <a:off x="822960" y="2322576"/>
            <a:ext cx="2258568" cy="164592"/>
          </a:xfrm>
          <a:prstGeom prst="rect">
            <a:avLst/>
          </a:prstGeom>
          <a:noFill/>
          <a:ln/>
        </p:spPr>
        <p:txBody>
          <a:bodyPr wrap="square" lIns="0" tIns="0" rIns="0" bIns="0" rtlCol="0" anchor="ctr">
            <a:normAutofit/>
          </a:bodyPr>
          <a:lstStyle/>
          <a:p>
            <a:pPr marL="0" indent="0">
              <a:buNone/>
            </a:pPr>
            <a:r>
              <a:rPr lang="en-US" sz="780" b="1" kern="0" spc="80" dirty="0">
                <a:solidFill>
                  <a:srgbClr val="38D9E6"/>
                </a:solidFill>
                <a:latin typeface="Inter" pitchFamily="34" charset="0"/>
                <a:ea typeface="Inter" pitchFamily="34" charset="-122"/>
                <a:cs typeface="Inter" pitchFamily="34" charset="-120"/>
              </a:rPr>
              <a:t>LOWER OPERATOR COST</a:t>
            </a:r>
            <a:endParaRPr lang="en-US" sz="780" dirty="0"/>
          </a:p>
        </p:txBody>
      </p:sp>
      <p:sp>
        <p:nvSpPr>
          <p:cNvPr id="49" name="Text 47"/>
          <p:cNvSpPr/>
          <p:nvPr/>
        </p:nvSpPr>
        <p:spPr>
          <a:xfrm>
            <a:off x="822960" y="2606040"/>
            <a:ext cx="2258568" cy="566928"/>
          </a:xfrm>
          <a:prstGeom prst="rect">
            <a:avLst/>
          </a:prstGeom>
          <a:noFill/>
          <a:ln/>
        </p:spPr>
        <p:txBody>
          <a:bodyPr wrap="square" lIns="0" tIns="0" rIns="0" bIns="0" rtlCol="0" anchor="ctr">
            <a:normAutofit lnSpcReduction="10000"/>
          </a:bodyPr>
          <a:lstStyle/>
          <a:p>
            <a:pPr marL="0" indent="0">
              <a:buNone/>
            </a:pPr>
            <a:r>
              <a:rPr lang="en-US" sz="960" dirty="0">
                <a:solidFill>
                  <a:srgbClr val="A8B6C5"/>
                </a:solidFill>
                <a:latin typeface="Inter" pitchFamily="34" charset="0"/>
                <a:ea typeface="Inter" pitchFamily="34" charset="-122"/>
                <a:cs typeface="Inter" pitchFamily="34" charset="-120"/>
              </a:rPr>
              <a:t>Pixels use 9-bit signed values; DCT intermediates use carefully sized fixed-point types; quantised coefficients use 16-bit integers.</a:t>
            </a:r>
            <a:endParaRPr lang="en-US" sz="960" dirty="0"/>
          </a:p>
        </p:txBody>
      </p:sp>
      <p:sp>
        <p:nvSpPr>
          <p:cNvPr id="50" name="Shape 48"/>
          <p:cNvSpPr/>
          <p:nvPr/>
        </p:nvSpPr>
        <p:spPr>
          <a:xfrm>
            <a:off x="3438144" y="1773936"/>
            <a:ext cx="2761488" cy="1627632"/>
          </a:xfrm>
          <a:prstGeom prst="roundRect">
            <a:avLst>
              <a:gd name="adj" fmla="val 4494"/>
            </a:avLst>
          </a:prstGeom>
          <a:solidFill>
            <a:srgbClr val="0D1C2D"/>
          </a:solidFill>
          <a:ln w="12700">
            <a:solidFill>
              <a:srgbClr val="668EFF">
                <a:alpha val="65000"/>
              </a:srgbClr>
            </a:solidFill>
            <a:prstDash val="solid"/>
          </a:ln>
          <a:effectLst>
            <a:outerShdw algn="bl" rotWithShape="0">
              <a:srgbClr val="000000">
                <a:alpha val="0"/>
              </a:srgbClr>
            </a:outerShdw>
          </a:effectLst>
        </p:spPr>
        <p:txBody>
          <a:bodyPr/>
          <a:lstStyle/>
          <a:p>
            <a:endParaRPr lang="en-US"/>
          </a:p>
        </p:txBody>
      </p:sp>
      <p:sp>
        <p:nvSpPr>
          <p:cNvPr id="51" name="Shape 49"/>
          <p:cNvSpPr/>
          <p:nvPr/>
        </p:nvSpPr>
        <p:spPr>
          <a:xfrm>
            <a:off x="3602736" y="1938528"/>
            <a:ext cx="0" cy="1298448"/>
          </a:xfrm>
          <a:prstGeom prst="line">
            <a:avLst/>
          </a:prstGeom>
          <a:noFill/>
          <a:ln w="40640">
            <a:solidFill>
              <a:srgbClr val="668EFF"/>
            </a:solidFill>
            <a:prstDash val="solid"/>
          </a:ln>
        </p:spPr>
        <p:txBody>
          <a:bodyPr/>
          <a:lstStyle/>
          <a:p>
            <a:endParaRPr lang="en-US"/>
          </a:p>
        </p:txBody>
      </p:sp>
      <p:sp>
        <p:nvSpPr>
          <p:cNvPr id="52" name="Text 50"/>
          <p:cNvSpPr/>
          <p:nvPr/>
        </p:nvSpPr>
        <p:spPr>
          <a:xfrm>
            <a:off x="3785616" y="1975104"/>
            <a:ext cx="2258568" cy="256032"/>
          </a:xfrm>
          <a:prstGeom prst="rect">
            <a:avLst/>
          </a:prstGeom>
          <a:noFill/>
          <a:ln/>
        </p:spPr>
        <p:txBody>
          <a:bodyPr wrap="square" lIns="0" tIns="0" rIns="0" bIns="0" rtlCol="0" anchor="ctr">
            <a:normAutofit/>
          </a:bodyPr>
          <a:lstStyle/>
          <a:p>
            <a:pPr marL="0" indent="0">
              <a:buNone/>
            </a:pPr>
            <a:r>
              <a:rPr lang="en-US" sz="1420" b="1" dirty="0">
                <a:solidFill>
                  <a:srgbClr val="F4F8FB"/>
                </a:solidFill>
                <a:latin typeface="Inter Display" pitchFamily="34" charset="0"/>
                <a:ea typeface="Inter Display" pitchFamily="34" charset="-122"/>
                <a:cs typeface="Inter Display" pitchFamily="34" charset="-120"/>
              </a:rPr>
              <a:t>Separable 8×8 DCT</a:t>
            </a:r>
            <a:endParaRPr lang="en-US" sz="1420" dirty="0"/>
          </a:p>
        </p:txBody>
      </p:sp>
      <p:sp>
        <p:nvSpPr>
          <p:cNvPr id="53" name="Text 51"/>
          <p:cNvSpPr/>
          <p:nvPr/>
        </p:nvSpPr>
        <p:spPr>
          <a:xfrm>
            <a:off x="3785616" y="2322576"/>
            <a:ext cx="2258568" cy="164592"/>
          </a:xfrm>
          <a:prstGeom prst="rect">
            <a:avLst/>
          </a:prstGeom>
          <a:noFill/>
          <a:ln/>
        </p:spPr>
        <p:txBody>
          <a:bodyPr wrap="square" lIns="0" tIns="0" rIns="0" bIns="0" rtlCol="0" anchor="ctr">
            <a:normAutofit/>
          </a:bodyPr>
          <a:lstStyle/>
          <a:p>
            <a:pPr marL="0" indent="0">
              <a:buNone/>
            </a:pPr>
            <a:r>
              <a:rPr lang="en-US" sz="780" b="1" kern="0" spc="80" dirty="0">
                <a:solidFill>
                  <a:srgbClr val="668EFF"/>
                </a:solidFill>
                <a:latin typeface="Inter" pitchFamily="34" charset="0"/>
                <a:ea typeface="Inter" pitchFamily="34" charset="-122"/>
                <a:cs typeface="Inter" pitchFamily="34" charset="-120"/>
              </a:rPr>
              <a:t>128 DOT PRODUCTS</a:t>
            </a:r>
            <a:endParaRPr lang="en-US" sz="780" dirty="0"/>
          </a:p>
        </p:txBody>
      </p:sp>
      <p:sp>
        <p:nvSpPr>
          <p:cNvPr id="54" name="Text 52"/>
          <p:cNvSpPr/>
          <p:nvPr/>
        </p:nvSpPr>
        <p:spPr>
          <a:xfrm>
            <a:off x="3785616" y="2606040"/>
            <a:ext cx="2258568" cy="566928"/>
          </a:xfrm>
          <a:prstGeom prst="rect">
            <a:avLst/>
          </a:prstGeom>
          <a:noFill/>
          <a:ln/>
        </p:spPr>
        <p:txBody>
          <a:bodyPr wrap="square" lIns="0" tIns="0" rIns="0" bIns="0" rtlCol="0" anchor="ctr">
            <a:normAutofit/>
          </a:bodyPr>
          <a:lstStyle/>
          <a:p>
            <a:pPr marL="0" indent="0">
              <a:buNone/>
            </a:pPr>
            <a:r>
              <a:rPr lang="en-US" sz="960" dirty="0">
                <a:solidFill>
                  <a:srgbClr val="A8B6C5"/>
                </a:solidFill>
                <a:latin typeface="Inter" pitchFamily="34" charset="0"/>
                <a:ea typeface="Inter" pitchFamily="34" charset="-122"/>
                <a:cs typeface="Inter" pitchFamily="34" charset="-120"/>
              </a:rPr>
              <a:t>Two one-dimensional matrix passes replace a direct 2D calculation and expose regular multiply–accumulate structure.</a:t>
            </a:r>
            <a:endParaRPr lang="en-US" sz="960" dirty="0"/>
          </a:p>
        </p:txBody>
      </p:sp>
      <p:sp>
        <p:nvSpPr>
          <p:cNvPr id="55" name="Shape 53"/>
          <p:cNvSpPr/>
          <p:nvPr/>
        </p:nvSpPr>
        <p:spPr>
          <a:xfrm>
            <a:off x="6400800" y="1773936"/>
            <a:ext cx="2761488" cy="1627632"/>
          </a:xfrm>
          <a:prstGeom prst="roundRect">
            <a:avLst>
              <a:gd name="adj" fmla="val 4494"/>
            </a:avLst>
          </a:prstGeom>
          <a:solidFill>
            <a:srgbClr val="0D1C2D"/>
          </a:solidFill>
          <a:ln w="12700">
            <a:solidFill>
              <a:srgbClr val="49D486">
                <a:alpha val="65000"/>
              </a:srgbClr>
            </a:solidFill>
            <a:prstDash val="solid"/>
          </a:ln>
          <a:effectLst>
            <a:outerShdw algn="bl" rotWithShape="0">
              <a:srgbClr val="000000">
                <a:alpha val="0"/>
              </a:srgbClr>
            </a:outerShdw>
          </a:effectLst>
        </p:spPr>
        <p:txBody>
          <a:bodyPr/>
          <a:lstStyle/>
          <a:p>
            <a:endParaRPr lang="en-US"/>
          </a:p>
        </p:txBody>
      </p:sp>
      <p:sp>
        <p:nvSpPr>
          <p:cNvPr id="56" name="Shape 54"/>
          <p:cNvSpPr/>
          <p:nvPr/>
        </p:nvSpPr>
        <p:spPr>
          <a:xfrm>
            <a:off x="6565392" y="1938528"/>
            <a:ext cx="0" cy="1298448"/>
          </a:xfrm>
          <a:prstGeom prst="line">
            <a:avLst/>
          </a:prstGeom>
          <a:noFill/>
          <a:ln w="40640">
            <a:solidFill>
              <a:srgbClr val="49D486"/>
            </a:solidFill>
            <a:prstDash val="solid"/>
          </a:ln>
        </p:spPr>
        <p:txBody>
          <a:bodyPr/>
          <a:lstStyle/>
          <a:p>
            <a:endParaRPr lang="en-US"/>
          </a:p>
        </p:txBody>
      </p:sp>
      <p:sp>
        <p:nvSpPr>
          <p:cNvPr id="57" name="Text 55"/>
          <p:cNvSpPr/>
          <p:nvPr/>
        </p:nvSpPr>
        <p:spPr>
          <a:xfrm>
            <a:off x="6748272" y="1975104"/>
            <a:ext cx="2258568" cy="256032"/>
          </a:xfrm>
          <a:prstGeom prst="rect">
            <a:avLst/>
          </a:prstGeom>
          <a:noFill/>
          <a:ln/>
        </p:spPr>
        <p:txBody>
          <a:bodyPr wrap="square" lIns="0" tIns="0" rIns="0" bIns="0" rtlCol="0" anchor="ctr">
            <a:normAutofit/>
          </a:bodyPr>
          <a:lstStyle/>
          <a:p>
            <a:pPr marL="0" indent="0">
              <a:buNone/>
            </a:pPr>
            <a:r>
              <a:rPr lang="en-US" sz="1420" b="1" dirty="0">
                <a:solidFill>
                  <a:srgbClr val="F4F8FB"/>
                </a:solidFill>
                <a:latin typeface="Inter Display" pitchFamily="34" charset="0"/>
                <a:ea typeface="Inter Display" pitchFamily="34" charset="-122"/>
                <a:cs typeface="Inter Display" pitchFamily="34" charset="-120"/>
              </a:rPr>
              <a:t>Partition + unroll</a:t>
            </a:r>
            <a:endParaRPr lang="en-US" sz="1420" dirty="0"/>
          </a:p>
        </p:txBody>
      </p:sp>
      <p:sp>
        <p:nvSpPr>
          <p:cNvPr id="58" name="Text 56"/>
          <p:cNvSpPr/>
          <p:nvPr/>
        </p:nvSpPr>
        <p:spPr>
          <a:xfrm>
            <a:off x="6748272" y="2322576"/>
            <a:ext cx="2258568" cy="164592"/>
          </a:xfrm>
          <a:prstGeom prst="rect">
            <a:avLst/>
          </a:prstGeom>
          <a:noFill/>
          <a:ln/>
        </p:spPr>
        <p:txBody>
          <a:bodyPr wrap="square" lIns="0" tIns="0" rIns="0" bIns="0" rtlCol="0" anchor="ctr">
            <a:normAutofit/>
          </a:bodyPr>
          <a:lstStyle/>
          <a:p>
            <a:pPr marL="0" indent="0">
              <a:buNone/>
            </a:pPr>
            <a:r>
              <a:rPr lang="en-US" sz="780" b="1" kern="0" spc="80" dirty="0">
                <a:solidFill>
                  <a:srgbClr val="49D486"/>
                </a:solidFill>
                <a:latin typeface="Inter" pitchFamily="34" charset="0"/>
                <a:ea typeface="Inter" pitchFamily="34" charset="-122"/>
                <a:cs typeface="Inter" pitchFamily="34" charset="-120"/>
              </a:rPr>
              <a:t>PARALLEL INNER SUMS</a:t>
            </a:r>
            <a:endParaRPr lang="en-US" sz="780" dirty="0"/>
          </a:p>
        </p:txBody>
      </p:sp>
      <p:sp>
        <p:nvSpPr>
          <p:cNvPr id="59" name="Text 57"/>
          <p:cNvSpPr/>
          <p:nvPr/>
        </p:nvSpPr>
        <p:spPr>
          <a:xfrm>
            <a:off x="6748272" y="2606040"/>
            <a:ext cx="2258568" cy="566928"/>
          </a:xfrm>
          <a:prstGeom prst="rect">
            <a:avLst/>
          </a:prstGeom>
          <a:noFill/>
          <a:ln/>
        </p:spPr>
        <p:txBody>
          <a:bodyPr wrap="square" lIns="0" tIns="0" rIns="0" bIns="0" rtlCol="0" anchor="ctr">
            <a:normAutofit/>
          </a:bodyPr>
          <a:lstStyle/>
          <a:p>
            <a:pPr marL="0" indent="0">
              <a:buNone/>
            </a:pPr>
            <a:r>
              <a:rPr lang="en-US" sz="960" dirty="0">
                <a:solidFill>
                  <a:srgbClr val="A8B6C5"/>
                </a:solidFill>
                <a:latin typeface="Inter" pitchFamily="34" charset="0"/>
                <a:ea typeface="Inter" pitchFamily="34" charset="-122"/>
                <a:cs typeface="Inter" pitchFamily="34" charset="-120"/>
              </a:rPr>
              <a:t>8×8 local arrays are fully partitioned; each eight-term DCT reduction is fully unrolled; output loops are pipelined at II=1.</a:t>
            </a:r>
            <a:endParaRPr lang="en-US" sz="960" dirty="0"/>
          </a:p>
        </p:txBody>
      </p:sp>
      <p:sp>
        <p:nvSpPr>
          <p:cNvPr id="60" name="Shape 58"/>
          <p:cNvSpPr/>
          <p:nvPr/>
        </p:nvSpPr>
        <p:spPr>
          <a:xfrm>
            <a:off x="9363456" y="1773936"/>
            <a:ext cx="2359152" cy="1627632"/>
          </a:xfrm>
          <a:prstGeom prst="roundRect">
            <a:avLst>
              <a:gd name="adj" fmla="val 4494"/>
            </a:avLst>
          </a:prstGeom>
          <a:solidFill>
            <a:srgbClr val="0D1C2D"/>
          </a:solidFill>
          <a:ln w="12700">
            <a:solidFill>
              <a:srgbClr val="FFA24C">
                <a:alpha val="65000"/>
              </a:srgbClr>
            </a:solidFill>
            <a:prstDash val="solid"/>
          </a:ln>
          <a:effectLst>
            <a:outerShdw algn="bl" rotWithShape="0">
              <a:srgbClr val="000000">
                <a:alpha val="0"/>
              </a:srgbClr>
            </a:outerShdw>
          </a:effectLst>
        </p:spPr>
        <p:txBody>
          <a:bodyPr/>
          <a:lstStyle/>
          <a:p>
            <a:endParaRPr lang="en-US"/>
          </a:p>
        </p:txBody>
      </p:sp>
      <p:sp>
        <p:nvSpPr>
          <p:cNvPr id="61" name="Shape 59"/>
          <p:cNvSpPr/>
          <p:nvPr/>
        </p:nvSpPr>
        <p:spPr>
          <a:xfrm>
            <a:off x="9528048" y="1938528"/>
            <a:ext cx="0" cy="1298448"/>
          </a:xfrm>
          <a:prstGeom prst="line">
            <a:avLst/>
          </a:prstGeom>
          <a:noFill/>
          <a:ln w="40640">
            <a:solidFill>
              <a:srgbClr val="FFA24C"/>
            </a:solidFill>
            <a:prstDash val="solid"/>
          </a:ln>
        </p:spPr>
        <p:txBody>
          <a:bodyPr/>
          <a:lstStyle/>
          <a:p>
            <a:endParaRPr lang="en-US"/>
          </a:p>
        </p:txBody>
      </p:sp>
      <p:sp>
        <p:nvSpPr>
          <p:cNvPr id="62" name="Text 60"/>
          <p:cNvSpPr/>
          <p:nvPr/>
        </p:nvSpPr>
        <p:spPr>
          <a:xfrm>
            <a:off x="9710928" y="1975104"/>
            <a:ext cx="1856232" cy="256032"/>
          </a:xfrm>
          <a:prstGeom prst="rect">
            <a:avLst/>
          </a:prstGeom>
          <a:noFill/>
          <a:ln/>
        </p:spPr>
        <p:txBody>
          <a:bodyPr wrap="square" lIns="0" tIns="0" rIns="0" bIns="0" rtlCol="0" anchor="ctr">
            <a:normAutofit/>
          </a:bodyPr>
          <a:lstStyle/>
          <a:p>
            <a:pPr marL="0" indent="0">
              <a:buNone/>
            </a:pPr>
            <a:r>
              <a:rPr lang="en-US" sz="1420" b="1" dirty="0">
                <a:solidFill>
                  <a:srgbClr val="F4F8FB"/>
                </a:solidFill>
                <a:latin typeface="Inter Display" pitchFamily="34" charset="0"/>
                <a:ea typeface="Inter Display" pitchFamily="34" charset="-122"/>
                <a:cs typeface="Inter Display" pitchFamily="34" charset="-120"/>
              </a:rPr>
              <a:t>Packed encoder</a:t>
            </a:r>
            <a:endParaRPr lang="en-US" sz="1420" dirty="0"/>
          </a:p>
        </p:txBody>
      </p:sp>
      <p:sp>
        <p:nvSpPr>
          <p:cNvPr id="63" name="Text 61"/>
          <p:cNvSpPr/>
          <p:nvPr/>
        </p:nvSpPr>
        <p:spPr>
          <a:xfrm>
            <a:off x="9710928" y="2322576"/>
            <a:ext cx="1856232" cy="164592"/>
          </a:xfrm>
          <a:prstGeom prst="rect">
            <a:avLst/>
          </a:prstGeom>
          <a:noFill/>
          <a:ln/>
        </p:spPr>
        <p:txBody>
          <a:bodyPr wrap="square" lIns="0" tIns="0" rIns="0" bIns="0" rtlCol="0" anchor="ctr">
            <a:normAutofit/>
          </a:bodyPr>
          <a:lstStyle/>
          <a:p>
            <a:pPr marL="0" indent="0">
              <a:buNone/>
            </a:pPr>
            <a:r>
              <a:rPr lang="en-US" sz="780" b="1" kern="0" spc="80" dirty="0">
                <a:solidFill>
                  <a:srgbClr val="FFA24C"/>
                </a:solidFill>
                <a:latin typeface="Inter" pitchFamily="34" charset="0"/>
                <a:ea typeface="Inter" pitchFamily="34" charset="-122"/>
                <a:cs typeface="Inter" pitchFamily="34" charset="-120"/>
              </a:rPr>
              <a:t>VARIABLE LENGTH</a:t>
            </a:r>
            <a:endParaRPr lang="en-US" sz="780" dirty="0"/>
          </a:p>
        </p:txBody>
      </p:sp>
      <p:sp>
        <p:nvSpPr>
          <p:cNvPr id="64" name="Text 62"/>
          <p:cNvSpPr/>
          <p:nvPr/>
        </p:nvSpPr>
        <p:spPr>
          <a:xfrm>
            <a:off x="9710928" y="2606040"/>
            <a:ext cx="1856232" cy="566928"/>
          </a:xfrm>
          <a:prstGeom prst="rect">
            <a:avLst/>
          </a:prstGeom>
          <a:noFill/>
          <a:ln/>
        </p:spPr>
        <p:txBody>
          <a:bodyPr wrap="square" lIns="0" tIns="0" rIns="0" bIns="0" rtlCol="0" anchor="ctr">
            <a:normAutofit/>
          </a:bodyPr>
          <a:lstStyle/>
          <a:p>
            <a:pPr marL="0" indent="0">
              <a:buNone/>
            </a:pPr>
            <a:r>
              <a:rPr lang="en-US" sz="960" dirty="0">
                <a:solidFill>
                  <a:srgbClr val="A8B6C5"/>
                </a:solidFill>
                <a:latin typeface="Inter" pitchFamily="34" charset="0"/>
                <a:ea typeface="Inter" pitchFamily="34" charset="-122"/>
                <a:cs typeface="Inter" pitchFamily="34" charset="-120"/>
              </a:rPr>
              <a:t>Standard zigzag, RUN/SIZE, ZRL and EOB symbols are packed into bytes with per-block status checks.</a:t>
            </a:r>
            <a:endParaRPr lang="en-US" sz="960" dirty="0"/>
          </a:p>
        </p:txBody>
      </p:sp>
      <p:sp>
        <p:nvSpPr>
          <p:cNvPr id="65" name="Shape 63"/>
          <p:cNvSpPr/>
          <p:nvPr/>
        </p:nvSpPr>
        <p:spPr>
          <a:xfrm>
            <a:off x="475488" y="3721608"/>
            <a:ext cx="6601968" cy="2011680"/>
          </a:xfrm>
          <a:prstGeom prst="roundRect">
            <a:avLst>
              <a:gd name="adj" fmla="val 3636"/>
            </a:avLst>
          </a:prstGeom>
          <a:solidFill>
            <a:srgbClr val="0D1C2D"/>
          </a:solidFill>
          <a:ln w="12700">
            <a:solidFill>
              <a:srgbClr val="22384E">
                <a:alpha val="75000"/>
              </a:srgbClr>
            </a:solidFill>
            <a:prstDash val="solid"/>
          </a:ln>
        </p:spPr>
        <p:txBody>
          <a:bodyPr/>
          <a:lstStyle/>
          <a:p>
            <a:endParaRPr lang="en-US"/>
          </a:p>
        </p:txBody>
      </p:sp>
      <p:sp>
        <p:nvSpPr>
          <p:cNvPr id="66" name="Text 64"/>
          <p:cNvSpPr/>
          <p:nvPr/>
        </p:nvSpPr>
        <p:spPr>
          <a:xfrm>
            <a:off x="749808" y="3977640"/>
            <a:ext cx="2926080" cy="256032"/>
          </a:xfrm>
          <a:prstGeom prst="rect">
            <a:avLst/>
          </a:prstGeom>
          <a:noFill/>
          <a:ln/>
        </p:spPr>
        <p:txBody>
          <a:bodyPr wrap="square" lIns="0" tIns="0" rIns="0" bIns="0" rtlCol="0" anchor="ctr"/>
          <a:lstStyle/>
          <a:p>
            <a:pPr marL="0" indent="0">
              <a:buNone/>
            </a:pPr>
            <a:r>
              <a:rPr lang="en-US" sz="1600" b="1" dirty="0">
                <a:solidFill>
                  <a:srgbClr val="F4F8FB"/>
                </a:solidFill>
                <a:latin typeface="Inter Display" pitchFamily="34" charset="0"/>
                <a:ea typeface="Inter Display" pitchFamily="34" charset="-122"/>
                <a:cs typeface="Inter Display" pitchFamily="34" charset="-120"/>
              </a:rPr>
              <a:t>Conceptual schedule inside one block</a:t>
            </a:r>
            <a:endParaRPr lang="en-US" sz="1600" dirty="0"/>
          </a:p>
        </p:txBody>
      </p:sp>
      <p:sp>
        <p:nvSpPr>
          <p:cNvPr id="67" name="Text 65"/>
          <p:cNvSpPr/>
          <p:nvPr/>
        </p:nvSpPr>
        <p:spPr>
          <a:xfrm>
            <a:off x="777240" y="4407408"/>
            <a:ext cx="1051560" cy="128016"/>
          </a:xfrm>
          <a:prstGeom prst="rect">
            <a:avLst/>
          </a:prstGeom>
          <a:noFill/>
          <a:ln/>
        </p:spPr>
        <p:txBody>
          <a:bodyPr wrap="square" lIns="0" tIns="0" rIns="0" bIns="0" rtlCol="0" anchor="ctr"/>
          <a:lstStyle/>
          <a:p>
            <a:pPr marL="0" indent="0" algn="r">
              <a:buNone/>
            </a:pPr>
            <a:r>
              <a:rPr lang="en-US" sz="770" dirty="0">
                <a:solidFill>
                  <a:srgbClr val="A8B6C5"/>
                </a:solidFill>
                <a:latin typeface="Inter" pitchFamily="34" charset="0"/>
                <a:ea typeface="Inter" pitchFamily="34" charset="-122"/>
                <a:cs typeface="Inter" pitchFamily="34" charset="-120"/>
              </a:rPr>
              <a:t>Load + shift</a:t>
            </a:r>
            <a:endParaRPr lang="en-US" sz="770" dirty="0"/>
          </a:p>
        </p:txBody>
      </p:sp>
      <p:sp>
        <p:nvSpPr>
          <p:cNvPr id="68" name="Shape 66"/>
          <p:cNvSpPr/>
          <p:nvPr/>
        </p:nvSpPr>
        <p:spPr>
          <a:xfrm>
            <a:off x="1965960" y="4471416"/>
            <a:ext cx="4553712" cy="0"/>
          </a:xfrm>
          <a:prstGeom prst="line">
            <a:avLst/>
          </a:prstGeom>
          <a:noFill/>
          <a:ln w="7620">
            <a:solidFill>
              <a:srgbClr val="22384E"/>
            </a:solidFill>
            <a:prstDash val="solid"/>
          </a:ln>
        </p:spPr>
        <p:txBody>
          <a:bodyPr/>
          <a:lstStyle/>
          <a:p>
            <a:endParaRPr lang="en-US"/>
          </a:p>
        </p:txBody>
      </p:sp>
      <p:sp>
        <p:nvSpPr>
          <p:cNvPr id="69" name="Text 67"/>
          <p:cNvSpPr/>
          <p:nvPr/>
        </p:nvSpPr>
        <p:spPr>
          <a:xfrm>
            <a:off x="777240" y="4636008"/>
            <a:ext cx="1051560" cy="128016"/>
          </a:xfrm>
          <a:prstGeom prst="rect">
            <a:avLst/>
          </a:prstGeom>
          <a:noFill/>
          <a:ln/>
        </p:spPr>
        <p:txBody>
          <a:bodyPr wrap="square" lIns="0" tIns="0" rIns="0" bIns="0" rtlCol="0" anchor="ctr"/>
          <a:lstStyle/>
          <a:p>
            <a:pPr marL="0" indent="0" algn="r">
              <a:buNone/>
            </a:pPr>
            <a:r>
              <a:rPr lang="en-US" sz="770" dirty="0">
                <a:solidFill>
                  <a:srgbClr val="A8B6C5"/>
                </a:solidFill>
                <a:latin typeface="Inter" pitchFamily="34" charset="0"/>
                <a:ea typeface="Inter" pitchFamily="34" charset="-122"/>
                <a:cs typeface="Inter" pitchFamily="34" charset="-120"/>
              </a:rPr>
              <a:t>DCT pass 1</a:t>
            </a:r>
            <a:endParaRPr lang="en-US" sz="770" dirty="0"/>
          </a:p>
        </p:txBody>
      </p:sp>
      <p:sp>
        <p:nvSpPr>
          <p:cNvPr id="70" name="Shape 68"/>
          <p:cNvSpPr/>
          <p:nvPr/>
        </p:nvSpPr>
        <p:spPr>
          <a:xfrm>
            <a:off x="1965960" y="4700016"/>
            <a:ext cx="4553712" cy="0"/>
          </a:xfrm>
          <a:prstGeom prst="line">
            <a:avLst/>
          </a:prstGeom>
          <a:noFill/>
          <a:ln w="7620">
            <a:solidFill>
              <a:srgbClr val="22384E"/>
            </a:solidFill>
            <a:prstDash val="solid"/>
          </a:ln>
        </p:spPr>
        <p:txBody>
          <a:bodyPr/>
          <a:lstStyle/>
          <a:p>
            <a:endParaRPr lang="en-US"/>
          </a:p>
        </p:txBody>
      </p:sp>
      <p:sp>
        <p:nvSpPr>
          <p:cNvPr id="71" name="Text 69"/>
          <p:cNvSpPr/>
          <p:nvPr/>
        </p:nvSpPr>
        <p:spPr>
          <a:xfrm>
            <a:off x="777240" y="4864608"/>
            <a:ext cx="1051560" cy="128016"/>
          </a:xfrm>
          <a:prstGeom prst="rect">
            <a:avLst/>
          </a:prstGeom>
          <a:noFill/>
          <a:ln/>
        </p:spPr>
        <p:txBody>
          <a:bodyPr wrap="square" lIns="0" tIns="0" rIns="0" bIns="0" rtlCol="0" anchor="ctr"/>
          <a:lstStyle/>
          <a:p>
            <a:pPr marL="0" indent="0" algn="r">
              <a:buNone/>
            </a:pPr>
            <a:r>
              <a:rPr lang="en-US" sz="770" dirty="0">
                <a:solidFill>
                  <a:srgbClr val="A8B6C5"/>
                </a:solidFill>
                <a:latin typeface="Inter" pitchFamily="34" charset="0"/>
                <a:ea typeface="Inter" pitchFamily="34" charset="-122"/>
                <a:cs typeface="Inter" pitchFamily="34" charset="-120"/>
              </a:rPr>
              <a:t>DCT pass 2</a:t>
            </a:r>
            <a:endParaRPr lang="en-US" sz="770" dirty="0"/>
          </a:p>
        </p:txBody>
      </p:sp>
      <p:sp>
        <p:nvSpPr>
          <p:cNvPr id="72" name="Shape 70"/>
          <p:cNvSpPr/>
          <p:nvPr/>
        </p:nvSpPr>
        <p:spPr>
          <a:xfrm>
            <a:off x="1965960" y="4928616"/>
            <a:ext cx="4553712" cy="0"/>
          </a:xfrm>
          <a:prstGeom prst="line">
            <a:avLst/>
          </a:prstGeom>
          <a:noFill/>
          <a:ln w="7620">
            <a:solidFill>
              <a:srgbClr val="22384E"/>
            </a:solidFill>
            <a:prstDash val="solid"/>
          </a:ln>
        </p:spPr>
        <p:txBody>
          <a:bodyPr/>
          <a:lstStyle/>
          <a:p>
            <a:endParaRPr lang="en-US"/>
          </a:p>
        </p:txBody>
      </p:sp>
      <p:sp>
        <p:nvSpPr>
          <p:cNvPr id="73" name="Text 71"/>
          <p:cNvSpPr/>
          <p:nvPr/>
        </p:nvSpPr>
        <p:spPr>
          <a:xfrm>
            <a:off x="777240" y="5093208"/>
            <a:ext cx="1051560" cy="128016"/>
          </a:xfrm>
          <a:prstGeom prst="rect">
            <a:avLst/>
          </a:prstGeom>
          <a:noFill/>
          <a:ln/>
        </p:spPr>
        <p:txBody>
          <a:bodyPr wrap="square" lIns="0" tIns="0" rIns="0" bIns="0" rtlCol="0" anchor="ctr"/>
          <a:lstStyle/>
          <a:p>
            <a:pPr marL="0" indent="0" algn="r">
              <a:buNone/>
            </a:pPr>
            <a:r>
              <a:rPr lang="en-US" sz="770" dirty="0">
                <a:solidFill>
                  <a:srgbClr val="A8B6C5"/>
                </a:solidFill>
                <a:latin typeface="Inter" pitchFamily="34" charset="0"/>
                <a:ea typeface="Inter" pitchFamily="34" charset="-122"/>
                <a:cs typeface="Inter" pitchFamily="34" charset="-120"/>
              </a:rPr>
              <a:t>Quantise</a:t>
            </a:r>
            <a:endParaRPr lang="en-US" sz="770" dirty="0"/>
          </a:p>
        </p:txBody>
      </p:sp>
      <p:sp>
        <p:nvSpPr>
          <p:cNvPr id="74" name="Shape 72"/>
          <p:cNvSpPr/>
          <p:nvPr/>
        </p:nvSpPr>
        <p:spPr>
          <a:xfrm>
            <a:off x="1965960" y="5157216"/>
            <a:ext cx="4553712" cy="0"/>
          </a:xfrm>
          <a:prstGeom prst="line">
            <a:avLst/>
          </a:prstGeom>
          <a:noFill/>
          <a:ln w="7620">
            <a:solidFill>
              <a:srgbClr val="22384E"/>
            </a:solidFill>
            <a:prstDash val="solid"/>
          </a:ln>
        </p:spPr>
        <p:txBody>
          <a:bodyPr/>
          <a:lstStyle/>
          <a:p>
            <a:endParaRPr lang="en-US"/>
          </a:p>
        </p:txBody>
      </p:sp>
      <p:sp>
        <p:nvSpPr>
          <p:cNvPr id="75" name="Text 73"/>
          <p:cNvSpPr/>
          <p:nvPr/>
        </p:nvSpPr>
        <p:spPr>
          <a:xfrm>
            <a:off x="777240" y="5321808"/>
            <a:ext cx="1051560" cy="128016"/>
          </a:xfrm>
          <a:prstGeom prst="rect">
            <a:avLst/>
          </a:prstGeom>
          <a:noFill/>
          <a:ln/>
        </p:spPr>
        <p:txBody>
          <a:bodyPr wrap="square" lIns="0" tIns="0" rIns="0" bIns="0" rtlCol="0" anchor="ctr"/>
          <a:lstStyle/>
          <a:p>
            <a:pPr marL="0" indent="0" algn="r">
              <a:buNone/>
            </a:pPr>
            <a:r>
              <a:rPr lang="en-US" sz="770" dirty="0">
                <a:solidFill>
                  <a:srgbClr val="A8B6C5"/>
                </a:solidFill>
                <a:latin typeface="Inter" pitchFamily="34" charset="0"/>
                <a:ea typeface="Inter" pitchFamily="34" charset="-122"/>
                <a:cs typeface="Inter" pitchFamily="34" charset="-120"/>
              </a:rPr>
              <a:t>Encode bytes</a:t>
            </a:r>
            <a:endParaRPr lang="en-US" sz="770" dirty="0"/>
          </a:p>
        </p:txBody>
      </p:sp>
      <p:sp>
        <p:nvSpPr>
          <p:cNvPr id="76" name="Shape 74"/>
          <p:cNvSpPr/>
          <p:nvPr/>
        </p:nvSpPr>
        <p:spPr>
          <a:xfrm>
            <a:off x="1965960" y="5385816"/>
            <a:ext cx="4553712" cy="0"/>
          </a:xfrm>
          <a:prstGeom prst="line">
            <a:avLst/>
          </a:prstGeom>
          <a:noFill/>
          <a:ln w="7620">
            <a:solidFill>
              <a:srgbClr val="22384E"/>
            </a:solidFill>
            <a:prstDash val="solid"/>
          </a:ln>
        </p:spPr>
        <p:txBody>
          <a:bodyPr/>
          <a:lstStyle/>
          <a:p>
            <a:endParaRPr lang="en-US"/>
          </a:p>
        </p:txBody>
      </p:sp>
      <p:sp>
        <p:nvSpPr>
          <p:cNvPr id="77" name="Shape 75"/>
          <p:cNvSpPr/>
          <p:nvPr/>
        </p:nvSpPr>
        <p:spPr>
          <a:xfrm>
            <a:off x="2011680" y="4407408"/>
            <a:ext cx="594360" cy="137160"/>
          </a:xfrm>
          <a:prstGeom prst="roundRect">
            <a:avLst>
              <a:gd name="adj" fmla="val 33333"/>
            </a:avLst>
          </a:prstGeom>
          <a:solidFill>
            <a:srgbClr val="38D9E6"/>
          </a:solidFill>
          <a:ln w="12700">
            <a:solidFill>
              <a:srgbClr val="38D9E6">
                <a:alpha val="0"/>
              </a:srgbClr>
            </a:solidFill>
            <a:prstDash val="solid"/>
          </a:ln>
        </p:spPr>
        <p:txBody>
          <a:bodyPr/>
          <a:lstStyle/>
          <a:p>
            <a:endParaRPr lang="en-US"/>
          </a:p>
        </p:txBody>
      </p:sp>
      <p:sp>
        <p:nvSpPr>
          <p:cNvPr id="78" name="Shape 76"/>
          <p:cNvSpPr/>
          <p:nvPr/>
        </p:nvSpPr>
        <p:spPr>
          <a:xfrm>
            <a:off x="2651760" y="4636008"/>
            <a:ext cx="1234440" cy="137160"/>
          </a:xfrm>
          <a:prstGeom prst="roundRect">
            <a:avLst>
              <a:gd name="adj" fmla="val 33333"/>
            </a:avLst>
          </a:prstGeom>
          <a:solidFill>
            <a:srgbClr val="668EFF"/>
          </a:solidFill>
          <a:ln w="12700">
            <a:solidFill>
              <a:srgbClr val="668EFF">
                <a:alpha val="0"/>
              </a:srgbClr>
            </a:solidFill>
            <a:prstDash val="solid"/>
          </a:ln>
        </p:spPr>
        <p:txBody>
          <a:bodyPr/>
          <a:lstStyle/>
          <a:p>
            <a:endParaRPr lang="en-US"/>
          </a:p>
        </p:txBody>
      </p:sp>
      <p:sp>
        <p:nvSpPr>
          <p:cNvPr id="79" name="Shape 77"/>
          <p:cNvSpPr/>
          <p:nvPr/>
        </p:nvSpPr>
        <p:spPr>
          <a:xfrm>
            <a:off x="3886200" y="4864608"/>
            <a:ext cx="1188720" cy="137160"/>
          </a:xfrm>
          <a:prstGeom prst="roundRect">
            <a:avLst>
              <a:gd name="adj" fmla="val 33333"/>
            </a:avLst>
          </a:prstGeom>
          <a:solidFill>
            <a:srgbClr val="668EFF"/>
          </a:solidFill>
          <a:ln w="12700">
            <a:solidFill>
              <a:srgbClr val="668EFF">
                <a:alpha val="0"/>
              </a:srgbClr>
            </a:solidFill>
            <a:prstDash val="solid"/>
          </a:ln>
        </p:spPr>
        <p:txBody>
          <a:bodyPr/>
          <a:lstStyle/>
          <a:p>
            <a:endParaRPr lang="en-US"/>
          </a:p>
        </p:txBody>
      </p:sp>
      <p:sp>
        <p:nvSpPr>
          <p:cNvPr id="80" name="Shape 78"/>
          <p:cNvSpPr/>
          <p:nvPr/>
        </p:nvSpPr>
        <p:spPr>
          <a:xfrm>
            <a:off x="5120640" y="5093208"/>
            <a:ext cx="566928" cy="137160"/>
          </a:xfrm>
          <a:prstGeom prst="roundRect">
            <a:avLst>
              <a:gd name="adj" fmla="val 33333"/>
            </a:avLst>
          </a:prstGeom>
          <a:solidFill>
            <a:srgbClr val="49D486"/>
          </a:solidFill>
          <a:ln w="12700">
            <a:solidFill>
              <a:srgbClr val="49D486">
                <a:alpha val="0"/>
              </a:srgbClr>
            </a:solidFill>
            <a:prstDash val="solid"/>
          </a:ln>
        </p:spPr>
        <p:txBody>
          <a:bodyPr/>
          <a:lstStyle/>
          <a:p>
            <a:endParaRPr lang="en-US"/>
          </a:p>
        </p:txBody>
      </p:sp>
      <p:sp>
        <p:nvSpPr>
          <p:cNvPr id="81" name="Shape 79"/>
          <p:cNvSpPr/>
          <p:nvPr/>
        </p:nvSpPr>
        <p:spPr>
          <a:xfrm>
            <a:off x="5742432" y="5321808"/>
            <a:ext cx="932688" cy="137160"/>
          </a:xfrm>
          <a:prstGeom prst="roundRect">
            <a:avLst>
              <a:gd name="adj" fmla="val 33333"/>
            </a:avLst>
          </a:prstGeom>
          <a:solidFill>
            <a:srgbClr val="FFA24C"/>
          </a:solidFill>
          <a:ln w="12700">
            <a:solidFill>
              <a:srgbClr val="FFA24C">
                <a:alpha val="0"/>
              </a:srgbClr>
            </a:solidFill>
            <a:prstDash val="solid"/>
          </a:ln>
        </p:spPr>
        <p:txBody>
          <a:bodyPr/>
          <a:lstStyle/>
          <a:p>
            <a:endParaRPr lang="en-US"/>
          </a:p>
        </p:txBody>
      </p:sp>
      <p:sp>
        <p:nvSpPr>
          <p:cNvPr id="82" name="Text 80"/>
          <p:cNvSpPr/>
          <p:nvPr/>
        </p:nvSpPr>
        <p:spPr>
          <a:xfrm>
            <a:off x="1993392" y="5504688"/>
            <a:ext cx="2606040" cy="164592"/>
          </a:xfrm>
          <a:prstGeom prst="rect">
            <a:avLst/>
          </a:prstGeom>
          <a:noFill/>
          <a:ln/>
        </p:spPr>
        <p:txBody>
          <a:bodyPr wrap="square" lIns="0" tIns="0" rIns="0" bIns="0" rtlCol="0" anchor="ctr"/>
          <a:lstStyle/>
          <a:p>
            <a:pPr marL="0" indent="0">
              <a:buNone/>
            </a:pPr>
            <a:r>
              <a:rPr lang="en-US" sz="850" b="1" dirty="0">
                <a:solidFill>
                  <a:srgbClr val="49D486"/>
                </a:solidFill>
                <a:latin typeface="Inter" pitchFamily="34" charset="0"/>
                <a:ea typeface="Inter" pitchFamily="34" charset="-122"/>
                <a:cs typeface="Inter" pitchFamily="34" charset="-120"/>
              </a:rPr>
              <a:t>Fixed-work arithmetic can be scheduled predictably.</a:t>
            </a:r>
            <a:endParaRPr lang="en-US" sz="850" dirty="0"/>
          </a:p>
        </p:txBody>
      </p:sp>
      <p:sp>
        <p:nvSpPr>
          <p:cNvPr id="83" name="Text 81"/>
          <p:cNvSpPr/>
          <p:nvPr/>
        </p:nvSpPr>
        <p:spPr>
          <a:xfrm>
            <a:off x="4370832" y="5504688"/>
            <a:ext cx="2286000" cy="164592"/>
          </a:xfrm>
          <a:prstGeom prst="rect">
            <a:avLst/>
          </a:prstGeom>
          <a:noFill/>
          <a:ln/>
        </p:spPr>
        <p:txBody>
          <a:bodyPr wrap="square" lIns="0" tIns="0" rIns="0" bIns="0" rtlCol="0" anchor="ctr">
            <a:normAutofit fontScale="70000" lnSpcReduction="20000"/>
          </a:bodyPr>
          <a:lstStyle/>
          <a:p>
            <a:pPr marL="0" indent="0" algn="r">
              <a:buNone/>
            </a:pPr>
            <a:r>
              <a:rPr lang="en-US" sz="850" b="1" dirty="0">
                <a:solidFill>
                  <a:srgbClr val="FFA24C"/>
                </a:solidFill>
                <a:latin typeface="Inter" pitchFamily="34" charset="0"/>
                <a:ea typeface="Inter" pitchFamily="34" charset="-122"/>
                <a:cs typeface="Inter" pitchFamily="34" charset="-120"/>
              </a:rPr>
              <a:t>Encoder work expands with the number of emitted symbols and bytes.</a:t>
            </a:r>
            <a:endParaRPr lang="en-US" sz="850" dirty="0"/>
          </a:p>
        </p:txBody>
      </p:sp>
      <p:sp>
        <p:nvSpPr>
          <p:cNvPr id="84" name="Shape 82"/>
          <p:cNvSpPr/>
          <p:nvPr/>
        </p:nvSpPr>
        <p:spPr>
          <a:xfrm>
            <a:off x="7333488" y="3721608"/>
            <a:ext cx="4389120" cy="2011680"/>
          </a:xfrm>
          <a:prstGeom prst="roundRect">
            <a:avLst>
              <a:gd name="adj" fmla="val 3636"/>
            </a:avLst>
          </a:prstGeom>
          <a:solidFill>
            <a:srgbClr val="0D1C2D"/>
          </a:solidFill>
          <a:ln w="12700">
            <a:solidFill>
              <a:srgbClr val="FFA24C">
                <a:alpha val="80000"/>
              </a:srgbClr>
            </a:solidFill>
            <a:prstDash val="solid"/>
          </a:ln>
          <a:effectLst>
            <a:outerShdw algn="bl" rotWithShape="0">
              <a:srgbClr val="000000">
                <a:alpha val="0"/>
              </a:srgbClr>
            </a:outerShdw>
          </a:effectLst>
        </p:spPr>
        <p:txBody>
          <a:bodyPr/>
          <a:lstStyle/>
          <a:p>
            <a:endParaRPr lang="en-US"/>
          </a:p>
        </p:txBody>
      </p:sp>
      <p:sp>
        <p:nvSpPr>
          <p:cNvPr id="85" name="Text 83"/>
          <p:cNvSpPr/>
          <p:nvPr/>
        </p:nvSpPr>
        <p:spPr>
          <a:xfrm>
            <a:off x="7616952" y="3977640"/>
            <a:ext cx="2487168" cy="256032"/>
          </a:xfrm>
          <a:prstGeom prst="rect">
            <a:avLst/>
          </a:prstGeom>
          <a:noFill/>
          <a:ln/>
        </p:spPr>
        <p:txBody>
          <a:bodyPr wrap="square" lIns="0" tIns="0" rIns="0" bIns="0" rtlCol="0" anchor="ctr">
            <a:normAutofit/>
          </a:bodyPr>
          <a:lstStyle/>
          <a:p>
            <a:pPr marL="0" indent="0">
              <a:buNone/>
            </a:pPr>
            <a:r>
              <a:rPr lang="en-US" sz="1600" b="1" dirty="0">
                <a:solidFill>
                  <a:srgbClr val="F4F8FB"/>
                </a:solidFill>
                <a:latin typeface="Inter Display" pitchFamily="34" charset="0"/>
                <a:ea typeface="Inter Display" pitchFamily="34" charset="-122"/>
                <a:cs typeface="Inter Display" pitchFamily="34" charset="-120"/>
              </a:rPr>
              <a:t>Remaining serial constraints</a:t>
            </a:r>
            <a:endParaRPr lang="en-US" sz="1600" dirty="0"/>
          </a:p>
        </p:txBody>
      </p:sp>
      <p:sp>
        <p:nvSpPr>
          <p:cNvPr id="86" name="Shape 84"/>
          <p:cNvSpPr/>
          <p:nvPr/>
        </p:nvSpPr>
        <p:spPr>
          <a:xfrm>
            <a:off x="10168128" y="3941064"/>
            <a:ext cx="1261872" cy="292608"/>
          </a:xfrm>
          <a:prstGeom prst="roundRect">
            <a:avLst>
              <a:gd name="adj" fmla="val 50000"/>
            </a:avLst>
          </a:prstGeom>
          <a:solidFill>
            <a:srgbClr val="132943"/>
          </a:solidFill>
          <a:ln w="10160">
            <a:solidFill>
              <a:srgbClr val="38D9E6">
                <a:alpha val="75000"/>
              </a:srgbClr>
            </a:solidFill>
            <a:prstDash val="solid"/>
          </a:ln>
        </p:spPr>
        <p:txBody>
          <a:bodyPr/>
          <a:lstStyle/>
          <a:p>
            <a:endParaRPr lang="en-US"/>
          </a:p>
        </p:txBody>
      </p:sp>
      <p:sp>
        <p:nvSpPr>
          <p:cNvPr id="87" name="Text 85"/>
          <p:cNvSpPr/>
          <p:nvPr/>
        </p:nvSpPr>
        <p:spPr>
          <a:xfrm>
            <a:off x="10241280" y="4005072"/>
            <a:ext cx="1115568" cy="146304"/>
          </a:xfrm>
          <a:prstGeom prst="rect">
            <a:avLst/>
          </a:prstGeom>
          <a:noFill/>
          <a:ln/>
        </p:spPr>
        <p:txBody>
          <a:bodyPr wrap="square" lIns="0" tIns="0" rIns="0" bIns="0" rtlCol="0" anchor="ctr">
            <a:normAutofit/>
          </a:bodyPr>
          <a:lstStyle/>
          <a:p>
            <a:pPr marL="0" indent="0" algn="ctr">
              <a:buNone/>
            </a:pPr>
            <a:r>
              <a:rPr lang="en-US" sz="820" b="1" dirty="0">
                <a:solidFill>
                  <a:srgbClr val="38D9E6"/>
                </a:solidFill>
                <a:latin typeface="Inter" pitchFamily="34" charset="0"/>
                <a:ea typeface="Inter" pitchFamily="34" charset="-122"/>
                <a:cs typeface="Inter" pitchFamily="34" charset="-120"/>
              </a:rPr>
              <a:t>TARGET 200 MHz</a:t>
            </a:r>
            <a:endParaRPr lang="en-US" sz="820" dirty="0"/>
          </a:p>
        </p:txBody>
      </p:sp>
      <p:sp>
        <p:nvSpPr>
          <p:cNvPr id="88" name="Shape 86"/>
          <p:cNvSpPr/>
          <p:nvPr/>
        </p:nvSpPr>
        <p:spPr>
          <a:xfrm>
            <a:off x="7635240" y="4443984"/>
            <a:ext cx="292608" cy="292608"/>
          </a:xfrm>
          <a:prstGeom prst="ellipse">
            <a:avLst/>
          </a:prstGeom>
          <a:solidFill>
            <a:srgbClr val="FFA24C"/>
          </a:solidFill>
          <a:ln w="12700">
            <a:solidFill>
              <a:srgbClr val="FFA24C">
                <a:alpha val="0"/>
              </a:srgbClr>
            </a:solidFill>
            <a:prstDash val="solid"/>
          </a:ln>
        </p:spPr>
        <p:txBody>
          <a:bodyPr/>
          <a:lstStyle/>
          <a:p>
            <a:endParaRPr lang="en-US"/>
          </a:p>
        </p:txBody>
      </p:sp>
      <p:sp>
        <p:nvSpPr>
          <p:cNvPr id="89" name="Text 87"/>
          <p:cNvSpPr/>
          <p:nvPr/>
        </p:nvSpPr>
        <p:spPr>
          <a:xfrm>
            <a:off x="7635240" y="4425696"/>
            <a:ext cx="292608" cy="256032"/>
          </a:xfrm>
          <a:prstGeom prst="rect">
            <a:avLst/>
          </a:prstGeom>
          <a:noFill/>
          <a:ln/>
        </p:spPr>
        <p:txBody>
          <a:bodyPr wrap="square" lIns="0" tIns="0" rIns="0" bIns="0" rtlCol="0" anchor="ctr"/>
          <a:lstStyle/>
          <a:p>
            <a:pPr marL="0" indent="0" algn="ctr">
              <a:buNone/>
            </a:pPr>
            <a:r>
              <a:rPr lang="en-US" sz="1400" b="1" dirty="0">
                <a:solidFill>
                  <a:srgbClr val="07111F"/>
                </a:solidFill>
                <a:latin typeface="Inter" pitchFamily="34" charset="0"/>
                <a:ea typeface="Inter" pitchFamily="34" charset="-122"/>
                <a:cs typeface="Inter" pitchFamily="34" charset="-120"/>
              </a:rPr>
              <a:t>•</a:t>
            </a:r>
            <a:endParaRPr lang="en-US" sz="1400" dirty="0"/>
          </a:p>
        </p:txBody>
      </p:sp>
      <p:sp>
        <p:nvSpPr>
          <p:cNvPr id="90" name="Text 88"/>
          <p:cNvSpPr/>
          <p:nvPr/>
        </p:nvSpPr>
        <p:spPr>
          <a:xfrm>
            <a:off x="8046720" y="4389120"/>
            <a:ext cx="2880360" cy="219456"/>
          </a:xfrm>
          <a:prstGeom prst="rect">
            <a:avLst/>
          </a:prstGeom>
          <a:noFill/>
          <a:ln/>
        </p:spPr>
        <p:txBody>
          <a:bodyPr wrap="square" lIns="0" tIns="0" rIns="0" bIns="0" rtlCol="0" anchor="ctr"/>
          <a:lstStyle/>
          <a:p>
            <a:pPr marL="0" indent="0">
              <a:buNone/>
            </a:pPr>
            <a:r>
              <a:rPr lang="en-US" sz="1320" b="1" dirty="0">
                <a:solidFill>
                  <a:srgbClr val="F4F8FB"/>
                </a:solidFill>
                <a:latin typeface="Inter" pitchFamily="34" charset="0"/>
                <a:ea typeface="Inter" pitchFamily="34" charset="-122"/>
                <a:cs typeface="Inter" pitchFamily="34" charset="-120"/>
              </a:rPr>
              <a:t>Block traversal</a:t>
            </a:r>
            <a:endParaRPr lang="en-US" sz="1320" dirty="0"/>
          </a:p>
        </p:txBody>
      </p:sp>
      <p:sp>
        <p:nvSpPr>
          <p:cNvPr id="91" name="Text 89"/>
          <p:cNvSpPr/>
          <p:nvPr/>
        </p:nvSpPr>
        <p:spPr>
          <a:xfrm>
            <a:off x="8046720" y="4645152"/>
            <a:ext cx="3246120" cy="310896"/>
          </a:xfrm>
          <a:prstGeom prst="rect">
            <a:avLst/>
          </a:prstGeom>
          <a:noFill/>
          <a:ln/>
        </p:spPr>
        <p:txBody>
          <a:bodyPr wrap="square" lIns="0" tIns="0" rIns="0" bIns="0" rtlCol="0" anchor="ctr">
            <a:normAutofit/>
          </a:bodyPr>
          <a:lstStyle/>
          <a:p>
            <a:pPr marL="0" indent="0">
              <a:buNone/>
            </a:pPr>
            <a:r>
              <a:rPr lang="en-US" sz="1020" dirty="0">
                <a:solidFill>
                  <a:srgbClr val="A8B6C5"/>
                </a:solidFill>
                <a:latin typeface="Inter" pitchFamily="34" charset="0"/>
                <a:ea typeface="Inter" pitchFamily="34" charset="-122"/>
                <a:cs typeface="Inter" pitchFamily="34" charset="-120"/>
              </a:rPr>
              <a:t>The current kernel processes blocks through one top-level nested loop.</a:t>
            </a:r>
            <a:endParaRPr lang="en-US" sz="1020" dirty="0"/>
          </a:p>
        </p:txBody>
      </p:sp>
      <p:sp>
        <p:nvSpPr>
          <p:cNvPr id="92" name="Shape 90"/>
          <p:cNvSpPr/>
          <p:nvPr/>
        </p:nvSpPr>
        <p:spPr>
          <a:xfrm>
            <a:off x="7635240" y="5029200"/>
            <a:ext cx="292608" cy="292608"/>
          </a:xfrm>
          <a:prstGeom prst="ellipse">
            <a:avLst/>
          </a:prstGeom>
          <a:solidFill>
            <a:srgbClr val="FFA24C"/>
          </a:solidFill>
          <a:ln w="12700">
            <a:solidFill>
              <a:srgbClr val="FFA24C">
                <a:alpha val="0"/>
              </a:srgbClr>
            </a:solidFill>
            <a:prstDash val="solid"/>
          </a:ln>
        </p:spPr>
        <p:txBody>
          <a:bodyPr/>
          <a:lstStyle/>
          <a:p>
            <a:endParaRPr lang="en-US"/>
          </a:p>
        </p:txBody>
      </p:sp>
      <p:sp>
        <p:nvSpPr>
          <p:cNvPr id="93" name="Text 91"/>
          <p:cNvSpPr/>
          <p:nvPr/>
        </p:nvSpPr>
        <p:spPr>
          <a:xfrm>
            <a:off x="7635240" y="5010912"/>
            <a:ext cx="292608" cy="256032"/>
          </a:xfrm>
          <a:prstGeom prst="rect">
            <a:avLst/>
          </a:prstGeom>
          <a:noFill/>
          <a:ln/>
        </p:spPr>
        <p:txBody>
          <a:bodyPr wrap="square" lIns="0" tIns="0" rIns="0" bIns="0" rtlCol="0" anchor="ctr"/>
          <a:lstStyle/>
          <a:p>
            <a:pPr marL="0" indent="0" algn="ctr">
              <a:buNone/>
            </a:pPr>
            <a:r>
              <a:rPr lang="en-US" sz="1400" b="1" dirty="0">
                <a:solidFill>
                  <a:srgbClr val="07111F"/>
                </a:solidFill>
                <a:latin typeface="Inter" pitchFamily="34" charset="0"/>
                <a:ea typeface="Inter" pitchFamily="34" charset="-122"/>
                <a:cs typeface="Inter" pitchFamily="34" charset="-120"/>
              </a:rPr>
              <a:t>•</a:t>
            </a:r>
            <a:endParaRPr lang="en-US" sz="1400" dirty="0"/>
          </a:p>
        </p:txBody>
      </p:sp>
      <p:sp>
        <p:nvSpPr>
          <p:cNvPr id="94" name="Text 92"/>
          <p:cNvSpPr/>
          <p:nvPr/>
        </p:nvSpPr>
        <p:spPr>
          <a:xfrm>
            <a:off x="8046720" y="4974336"/>
            <a:ext cx="2880360" cy="219456"/>
          </a:xfrm>
          <a:prstGeom prst="rect">
            <a:avLst/>
          </a:prstGeom>
          <a:noFill/>
          <a:ln/>
        </p:spPr>
        <p:txBody>
          <a:bodyPr wrap="square" lIns="0" tIns="0" rIns="0" bIns="0" rtlCol="0" anchor="ctr"/>
          <a:lstStyle/>
          <a:p>
            <a:pPr marL="0" indent="0">
              <a:buNone/>
            </a:pPr>
            <a:r>
              <a:rPr lang="en-US" sz="1320" b="1" dirty="0">
                <a:solidFill>
                  <a:srgbClr val="F4F8FB"/>
                </a:solidFill>
                <a:latin typeface="Inter" pitchFamily="34" charset="0"/>
                <a:ea typeface="Inter" pitchFamily="34" charset="-122"/>
                <a:cs typeface="Inter" pitchFamily="34" charset="-120"/>
              </a:rPr>
              <a:t>Bitstream construction</a:t>
            </a:r>
            <a:endParaRPr lang="en-US" sz="1320" dirty="0"/>
          </a:p>
        </p:txBody>
      </p:sp>
      <p:sp>
        <p:nvSpPr>
          <p:cNvPr id="95" name="Text 93"/>
          <p:cNvSpPr/>
          <p:nvPr/>
        </p:nvSpPr>
        <p:spPr>
          <a:xfrm>
            <a:off x="8046720" y="5230368"/>
            <a:ext cx="3246120" cy="310896"/>
          </a:xfrm>
          <a:prstGeom prst="rect">
            <a:avLst/>
          </a:prstGeom>
          <a:noFill/>
          <a:ln/>
        </p:spPr>
        <p:txBody>
          <a:bodyPr wrap="square" lIns="0" tIns="0" rIns="0" bIns="0" rtlCol="0" anchor="ctr">
            <a:normAutofit/>
          </a:bodyPr>
          <a:lstStyle/>
          <a:p>
            <a:pPr marL="0" indent="0">
              <a:buNone/>
            </a:pPr>
            <a:r>
              <a:rPr lang="en-US" sz="1020" dirty="0">
                <a:solidFill>
                  <a:srgbClr val="A8B6C5"/>
                </a:solidFill>
                <a:latin typeface="Inter" pitchFamily="34" charset="0"/>
                <a:ea typeface="Inter" pitchFamily="34" charset="-122"/>
                <a:cs typeface="Inter" pitchFamily="34" charset="-120"/>
              </a:rPr>
              <a:t>RUN/SIZE emission and packed byte writes depend on coefficient content.</a:t>
            </a:r>
            <a:endParaRPr lang="en-US" sz="1020" dirty="0"/>
          </a:p>
        </p:txBody>
      </p:sp>
      <p:sp>
        <p:nvSpPr>
          <p:cNvPr id="96" name="Shape 94"/>
          <p:cNvSpPr/>
          <p:nvPr/>
        </p:nvSpPr>
        <p:spPr>
          <a:xfrm>
            <a:off x="438912" y="6519672"/>
            <a:ext cx="11064240" cy="0"/>
          </a:xfrm>
          <a:prstGeom prst="line">
            <a:avLst/>
          </a:prstGeom>
          <a:noFill/>
          <a:ln w="10160">
            <a:solidFill>
              <a:srgbClr val="22384E">
                <a:alpha val="70000"/>
              </a:srgbClr>
            </a:solidFill>
            <a:prstDash val="solid"/>
          </a:ln>
        </p:spPr>
        <p:txBody>
          <a:bodyPr/>
          <a:lstStyle/>
          <a:p>
            <a:endParaRPr lang="en-US"/>
          </a:p>
        </p:txBody>
      </p:sp>
      <p:sp>
        <p:nvSpPr>
          <p:cNvPr id="98" name="Slide Number Placeholder 0"/>
          <p:cNvSpPr>
            <a:spLocks noGrp="1"/>
          </p:cNvSpPr>
          <p:nvPr>
            <p:ph type="sldNum" sz="quarter" idx="4294967295"/>
          </p:nvPr>
        </p:nvSpPr>
        <p:spPr>
          <a:xfrm>
            <a:off x="11430000" y="6473952"/>
            <a:ext cx="438912"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7890A4"/>
                </a:solidFill>
                <a:latin typeface="Inter"/>
                <a:ea typeface="Inter"/>
                <a:cs typeface="Inter"/>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9802368" y="0"/>
            <a:ext cx="2386584" cy="2971800"/>
          </a:xfrm>
          <a:prstGeom prst="ellipse">
            <a:avLst/>
          </a:prstGeom>
          <a:solidFill>
            <a:srgbClr val="38D9E6">
              <a:alpha val="8000"/>
            </a:srgbClr>
          </a:solidFill>
          <a:ln w="12700">
            <a:solidFill>
              <a:srgbClr val="38D9E6">
                <a:alpha val="0"/>
              </a:srgbClr>
            </a:solidFill>
            <a:prstDash val="solid"/>
          </a:ln>
        </p:spPr>
        <p:txBody>
          <a:bodyPr/>
          <a:lstStyle/>
          <a:p>
            <a:endParaRPr lang="en-US"/>
          </a:p>
        </p:txBody>
      </p:sp>
      <p:sp>
        <p:nvSpPr>
          <p:cNvPr id="3" name="Shape 1"/>
          <p:cNvSpPr/>
          <p:nvPr/>
        </p:nvSpPr>
        <p:spPr>
          <a:xfrm>
            <a:off x="0" y="5230368"/>
            <a:ext cx="2395728" cy="1627632"/>
          </a:xfrm>
          <a:prstGeom prst="ellipse">
            <a:avLst/>
          </a:prstGeom>
          <a:solidFill>
            <a:srgbClr val="668EFF">
              <a:alpha val="6000"/>
            </a:srgbClr>
          </a:solidFill>
          <a:ln w="12700">
            <a:solidFill>
              <a:srgbClr val="668EFF">
                <a:alpha val="0"/>
              </a:srgbClr>
            </a:solidFill>
            <a:prstDash val="solid"/>
          </a:ln>
        </p:spPr>
        <p:txBody>
          <a:bodyPr/>
          <a:lstStyle/>
          <a:p>
            <a:endParaRPr lang="en-US"/>
          </a:p>
        </p:txBody>
      </p:sp>
      <p:sp>
        <p:nvSpPr>
          <p:cNvPr id="4" name="Shape 2"/>
          <p:cNvSpPr/>
          <p:nvPr/>
        </p:nvSpPr>
        <p:spPr>
          <a:xfrm>
            <a:off x="457200" y="0"/>
            <a:ext cx="0" cy="6858000"/>
          </a:xfrm>
          <a:prstGeom prst="line">
            <a:avLst/>
          </a:prstGeom>
          <a:noFill/>
          <a:ln w="5080">
            <a:solidFill>
              <a:srgbClr val="22384E">
                <a:alpha val="6000"/>
              </a:srgbClr>
            </a:solidFill>
            <a:prstDash val="solid"/>
          </a:ln>
        </p:spPr>
        <p:txBody>
          <a:bodyPr/>
          <a:lstStyle/>
          <a:p>
            <a:endParaRPr lang="en-US"/>
          </a:p>
        </p:txBody>
      </p:sp>
      <p:sp>
        <p:nvSpPr>
          <p:cNvPr id="5" name="Shape 3"/>
          <p:cNvSpPr/>
          <p:nvPr/>
        </p:nvSpPr>
        <p:spPr>
          <a:xfrm>
            <a:off x="960120" y="0"/>
            <a:ext cx="0" cy="6858000"/>
          </a:xfrm>
          <a:prstGeom prst="line">
            <a:avLst/>
          </a:prstGeom>
          <a:noFill/>
          <a:ln w="5080">
            <a:solidFill>
              <a:srgbClr val="22384E">
                <a:alpha val="6000"/>
              </a:srgbClr>
            </a:solidFill>
            <a:prstDash val="solid"/>
          </a:ln>
        </p:spPr>
        <p:txBody>
          <a:bodyPr/>
          <a:lstStyle/>
          <a:p>
            <a:endParaRPr lang="en-US"/>
          </a:p>
        </p:txBody>
      </p:sp>
      <p:sp>
        <p:nvSpPr>
          <p:cNvPr id="6" name="Shape 4"/>
          <p:cNvSpPr/>
          <p:nvPr/>
        </p:nvSpPr>
        <p:spPr>
          <a:xfrm>
            <a:off x="1463040" y="0"/>
            <a:ext cx="0" cy="6858000"/>
          </a:xfrm>
          <a:prstGeom prst="line">
            <a:avLst/>
          </a:prstGeom>
          <a:noFill/>
          <a:ln w="5080">
            <a:solidFill>
              <a:srgbClr val="22384E">
                <a:alpha val="6000"/>
              </a:srgbClr>
            </a:solidFill>
            <a:prstDash val="solid"/>
          </a:ln>
        </p:spPr>
        <p:txBody>
          <a:bodyPr/>
          <a:lstStyle/>
          <a:p>
            <a:endParaRPr lang="en-US"/>
          </a:p>
        </p:txBody>
      </p:sp>
      <p:sp>
        <p:nvSpPr>
          <p:cNvPr id="7" name="Shape 5"/>
          <p:cNvSpPr/>
          <p:nvPr/>
        </p:nvSpPr>
        <p:spPr>
          <a:xfrm>
            <a:off x="1965960" y="0"/>
            <a:ext cx="0" cy="6858000"/>
          </a:xfrm>
          <a:prstGeom prst="line">
            <a:avLst/>
          </a:prstGeom>
          <a:noFill/>
          <a:ln w="5080">
            <a:solidFill>
              <a:srgbClr val="22384E">
                <a:alpha val="6000"/>
              </a:srgbClr>
            </a:solidFill>
            <a:prstDash val="solid"/>
          </a:ln>
        </p:spPr>
        <p:txBody>
          <a:bodyPr/>
          <a:lstStyle/>
          <a:p>
            <a:endParaRPr lang="en-US"/>
          </a:p>
        </p:txBody>
      </p:sp>
      <p:sp>
        <p:nvSpPr>
          <p:cNvPr id="8" name="Shape 6"/>
          <p:cNvSpPr/>
          <p:nvPr/>
        </p:nvSpPr>
        <p:spPr>
          <a:xfrm>
            <a:off x="2468880" y="0"/>
            <a:ext cx="0" cy="6858000"/>
          </a:xfrm>
          <a:prstGeom prst="line">
            <a:avLst/>
          </a:prstGeom>
          <a:noFill/>
          <a:ln w="5080">
            <a:solidFill>
              <a:srgbClr val="22384E">
                <a:alpha val="6000"/>
              </a:srgbClr>
            </a:solidFill>
            <a:prstDash val="solid"/>
          </a:ln>
        </p:spPr>
        <p:txBody>
          <a:bodyPr/>
          <a:lstStyle/>
          <a:p>
            <a:endParaRPr lang="en-US"/>
          </a:p>
        </p:txBody>
      </p:sp>
      <p:sp>
        <p:nvSpPr>
          <p:cNvPr id="9" name="Shape 7"/>
          <p:cNvSpPr/>
          <p:nvPr/>
        </p:nvSpPr>
        <p:spPr>
          <a:xfrm>
            <a:off x="2971800" y="0"/>
            <a:ext cx="0" cy="6858000"/>
          </a:xfrm>
          <a:prstGeom prst="line">
            <a:avLst/>
          </a:prstGeom>
          <a:noFill/>
          <a:ln w="5080">
            <a:solidFill>
              <a:srgbClr val="22384E">
                <a:alpha val="6000"/>
              </a:srgbClr>
            </a:solidFill>
            <a:prstDash val="solid"/>
          </a:ln>
        </p:spPr>
        <p:txBody>
          <a:bodyPr/>
          <a:lstStyle/>
          <a:p>
            <a:endParaRPr lang="en-US"/>
          </a:p>
        </p:txBody>
      </p:sp>
      <p:sp>
        <p:nvSpPr>
          <p:cNvPr id="10" name="Shape 8"/>
          <p:cNvSpPr/>
          <p:nvPr/>
        </p:nvSpPr>
        <p:spPr>
          <a:xfrm>
            <a:off x="3474720" y="0"/>
            <a:ext cx="0" cy="6858000"/>
          </a:xfrm>
          <a:prstGeom prst="line">
            <a:avLst/>
          </a:prstGeom>
          <a:noFill/>
          <a:ln w="5080">
            <a:solidFill>
              <a:srgbClr val="22384E">
                <a:alpha val="6000"/>
              </a:srgbClr>
            </a:solidFill>
            <a:prstDash val="solid"/>
          </a:ln>
        </p:spPr>
        <p:txBody>
          <a:bodyPr/>
          <a:lstStyle/>
          <a:p>
            <a:endParaRPr lang="en-US"/>
          </a:p>
        </p:txBody>
      </p:sp>
      <p:sp>
        <p:nvSpPr>
          <p:cNvPr id="11" name="Shape 9"/>
          <p:cNvSpPr/>
          <p:nvPr/>
        </p:nvSpPr>
        <p:spPr>
          <a:xfrm>
            <a:off x="3977640" y="0"/>
            <a:ext cx="0" cy="6858000"/>
          </a:xfrm>
          <a:prstGeom prst="line">
            <a:avLst/>
          </a:prstGeom>
          <a:noFill/>
          <a:ln w="5080">
            <a:solidFill>
              <a:srgbClr val="22384E">
                <a:alpha val="6000"/>
              </a:srgbClr>
            </a:solidFill>
            <a:prstDash val="solid"/>
          </a:ln>
        </p:spPr>
        <p:txBody>
          <a:bodyPr/>
          <a:lstStyle/>
          <a:p>
            <a:endParaRPr lang="en-US"/>
          </a:p>
        </p:txBody>
      </p:sp>
      <p:sp>
        <p:nvSpPr>
          <p:cNvPr id="12" name="Shape 10"/>
          <p:cNvSpPr/>
          <p:nvPr/>
        </p:nvSpPr>
        <p:spPr>
          <a:xfrm>
            <a:off x="4480560" y="0"/>
            <a:ext cx="0" cy="6858000"/>
          </a:xfrm>
          <a:prstGeom prst="line">
            <a:avLst/>
          </a:prstGeom>
          <a:noFill/>
          <a:ln w="5080">
            <a:solidFill>
              <a:srgbClr val="22384E">
                <a:alpha val="6000"/>
              </a:srgbClr>
            </a:solidFill>
            <a:prstDash val="solid"/>
          </a:ln>
        </p:spPr>
        <p:txBody>
          <a:bodyPr/>
          <a:lstStyle/>
          <a:p>
            <a:endParaRPr lang="en-US"/>
          </a:p>
        </p:txBody>
      </p:sp>
      <p:sp>
        <p:nvSpPr>
          <p:cNvPr id="13" name="Shape 11"/>
          <p:cNvSpPr/>
          <p:nvPr/>
        </p:nvSpPr>
        <p:spPr>
          <a:xfrm>
            <a:off x="4983480" y="0"/>
            <a:ext cx="0" cy="6858000"/>
          </a:xfrm>
          <a:prstGeom prst="line">
            <a:avLst/>
          </a:prstGeom>
          <a:noFill/>
          <a:ln w="5080">
            <a:solidFill>
              <a:srgbClr val="22384E">
                <a:alpha val="6000"/>
              </a:srgbClr>
            </a:solidFill>
            <a:prstDash val="solid"/>
          </a:ln>
        </p:spPr>
        <p:txBody>
          <a:bodyPr/>
          <a:lstStyle/>
          <a:p>
            <a:endParaRPr lang="en-US"/>
          </a:p>
        </p:txBody>
      </p:sp>
      <p:sp>
        <p:nvSpPr>
          <p:cNvPr id="14" name="Shape 12"/>
          <p:cNvSpPr/>
          <p:nvPr/>
        </p:nvSpPr>
        <p:spPr>
          <a:xfrm>
            <a:off x="5486400" y="0"/>
            <a:ext cx="0" cy="6858000"/>
          </a:xfrm>
          <a:prstGeom prst="line">
            <a:avLst/>
          </a:prstGeom>
          <a:noFill/>
          <a:ln w="5080">
            <a:solidFill>
              <a:srgbClr val="22384E">
                <a:alpha val="6000"/>
              </a:srgbClr>
            </a:solidFill>
            <a:prstDash val="solid"/>
          </a:ln>
        </p:spPr>
        <p:txBody>
          <a:bodyPr/>
          <a:lstStyle/>
          <a:p>
            <a:endParaRPr lang="en-US"/>
          </a:p>
        </p:txBody>
      </p:sp>
      <p:sp>
        <p:nvSpPr>
          <p:cNvPr id="15" name="Shape 13"/>
          <p:cNvSpPr/>
          <p:nvPr/>
        </p:nvSpPr>
        <p:spPr>
          <a:xfrm>
            <a:off x="5989320" y="0"/>
            <a:ext cx="0" cy="6858000"/>
          </a:xfrm>
          <a:prstGeom prst="line">
            <a:avLst/>
          </a:prstGeom>
          <a:noFill/>
          <a:ln w="5080">
            <a:solidFill>
              <a:srgbClr val="22384E">
                <a:alpha val="6000"/>
              </a:srgbClr>
            </a:solidFill>
            <a:prstDash val="solid"/>
          </a:ln>
        </p:spPr>
        <p:txBody>
          <a:bodyPr/>
          <a:lstStyle/>
          <a:p>
            <a:endParaRPr lang="en-US"/>
          </a:p>
        </p:txBody>
      </p:sp>
      <p:sp>
        <p:nvSpPr>
          <p:cNvPr id="16" name="Shape 14"/>
          <p:cNvSpPr/>
          <p:nvPr/>
        </p:nvSpPr>
        <p:spPr>
          <a:xfrm>
            <a:off x="6492240" y="0"/>
            <a:ext cx="0" cy="6858000"/>
          </a:xfrm>
          <a:prstGeom prst="line">
            <a:avLst/>
          </a:prstGeom>
          <a:noFill/>
          <a:ln w="5080">
            <a:solidFill>
              <a:srgbClr val="22384E">
                <a:alpha val="6000"/>
              </a:srgbClr>
            </a:solidFill>
            <a:prstDash val="solid"/>
          </a:ln>
        </p:spPr>
        <p:txBody>
          <a:bodyPr/>
          <a:lstStyle/>
          <a:p>
            <a:endParaRPr lang="en-US"/>
          </a:p>
        </p:txBody>
      </p:sp>
      <p:sp>
        <p:nvSpPr>
          <p:cNvPr id="17" name="Shape 15"/>
          <p:cNvSpPr/>
          <p:nvPr/>
        </p:nvSpPr>
        <p:spPr>
          <a:xfrm>
            <a:off x="6995160" y="0"/>
            <a:ext cx="0" cy="6858000"/>
          </a:xfrm>
          <a:prstGeom prst="line">
            <a:avLst/>
          </a:prstGeom>
          <a:noFill/>
          <a:ln w="5080">
            <a:solidFill>
              <a:srgbClr val="22384E">
                <a:alpha val="6000"/>
              </a:srgbClr>
            </a:solidFill>
            <a:prstDash val="solid"/>
          </a:ln>
        </p:spPr>
        <p:txBody>
          <a:bodyPr/>
          <a:lstStyle/>
          <a:p>
            <a:endParaRPr lang="en-US"/>
          </a:p>
        </p:txBody>
      </p:sp>
      <p:sp>
        <p:nvSpPr>
          <p:cNvPr id="18" name="Shape 16"/>
          <p:cNvSpPr/>
          <p:nvPr/>
        </p:nvSpPr>
        <p:spPr>
          <a:xfrm>
            <a:off x="7498080" y="0"/>
            <a:ext cx="0" cy="6858000"/>
          </a:xfrm>
          <a:prstGeom prst="line">
            <a:avLst/>
          </a:prstGeom>
          <a:noFill/>
          <a:ln w="5080">
            <a:solidFill>
              <a:srgbClr val="22384E">
                <a:alpha val="6000"/>
              </a:srgbClr>
            </a:solidFill>
            <a:prstDash val="solid"/>
          </a:ln>
        </p:spPr>
        <p:txBody>
          <a:bodyPr/>
          <a:lstStyle/>
          <a:p>
            <a:endParaRPr lang="en-US"/>
          </a:p>
        </p:txBody>
      </p:sp>
      <p:sp>
        <p:nvSpPr>
          <p:cNvPr id="19" name="Shape 17"/>
          <p:cNvSpPr/>
          <p:nvPr/>
        </p:nvSpPr>
        <p:spPr>
          <a:xfrm>
            <a:off x="8001000" y="0"/>
            <a:ext cx="0" cy="6858000"/>
          </a:xfrm>
          <a:prstGeom prst="line">
            <a:avLst/>
          </a:prstGeom>
          <a:noFill/>
          <a:ln w="5080">
            <a:solidFill>
              <a:srgbClr val="22384E">
                <a:alpha val="6000"/>
              </a:srgbClr>
            </a:solidFill>
            <a:prstDash val="solid"/>
          </a:ln>
        </p:spPr>
        <p:txBody>
          <a:bodyPr/>
          <a:lstStyle/>
          <a:p>
            <a:endParaRPr lang="en-US"/>
          </a:p>
        </p:txBody>
      </p:sp>
      <p:sp>
        <p:nvSpPr>
          <p:cNvPr id="20" name="Shape 18"/>
          <p:cNvSpPr/>
          <p:nvPr/>
        </p:nvSpPr>
        <p:spPr>
          <a:xfrm>
            <a:off x="8503920" y="0"/>
            <a:ext cx="0" cy="6858000"/>
          </a:xfrm>
          <a:prstGeom prst="line">
            <a:avLst/>
          </a:prstGeom>
          <a:noFill/>
          <a:ln w="5080">
            <a:solidFill>
              <a:srgbClr val="22384E">
                <a:alpha val="6000"/>
              </a:srgbClr>
            </a:solidFill>
            <a:prstDash val="solid"/>
          </a:ln>
        </p:spPr>
        <p:txBody>
          <a:bodyPr/>
          <a:lstStyle/>
          <a:p>
            <a:endParaRPr lang="en-US"/>
          </a:p>
        </p:txBody>
      </p:sp>
      <p:sp>
        <p:nvSpPr>
          <p:cNvPr id="21" name="Shape 19"/>
          <p:cNvSpPr/>
          <p:nvPr/>
        </p:nvSpPr>
        <p:spPr>
          <a:xfrm>
            <a:off x="9006840" y="0"/>
            <a:ext cx="0" cy="6858000"/>
          </a:xfrm>
          <a:prstGeom prst="line">
            <a:avLst/>
          </a:prstGeom>
          <a:noFill/>
          <a:ln w="5080">
            <a:solidFill>
              <a:srgbClr val="22384E">
                <a:alpha val="6000"/>
              </a:srgbClr>
            </a:solidFill>
            <a:prstDash val="solid"/>
          </a:ln>
        </p:spPr>
        <p:txBody>
          <a:bodyPr/>
          <a:lstStyle/>
          <a:p>
            <a:endParaRPr lang="en-US"/>
          </a:p>
        </p:txBody>
      </p:sp>
      <p:sp>
        <p:nvSpPr>
          <p:cNvPr id="22" name="Shape 20"/>
          <p:cNvSpPr/>
          <p:nvPr/>
        </p:nvSpPr>
        <p:spPr>
          <a:xfrm>
            <a:off x="9509760" y="0"/>
            <a:ext cx="0" cy="6858000"/>
          </a:xfrm>
          <a:prstGeom prst="line">
            <a:avLst/>
          </a:prstGeom>
          <a:noFill/>
          <a:ln w="5080">
            <a:solidFill>
              <a:srgbClr val="22384E">
                <a:alpha val="6000"/>
              </a:srgbClr>
            </a:solidFill>
            <a:prstDash val="solid"/>
          </a:ln>
        </p:spPr>
        <p:txBody>
          <a:bodyPr/>
          <a:lstStyle/>
          <a:p>
            <a:endParaRPr lang="en-US"/>
          </a:p>
        </p:txBody>
      </p:sp>
      <p:sp>
        <p:nvSpPr>
          <p:cNvPr id="23" name="Shape 21"/>
          <p:cNvSpPr/>
          <p:nvPr/>
        </p:nvSpPr>
        <p:spPr>
          <a:xfrm>
            <a:off x="10012680" y="0"/>
            <a:ext cx="0" cy="6858000"/>
          </a:xfrm>
          <a:prstGeom prst="line">
            <a:avLst/>
          </a:prstGeom>
          <a:noFill/>
          <a:ln w="5080">
            <a:solidFill>
              <a:srgbClr val="22384E">
                <a:alpha val="6000"/>
              </a:srgbClr>
            </a:solidFill>
            <a:prstDash val="solid"/>
          </a:ln>
        </p:spPr>
        <p:txBody>
          <a:bodyPr/>
          <a:lstStyle/>
          <a:p>
            <a:endParaRPr lang="en-US"/>
          </a:p>
        </p:txBody>
      </p:sp>
      <p:sp>
        <p:nvSpPr>
          <p:cNvPr id="24" name="Shape 22"/>
          <p:cNvSpPr/>
          <p:nvPr/>
        </p:nvSpPr>
        <p:spPr>
          <a:xfrm>
            <a:off x="10515600" y="0"/>
            <a:ext cx="0" cy="6858000"/>
          </a:xfrm>
          <a:prstGeom prst="line">
            <a:avLst/>
          </a:prstGeom>
          <a:noFill/>
          <a:ln w="5080">
            <a:solidFill>
              <a:srgbClr val="22384E">
                <a:alpha val="6000"/>
              </a:srgbClr>
            </a:solidFill>
            <a:prstDash val="solid"/>
          </a:ln>
        </p:spPr>
        <p:txBody>
          <a:bodyPr/>
          <a:lstStyle/>
          <a:p>
            <a:endParaRPr lang="en-US"/>
          </a:p>
        </p:txBody>
      </p:sp>
      <p:sp>
        <p:nvSpPr>
          <p:cNvPr id="25" name="Shape 23"/>
          <p:cNvSpPr/>
          <p:nvPr/>
        </p:nvSpPr>
        <p:spPr>
          <a:xfrm>
            <a:off x="11018520" y="0"/>
            <a:ext cx="0" cy="6858000"/>
          </a:xfrm>
          <a:prstGeom prst="line">
            <a:avLst/>
          </a:prstGeom>
          <a:noFill/>
          <a:ln w="5080">
            <a:solidFill>
              <a:srgbClr val="22384E">
                <a:alpha val="6000"/>
              </a:srgbClr>
            </a:solidFill>
            <a:prstDash val="solid"/>
          </a:ln>
        </p:spPr>
        <p:txBody>
          <a:bodyPr/>
          <a:lstStyle/>
          <a:p>
            <a:endParaRPr lang="en-US"/>
          </a:p>
        </p:txBody>
      </p:sp>
      <p:sp>
        <p:nvSpPr>
          <p:cNvPr id="26" name="Shape 24"/>
          <p:cNvSpPr/>
          <p:nvPr/>
        </p:nvSpPr>
        <p:spPr>
          <a:xfrm>
            <a:off x="11521440" y="0"/>
            <a:ext cx="0" cy="6858000"/>
          </a:xfrm>
          <a:prstGeom prst="line">
            <a:avLst/>
          </a:prstGeom>
          <a:noFill/>
          <a:ln w="5080">
            <a:solidFill>
              <a:srgbClr val="22384E">
                <a:alpha val="6000"/>
              </a:srgbClr>
            </a:solidFill>
            <a:prstDash val="solid"/>
          </a:ln>
        </p:spPr>
        <p:txBody>
          <a:bodyPr/>
          <a:lstStyle/>
          <a:p>
            <a:endParaRPr lang="en-US"/>
          </a:p>
        </p:txBody>
      </p:sp>
      <p:sp>
        <p:nvSpPr>
          <p:cNvPr id="27" name="Shape 25"/>
          <p:cNvSpPr/>
          <p:nvPr/>
        </p:nvSpPr>
        <p:spPr>
          <a:xfrm>
            <a:off x="0" y="320040"/>
            <a:ext cx="12191695" cy="0"/>
          </a:xfrm>
          <a:prstGeom prst="line">
            <a:avLst/>
          </a:prstGeom>
          <a:noFill/>
          <a:ln w="5080">
            <a:solidFill>
              <a:srgbClr val="22384E">
                <a:alpha val="5000"/>
              </a:srgbClr>
            </a:solidFill>
            <a:prstDash val="solid"/>
          </a:ln>
        </p:spPr>
        <p:txBody>
          <a:bodyPr/>
          <a:lstStyle/>
          <a:p>
            <a:endParaRPr lang="en-US"/>
          </a:p>
        </p:txBody>
      </p:sp>
      <p:sp>
        <p:nvSpPr>
          <p:cNvPr id="28" name="Shape 26"/>
          <p:cNvSpPr/>
          <p:nvPr/>
        </p:nvSpPr>
        <p:spPr>
          <a:xfrm>
            <a:off x="0" y="822960"/>
            <a:ext cx="12191695" cy="0"/>
          </a:xfrm>
          <a:prstGeom prst="line">
            <a:avLst/>
          </a:prstGeom>
          <a:noFill/>
          <a:ln w="5080">
            <a:solidFill>
              <a:srgbClr val="22384E">
                <a:alpha val="5000"/>
              </a:srgbClr>
            </a:solidFill>
            <a:prstDash val="solid"/>
          </a:ln>
        </p:spPr>
        <p:txBody>
          <a:bodyPr/>
          <a:lstStyle/>
          <a:p>
            <a:endParaRPr lang="en-US"/>
          </a:p>
        </p:txBody>
      </p:sp>
      <p:sp>
        <p:nvSpPr>
          <p:cNvPr id="29" name="Shape 27"/>
          <p:cNvSpPr/>
          <p:nvPr/>
        </p:nvSpPr>
        <p:spPr>
          <a:xfrm>
            <a:off x="0" y="1325880"/>
            <a:ext cx="12191695" cy="0"/>
          </a:xfrm>
          <a:prstGeom prst="line">
            <a:avLst/>
          </a:prstGeom>
          <a:noFill/>
          <a:ln w="5080">
            <a:solidFill>
              <a:srgbClr val="22384E">
                <a:alpha val="5000"/>
              </a:srgbClr>
            </a:solidFill>
            <a:prstDash val="solid"/>
          </a:ln>
        </p:spPr>
        <p:txBody>
          <a:bodyPr/>
          <a:lstStyle/>
          <a:p>
            <a:endParaRPr lang="en-US"/>
          </a:p>
        </p:txBody>
      </p:sp>
      <p:sp>
        <p:nvSpPr>
          <p:cNvPr id="30" name="Shape 28"/>
          <p:cNvSpPr/>
          <p:nvPr/>
        </p:nvSpPr>
        <p:spPr>
          <a:xfrm>
            <a:off x="0" y="1828800"/>
            <a:ext cx="12191695" cy="0"/>
          </a:xfrm>
          <a:prstGeom prst="line">
            <a:avLst/>
          </a:prstGeom>
          <a:noFill/>
          <a:ln w="5080">
            <a:solidFill>
              <a:srgbClr val="22384E">
                <a:alpha val="5000"/>
              </a:srgbClr>
            </a:solidFill>
            <a:prstDash val="solid"/>
          </a:ln>
        </p:spPr>
        <p:txBody>
          <a:bodyPr/>
          <a:lstStyle/>
          <a:p>
            <a:endParaRPr lang="en-US"/>
          </a:p>
        </p:txBody>
      </p:sp>
      <p:sp>
        <p:nvSpPr>
          <p:cNvPr id="31" name="Shape 29"/>
          <p:cNvSpPr/>
          <p:nvPr/>
        </p:nvSpPr>
        <p:spPr>
          <a:xfrm>
            <a:off x="0" y="2331720"/>
            <a:ext cx="12191695" cy="0"/>
          </a:xfrm>
          <a:prstGeom prst="line">
            <a:avLst/>
          </a:prstGeom>
          <a:noFill/>
          <a:ln w="5080">
            <a:solidFill>
              <a:srgbClr val="22384E">
                <a:alpha val="5000"/>
              </a:srgbClr>
            </a:solidFill>
            <a:prstDash val="solid"/>
          </a:ln>
        </p:spPr>
        <p:txBody>
          <a:bodyPr/>
          <a:lstStyle/>
          <a:p>
            <a:endParaRPr lang="en-US"/>
          </a:p>
        </p:txBody>
      </p:sp>
      <p:sp>
        <p:nvSpPr>
          <p:cNvPr id="32" name="Shape 30"/>
          <p:cNvSpPr/>
          <p:nvPr/>
        </p:nvSpPr>
        <p:spPr>
          <a:xfrm>
            <a:off x="0" y="2834640"/>
            <a:ext cx="12191695" cy="0"/>
          </a:xfrm>
          <a:prstGeom prst="line">
            <a:avLst/>
          </a:prstGeom>
          <a:noFill/>
          <a:ln w="5080">
            <a:solidFill>
              <a:srgbClr val="22384E">
                <a:alpha val="5000"/>
              </a:srgbClr>
            </a:solidFill>
            <a:prstDash val="solid"/>
          </a:ln>
        </p:spPr>
        <p:txBody>
          <a:bodyPr/>
          <a:lstStyle/>
          <a:p>
            <a:endParaRPr lang="en-US"/>
          </a:p>
        </p:txBody>
      </p:sp>
      <p:sp>
        <p:nvSpPr>
          <p:cNvPr id="33" name="Shape 31"/>
          <p:cNvSpPr/>
          <p:nvPr/>
        </p:nvSpPr>
        <p:spPr>
          <a:xfrm>
            <a:off x="0" y="3337560"/>
            <a:ext cx="12191695" cy="0"/>
          </a:xfrm>
          <a:prstGeom prst="line">
            <a:avLst/>
          </a:prstGeom>
          <a:noFill/>
          <a:ln w="5080">
            <a:solidFill>
              <a:srgbClr val="22384E">
                <a:alpha val="5000"/>
              </a:srgbClr>
            </a:solidFill>
            <a:prstDash val="solid"/>
          </a:ln>
        </p:spPr>
        <p:txBody>
          <a:bodyPr/>
          <a:lstStyle/>
          <a:p>
            <a:endParaRPr lang="en-US"/>
          </a:p>
        </p:txBody>
      </p:sp>
      <p:sp>
        <p:nvSpPr>
          <p:cNvPr id="34" name="Shape 32"/>
          <p:cNvSpPr/>
          <p:nvPr/>
        </p:nvSpPr>
        <p:spPr>
          <a:xfrm>
            <a:off x="0" y="3840480"/>
            <a:ext cx="12191695" cy="0"/>
          </a:xfrm>
          <a:prstGeom prst="line">
            <a:avLst/>
          </a:prstGeom>
          <a:noFill/>
          <a:ln w="5080">
            <a:solidFill>
              <a:srgbClr val="22384E">
                <a:alpha val="5000"/>
              </a:srgbClr>
            </a:solidFill>
            <a:prstDash val="solid"/>
          </a:ln>
        </p:spPr>
        <p:txBody>
          <a:bodyPr/>
          <a:lstStyle/>
          <a:p>
            <a:endParaRPr lang="en-US"/>
          </a:p>
        </p:txBody>
      </p:sp>
      <p:sp>
        <p:nvSpPr>
          <p:cNvPr id="35" name="Shape 33"/>
          <p:cNvSpPr/>
          <p:nvPr/>
        </p:nvSpPr>
        <p:spPr>
          <a:xfrm>
            <a:off x="0" y="4343400"/>
            <a:ext cx="12191695" cy="0"/>
          </a:xfrm>
          <a:prstGeom prst="line">
            <a:avLst/>
          </a:prstGeom>
          <a:noFill/>
          <a:ln w="5080">
            <a:solidFill>
              <a:srgbClr val="22384E">
                <a:alpha val="5000"/>
              </a:srgbClr>
            </a:solidFill>
            <a:prstDash val="solid"/>
          </a:ln>
        </p:spPr>
        <p:txBody>
          <a:bodyPr/>
          <a:lstStyle/>
          <a:p>
            <a:endParaRPr lang="en-US"/>
          </a:p>
        </p:txBody>
      </p:sp>
      <p:sp>
        <p:nvSpPr>
          <p:cNvPr id="36" name="Shape 34"/>
          <p:cNvSpPr/>
          <p:nvPr/>
        </p:nvSpPr>
        <p:spPr>
          <a:xfrm>
            <a:off x="0" y="4846320"/>
            <a:ext cx="12191695" cy="0"/>
          </a:xfrm>
          <a:prstGeom prst="line">
            <a:avLst/>
          </a:prstGeom>
          <a:noFill/>
          <a:ln w="5080">
            <a:solidFill>
              <a:srgbClr val="22384E">
                <a:alpha val="5000"/>
              </a:srgbClr>
            </a:solidFill>
            <a:prstDash val="solid"/>
          </a:ln>
        </p:spPr>
        <p:txBody>
          <a:bodyPr/>
          <a:lstStyle/>
          <a:p>
            <a:endParaRPr lang="en-US"/>
          </a:p>
        </p:txBody>
      </p:sp>
      <p:sp>
        <p:nvSpPr>
          <p:cNvPr id="37" name="Shape 35"/>
          <p:cNvSpPr/>
          <p:nvPr/>
        </p:nvSpPr>
        <p:spPr>
          <a:xfrm>
            <a:off x="0" y="5349240"/>
            <a:ext cx="12191695" cy="0"/>
          </a:xfrm>
          <a:prstGeom prst="line">
            <a:avLst/>
          </a:prstGeom>
          <a:noFill/>
          <a:ln w="5080">
            <a:solidFill>
              <a:srgbClr val="22384E">
                <a:alpha val="5000"/>
              </a:srgbClr>
            </a:solidFill>
            <a:prstDash val="solid"/>
          </a:ln>
        </p:spPr>
        <p:txBody>
          <a:bodyPr/>
          <a:lstStyle/>
          <a:p>
            <a:endParaRPr lang="en-US"/>
          </a:p>
        </p:txBody>
      </p:sp>
      <p:sp>
        <p:nvSpPr>
          <p:cNvPr id="38" name="Shape 36"/>
          <p:cNvSpPr/>
          <p:nvPr/>
        </p:nvSpPr>
        <p:spPr>
          <a:xfrm>
            <a:off x="0" y="5852160"/>
            <a:ext cx="12191695" cy="0"/>
          </a:xfrm>
          <a:prstGeom prst="line">
            <a:avLst/>
          </a:prstGeom>
          <a:noFill/>
          <a:ln w="5080">
            <a:solidFill>
              <a:srgbClr val="22384E">
                <a:alpha val="5000"/>
              </a:srgbClr>
            </a:solidFill>
            <a:prstDash val="solid"/>
          </a:ln>
        </p:spPr>
        <p:txBody>
          <a:bodyPr/>
          <a:lstStyle/>
          <a:p>
            <a:endParaRPr lang="en-US"/>
          </a:p>
        </p:txBody>
      </p:sp>
      <p:sp>
        <p:nvSpPr>
          <p:cNvPr id="39" name="Shape 37"/>
          <p:cNvSpPr/>
          <p:nvPr/>
        </p:nvSpPr>
        <p:spPr>
          <a:xfrm>
            <a:off x="0" y="6355080"/>
            <a:ext cx="12191695" cy="0"/>
          </a:xfrm>
          <a:prstGeom prst="line">
            <a:avLst/>
          </a:prstGeom>
          <a:noFill/>
          <a:ln w="5080">
            <a:solidFill>
              <a:srgbClr val="22384E">
                <a:alpha val="5000"/>
              </a:srgbClr>
            </a:solidFill>
            <a:prstDash val="solid"/>
          </a:ln>
        </p:spPr>
        <p:txBody>
          <a:bodyPr/>
          <a:lstStyle/>
          <a:p>
            <a:endParaRPr lang="en-US"/>
          </a:p>
        </p:txBody>
      </p:sp>
      <p:sp>
        <p:nvSpPr>
          <p:cNvPr id="40" name="Shape 38"/>
          <p:cNvSpPr/>
          <p:nvPr/>
        </p:nvSpPr>
        <p:spPr>
          <a:xfrm>
            <a:off x="0" y="6858000"/>
            <a:ext cx="12191695" cy="0"/>
          </a:xfrm>
          <a:prstGeom prst="line">
            <a:avLst/>
          </a:prstGeom>
          <a:noFill/>
          <a:ln w="5080">
            <a:solidFill>
              <a:srgbClr val="22384E">
                <a:alpha val="5000"/>
              </a:srgbClr>
            </a:solidFill>
            <a:prstDash val="solid"/>
          </a:ln>
        </p:spPr>
        <p:txBody>
          <a:bodyPr/>
          <a:lstStyle/>
          <a:p>
            <a:endParaRPr lang="en-US"/>
          </a:p>
        </p:txBody>
      </p:sp>
      <p:sp>
        <p:nvSpPr>
          <p:cNvPr id="41" name="Text 39"/>
          <p:cNvSpPr/>
          <p:nvPr/>
        </p:nvSpPr>
        <p:spPr>
          <a:xfrm>
            <a:off x="438912" y="256032"/>
            <a:ext cx="4114800" cy="201168"/>
          </a:xfrm>
          <a:prstGeom prst="rect">
            <a:avLst/>
          </a:prstGeom>
          <a:noFill/>
          <a:ln/>
        </p:spPr>
        <p:txBody>
          <a:bodyPr wrap="square" lIns="0" tIns="0" rIns="0" bIns="0" rtlCol="0" anchor="ctr"/>
          <a:lstStyle/>
          <a:p>
            <a:pPr marL="0" indent="0">
              <a:buNone/>
            </a:pPr>
            <a:r>
              <a:rPr lang="en-US" sz="950" b="1" kern="0" spc="170" dirty="0">
                <a:solidFill>
                  <a:srgbClr val="38D9E6"/>
                </a:solidFill>
                <a:latin typeface="Inter" pitchFamily="34" charset="0"/>
                <a:ea typeface="Inter" pitchFamily="34" charset="-122"/>
                <a:cs typeface="Inter" pitchFamily="34" charset="-120"/>
              </a:rPr>
              <a:t>RESULTS — METHOD</a:t>
            </a:r>
            <a:endParaRPr lang="en-US" sz="950" dirty="0"/>
          </a:p>
        </p:txBody>
      </p:sp>
      <p:sp>
        <p:nvSpPr>
          <p:cNvPr id="42" name="Shape 40"/>
          <p:cNvSpPr/>
          <p:nvPr/>
        </p:nvSpPr>
        <p:spPr>
          <a:xfrm>
            <a:off x="438912" y="539496"/>
            <a:ext cx="438912" cy="0"/>
          </a:xfrm>
          <a:prstGeom prst="line">
            <a:avLst/>
          </a:prstGeom>
          <a:noFill/>
          <a:ln w="44450">
            <a:solidFill>
              <a:srgbClr val="38D9E6"/>
            </a:solidFill>
            <a:prstDash val="solid"/>
            <a:headEnd type="none"/>
            <a:tailEnd type="none"/>
          </a:ln>
        </p:spPr>
        <p:txBody>
          <a:bodyPr/>
          <a:lstStyle/>
          <a:p>
            <a:endParaRPr lang="en-US"/>
          </a:p>
        </p:txBody>
      </p:sp>
      <p:sp>
        <p:nvSpPr>
          <p:cNvPr id="43" name="Text 41"/>
          <p:cNvSpPr/>
          <p:nvPr/>
        </p:nvSpPr>
        <p:spPr>
          <a:xfrm>
            <a:off x="438912" y="658368"/>
            <a:ext cx="11064240" cy="566928"/>
          </a:xfrm>
          <a:prstGeom prst="rect">
            <a:avLst/>
          </a:prstGeom>
          <a:noFill/>
          <a:ln/>
        </p:spPr>
        <p:txBody>
          <a:bodyPr wrap="square" lIns="0" tIns="0" rIns="0" bIns="0" rtlCol="0" anchor="ctr">
            <a:normAutofit/>
          </a:bodyPr>
          <a:lstStyle/>
          <a:p>
            <a:pPr marL="0" indent="0">
              <a:buNone/>
            </a:pPr>
            <a:r>
              <a:rPr lang="en-US" sz="2700" b="1" dirty="0">
                <a:solidFill>
                  <a:srgbClr val="F4F8FB"/>
                </a:solidFill>
                <a:latin typeface="Inter Display" pitchFamily="34" charset="0"/>
                <a:ea typeface="Inter Display" pitchFamily="34" charset="-122"/>
                <a:cs typeface="Inter Display" pitchFamily="34" charset="-120"/>
              </a:rPr>
              <a:t>How the CPU and FPGA measurements were collected</a:t>
            </a:r>
            <a:endParaRPr lang="en-US" sz="2700" dirty="0"/>
          </a:p>
        </p:txBody>
      </p:sp>
      <p:sp>
        <p:nvSpPr>
          <p:cNvPr id="44" name="Text 42"/>
          <p:cNvSpPr/>
          <p:nvPr/>
        </p:nvSpPr>
        <p:spPr>
          <a:xfrm>
            <a:off x="457200" y="1225296"/>
            <a:ext cx="10881360" cy="292608"/>
          </a:xfrm>
          <a:prstGeom prst="rect">
            <a:avLst/>
          </a:prstGeom>
          <a:noFill/>
          <a:ln/>
        </p:spPr>
        <p:txBody>
          <a:bodyPr wrap="square" lIns="0" tIns="0" rIns="0" bIns="0" rtlCol="0" anchor="ctr">
            <a:normAutofit/>
          </a:bodyPr>
          <a:lstStyle/>
          <a:p>
            <a:pPr marL="0" indent="0">
              <a:buNone/>
            </a:pPr>
            <a:r>
              <a:rPr lang="en-US" sz="1250" dirty="0">
                <a:solidFill>
                  <a:srgbClr val="A8B6C5"/>
                </a:solidFill>
                <a:latin typeface="Inter" pitchFamily="34" charset="0"/>
                <a:ea typeface="Inter" pitchFamily="34" charset="-122"/>
                <a:cs typeface="Inter" pitchFamily="34" charset="-120"/>
              </a:rPr>
              <a:t>The comparison uses identical 512×512 images and per-stage averages rather than a single headline latency.</a:t>
            </a:r>
            <a:endParaRPr lang="en-US" sz="1250" dirty="0"/>
          </a:p>
        </p:txBody>
      </p:sp>
      <p:sp>
        <p:nvSpPr>
          <p:cNvPr id="45" name="Shape 43"/>
          <p:cNvSpPr/>
          <p:nvPr/>
        </p:nvSpPr>
        <p:spPr>
          <a:xfrm>
            <a:off x="475488" y="1719072"/>
            <a:ext cx="4663440" cy="4416552"/>
          </a:xfrm>
          <a:prstGeom prst="roundRect">
            <a:avLst>
              <a:gd name="adj" fmla="val 1656"/>
            </a:avLst>
          </a:prstGeom>
          <a:solidFill>
            <a:srgbClr val="0D1C2D"/>
          </a:solidFill>
          <a:ln w="12700">
            <a:solidFill>
              <a:srgbClr val="22384E">
                <a:alpha val="75000"/>
              </a:srgbClr>
            </a:solidFill>
            <a:prstDash val="solid"/>
          </a:ln>
          <a:effectLst>
            <a:outerShdw algn="bl" rotWithShape="0">
              <a:srgbClr val="000000">
                <a:alpha val="0"/>
              </a:srgbClr>
            </a:outerShdw>
          </a:effectLst>
        </p:spPr>
        <p:txBody>
          <a:bodyPr/>
          <a:lstStyle/>
          <a:p>
            <a:endParaRPr lang="en-US"/>
          </a:p>
        </p:txBody>
      </p:sp>
      <p:sp>
        <p:nvSpPr>
          <p:cNvPr id="46" name="Text 44"/>
          <p:cNvSpPr/>
          <p:nvPr/>
        </p:nvSpPr>
        <p:spPr>
          <a:xfrm>
            <a:off x="749808" y="1984248"/>
            <a:ext cx="2377440" cy="256032"/>
          </a:xfrm>
          <a:prstGeom prst="rect">
            <a:avLst/>
          </a:prstGeom>
          <a:noFill/>
          <a:ln/>
        </p:spPr>
        <p:txBody>
          <a:bodyPr wrap="square" lIns="0" tIns="0" rIns="0" bIns="0" rtlCol="0" anchor="ctr"/>
          <a:lstStyle/>
          <a:p>
            <a:pPr marL="0" indent="0">
              <a:buNone/>
            </a:pPr>
            <a:r>
              <a:rPr lang="en-US" sz="1700" b="1" dirty="0">
                <a:solidFill>
                  <a:srgbClr val="F4F8FB"/>
                </a:solidFill>
                <a:latin typeface="Inter Display" pitchFamily="34" charset="0"/>
                <a:ea typeface="Inter Display" pitchFamily="34" charset="-122"/>
                <a:cs typeface="Inter Display" pitchFamily="34" charset="-120"/>
              </a:rPr>
              <a:t>Benchmark protocol</a:t>
            </a:r>
            <a:endParaRPr lang="en-US" sz="1700" dirty="0"/>
          </a:p>
        </p:txBody>
      </p:sp>
      <p:sp>
        <p:nvSpPr>
          <p:cNvPr id="47" name="Shape 45"/>
          <p:cNvSpPr/>
          <p:nvPr/>
        </p:nvSpPr>
        <p:spPr>
          <a:xfrm>
            <a:off x="749808" y="2487168"/>
            <a:ext cx="292608" cy="292608"/>
          </a:xfrm>
          <a:prstGeom prst="ellipse">
            <a:avLst/>
          </a:prstGeom>
          <a:solidFill>
            <a:srgbClr val="38D9E6">
              <a:alpha val="92000"/>
            </a:srgbClr>
          </a:solidFill>
          <a:ln w="12700">
            <a:solidFill>
              <a:srgbClr val="38D9E6">
                <a:alpha val="0"/>
              </a:srgbClr>
            </a:solidFill>
            <a:prstDash val="solid"/>
          </a:ln>
        </p:spPr>
        <p:txBody>
          <a:bodyPr/>
          <a:lstStyle/>
          <a:p>
            <a:endParaRPr lang="en-US"/>
          </a:p>
        </p:txBody>
      </p:sp>
      <p:sp>
        <p:nvSpPr>
          <p:cNvPr id="48" name="Text 46"/>
          <p:cNvSpPr/>
          <p:nvPr/>
        </p:nvSpPr>
        <p:spPr>
          <a:xfrm>
            <a:off x="749808" y="2468880"/>
            <a:ext cx="292608" cy="274320"/>
          </a:xfrm>
          <a:prstGeom prst="rect">
            <a:avLst/>
          </a:prstGeom>
          <a:noFill/>
          <a:ln/>
        </p:spPr>
        <p:txBody>
          <a:bodyPr wrap="square" lIns="0" tIns="0" rIns="0" bIns="0" rtlCol="0" anchor="ctr"/>
          <a:lstStyle/>
          <a:p>
            <a:pPr marL="0" indent="0" algn="ctr">
              <a:buNone/>
            </a:pPr>
            <a:r>
              <a:rPr lang="en-US" sz="1400" b="1" dirty="0">
                <a:solidFill>
                  <a:srgbClr val="07111F"/>
                </a:solidFill>
                <a:latin typeface="Inter" pitchFamily="34" charset="0"/>
                <a:ea typeface="Inter" pitchFamily="34" charset="-122"/>
                <a:cs typeface="Inter" pitchFamily="34" charset="-120"/>
              </a:rPr>
              <a:t>•</a:t>
            </a:r>
            <a:endParaRPr lang="en-US" sz="1400" dirty="0"/>
          </a:p>
        </p:txBody>
      </p:sp>
      <p:sp>
        <p:nvSpPr>
          <p:cNvPr id="49" name="Text 47"/>
          <p:cNvSpPr/>
          <p:nvPr/>
        </p:nvSpPr>
        <p:spPr>
          <a:xfrm>
            <a:off x="1179576" y="2450592"/>
            <a:ext cx="3639312" cy="219456"/>
          </a:xfrm>
          <a:prstGeom prst="rect">
            <a:avLst/>
          </a:prstGeom>
          <a:noFill/>
          <a:ln/>
        </p:spPr>
        <p:txBody>
          <a:bodyPr wrap="square" lIns="0" tIns="0" rIns="0" bIns="0" rtlCol="0" anchor="ctr">
            <a:normAutofit/>
          </a:bodyPr>
          <a:lstStyle/>
          <a:p>
            <a:pPr marL="0" indent="0">
              <a:buNone/>
            </a:pPr>
            <a:r>
              <a:rPr lang="en-US" sz="1320" b="1" dirty="0">
                <a:solidFill>
                  <a:srgbClr val="F4F8FB"/>
                </a:solidFill>
                <a:latin typeface="Inter" pitchFamily="34" charset="0"/>
                <a:ea typeface="Inter" pitchFamily="34" charset="-122"/>
                <a:cs typeface="Inter" pitchFamily="34" charset="-120"/>
              </a:rPr>
              <a:t>Dataset</a:t>
            </a:r>
            <a:endParaRPr lang="en-US" sz="1320" dirty="0"/>
          </a:p>
        </p:txBody>
      </p:sp>
      <p:sp>
        <p:nvSpPr>
          <p:cNvPr id="50" name="Text 48"/>
          <p:cNvSpPr/>
          <p:nvPr/>
        </p:nvSpPr>
        <p:spPr>
          <a:xfrm>
            <a:off x="1179576" y="2697480"/>
            <a:ext cx="3639312" cy="402336"/>
          </a:xfrm>
          <a:prstGeom prst="rect">
            <a:avLst/>
          </a:prstGeom>
          <a:noFill/>
          <a:ln/>
        </p:spPr>
        <p:txBody>
          <a:bodyPr wrap="square" lIns="0" tIns="0" rIns="0" bIns="0" rtlCol="0" anchor="ctr">
            <a:normAutofit/>
          </a:bodyPr>
          <a:lstStyle/>
          <a:p>
            <a:pPr marL="0" indent="0">
              <a:buNone/>
            </a:pPr>
            <a:r>
              <a:rPr lang="en-US" sz="1050" dirty="0">
                <a:solidFill>
                  <a:srgbClr val="A8B6C5"/>
                </a:solidFill>
                <a:latin typeface="Inter" pitchFamily="34" charset="0"/>
                <a:ea typeface="Inter" pitchFamily="34" charset="-122"/>
                <a:cs typeface="Inter" pitchFamily="34" charset="-120"/>
              </a:rPr>
              <a:t>30 natural images plus 11 synthetic edge cases; every file is 512×512 PGM P5.</a:t>
            </a:r>
            <a:endParaRPr lang="en-US" sz="1050" dirty="0"/>
          </a:p>
        </p:txBody>
      </p:sp>
      <p:sp>
        <p:nvSpPr>
          <p:cNvPr id="51" name="Shape 49"/>
          <p:cNvSpPr/>
          <p:nvPr/>
        </p:nvSpPr>
        <p:spPr>
          <a:xfrm>
            <a:off x="749808" y="3236976"/>
            <a:ext cx="292608" cy="292608"/>
          </a:xfrm>
          <a:prstGeom prst="ellipse">
            <a:avLst/>
          </a:prstGeom>
          <a:solidFill>
            <a:srgbClr val="7F93A7">
              <a:alpha val="92000"/>
            </a:srgbClr>
          </a:solidFill>
          <a:ln w="12700">
            <a:solidFill>
              <a:srgbClr val="7F93A7">
                <a:alpha val="0"/>
              </a:srgbClr>
            </a:solidFill>
            <a:prstDash val="solid"/>
          </a:ln>
        </p:spPr>
        <p:txBody>
          <a:bodyPr/>
          <a:lstStyle/>
          <a:p>
            <a:endParaRPr lang="en-US"/>
          </a:p>
        </p:txBody>
      </p:sp>
      <p:sp>
        <p:nvSpPr>
          <p:cNvPr id="52" name="Text 50"/>
          <p:cNvSpPr/>
          <p:nvPr/>
        </p:nvSpPr>
        <p:spPr>
          <a:xfrm>
            <a:off x="749808" y="3218688"/>
            <a:ext cx="292608" cy="274320"/>
          </a:xfrm>
          <a:prstGeom prst="rect">
            <a:avLst/>
          </a:prstGeom>
          <a:noFill/>
          <a:ln/>
        </p:spPr>
        <p:txBody>
          <a:bodyPr wrap="square" lIns="0" tIns="0" rIns="0" bIns="0" rtlCol="0" anchor="ctr"/>
          <a:lstStyle/>
          <a:p>
            <a:pPr marL="0" indent="0" algn="ctr">
              <a:buNone/>
            </a:pPr>
            <a:r>
              <a:rPr lang="en-US" sz="1400" b="1" dirty="0">
                <a:solidFill>
                  <a:srgbClr val="07111F"/>
                </a:solidFill>
                <a:latin typeface="Inter" pitchFamily="34" charset="0"/>
                <a:ea typeface="Inter" pitchFamily="34" charset="-122"/>
                <a:cs typeface="Inter" pitchFamily="34" charset="-120"/>
              </a:rPr>
              <a:t>•</a:t>
            </a:r>
            <a:endParaRPr lang="en-US" sz="1400" dirty="0"/>
          </a:p>
        </p:txBody>
      </p:sp>
      <p:sp>
        <p:nvSpPr>
          <p:cNvPr id="53" name="Text 51"/>
          <p:cNvSpPr/>
          <p:nvPr/>
        </p:nvSpPr>
        <p:spPr>
          <a:xfrm>
            <a:off x="1179576" y="3200400"/>
            <a:ext cx="3639312" cy="219456"/>
          </a:xfrm>
          <a:prstGeom prst="rect">
            <a:avLst/>
          </a:prstGeom>
          <a:noFill/>
          <a:ln/>
        </p:spPr>
        <p:txBody>
          <a:bodyPr wrap="square" lIns="0" tIns="0" rIns="0" bIns="0" rtlCol="0" anchor="ctr">
            <a:normAutofit/>
          </a:bodyPr>
          <a:lstStyle/>
          <a:p>
            <a:pPr marL="0" indent="0">
              <a:buNone/>
            </a:pPr>
            <a:r>
              <a:rPr lang="en-US" sz="1320" b="1" dirty="0">
                <a:solidFill>
                  <a:srgbClr val="F4F8FB"/>
                </a:solidFill>
                <a:latin typeface="Inter" pitchFamily="34" charset="0"/>
                <a:ea typeface="Inter" pitchFamily="34" charset="-122"/>
                <a:cs typeface="Inter" pitchFamily="34" charset="-120"/>
              </a:rPr>
              <a:t>CPU baseline</a:t>
            </a:r>
            <a:endParaRPr lang="en-US" sz="1320" dirty="0"/>
          </a:p>
        </p:txBody>
      </p:sp>
      <p:sp>
        <p:nvSpPr>
          <p:cNvPr id="54" name="Text 52"/>
          <p:cNvSpPr/>
          <p:nvPr/>
        </p:nvSpPr>
        <p:spPr>
          <a:xfrm>
            <a:off x="1179576" y="3447288"/>
            <a:ext cx="3639312" cy="402336"/>
          </a:xfrm>
          <a:prstGeom prst="rect">
            <a:avLst/>
          </a:prstGeom>
          <a:noFill/>
          <a:ln/>
        </p:spPr>
        <p:txBody>
          <a:bodyPr wrap="square" lIns="0" tIns="0" rIns="0" bIns="0" rtlCol="0" anchor="ctr">
            <a:normAutofit/>
          </a:bodyPr>
          <a:lstStyle/>
          <a:p>
            <a:pPr marL="0" indent="0">
              <a:buNone/>
            </a:pPr>
            <a:r>
              <a:rPr lang="en-US" sz="1050" dirty="0">
                <a:solidFill>
                  <a:srgbClr val="A8B6C5"/>
                </a:solidFill>
                <a:latin typeface="Inter" pitchFamily="34" charset="0"/>
                <a:ea typeface="Inter" pitchFamily="34" charset="-122"/>
                <a:cs typeface="Inter" pitchFamily="34" charset="-120"/>
              </a:rPr>
              <a:t>One complete software batch with stage-level profiling; 41 images and 167,936 blocks.</a:t>
            </a:r>
            <a:endParaRPr lang="en-US" sz="1050" dirty="0"/>
          </a:p>
        </p:txBody>
      </p:sp>
      <p:sp>
        <p:nvSpPr>
          <p:cNvPr id="55" name="Shape 53"/>
          <p:cNvSpPr/>
          <p:nvPr/>
        </p:nvSpPr>
        <p:spPr>
          <a:xfrm>
            <a:off x="749808" y="3986784"/>
            <a:ext cx="292608" cy="292608"/>
          </a:xfrm>
          <a:prstGeom prst="ellipse">
            <a:avLst/>
          </a:prstGeom>
          <a:solidFill>
            <a:srgbClr val="24C9AA">
              <a:alpha val="92000"/>
            </a:srgbClr>
          </a:solidFill>
          <a:ln w="12700">
            <a:solidFill>
              <a:srgbClr val="24C9AA">
                <a:alpha val="0"/>
              </a:srgbClr>
            </a:solidFill>
            <a:prstDash val="solid"/>
          </a:ln>
        </p:spPr>
        <p:txBody>
          <a:bodyPr/>
          <a:lstStyle/>
          <a:p>
            <a:endParaRPr lang="en-US"/>
          </a:p>
        </p:txBody>
      </p:sp>
      <p:sp>
        <p:nvSpPr>
          <p:cNvPr id="56" name="Text 54"/>
          <p:cNvSpPr/>
          <p:nvPr/>
        </p:nvSpPr>
        <p:spPr>
          <a:xfrm>
            <a:off x="749808" y="3968496"/>
            <a:ext cx="292608" cy="274320"/>
          </a:xfrm>
          <a:prstGeom prst="rect">
            <a:avLst/>
          </a:prstGeom>
          <a:noFill/>
          <a:ln/>
        </p:spPr>
        <p:txBody>
          <a:bodyPr wrap="square" lIns="0" tIns="0" rIns="0" bIns="0" rtlCol="0" anchor="ctr"/>
          <a:lstStyle/>
          <a:p>
            <a:pPr marL="0" indent="0" algn="ctr">
              <a:buNone/>
            </a:pPr>
            <a:r>
              <a:rPr lang="en-US" sz="1400" b="1" dirty="0">
                <a:solidFill>
                  <a:srgbClr val="07111F"/>
                </a:solidFill>
                <a:latin typeface="Inter" pitchFamily="34" charset="0"/>
                <a:ea typeface="Inter" pitchFamily="34" charset="-122"/>
                <a:cs typeface="Inter" pitchFamily="34" charset="-120"/>
              </a:rPr>
              <a:t>•</a:t>
            </a:r>
            <a:endParaRPr lang="en-US" sz="1400" dirty="0"/>
          </a:p>
        </p:txBody>
      </p:sp>
      <p:sp>
        <p:nvSpPr>
          <p:cNvPr id="57" name="Text 55"/>
          <p:cNvSpPr/>
          <p:nvPr/>
        </p:nvSpPr>
        <p:spPr>
          <a:xfrm>
            <a:off x="1179576" y="3950208"/>
            <a:ext cx="3639312" cy="219456"/>
          </a:xfrm>
          <a:prstGeom prst="rect">
            <a:avLst/>
          </a:prstGeom>
          <a:noFill/>
          <a:ln/>
        </p:spPr>
        <p:txBody>
          <a:bodyPr wrap="square" lIns="0" tIns="0" rIns="0" bIns="0" rtlCol="0" anchor="ctr">
            <a:normAutofit/>
          </a:bodyPr>
          <a:lstStyle/>
          <a:p>
            <a:pPr marL="0" indent="0">
              <a:buNone/>
            </a:pPr>
            <a:r>
              <a:rPr lang="en-US" sz="1320" b="1" dirty="0">
                <a:solidFill>
                  <a:srgbClr val="F4F8FB"/>
                </a:solidFill>
                <a:latin typeface="Inter" pitchFamily="34" charset="0"/>
                <a:ea typeface="Inter" pitchFamily="34" charset="-122"/>
                <a:cs typeface="Inter" pitchFamily="34" charset="-120"/>
              </a:rPr>
              <a:t>FPGA profiling</a:t>
            </a:r>
            <a:endParaRPr lang="en-US" sz="1320" dirty="0"/>
          </a:p>
        </p:txBody>
      </p:sp>
      <p:sp>
        <p:nvSpPr>
          <p:cNvPr id="58" name="Text 56"/>
          <p:cNvSpPr/>
          <p:nvPr/>
        </p:nvSpPr>
        <p:spPr>
          <a:xfrm>
            <a:off x="1179576" y="4197096"/>
            <a:ext cx="3639312" cy="402336"/>
          </a:xfrm>
          <a:prstGeom prst="rect">
            <a:avLst/>
          </a:prstGeom>
          <a:noFill/>
          <a:ln/>
        </p:spPr>
        <p:txBody>
          <a:bodyPr wrap="square" lIns="0" tIns="0" rIns="0" bIns="0" rtlCol="0" anchor="ctr">
            <a:normAutofit/>
          </a:bodyPr>
          <a:lstStyle/>
          <a:p>
            <a:pPr marL="0" indent="0">
              <a:buNone/>
            </a:pPr>
            <a:r>
              <a:rPr lang="en-US" sz="1050" dirty="0">
                <a:solidFill>
                  <a:srgbClr val="A8B6C5"/>
                </a:solidFill>
                <a:latin typeface="Inter" pitchFamily="34" charset="0"/>
                <a:ea typeface="Inter" pitchFamily="34" charset="-122"/>
                <a:cs typeface="Inter" pitchFamily="34" charset="-120"/>
              </a:rPr>
              <a:t>One warm-up followed by 10 timed runs per image; average, minimum and maximum recorded.</a:t>
            </a:r>
            <a:endParaRPr lang="en-US" sz="1050" dirty="0"/>
          </a:p>
        </p:txBody>
      </p:sp>
      <p:sp>
        <p:nvSpPr>
          <p:cNvPr id="59" name="Shape 57"/>
          <p:cNvSpPr/>
          <p:nvPr/>
        </p:nvSpPr>
        <p:spPr>
          <a:xfrm>
            <a:off x="749808" y="4736592"/>
            <a:ext cx="292608" cy="292608"/>
          </a:xfrm>
          <a:prstGeom prst="ellipse">
            <a:avLst/>
          </a:prstGeom>
          <a:solidFill>
            <a:srgbClr val="FFA24C">
              <a:alpha val="92000"/>
            </a:srgbClr>
          </a:solidFill>
          <a:ln w="12700">
            <a:solidFill>
              <a:srgbClr val="FFA24C">
                <a:alpha val="0"/>
              </a:srgbClr>
            </a:solidFill>
            <a:prstDash val="solid"/>
          </a:ln>
        </p:spPr>
        <p:txBody>
          <a:bodyPr/>
          <a:lstStyle/>
          <a:p>
            <a:endParaRPr lang="en-US"/>
          </a:p>
        </p:txBody>
      </p:sp>
      <p:sp>
        <p:nvSpPr>
          <p:cNvPr id="60" name="Text 58"/>
          <p:cNvSpPr/>
          <p:nvPr/>
        </p:nvSpPr>
        <p:spPr>
          <a:xfrm>
            <a:off x="749808" y="4718304"/>
            <a:ext cx="292608" cy="274320"/>
          </a:xfrm>
          <a:prstGeom prst="rect">
            <a:avLst/>
          </a:prstGeom>
          <a:noFill/>
          <a:ln/>
        </p:spPr>
        <p:txBody>
          <a:bodyPr wrap="square" lIns="0" tIns="0" rIns="0" bIns="0" rtlCol="0" anchor="ctr"/>
          <a:lstStyle/>
          <a:p>
            <a:pPr marL="0" indent="0" algn="ctr">
              <a:buNone/>
            </a:pPr>
            <a:r>
              <a:rPr lang="en-US" sz="1400" b="1" dirty="0">
                <a:solidFill>
                  <a:srgbClr val="07111F"/>
                </a:solidFill>
                <a:latin typeface="Inter" pitchFamily="34" charset="0"/>
                <a:ea typeface="Inter" pitchFamily="34" charset="-122"/>
                <a:cs typeface="Inter" pitchFamily="34" charset="-120"/>
              </a:rPr>
              <a:t>•</a:t>
            </a:r>
            <a:endParaRPr lang="en-US" sz="1400" dirty="0"/>
          </a:p>
        </p:txBody>
      </p:sp>
      <p:sp>
        <p:nvSpPr>
          <p:cNvPr id="61" name="Text 59"/>
          <p:cNvSpPr/>
          <p:nvPr/>
        </p:nvSpPr>
        <p:spPr>
          <a:xfrm>
            <a:off x="1179576" y="4700016"/>
            <a:ext cx="3639312" cy="219456"/>
          </a:xfrm>
          <a:prstGeom prst="rect">
            <a:avLst/>
          </a:prstGeom>
          <a:noFill/>
          <a:ln/>
        </p:spPr>
        <p:txBody>
          <a:bodyPr wrap="square" lIns="0" tIns="0" rIns="0" bIns="0" rtlCol="0" anchor="ctr">
            <a:normAutofit/>
          </a:bodyPr>
          <a:lstStyle/>
          <a:p>
            <a:pPr marL="0" indent="0">
              <a:buNone/>
            </a:pPr>
            <a:r>
              <a:rPr lang="en-US" sz="1320" b="1" dirty="0">
                <a:solidFill>
                  <a:srgbClr val="F4F8FB"/>
                </a:solidFill>
                <a:latin typeface="Inter" pitchFamily="34" charset="0"/>
                <a:ea typeface="Inter" pitchFamily="34" charset="-122"/>
                <a:cs typeface="Inter" pitchFamily="34" charset="-120"/>
              </a:rPr>
              <a:t>Metrics</a:t>
            </a:r>
            <a:endParaRPr lang="en-US" sz="1320" dirty="0"/>
          </a:p>
        </p:txBody>
      </p:sp>
      <p:sp>
        <p:nvSpPr>
          <p:cNvPr id="62" name="Text 60"/>
          <p:cNvSpPr/>
          <p:nvPr/>
        </p:nvSpPr>
        <p:spPr>
          <a:xfrm>
            <a:off x="1179576" y="4946904"/>
            <a:ext cx="3639312" cy="402336"/>
          </a:xfrm>
          <a:prstGeom prst="rect">
            <a:avLst/>
          </a:prstGeom>
          <a:noFill/>
          <a:ln/>
        </p:spPr>
        <p:txBody>
          <a:bodyPr wrap="square" lIns="0" tIns="0" rIns="0" bIns="0" rtlCol="0" anchor="ctr">
            <a:normAutofit/>
          </a:bodyPr>
          <a:lstStyle/>
          <a:p>
            <a:pPr marL="0" indent="0">
              <a:buNone/>
            </a:pPr>
            <a:r>
              <a:rPr lang="en-US" sz="1050" dirty="0">
                <a:solidFill>
                  <a:srgbClr val="A8B6C5"/>
                </a:solidFill>
                <a:latin typeface="Inter" pitchFamily="34" charset="0"/>
                <a:ea typeface="Inter" pitchFamily="34" charset="-122"/>
                <a:cs typeface="Inter" pitchFamily="34" charset="-120"/>
              </a:rPr>
              <a:t>Compressed bytes, compression ratio, load/shift, DCT, quantise, encode, transfers, file writing and status.</a:t>
            </a:r>
            <a:endParaRPr lang="en-US" sz="1050" dirty="0"/>
          </a:p>
        </p:txBody>
      </p:sp>
      <p:sp>
        <p:nvSpPr>
          <p:cNvPr id="63" name="Shape 61"/>
          <p:cNvSpPr/>
          <p:nvPr/>
        </p:nvSpPr>
        <p:spPr>
          <a:xfrm>
            <a:off x="749808" y="5504688"/>
            <a:ext cx="4069080" cy="393192"/>
          </a:xfrm>
          <a:prstGeom prst="roundRect">
            <a:avLst>
              <a:gd name="adj" fmla="val 18605"/>
            </a:avLst>
          </a:prstGeom>
          <a:solidFill>
            <a:srgbClr val="0A1625"/>
          </a:solidFill>
          <a:ln w="10160">
            <a:solidFill>
              <a:srgbClr val="22384E"/>
            </a:solidFill>
            <a:prstDash val="solid"/>
          </a:ln>
        </p:spPr>
        <p:txBody>
          <a:bodyPr/>
          <a:lstStyle/>
          <a:p>
            <a:endParaRPr lang="en-US"/>
          </a:p>
        </p:txBody>
      </p:sp>
      <p:sp>
        <p:nvSpPr>
          <p:cNvPr id="64" name="Text 62"/>
          <p:cNvSpPr/>
          <p:nvPr/>
        </p:nvSpPr>
        <p:spPr>
          <a:xfrm>
            <a:off x="932688" y="5623560"/>
            <a:ext cx="3703320" cy="146304"/>
          </a:xfrm>
          <a:prstGeom prst="rect">
            <a:avLst/>
          </a:prstGeom>
          <a:noFill/>
          <a:ln/>
        </p:spPr>
        <p:txBody>
          <a:bodyPr wrap="square" lIns="0" tIns="0" rIns="0" bIns="0" rtlCol="0" anchor="ctr">
            <a:normAutofit/>
          </a:bodyPr>
          <a:lstStyle/>
          <a:p>
            <a:pPr marL="0" indent="0" algn="ctr">
              <a:buNone/>
            </a:pPr>
            <a:r>
              <a:rPr lang="en-US" sz="850" b="1" dirty="0">
                <a:solidFill>
                  <a:srgbClr val="A8B6C5"/>
                </a:solidFill>
                <a:latin typeface="Inter" pitchFamily="34" charset="0"/>
                <a:ea typeface="Inter" pitchFamily="34" charset="-122"/>
                <a:cs typeface="Inter" pitchFamily="34" charset="-120"/>
              </a:rPr>
              <a:t>ratio = raw bytes / compressed bytes      speedup = CPU time / FPGA time</a:t>
            </a:r>
            <a:endParaRPr lang="en-US" sz="850" dirty="0"/>
          </a:p>
        </p:txBody>
      </p:sp>
      <p:sp>
        <p:nvSpPr>
          <p:cNvPr id="65" name="Shape 63"/>
          <p:cNvSpPr/>
          <p:nvPr/>
        </p:nvSpPr>
        <p:spPr>
          <a:xfrm>
            <a:off x="5376672" y="1719072"/>
            <a:ext cx="6355080" cy="4416552"/>
          </a:xfrm>
          <a:prstGeom prst="roundRect">
            <a:avLst>
              <a:gd name="adj" fmla="val 1656"/>
            </a:avLst>
          </a:prstGeom>
          <a:solidFill>
            <a:srgbClr val="050B13"/>
          </a:solidFill>
          <a:ln w="12700">
            <a:solidFill>
              <a:srgbClr val="38D9E6">
                <a:alpha val="45000"/>
              </a:srgbClr>
            </a:solidFill>
            <a:prstDash val="solid"/>
          </a:ln>
          <a:effectLst>
            <a:outerShdw algn="bl" rotWithShape="0">
              <a:srgbClr val="000000">
                <a:alpha val="0"/>
              </a:srgbClr>
            </a:outerShdw>
          </a:effectLst>
        </p:spPr>
        <p:txBody>
          <a:bodyPr/>
          <a:lstStyle/>
          <a:p>
            <a:endParaRPr lang="en-US"/>
          </a:p>
        </p:txBody>
      </p:sp>
      <p:pic>
        <p:nvPicPr>
          <p:cNvPr id="66" name="Image 0" descr="/mnt/data/CPU_results.jpeg"/>
          <p:cNvPicPr>
            <a:picLocks noChangeAspect="1"/>
          </p:cNvPicPr>
          <p:nvPr/>
        </p:nvPicPr>
        <p:blipFill>
          <a:blip r:embed="rId3"/>
          <a:stretch>
            <a:fillRect/>
          </a:stretch>
        </p:blipFill>
        <p:spPr>
          <a:xfrm>
            <a:off x="5925312" y="1926223"/>
            <a:ext cx="5806440" cy="2941546"/>
          </a:xfrm>
          <a:prstGeom prst="rect">
            <a:avLst/>
          </a:prstGeom>
        </p:spPr>
      </p:pic>
      <p:sp>
        <p:nvSpPr>
          <p:cNvPr id="67" name="Shape 64"/>
          <p:cNvSpPr/>
          <p:nvPr/>
        </p:nvSpPr>
        <p:spPr>
          <a:xfrm>
            <a:off x="5632704" y="5065776"/>
            <a:ext cx="1874520" cy="292608"/>
          </a:xfrm>
          <a:prstGeom prst="roundRect">
            <a:avLst>
              <a:gd name="adj" fmla="val 50000"/>
            </a:avLst>
          </a:prstGeom>
          <a:solidFill>
            <a:srgbClr val="0D1C2D"/>
          </a:solidFill>
          <a:ln w="10160">
            <a:solidFill>
              <a:srgbClr val="7F93A7">
                <a:alpha val="75000"/>
              </a:srgbClr>
            </a:solidFill>
            <a:prstDash val="solid"/>
          </a:ln>
        </p:spPr>
        <p:txBody>
          <a:bodyPr/>
          <a:lstStyle/>
          <a:p>
            <a:endParaRPr lang="en-US"/>
          </a:p>
        </p:txBody>
      </p:sp>
      <p:sp>
        <p:nvSpPr>
          <p:cNvPr id="68" name="Text 65"/>
          <p:cNvSpPr/>
          <p:nvPr/>
        </p:nvSpPr>
        <p:spPr>
          <a:xfrm>
            <a:off x="5705856" y="5129784"/>
            <a:ext cx="1728216" cy="146304"/>
          </a:xfrm>
          <a:prstGeom prst="rect">
            <a:avLst/>
          </a:prstGeom>
          <a:noFill/>
          <a:ln/>
        </p:spPr>
        <p:txBody>
          <a:bodyPr wrap="square" lIns="0" tIns="0" rIns="0" bIns="0" rtlCol="0" anchor="ctr">
            <a:normAutofit/>
          </a:bodyPr>
          <a:lstStyle/>
          <a:p>
            <a:pPr marL="0" indent="0" algn="ctr">
              <a:buNone/>
            </a:pPr>
            <a:r>
              <a:rPr lang="en-US" sz="820" b="1" dirty="0">
                <a:solidFill>
                  <a:srgbClr val="7F93A7"/>
                </a:solidFill>
                <a:latin typeface="Inter" pitchFamily="34" charset="0"/>
                <a:ea typeface="Inter" pitchFamily="34" charset="-122"/>
                <a:cs typeface="Inter" pitchFamily="34" charset="-120"/>
              </a:rPr>
              <a:t>CPU BASELINE EVIDENCE</a:t>
            </a:r>
            <a:endParaRPr lang="en-US" sz="820" dirty="0"/>
          </a:p>
        </p:txBody>
      </p:sp>
      <p:sp>
        <p:nvSpPr>
          <p:cNvPr id="69" name="Shape 66"/>
          <p:cNvSpPr/>
          <p:nvPr/>
        </p:nvSpPr>
        <p:spPr>
          <a:xfrm>
            <a:off x="7699248" y="4956048"/>
            <a:ext cx="1709928" cy="868680"/>
          </a:xfrm>
          <a:prstGeom prst="roundRect">
            <a:avLst>
              <a:gd name="adj" fmla="val 8421"/>
            </a:avLst>
          </a:prstGeom>
          <a:solidFill>
            <a:srgbClr val="0D1C2D"/>
          </a:solidFill>
          <a:ln w="12700">
            <a:solidFill>
              <a:srgbClr val="7F93A7">
                <a:alpha val="45000"/>
              </a:srgbClr>
            </a:solidFill>
            <a:prstDash val="solid"/>
          </a:ln>
          <a:effectLst>
            <a:outerShdw algn="bl" rotWithShape="0">
              <a:srgbClr val="000000">
                <a:alpha val="0"/>
              </a:srgbClr>
            </a:outerShdw>
          </a:effectLst>
        </p:spPr>
        <p:txBody>
          <a:bodyPr/>
          <a:lstStyle/>
          <a:p>
            <a:endParaRPr lang="en-US"/>
          </a:p>
        </p:txBody>
      </p:sp>
      <p:sp>
        <p:nvSpPr>
          <p:cNvPr id="70" name="Shape 67"/>
          <p:cNvSpPr/>
          <p:nvPr/>
        </p:nvSpPr>
        <p:spPr>
          <a:xfrm>
            <a:off x="7845552" y="5102352"/>
            <a:ext cx="0" cy="576072"/>
          </a:xfrm>
          <a:prstGeom prst="line">
            <a:avLst/>
          </a:prstGeom>
          <a:noFill/>
          <a:ln w="44450">
            <a:solidFill>
              <a:srgbClr val="7F93A7"/>
            </a:solidFill>
            <a:prstDash val="solid"/>
          </a:ln>
        </p:spPr>
        <p:txBody>
          <a:bodyPr/>
          <a:lstStyle/>
          <a:p>
            <a:endParaRPr lang="en-US"/>
          </a:p>
        </p:txBody>
      </p:sp>
      <p:sp>
        <p:nvSpPr>
          <p:cNvPr id="71" name="Text 68"/>
          <p:cNvSpPr/>
          <p:nvPr/>
        </p:nvSpPr>
        <p:spPr>
          <a:xfrm>
            <a:off x="8010144" y="5093208"/>
            <a:ext cx="1271016" cy="347472"/>
          </a:xfrm>
          <a:prstGeom prst="rect">
            <a:avLst/>
          </a:prstGeom>
          <a:noFill/>
          <a:ln/>
        </p:spPr>
        <p:txBody>
          <a:bodyPr wrap="square" lIns="0" tIns="0" rIns="0" bIns="0" rtlCol="0" anchor="ctr">
            <a:normAutofit/>
          </a:bodyPr>
          <a:lstStyle/>
          <a:p>
            <a:pPr marL="0" indent="0">
              <a:buNone/>
            </a:pPr>
            <a:r>
              <a:rPr lang="en-US" sz="2200" b="1" dirty="0">
                <a:solidFill>
                  <a:srgbClr val="F4F8FB"/>
                </a:solidFill>
                <a:latin typeface="Inter Display" pitchFamily="34" charset="0"/>
                <a:ea typeface="Inter Display" pitchFamily="34" charset="-122"/>
                <a:cs typeface="Inter Display" pitchFamily="34" charset="-120"/>
              </a:rPr>
              <a:t>33.260 </a:t>
            </a:r>
            <a:r>
              <a:rPr lang="en-US" sz="2200" b="1" dirty="0" err="1">
                <a:solidFill>
                  <a:srgbClr val="F4F8FB"/>
                </a:solidFill>
                <a:latin typeface="Inter Display" pitchFamily="34" charset="0"/>
                <a:ea typeface="Inter Display" pitchFamily="34" charset="-122"/>
                <a:cs typeface="Inter Display" pitchFamily="34" charset="-120"/>
              </a:rPr>
              <a:t>ms</a:t>
            </a:r>
            <a:endParaRPr lang="en-US" sz="2200" dirty="0"/>
          </a:p>
        </p:txBody>
      </p:sp>
      <p:sp>
        <p:nvSpPr>
          <p:cNvPr id="72" name="Text 69"/>
          <p:cNvSpPr/>
          <p:nvPr/>
        </p:nvSpPr>
        <p:spPr>
          <a:xfrm>
            <a:off x="8010144" y="5486400"/>
            <a:ext cx="1271016" cy="228600"/>
          </a:xfrm>
          <a:prstGeom prst="rect">
            <a:avLst/>
          </a:prstGeom>
          <a:noFill/>
          <a:ln/>
        </p:spPr>
        <p:txBody>
          <a:bodyPr wrap="square" lIns="0" tIns="0" rIns="0" bIns="0" rtlCol="0" anchor="ctr">
            <a:normAutofit/>
          </a:bodyPr>
          <a:lstStyle/>
          <a:p>
            <a:pPr marL="0" indent="0">
              <a:buNone/>
            </a:pPr>
            <a:r>
              <a:rPr lang="en-US" sz="1050" b="1" dirty="0">
                <a:solidFill>
                  <a:srgbClr val="7F93A7"/>
                </a:solidFill>
                <a:latin typeface="Inter" pitchFamily="34" charset="0"/>
                <a:ea typeface="Inter" pitchFamily="34" charset="-122"/>
                <a:cs typeface="Inter" pitchFamily="34" charset="-120"/>
              </a:rPr>
              <a:t>CPU total / image</a:t>
            </a:r>
            <a:endParaRPr lang="en-US" sz="1050" dirty="0"/>
          </a:p>
        </p:txBody>
      </p:sp>
      <p:sp>
        <p:nvSpPr>
          <p:cNvPr id="73" name="Shape 70"/>
          <p:cNvSpPr/>
          <p:nvPr/>
        </p:nvSpPr>
        <p:spPr>
          <a:xfrm>
            <a:off x="9592056" y="4956048"/>
            <a:ext cx="1709928" cy="868680"/>
          </a:xfrm>
          <a:prstGeom prst="roundRect">
            <a:avLst>
              <a:gd name="adj" fmla="val 8421"/>
            </a:avLst>
          </a:prstGeom>
          <a:solidFill>
            <a:srgbClr val="0D1C2D"/>
          </a:solidFill>
          <a:ln w="12700">
            <a:solidFill>
              <a:srgbClr val="7F93A7">
                <a:alpha val="45000"/>
              </a:srgbClr>
            </a:solidFill>
            <a:prstDash val="solid"/>
          </a:ln>
          <a:effectLst>
            <a:outerShdw algn="bl" rotWithShape="0">
              <a:srgbClr val="000000">
                <a:alpha val="0"/>
              </a:srgbClr>
            </a:outerShdw>
          </a:effectLst>
        </p:spPr>
        <p:txBody>
          <a:bodyPr/>
          <a:lstStyle/>
          <a:p>
            <a:endParaRPr lang="en-US"/>
          </a:p>
        </p:txBody>
      </p:sp>
      <p:sp>
        <p:nvSpPr>
          <p:cNvPr id="74" name="Shape 71"/>
          <p:cNvSpPr/>
          <p:nvPr/>
        </p:nvSpPr>
        <p:spPr>
          <a:xfrm>
            <a:off x="9738360" y="5102352"/>
            <a:ext cx="0" cy="576072"/>
          </a:xfrm>
          <a:prstGeom prst="line">
            <a:avLst/>
          </a:prstGeom>
          <a:noFill/>
          <a:ln w="44450">
            <a:solidFill>
              <a:srgbClr val="7F93A7"/>
            </a:solidFill>
            <a:prstDash val="solid"/>
          </a:ln>
        </p:spPr>
        <p:txBody>
          <a:bodyPr/>
          <a:lstStyle/>
          <a:p>
            <a:endParaRPr lang="en-US"/>
          </a:p>
        </p:txBody>
      </p:sp>
      <p:sp>
        <p:nvSpPr>
          <p:cNvPr id="75" name="Text 72"/>
          <p:cNvSpPr/>
          <p:nvPr/>
        </p:nvSpPr>
        <p:spPr>
          <a:xfrm>
            <a:off x="9902952" y="5093208"/>
            <a:ext cx="1271016" cy="347472"/>
          </a:xfrm>
          <a:prstGeom prst="rect">
            <a:avLst/>
          </a:prstGeom>
          <a:noFill/>
          <a:ln/>
        </p:spPr>
        <p:txBody>
          <a:bodyPr wrap="square" lIns="0" tIns="0" rIns="0" bIns="0" rtlCol="0" anchor="ctr">
            <a:normAutofit/>
          </a:bodyPr>
          <a:lstStyle/>
          <a:p>
            <a:pPr marL="0" indent="0">
              <a:buNone/>
            </a:pPr>
            <a:r>
              <a:rPr lang="en-US" sz="2200" b="1" dirty="0">
                <a:solidFill>
                  <a:srgbClr val="F4F8FB"/>
                </a:solidFill>
                <a:latin typeface="Inter Display" pitchFamily="34" charset="0"/>
                <a:ea typeface="Inter Display" pitchFamily="34" charset="-122"/>
                <a:cs typeface="Inter Display" pitchFamily="34" charset="-120"/>
              </a:rPr>
              <a:t>4.042:1</a:t>
            </a:r>
            <a:endParaRPr lang="en-US" sz="2200" dirty="0"/>
          </a:p>
        </p:txBody>
      </p:sp>
      <p:sp>
        <p:nvSpPr>
          <p:cNvPr id="76" name="Text 73"/>
          <p:cNvSpPr/>
          <p:nvPr/>
        </p:nvSpPr>
        <p:spPr>
          <a:xfrm>
            <a:off x="9902952" y="5486400"/>
            <a:ext cx="1271016" cy="228600"/>
          </a:xfrm>
          <a:prstGeom prst="rect">
            <a:avLst/>
          </a:prstGeom>
          <a:noFill/>
          <a:ln/>
        </p:spPr>
        <p:txBody>
          <a:bodyPr wrap="square" lIns="0" tIns="0" rIns="0" bIns="0" rtlCol="0" anchor="ctr">
            <a:normAutofit/>
          </a:bodyPr>
          <a:lstStyle/>
          <a:p>
            <a:pPr marL="0" indent="0">
              <a:buNone/>
            </a:pPr>
            <a:r>
              <a:rPr lang="en-US" sz="1050" b="1" dirty="0">
                <a:solidFill>
                  <a:srgbClr val="7F93A7"/>
                </a:solidFill>
                <a:latin typeface="Inter" pitchFamily="34" charset="0"/>
                <a:ea typeface="Inter" pitchFamily="34" charset="-122"/>
                <a:cs typeface="Inter" pitchFamily="34" charset="-120"/>
              </a:rPr>
              <a:t>CPU aggregate ratio</a:t>
            </a:r>
            <a:endParaRPr lang="en-US" sz="1050" dirty="0"/>
          </a:p>
        </p:txBody>
      </p:sp>
      <p:sp>
        <p:nvSpPr>
          <p:cNvPr id="79" name="Shape 76"/>
          <p:cNvSpPr/>
          <p:nvPr/>
        </p:nvSpPr>
        <p:spPr>
          <a:xfrm>
            <a:off x="438912" y="6519672"/>
            <a:ext cx="11064240" cy="0"/>
          </a:xfrm>
          <a:prstGeom prst="line">
            <a:avLst/>
          </a:prstGeom>
          <a:noFill/>
          <a:ln w="10160">
            <a:solidFill>
              <a:srgbClr val="22384E">
                <a:alpha val="70000"/>
              </a:srgbClr>
            </a:solidFill>
            <a:prstDash val="solid"/>
          </a:ln>
        </p:spPr>
        <p:txBody>
          <a:bodyPr/>
          <a:lstStyle/>
          <a:p>
            <a:endParaRPr lang="en-US"/>
          </a:p>
        </p:txBody>
      </p:sp>
      <p:sp>
        <p:nvSpPr>
          <p:cNvPr id="81" name="Slide Number Placeholder 0"/>
          <p:cNvSpPr>
            <a:spLocks noGrp="1"/>
          </p:cNvSpPr>
          <p:nvPr>
            <p:ph type="sldNum" sz="quarter" idx="4294967295"/>
          </p:nvPr>
        </p:nvSpPr>
        <p:spPr>
          <a:xfrm>
            <a:off x="11430000" y="6473952"/>
            <a:ext cx="438912"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7890A4"/>
                </a:solidFill>
                <a:latin typeface="Inter"/>
                <a:ea typeface="Inter"/>
                <a:cs typeface="Inter"/>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9802368" y="0"/>
            <a:ext cx="2386584" cy="2971800"/>
          </a:xfrm>
          <a:prstGeom prst="ellipse">
            <a:avLst/>
          </a:prstGeom>
          <a:solidFill>
            <a:srgbClr val="38D9E6">
              <a:alpha val="8000"/>
            </a:srgbClr>
          </a:solidFill>
          <a:ln w="12700">
            <a:solidFill>
              <a:srgbClr val="38D9E6">
                <a:alpha val="0"/>
              </a:srgbClr>
            </a:solidFill>
            <a:prstDash val="solid"/>
          </a:ln>
        </p:spPr>
        <p:txBody>
          <a:bodyPr/>
          <a:lstStyle/>
          <a:p>
            <a:endParaRPr lang="en-US"/>
          </a:p>
        </p:txBody>
      </p:sp>
      <p:sp>
        <p:nvSpPr>
          <p:cNvPr id="3" name="Shape 1"/>
          <p:cNvSpPr/>
          <p:nvPr/>
        </p:nvSpPr>
        <p:spPr>
          <a:xfrm>
            <a:off x="0" y="5230368"/>
            <a:ext cx="2395728" cy="1627632"/>
          </a:xfrm>
          <a:prstGeom prst="ellipse">
            <a:avLst/>
          </a:prstGeom>
          <a:solidFill>
            <a:srgbClr val="668EFF">
              <a:alpha val="6000"/>
            </a:srgbClr>
          </a:solidFill>
          <a:ln w="12700">
            <a:solidFill>
              <a:srgbClr val="668EFF">
                <a:alpha val="0"/>
              </a:srgbClr>
            </a:solidFill>
            <a:prstDash val="solid"/>
          </a:ln>
        </p:spPr>
        <p:txBody>
          <a:bodyPr/>
          <a:lstStyle/>
          <a:p>
            <a:endParaRPr lang="en-US"/>
          </a:p>
        </p:txBody>
      </p:sp>
      <p:sp>
        <p:nvSpPr>
          <p:cNvPr id="4" name="Shape 2"/>
          <p:cNvSpPr/>
          <p:nvPr/>
        </p:nvSpPr>
        <p:spPr>
          <a:xfrm>
            <a:off x="457200" y="0"/>
            <a:ext cx="0" cy="6858000"/>
          </a:xfrm>
          <a:prstGeom prst="line">
            <a:avLst/>
          </a:prstGeom>
          <a:noFill/>
          <a:ln w="5080">
            <a:solidFill>
              <a:srgbClr val="22384E">
                <a:alpha val="6000"/>
              </a:srgbClr>
            </a:solidFill>
            <a:prstDash val="solid"/>
          </a:ln>
        </p:spPr>
        <p:txBody>
          <a:bodyPr/>
          <a:lstStyle/>
          <a:p>
            <a:endParaRPr lang="en-US"/>
          </a:p>
        </p:txBody>
      </p:sp>
      <p:sp>
        <p:nvSpPr>
          <p:cNvPr id="5" name="Shape 3"/>
          <p:cNvSpPr/>
          <p:nvPr/>
        </p:nvSpPr>
        <p:spPr>
          <a:xfrm>
            <a:off x="960120" y="0"/>
            <a:ext cx="0" cy="6858000"/>
          </a:xfrm>
          <a:prstGeom prst="line">
            <a:avLst/>
          </a:prstGeom>
          <a:noFill/>
          <a:ln w="5080">
            <a:solidFill>
              <a:srgbClr val="22384E">
                <a:alpha val="6000"/>
              </a:srgbClr>
            </a:solidFill>
            <a:prstDash val="solid"/>
          </a:ln>
        </p:spPr>
        <p:txBody>
          <a:bodyPr/>
          <a:lstStyle/>
          <a:p>
            <a:endParaRPr lang="en-US"/>
          </a:p>
        </p:txBody>
      </p:sp>
      <p:sp>
        <p:nvSpPr>
          <p:cNvPr id="6" name="Shape 4"/>
          <p:cNvSpPr/>
          <p:nvPr/>
        </p:nvSpPr>
        <p:spPr>
          <a:xfrm>
            <a:off x="1463040" y="0"/>
            <a:ext cx="0" cy="6858000"/>
          </a:xfrm>
          <a:prstGeom prst="line">
            <a:avLst/>
          </a:prstGeom>
          <a:noFill/>
          <a:ln w="5080">
            <a:solidFill>
              <a:srgbClr val="22384E">
                <a:alpha val="6000"/>
              </a:srgbClr>
            </a:solidFill>
            <a:prstDash val="solid"/>
          </a:ln>
        </p:spPr>
        <p:txBody>
          <a:bodyPr/>
          <a:lstStyle/>
          <a:p>
            <a:endParaRPr lang="en-US"/>
          </a:p>
        </p:txBody>
      </p:sp>
      <p:sp>
        <p:nvSpPr>
          <p:cNvPr id="7" name="Shape 5"/>
          <p:cNvSpPr/>
          <p:nvPr/>
        </p:nvSpPr>
        <p:spPr>
          <a:xfrm>
            <a:off x="1965960" y="0"/>
            <a:ext cx="0" cy="6858000"/>
          </a:xfrm>
          <a:prstGeom prst="line">
            <a:avLst/>
          </a:prstGeom>
          <a:noFill/>
          <a:ln w="5080">
            <a:solidFill>
              <a:srgbClr val="22384E">
                <a:alpha val="6000"/>
              </a:srgbClr>
            </a:solidFill>
            <a:prstDash val="solid"/>
          </a:ln>
        </p:spPr>
        <p:txBody>
          <a:bodyPr/>
          <a:lstStyle/>
          <a:p>
            <a:endParaRPr lang="en-US"/>
          </a:p>
        </p:txBody>
      </p:sp>
      <p:sp>
        <p:nvSpPr>
          <p:cNvPr id="8" name="Shape 6"/>
          <p:cNvSpPr/>
          <p:nvPr/>
        </p:nvSpPr>
        <p:spPr>
          <a:xfrm>
            <a:off x="2468880" y="0"/>
            <a:ext cx="0" cy="6858000"/>
          </a:xfrm>
          <a:prstGeom prst="line">
            <a:avLst/>
          </a:prstGeom>
          <a:noFill/>
          <a:ln w="5080">
            <a:solidFill>
              <a:srgbClr val="22384E">
                <a:alpha val="6000"/>
              </a:srgbClr>
            </a:solidFill>
            <a:prstDash val="solid"/>
          </a:ln>
        </p:spPr>
        <p:txBody>
          <a:bodyPr/>
          <a:lstStyle/>
          <a:p>
            <a:endParaRPr lang="en-US"/>
          </a:p>
        </p:txBody>
      </p:sp>
      <p:sp>
        <p:nvSpPr>
          <p:cNvPr id="9" name="Shape 7"/>
          <p:cNvSpPr/>
          <p:nvPr/>
        </p:nvSpPr>
        <p:spPr>
          <a:xfrm>
            <a:off x="2971800" y="0"/>
            <a:ext cx="0" cy="6858000"/>
          </a:xfrm>
          <a:prstGeom prst="line">
            <a:avLst/>
          </a:prstGeom>
          <a:noFill/>
          <a:ln w="5080">
            <a:solidFill>
              <a:srgbClr val="22384E">
                <a:alpha val="6000"/>
              </a:srgbClr>
            </a:solidFill>
            <a:prstDash val="solid"/>
          </a:ln>
        </p:spPr>
        <p:txBody>
          <a:bodyPr/>
          <a:lstStyle/>
          <a:p>
            <a:endParaRPr lang="en-US"/>
          </a:p>
        </p:txBody>
      </p:sp>
      <p:sp>
        <p:nvSpPr>
          <p:cNvPr id="10" name="Shape 8"/>
          <p:cNvSpPr/>
          <p:nvPr/>
        </p:nvSpPr>
        <p:spPr>
          <a:xfrm>
            <a:off x="3474720" y="0"/>
            <a:ext cx="0" cy="6858000"/>
          </a:xfrm>
          <a:prstGeom prst="line">
            <a:avLst/>
          </a:prstGeom>
          <a:noFill/>
          <a:ln w="5080">
            <a:solidFill>
              <a:srgbClr val="22384E">
                <a:alpha val="6000"/>
              </a:srgbClr>
            </a:solidFill>
            <a:prstDash val="solid"/>
          </a:ln>
        </p:spPr>
        <p:txBody>
          <a:bodyPr/>
          <a:lstStyle/>
          <a:p>
            <a:endParaRPr lang="en-US"/>
          </a:p>
        </p:txBody>
      </p:sp>
      <p:sp>
        <p:nvSpPr>
          <p:cNvPr id="11" name="Shape 9"/>
          <p:cNvSpPr/>
          <p:nvPr/>
        </p:nvSpPr>
        <p:spPr>
          <a:xfrm>
            <a:off x="3977640" y="0"/>
            <a:ext cx="0" cy="6858000"/>
          </a:xfrm>
          <a:prstGeom prst="line">
            <a:avLst/>
          </a:prstGeom>
          <a:noFill/>
          <a:ln w="5080">
            <a:solidFill>
              <a:srgbClr val="22384E">
                <a:alpha val="6000"/>
              </a:srgbClr>
            </a:solidFill>
            <a:prstDash val="solid"/>
          </a:ln>
        </p:spPr>
        <p:txBody>
          <a:bodyPr/>
          <a:lstStyle/>
          <a:p>
            <a:endParaRPr lang="en-US"/>
          </a:p>
        </p:txBody>
      </p:sp>
      <p:sp>
        <p:nvSpPr>
          <p:cNvPr id="12" name="Shape 10"/>
          <p:cNvSpPr/>
          <p:nvPr/>
        </p:nvSpPr>
        <p:spPr>
          <a:xfrm>
            <a:off x="4480560" y="0"/>
            <a:ext cx="0" cy="6858000"/>
          </a:xfrm>
          <a:prstGeom prst="line">
            <a:avLst/>
          </a:prstGeom>
          <a:noFill/>
          <a:ln w="5080">
            <a:solidFill>
              <a:srgbClr val="22384E">
                <a:alpha val="6000"/>
              </a:srgbClr>
            </a:solidFill>
            <a:prstDash val="solid"/>
          </a:ln>
        </p:spPr>
        <p:txBody>
          <a:bodyPr/>
          <a:lstStyle/>
          <a:p>
            <a:endParaRPr lang="en-US"/>
          </a:p>
        </p:txBody>
      </p:sp>
      <p:sp>
        <p:nvSpPr>
          <p:cNvPr id="13" name="Shape 11"/>
          <p:cNvSpPr/>
          <p:nvPr/>
        </p:nvSpPr>
        <p:spPr>
          <a:xfrm>
            <a:off x="4983480" y="0"/>
            <a:ext cx="0" cy="6858000"/>
          </a:xfrm>
          <a:prstGeom prst="line">
            <a:avLst/>
          </a:prstGeom>
          <a:noFill/>
          <a:ln w="5080">
            <a:solidFill>
              <a:srgbClr val="22384E">
                <a:alpha val="6000"/>
              </a:srgbClr>
            </a:solidFill>
            <a:prstDash val="solid"/>
          </a:ln>
        </p:spPr>
        <p:txBody>
          <a:bodyPr/>
          <a:lstStyle/>
          <a:p>
            <a:endParaRPr lang="en-US"/>
          </a:p>
        </p:txBody>
      </p:sp>
      <p:sp>
        <p:nvSpPr>
          <p:cNvPr id="14" name="Shape 12"/>
          <p:cNvSpPr/>
          <p:nvPr/>
        </p:nvSpPr>
        <p:spPr>
          <a:xfrm>
            <a:off x="5486400" y="0"/>
            <a:ext cx="0" cy="6858000"/>
          </a:xfrm>
          <a:prstGeom prst="line">
            <a:avLst/>
          </a:prstGeom>
          <a:noFill/>
          <a:ln w="5080">
            <a:solidFill>
              <a:srgbClr val="22384E">
                <a:alpha val="6000"/>
              </a:srgbClr>
            </a:solidFill>
            <a:prstDash val="solid"/>
          </a:ln>
        </p:spPr>
        <p:txBody>
          <a:bodyPr/>
          <a:lstStyle/>
          <a:p>
            <a:endParaRPr lang="en-US"/>
          </a:p>
        </p:txBody>
      </p:sp>
      <p:sp>
        <p:nvSpPr>
          <p:cNvPr id="15" name="Shape 13"/>
          <p:cNvSpPr/>
          <p:nvPr/>
        </p:nvSpPr>
        <p:spPr>
          <a:xfrm>
            <a:off x="5989320" y="0"/>
            <a:ext cx="0" cy="6858000"/>
          </a:xfrm>
          <a:prstGeom prst="line">
            <a:avLst/>
          </a:prstGeom>
          <a:noFill/>
          <a:ln w="5080">
            <a:solidFill>
              <a:srgbClr val="22384E">
                <a:alpha val="6000"/>
              </a:srgbClr>
            </a:solidFill>
            <a:prstDash val="solid"/>
          </a:ln>
        </p:spPr>
        <p:txBody>
          <a:bodyPr/>
          <a:lstStyle/>
          <a:p>
            <a:endParaRPr lang="en-US"/>
          </a:p>
        </p:txBody>
      </p:sp>
      <p:sp>
        <p:nvSpPr>
          <p:cNvPr id="16" name="Shape 14"/>
          <p:cNvSpPr/>
          <p:nvPr/>
        </p:nvSpPr>
        <p:spPr>
          <a:xfrm>
            <a:off x="6492240" y="0"/>
            <a:ext cx="0" cy="6858000"/>
          </a:xfrm>
          <a:prstGeom prst="line">
            <a:avLst/>
          </a:prstGeom>
          <a:noFill/>
          <a:ln w="5080">
            <a:solidFill>
              <a:srgbClr val="22384E">
                <a:alpha val="6000"/>
              </a:srgbClr>
            </a:solidFill>
            <a:prstDash val="solid"/>
          </a:ln>
        </p:spPr>
        <p:txBody>
          <a:bodyPr/>
          <a:lstStyle/>
          <a:p>
            <a:endParaRPr lang="en-US"/>
          </a:p>
        </p:txBody>
      </p:sp>
      <p:sp>
        <p:nvSpPr>
          <p:cNvPr id="17" name="Shape 15"/>
          <p:cNvSpPr/>
          <p:nvPr/>
        </p:nvSpPr>
        <p:spPr>
          <a:xfrm>
            <a:off x="6995160" y="0"/>
            <a:ext cx="0" cy="6858000"/>
          </a:xfrm>
          <a:prstGeom prst="line">
            <a:avLst/>
          </a:prstGeom>
          <a:noFill/>
          <a:ln w="5080">
            <a:solidFill>
              <a:srgbClr val="22384E">
                <a:alpha val="6000"/>
              </a:srgbClr>
            </a:solidFill>
            <a:prstDash val="solid"/>
          </a:ln>
        </p:spPr>
        <p:txBody>
          <a:bodyPr/>
          <a:lstStyle/>
          <a:p>
            <a:endParaRPr lang="en-US"/>
          </a:p>
        </p:txBody>
      </p:sp>
      <p:sp>
        <p:nvSpPr>
          <p:cNvPr id="18" name="Shape 16"/>
          <p:cNvSpPr/>
          <p:nvPr/>
        </p:nvSpPr>
        <p:spPr>
          <a:xfrm>
            <a:off x="7498080" y="0"/>
            <a:ext cx="0" cy="6858000"/>
          </a:xfrm>
          <a:prstGeom prst="line">
            <a:avLst/>
          </a:prstGeom>
          <a:noFill/>
          <a:ln w="5080">
            <a:solidFill>
              <a:srgbClr val="22384E">
                <a:alpha val="6000"/>
              </a:srgbClr>
            </a:solidFill>
            <a:prstDash val="solid"/>
          </a:ln>
        </p:spPr>
        <p:txBody>
          <a:bodyPr/>
          <a:lstStyle/>
          <a:p>
            <a:endParaRPr lang="en-US"/>
          </a:p>
        </p:txBody>
      </p:sp>
      <p:sp>
        <p:nvSpPr>
          <p:cNvPr id="19" name="Shape 17"/>
          <p:cNvSpPr/>
          <p:nvPr/>
        </p:nvSpPr>
        <p:spPr>
          <a:xfrm>
            <a:off x="8001000" y="0"/>
            <a:ext cx="0" cy="6858000"/>
          </a:xfrm>
          <a:prstGeom prst="line">
            <a:avLst/>
          </a:prstGeom>
          <a:noFill/>
          <a:ln w="5080">
            <a:solidFill>
              <a:srgbClr val="22384E">
                <a:alpha val="6000"/>
              </a:srgbClr>
            </a:solidFill>
            <a:prstDash val="solid"/>
          </a:ln>
        </p:spPr>
        <p:txBody>
          <a:bodyPr/>
          <a:lstStyle/>
          <a:p>
            <a:endParaRPr lang="en-US"/>
          </a:p>
        </p:txBody>
      </p:sp>
      <p:sp>
        <p:nvSpPr>
          <p:cNvPr id="20" name="Shape 18"/>
          <p:cNvSpPr/>
          <p:nvPr/>
        </p:nvSpPr>
        <p:spPr>
          <a:xfrm>
            <a:off x="8503920" y="0"/>
            <a:ext cx="0" cy="6858000"/>
          </a:xfrm>
          <a:prstGeom prst="line">
            <a:avLst/>
          </a:prstGeom>
          <a:noFill/>
          <a:ln w="5080">
            <a:solidFill>
              <a:srgbClr val="22384E">
                <a:alpha val="6000"/>
              </a:srgbClr>
            </a:solidFill>
            <a:prstDash val="solid"/>
          </a:ln>
        </p:spPr>
        <p:txBody>
          <a:bodyPr/>
          <a:lstStyle/>
          <a:p>
            <a:endParaRPr lang="en-US"/>
          </a:p>
        </p:txBody>
      </p:sp>
      <p:sp>
        <p:nvSpPr>
          <p:cNvPr id="21" name="Shape 19"/>
          <p:cNvSpPr/>
          <p:nvPr/>
        </p:nvSpPr>
        <p:spPr>
          <a:xfrm>
            <a:off x="9006840" y="0"/>
            <a:ext cx="0" cy="6858000"/>
          </a:xfrm>
          <a:prstGeom prst="line">
            <a:avLst/>
          </a:prstGeom>
          <a:noFill/>
          <a:ln w="5080">
            <a:solidFill>
              <a:srgbClr val="22384E">
                <a:alpha val="6000"/>
              </a:srgbClr>
            </a:solidFill>
            <a:prstDash val="solid"/>
          </a:ln>
        </p:spPr>
        <p:txBody>
          <a:bodyPr/>
          <a:lstStyle/>
          <a:p>
            <a:endParaRPr lang="en-US"/>
          </a:p>
        </p:txBody>
      </p:sp>
      <p:sp>
        <p:nvSpPr>
          <p:cNvPr id="22" name="Shape 20"/>
          <p:cNvSpPr/>
          <p:nvPr/>
        </p:nvSpPr>
        <p:spPr>
          <a:xfrm>
            <a:off x="9509760" y="0"/>
            <a:ext cx="0" cy="6858000"/>
          </a:xfrm>
          <a:prstGeom prst="line">
            <a:avLst/>
          </a:prstGeom>
          <a:noFill/>
          <a:ln w="5080">
            <a:solidFill>
              <a:srgbClr val="22384E">
                <a:alpha val="6000"/>
              </a:srgbClr>
            </a:solidFill>
            <a:prstDash val="solid"/>
          </a:ln>
        </p:spPr>
        <p:txBody>
          <a:bodyPr/>
          <a:lstStyle/>
          <a:p>
            <a:endParaRPr lang="en-US"/>
          </a:p>
        </p:txBody>
      </p:sp>
      <p:sp>
        <p:nvSpPr>
          <p:cNvPr id="23" name="Shape 21"/>
          <p:cNvSpPr/>
          <p:nvPr/>
        </p:nvSpPr>
        <p:spPr>
          <a:xfrm>
            <a:off x="10012680" y="0"/>
            <a:ext cx="0" cy="6858000"/>
          </a:xfrm>
          <a:prstGeom prst="line">
            <a:avLst/>
          </a:prstGeom>
          <a:noFill/>
          <a:ln w="5080">
            <a:solidFill>
              <a:srgbClr val="22384E">
                <a:alpha val="6000"/>
              </a:srgbClr>
            </a:solidFill>
            <a:prstDash val="solid"/>
          </a:ln>
        </p:spPr>
        <p:txBody>
          <a:bodyPr/>
          <a:lstStyle/>
          <a:p>
            <a:endParaRPr lang="en-US"/>
          </a:p>
        </p:txBody>
      </p:sp>
      <p:sp>
        <p:nvSpPr>
          <p:cNvPr id="24" name="Shape 22"/>
          <p:cNvSpPr/>
          <p:nvPr/>
        </p:nvSpPr>
        <p:spPr>
          <a:xfrm>
            <a:off x="10515600" y="0"/>
            <a:ext cx="0" cy="6858000"/>
          </a:xfrm>
          <a:prstGeom prst="line">
            <a:avLst/>
          </a:prstGeom>
          <a:noFill/>
          <a:ln w="5080">
            <a:solidFill>
              <a:srgbClr val="22384E">
                <a:alpha val="6000"/>
              </a:srgbClr>
            </a:solidFill>
            <a:prstDash val="solid"/>
          </a:ln>
        </p:spPr>
        <p:txBody>
          <a:bodyPr/>
          <a:lstStyle/>
          <a:p>
            <a:endParaRPr lang="en-US"/>
          </a:p>
        </p:txBody>
      </p:sp>
      <p:sp>
        <p:nvSpPr>
          <p:cNvPr id="25" name="Shape 23"/>
          <p:cNvSpPr/>
          <p:nvPr/>
        </p:nvSpPr>
        <p:spPr>
          <a:xfrm>
            <a:off x="11018520" y="0"/>
            <a:ext cx="0" cy="6858000"/>
          </a:xfrm>
          <a:prstGeom prst="line">
            <a:avLst/>
          </a:prstGeom>
          <a:noFill/>
          <a:ln w="5080">
            <a:solidFill>
              <a:srgbClr val="22384E">
                <a:alpha val="6000"/>
              </a:srgbClr>
            </a:solidFill>
            <a:prstDash val="solid"/>
          </a:ln>
        </p:spPr>
        <p:txBody>
          <a:bodyPr/>
          <a:lstStyle/>
          <a:p>
            <a:endParaRPr lang="en-US"/>
          </a:p>
        </p:txBody>
      </p:sp>
      <p:sp>
        <p:nvSpPr>
          <p:cNvPr id="26" name="Shape 24"/>
          <p:cNvSpPr/>
          <p:nvPr/>
        </p:nvSpPr>
        <p:spPr>
          <a:xfrm>
            <a:off x="11521440" y="0"/>
            <a:ext cx="0" cy="6858000"/>
          </a:xfrm>
          <a:prstGeom prst="line">
            <a:avLst/>
          </a:prstGeom>
          <a:noFill/>
          <a:ln w="5080">
            <a:solidFill>
              <a:srgbClr val="22384E">
                <a:alpha val="6000"/>
              </a:srgbClr>
            </a:solidFill>
            <a:prstDash val="solid"/>
          </a:ln>
        </p:spPr>
        <p:txBody>
          <a:bodyPr/>
          <a:lstStyle/>
          <a:p>
            <a:endParaRPr lang="en-US"/>
          </a:p>
        </p:txBody>
      </p:sp>
      <p:sp>
        <p:nvSpPr>
          <p:cNvPr id="27" name="Shape 25"/>
          <p:cNvSpPr/>
          <p:nvPr/>
        </p:nvSpPr>
        <p:spPr>
          <a:xfrm>
            <a:off x="0" y="320040"/>
            <a:ext cx="12191695" cy="0"/>
          </a:xfrm>
          <a:prstGeom prst="line">
            <a:avLst/>
          </a:prstGeom>
          <a:noFill/>
          <a:ln w="5080">
            <a:solidFill>
              <a:srgbClr val="22384E">
                <a:alpha val="5000"/>
              </a:srgbClr>
            </a:solidFill>
            <a:prstDash val="solid"/>
          </a:ln>
        </p:spPr>
        <p:txBody>
          <a:bodyPr/>
          <a:lstStyle/>
          <a:p>
            <a:endParaRPr lang="en-US"/>
          </a:p>
        </p:txBody>
      </p:sp>
      <p:sp>
        <p:nvSpPr>
          <p:cNvPr id="28" name="Shape 26"/>
          <p:cNvSpPr/>
          <p:nvPr/>
        </p:nvSpPr>
        <p:spPr>
          <a:xfrm>
            <a:off x="0" y="822960"/>
            <a:ext cx="12191695" cy="0"/>
          </a:xfrm>
          <a:prstGeom prst="line">
            <a:avLst/>
          </a:prstGeom>
          <a:noFill/>
          <a:ln w="5080">
            <a:solidFill>
              <a:srgbClr val="22384E">
                <a:alpha val="5000"/>
              </a:srgbClr>
            </a:solidFill>
            <a:prstDash val="solid"/>
          </a:ln>
        </p:spPr>
        <p:txBody>
          <a:bodyPr/>
          <a:lstStyle/>
          <a:p>
            <a:endParaRPr lang="en-US"/>
          </a:p>
        </p:txBody>
      </p:sp>
      <p:sp>
        <p:nvSpPr>
          <p:cNvPr id="29" name="Shape 27"/>
          <p:cNvSpPr/>
          <p:nvPr/>
        </p:nvSpPr>
        <p:spPr>
          <a:xfrm>
            <a:off x="0" y="1325880"/>
            <a:ext cx="12191695" cy="0"/>
          </a:xfrm>
          <a:prstGeom prst="line">
            <a:avLst/>
          </a:prstGeom>
          <a:noFill/>
          <a:ln w="5080">
            <a:solidFill>
              <a:srgbClr val="22384E">
                <a:alpha val="5000"/>
              </a:srgbClr>
            </a:solidFill>
            <a:prstDash val="solid"/>
          </a:ln>
        </p:spPr>
        <p:txBody>
          <a:bodyPr/>
          <a:lstStyle/>
          <a:p>
            <a:endParaRPr lang="en-US"/>
          </a:p>
        </p:txBody>
      </p:sp>
      <p:sp>
        <p:nvSpPr>
          <p:cNvPr id="30" name="Shape 28"/>
          <p:cNvSpPr/>
          <p:nvPr/>
        </p:nvSpPr>
        <p:spPr>
          <a:xfrm>
            <a:off x="0" y="1828800"/>
            <a:ext cx="12191695" cy="0"/>
          </a:xfrm>
          <a:prstGeom prst="line">
            <a:avLst/>
          </a:prstGeom>
          <a:noFill/>
          <a:ln w="5080">
            <a:solidFill>
              <a:srgbClr val="22384E">
                <a:alpha val="5000"/>
              </a:srgbClr>
            </a:solidFill>
            <a:prstDash val="solid"/>
          </a:ln>
        </p:spPr>
        <p:txBody>
          <a:bodyPr/>
          <a:lstStyle/>
          <a:p>
            <a:endParaRPr lang="en-US"/>
          </a:p>
        </p:txBody>
      </p:sp>
      <p:sp>
        <p:nvSpPr>
          <p:cNvPr id="31" name="Shape 29"/>
          <p:cNvSpPr/>
          <p:nvPr/>
        </p:nvSpPr>
        <p:spPr>
          <a:xfrm>
            <a:off x="0" y="2331720"/>
            <a:ext cx="12191695" cy="0"/>
          </a:xfrm>
          <a:prstGeom prst="line">
            <a:avLst/>
          </a:prstGeom>
          <a:noFill/>
          <a:ln w="5080">
            <a:solidFill>
              <a:srgbClr val="22384E">
                <a:alpha val="5000"/>
              </a:srgbClr>
            </a:solidFill>
            <a:prstDash val="solid"/>
          </a:ln>
        </p:spPr>
        <p:txBody>
          <a:bodyPr/>
          <a:lstStyle/>
          <a:p>
            <a:endParaRPr lang="en-US"/>
          </a:p>
        </p:txBody>
      </p:sp>
      <p:sp>
        <p:nvSpPr>
          <p:cNvPr id="32" name="Shape 30"/>
          <p:cNvSpPr/>
          <p:nvPr/>
        </p:nvSpPr>
        <p:spPr>
          <a:xfrm>
            <a:off x="0" y="2834640"/>
            <a:ext cx="12191695" cy="0"/>
          </a:xfrm>
          <a:prstGeom prst="line">
            <a:avLst/>
          </a:prstGeom>
          <a:noFill/>
          <a:ln w="5080">
            <a:solidFill>
              <a:srgbClr val="22384E">
                <a:alpha val="5000"/>
              </a:srgbClr>
            </a:solidFill>
            <a:prstDash val="solid"/>
          </a:ln>
        </p:spPr>
        <p:txBody>
          <a:bodyPr/>
          <a:lstStyle/>
          <a:p>
            <a:endParaRPr lang="en-US"/>
          </a:p>
        </p:txBody>
      </p:sp>
      <p:sp>
        <p:nvSpPr>
          <p:cNvPr id="33" name="Shape 31"/>
          <p:cNvSpPr/>
          <p:nvPr/>
        </p:nvSpPr>
        <p:spPr>
          <a:xfrm>
            <a:off x="0" y="3337560"/>
            <a:ext cx="12191695" cy="0"/>
          </a:xfrm>
          <a:prstGeom prst="line">
            <a:avLst/>
          </a:prstGeom>
          <a:noFill/>
          <a:ln w="5080">
            <a:solidFill>
              <a:srgbClr val="22384E">
                <a:alpha val="5000"/>
              </a:srgbClr>
            </a:solidFill>
            <a:prstDash val="solid"/>
          </a:ln>
        </p:spPr>
        <p:txBody>
          <a:bodyPr/>
          <a:lstStyle/>
          <a:p>
            <a:endParaRPr lang="en-US"/>
          </a:p>
        </p:txBody>
      </p:sp>
      <p:sp>
        <p:nvSpPr>
          <p:cNvPr id="34" name="Shape 32"/>
          <p:cNvSpPr/>
          <p:nvPr/>
        </p:nvSpPr>
        <p:spPr>
          <a:xfrm>
            <a:off x="0" y="3840480"/>
            <a:ext cx="12191695" cy="0"/>
          </a:xfrm>
          <a:prstGeom prst="line">
            <a:avLst/>
          </a:prstGeom>
          <a:noFill/>
          <a:ln w="5080">
            <a:solidFill>
              <a:srgbClr val="22384E">
                <a:alpha val="5000"/>
              </a:srgbClr>
            </a:solidFill>
            <a:prstDash val="solid"/>
          </a:ln>
        </p:spPr>
        <p:txBody>
          <a:bodyPr/>
          <a:lstStyle/>
          <a:p>
            <a:endParaRPr lang="en-US"/>
          </a:p>
        </p:txBody>
      </p:sp>
      <p:sp>
        <p:nvSpPr>
          <p:cNvPr id="35" name="Shape 33"/>
          <p:cNvSpPr/>
          <p:nvPr/>
        </p:nvSpPr>
        <p:spPr>
          <a:xfrm>
            <a:off x="0" y="4343400"/>
            <a:ext cx="12191695" cy="0"/>
          </a:xfrm>
          <a:prstGeom prst="line">
            <a:avLst/>
          </a:prstGeom>
          <a:noFill/>
          <a:ln w="5080">
            <a:solidFill>
              <a:srgbClr val="22384E">
                <a:alpha val="5000"/>
              </a:srgbClr>
            </a:solidFill>
            <a:prstDash val="solid"/>
          </a:ln>
        </p:spPr>
        <p:txBody>
          <a:bodyPr/>
          <a:lstStyle/>
          <a:p>
            <a:endParaRPr lang="en-US"/>
          </a:p>
        </p:txBody>
      </p:sp>
      <p:sp>
        <p:nvSpPr>
          <p:cNvPr id="36" name="Shape 34"/>
          <p:cNvSpPr/>
          <p:nvPr/>
        </p:nvSpPr>
        <p:spPr>
          <a:xfrm>
            <a:off x="0" y="4846320"/>
            <a:ext cx="12191695" cy="0"/>
          </a:xfrm>
          <a:prstGeom prst="line">
            <a:avLst/>
          </a:prstGeom>
          <a:noFill/>
          <a:ln w="5080">
            <a:solidFill>
              <a:srgbClr val="22384E">
                <a:alpha val="5000"/>
              </a:srgbClr>
            </a:solidFill>
            <a:prstDash val="solid"/>
          </a:ln>
        </p:spPr>
        <p:txBody>
          <a:bodyPr/>
          <a:lstStyle/>
          <a:p>
            <a:endParaRPr lang="en-US"/>
          </a:p>
        </p:txBody>
      </p:sp>
      <p:sp>
        <p:nvSpPr>
          <p:cNvPr id="37" name="Shape 35"/>
          <p:cNvSpPr/>
          <p:nvPr/>
        </p:nvSpPr>
        <p:spPr>
          <a:xfrm>
            <a:off x="0" y="5349240"/>
            <a:ext cx="12191695" cy="0"/>
          </a:xfrm>
          <a:prstGeom prst="line">
            <a:avLst/>
          </a:prstGeom>
          <a:noFill/>
          <a:ln w="5080">
            <a:solidFill>
              <a:srgbClr val="22384E">
                <a:alpha val="5000"/>
              </a:srgbClr>
            </a:solidFill>
            <a:prstDash val="solid"/>
          </a:ln>
        </p:spPr>
        <p:txBody>
          <a:bodyPr/>
          <a:lstStyle/>
          <a:p>
            <a:endParaRPr lang="en-US"/>
          </a:p>
        </p:txBody>
      </p:sp>
      <p:sp>
        <p:nvSpPr>
          <p:cNvPr id="38" name="Shape 36"/>
          <p:cNvSpPr/>
          <p:nvPr/>
        </p:nvSpPr>
        <p:spPr>
          <a:xfrm>
            <a:off x="0" y="5852160"/>
            <a:ext cx="12191695" cy="0"/>
          </a:xfrm>
          <a:prstGeom prst="line">
            <a:avLst/>
          </a:prstGeom>
          <a:noFill/>
          <a:ln w="5080">
            <a:solidFill>
              <a:srgbClr val="22384E">
                <a:alpha val="5000"/>
              </a:srgbClr>
            </a:solidFill>
            <a:prstDash val="solid"/>
          </a:ln>
        </p:spPr>
        <p:txBody>
          <a:bodyPr/>
          <a:lstStyle/>
          <a:p>
            <a:endParaRPr lang="en-US"/>
          </a:p>
        </p:txBody>
      </p:sp>
      <p:sp>
        <p:nvSpPr>
          <p:cNvPr id="39" name="Shape 37"/>
          <p:cNvSpPr/>
          <p:nvPr/>
        </p:nvSpPr>
        <p:spPr>
          <a:xfrm>
            <a:off x="0" y="6355080"/>
            <a:ext cx="12191695" cy="0"/>
          </a:xfrm>
          <a:prstGeom prst="line">
            <a:avLst/>
          </a:prstGeom>
          <a:noFill/>
          <a:ln w="5080">
            <a:solidFill>
              <a:srgbClr val="22384E">
                <a:alpha val="5000"/>
              </a:srgbClr>
            </a:solidFill>
            <a:prstDash val="solid"/>
          </a:ln>
        </p:spPr>
        <p:txBody>
          <a:bodyPr/>
          <a:lstStyle/>
          <a:p>
            <a:endParaRPr lang="en-US"/>
          </a:p>
        </p:txBody>
      </p:sp>
      <p:sp>
        <p:nvSpPr>
          <p:cNvPr id="40" name="Shape 38"/>
          <p:cNvSpPr/>
          <p:nvPr/>
        </p:nvSpPr>
        <p:spPr>
          <a:xfrm>
            <a:off x="0" y="6858000"/>
            <a:ext cx="12191695" cy="0"/>
          </a:xfrm>
          <a:prstGeom prst="line">
            <a:avLst/>
          </a:prstGeom>
          <a:noFill/>
          <a:ln w="5080">
            <a:solidFill>
              <a:srgbClr val="22384E">
                <a:alpha val="5000"/>
              </a:srgbClr>
            </a:solidFill>
            <a:prstDash val="solid"/>
          </a:ln>
        </p:spPr>
        <p:txBody>
          <a:bodyPr/>
          <a:lstStyle/>
          <a:p>
            <a:endParaRPr lang="en-US"/>
          </a:p>
        </p:txBody>
      </p:sp>
      <p:sp>
        <p:nvSpPr>
          <p:cNvPr id="41" name="Text 39"/>
          <p:cNvSpPr/>
          <p:nvPr/>
        </p:nvSpPr>
        <p:spPr>
          <a:xfrm>
            <a:off x="438912" y="256032"/>
            <a:ext cx="4114800" cy="201168"/>
          </a:xfrm>
          <a:prstGeom prst="rect">
            <a:avLst/>
          </a:prstGeom>
          <a:noFill/>
          <a:ln/>
        </p:spPr>
        <p:txBody>
          <a:bodyPr wrap="square" lIns="0" tIns="0" rIns="0" bIns="0" rtlCol="0" anchor="ctr"/>
          <a:lstStyle/>
          <a:p>
            <a:pPr marL="0" indent="0">
              <a:buNone/>
            </a:pPr>
            <a:r>
              <a:rPr lang="en-US" sz="950" b="1" kern="0" spc="170" dirty="0">
                <a:solidFill>
                  <a:srgbClr val="38D9E6"/>
                </a:solidFill>
                <a:latin typeface="Inter" pitchFamily="34" charset="0"/>
                <a:ea typeface="Inter" pitchFamily="34" charset="-122"/>
                <a:cs typeface="Inter" pitchFamily="34" charset="-120"/>
              </a:rPr>
              <a:t>RESULTS — COMPRESSION</a:t>
            </a:r>
            <a:endParaRPr lang="en-US" sz="950" dirty="0"/>
          </a:p>
        </p:txBody>
      </p:sp>
      <p:sp>
        <p:nvSpPr>
          <p:cNvPr id="42" name="Shape 40"/>
          <p:cNvSpPr/>
          <p:nvPr/>
        </p:nvSpPr>
        <p:spPr>
          <a:xfrm>
            <a:off x="438912" y="539496"/>
            <a:ext cx="438912" cy="0"/>
          </a:xfrm>
          <a:prstGeom prst="line">
            <a:avLst/>
          </a:prstGeom>
          <a:noFill/>
          <a:ln w="44450">
            <a:solidFill>
              <a:srgbClr val="38D9E6"/>
            </a:solidFill>
            <a:prstDash val="solid"/>
            <a:headEnd type="none"/>
            <a:tailEnd type="none"/>
          </a:ln>
        </p:spPr>
        <p:txBody>
          <a:bodyPr/>
          <a:lstStyle/>
          <a:p>
            <a:endParaRPr lang="en-US"/>
          </a:p>
        </p:txBody>
      </p:sp>
      <p:sp>
        <p:nvSpPr>
          <p:cNvPr id="43" name="Text 41"/>
          <p:cNvSpPr/>
          <p:nvPr/>
        </p:nvSpPr>
        <p:spPr>
          <a:xfrm>
            <a:off x="438912" y="658368"/>
            <a:ext cx="11064240" cy="566928"/>
          </a:xfrm>
          <a:prstGeom prst="rect">
            <a:avLst/>
          </a:prstGeom>
          <a:noFill/>
          <a:ln/>
        </p:spPr>
        <p:txBody>
          <a:bodyPr wrap="square" lIns="0" tIns="0" rIns="0" bIns="0" rtlCol="0" anchor="ctr">
            <a:normAutofit/>
          </a:bodyPr>
          <a:lstStyle/>
          <a:p>
            <a:pPr marL="0" indent="0">
              <a:buNone/>
            </a:pPr>
            <a:r>
              <a:rPr lang="en-US" sz="2700" b="1" dirty="0">
                <a:solidFill>
                  <a:srgbClr val="F4F8FB"/>
                </a:solidFill>
                <a:latin typeface="Inter Display" pitchFamily="34" charset="0"/>
                <a:ea typeface="Inter Display" pitchFamily="34" charset="-122"/>
                <a:cs typeface="Inter Display" pitchFamily="34" charset="-120"/>
              </a:rPr>
              <a:t>Compression effectiveness was essentially preserved</a:t>
            </a:r>
            <a:endParaRPr lang="en-US" sz="2700" dirty="0"/>
          </a:p>
        </p:txBody>
      </p:sp>
      <p:sp>
        <p:nvSpPr>
          <p:cNvPr id="44" name="Text 42"/>
          <p:cNvSpPr/>
          <p:nvPr/>
        </p:nvSpPr>
        <p:spPr>
          <a:xfrm>
            <a:off x="457200" y="1225296"/>
            <a:ext cx="10881360" cy="292608"/>
          </a:xfrm>
          <a:prstGeom prst="rect">
            <a:avLst/>
          </a:prstGeom>
          <a:noFill/>
          <a:ln/>
        </p:spPr>
        <p:txBody>
          <a:bodyPr wrap="square" lIns="0" tIns="0" rIns="0" bIns="0" rtlCol="0" anchor="ctr">
            <a:normAutofit/>
          </a:bodyPr>
          <a:lstStyle/>
          <a:p>
            <a:pPr marL="0" indent="0">
              <a:buNone/>
            </a:pPr>
            <a:r>
              <a:rPr lang="en-US" sz="1250" dirty="0">
                <a:solidFill>
                  <a:srgbClr val="A8B6C5"/>
                </a:solidFill>
                <a:latin typeface="Inter" pitchFamily="34" charset="0"/>
                <a:ea typeface="Inter" pitchFamily="34" charset="-122"/>
                <a:cs typeface="Inter" pitchFamily="34" charset="-120"/>
              </a:rPr>
              <a:t>Output size depends strongly on image structure, but the aggregate CPU and FPGA ratios remain very close.</a:t>
            </a:r>
            <a:endParaRPr lang="en-US" sz="1250" dirty="0"/>
          </a:p>
        </p:txBody>
      </p:sp>
      <p:sp>
        <p:nvSpPr>
          <p:cNvPr id="45" name="Shape 43"/>
          <p:cNvSpPr/>
          <p:nvPr/>
        </p:nvSpPr>
        <p:spPr>
          <a:xfrm>
            <a:off x="475488" y="1682496"/>
            <a:ext cx="2496312" cy="941832"/>
          </a:xfrm>
          <a:prstGeom prst="roundRect">
            <a:avLst>
              <a:gd name="adj" fmla="val 7767"/>
            </a:avLst>
          </a:prstGeom>
          <a:solidFill>
            <a:srgbClr val="0D1C2D"/>
          </a:solidFill>
          <a:ln w="12700">
            <a:solidFill>
              <a:srgbClr val="7F93A7">
                <a:alpha val="45000"/>
              </a:srgbClr>
            </a:solidFill>
            <a:prstDash val="solid"/>
          </a:ln>
          <a:effectLst>
            <a:outerShdw algn="bl" rotWithShape="0">
              <a:srgbClr val="000000">
                <a:alpha val="0"/>
              </a:srgbClr>
            </a:outerShdw>
          </a:effectLst>
        </p:spPr>
        <p:txBody>
          <a:bodyPr/>
          <a:lstStyle/>
          <a:p>
            <a:endParaRPr lang="en-US"/>
          </a:p>
        </p:txBody>
      </p:sp>
      <p:sp>
        <p:nvSpPr>
          <p:cNvPr id="46" name="Shape 44"/>
          <p:cNvSpPr/>
          <p:nvPr/>
        </p:nvSpPr>
        <p:spPr>
          <a:xfrm>
            <a:off x="621792" y="1828800"/>
            <a:ext cx="0" cy="649224"/>
          </a:xfrm>
          <a:prstGeom prst="line">
            <a:avLst/>
          </a:prstGeom>
          <a:noFill/>
          <a:ln w="44450">
            <a:solidFill>
              <a:srgbClr val="7F93A7"/>
            </a:solidFill>
            <a:prstDash val="solid"/>
          </a:ln>
        </p:spPr>
        <p:txBody>
          <a:bodyPr/>
          <a:lstStyle/>
          <a:p>
            <a:endParaRPr lang="en-US"/>
          </a:p>
        </p:txBody>
      </p:sp>
      <p:sp>
        <p:nvSpPr>
          <p:cNvPr id="47" name="Text 45"/>
          <p:cNvSpPr/>
          <p:nvPr/>
        </p:nvSpPr>
        <p:spPr>
          <a:xfrm>
            <a:off x="786384" y="1819656"/>
            <a:ext cx="2057400" cy="347472"/>
          </a:xfrm>
          <a:prstGeom prst="rect">
            <a:avLst/>
          </a:prstGeom>
          <a:noFill/>
          <a:ln/>
        </p:spPr>
        <p:txBody>
          <a:bodyPr wrap="square" lIns="0" tIns="0" rIns="0" bIns="0" rtlCol="0" anchor="ctr">
            <a:normAutofit/>
          </a:bodyPr>
          <a:lstStyle/>
          <a:p>
            <a:pPr marL="0" indent="0">
              <a:buNone/>
            </a:pPr>
            <a:r>
              <a:rPr lang="en-US" sz="2200" b="1" dirty="0">
                <a:solidFill>
                  <a:srgbClr val="F4F8FB"/>
                </a:solidFill>
                <a:latin typeface="Inter Display" pitchFamily="34" charset="0"/>
                <a:ea typeface="Inter Display" pitchFamily="34" charset="-122"/>
                <a:cs typeface="Inter Display" pitchFamily="34" charset="-120"/>
              </a:rPr>
              <a:t>4.042:1</a:t>
            </a:r>
            <a:endParaRPr lang="en-US" sz="2200" dirty="0"/>
          </a:p>
        </p:txBody>
      </p:sp>
      <p:sp>
        <p:nvSpPr>
          <p:cNvPr id="48" name="Text 46"/>
          <p:cNvSpPr/>
          <p:nvPr/>
        </p:nvSpPr>
        <p:spPr>
          <a:xfrm>
            <a:off x="786384" y="2212848"/>
            <a:ext cx="2057400" cy="228600"/>
          </a:xfrm>
          <a:prstGeom prst="rect">
            <a:avLst/>
          </a:prstGeom>
          <a:noFill/>
          <a:ln/>
        </p:spPr>
        <p:txBody>
          <a:bodyPr wrap="square" lIns="0" tIns="0" rIns="0" bIns="0" rtlCol="0" anchor="ctr">
            <a:normAutofit/>
          </a:bodyPr>
          <a:lstStyle/>
          <a:p>
            <a:pPr marL="0" indent="0">
              <a:buNone/>
            </a:pPr>
            <a:r>
              <a:rPr lang="en-US" sz="1050" b="1" dirty="0">
                <a:solidFill>
                  <a:srgbClr val="7F93A7"/>
                </a:solidFill>
                <a:latin typeface="Inter" pitchFamily="34" charset="0"/>
                <a:ea typeface="Inter" pitchFamily="34" charset="-122"/>
                <a:cs typeface="Inter" pitchFamily="34" charset="-120"/>
              </a:rPr>
              <a:t>CPU aggregate ratio</a:t>
            </a:r>
            <a:endParaRPr lang="en-US" sz="1050" dirty="0"/>
          </a:p>
        </p:txBody>
      </p:sp>
      <p:sp>
        <p:nvSpPr>
          <p:cNvPr id="49" name="Text 47"/>
          <p:cNvSpPr/>
          <p:nvPr/>
        </p:nvSpPr>
        <p:spPr>
          <a:xfrm>
            <a:off x="786384" y="2368296"/>
            <a:ext cx="2057400" cy="146304"/>
          </a:xfrm>
          <a:prstGeom prst="rect">
            <a:avLst/>
          </a:prstGeom>
          <a:noFill/>
          <a:ln/>
        </p:spPr>
        <p:txBody>
          <a:bodyPr wrap="square" lIns="0" tIns="0" rIns="0" bIns="0" rtlCol="0" anchor="ctr">
            <a:normAutofit/>
          </a:bodyPr>
          <a:lstStyle/>
          <a:p>
            <a:pPr marL="0" indent="0">
              <a:buNone/>
            </a:pPr>
            <a:r>
              <a:rPr lang="en-US" sz="750" dirty="0">
                <a:solidFill>
                  <a:srgbClr val="A8B6C5"/>
                </a:solidFill>
                <a:latin typeface="Inter" pitchFamily="34" charset="0"/>
                <a:ea typeface="Inter" pitchFamily="34" charset="-122"/>
                <a:cs typeface="Inter" pitchFamily="34" charset="-120"/>
              </a:rPr>
              <a:t>2,659,049 compressed bytes</a:t>
            </a:r>
            <a:endParaRPr lang="en-US" sz="750" dirty="0"/>
          </a:p>
        </p:txBody>
      </p:sp>
      <p:sp>
        <p:nvSpPr>
          <p:cNvPr id="50" name="Shape 48"/>
          <p:cNvSpPr/>
          <p:nvPr/>
        </p:nvSpPr>
        <p:spPr>
          <a:xfrm>
            <a:off x="3182112" y="1682496"/>
            <a:ext cx="2496312" cy="941832"/>
          </a:xfrm>
          <a:prstGeom prst="roundRect">
            <a:avLst>
              <a:gd name="adj" fmla="val 7767"/>
            </a:avLst>
          </a:prstGeom>
          <a:solidFill>
            <a:srgbClr val="0D1C2D"/>
          </a:solidFill>
          <a:ln w="12700">
            <a:solidFill>
              <a:srgbClr val="38D9E6">
                <a:alpha val="45000"/>
              </a:srgbClr>
            </a:solidFill>
            <a:prstDash val="solid"/>
          </a:ln>
          <a:effectLst>
            <a:outerShdw algn="bl" rotWithShape="0">
              <a:srgbClr val="000000">
                <a:alpha val="0"/>
              </a:srgbClr>
            </a:outerShdw>
          </a:effectLst>
        </p:spPr>
        <p:txBody>
          <a:bodyPr/>
          <a:lstStyle/>
          <a:p>
            <a:endParaRPr lang="en-US"/>
          </a:p>
        </p:txBody>
      </p:sp>
      <p:sp>
        <p:nvSpPr>
          <p:cNvPr id="51" name="Shape 49"/>
          <p:cNvSpPr/>
          <p:nvPr/>
        </p:nvSpPr>
        <p:spPr>
          <a:xfrm>
            <a:off x="3328416" y="1828800"/>
            <a:ext cx="0" cy="649224"/>
          </a:xfrm>
          <a:prstGeom prst="line">
            <a:avLst/>
          </a:prstGeom>
          <a:noFill/>
          <a:ln w="44450">
            <a:solidFill>
              <a:srgbClr val="38D9E6"/>
            </a:solidFill>
            <a:prstDash val="solid"/>
          </a:ln>
        </p:spPr>
        <p:txBody>
          <a:bodyPr/>
          <a:lstStyle/>
          <a:p>
            <a:endParaRPr lang="en-US"/>
          </a:p>
        </p:txBody>
      </p:sp>
      <p:sp>
        <p:nvSpPr>
          <p:cNvPr id="52" name="Text 50"/>
          <p:cNvSpPr/>
          <p:nvPr/>
        </p:nvSpPr>
        <p:spPr>
          <a:xfrm>
            <a:off x="3493008" y="1819656"/>
            <a:ext cx="2057400" cy="347472"/>
          </a:xfrm>
          <a:prstGeom prst="rect">
            <a:avLst/>
          </a:prstGeom>
          <a:noFill/>
          <a:ln/>
        </p:spPr>
        <p:txBody>
          <a:bodyPr wrap="square" lIns="0" tIns="0" rIns="0" bIns="0" rtlCol="0" anchor="ctr">
            <a:normAutofit/>
          </a:bodyPr>
          <a:lstStyle/>
          <a:p>
            <a:pPr marL="0" indent="0">
              <a:buNone/>
            </a:pPr>
            <a:r>
              <a:rPr lang="en-US" sz="2200" b="1" dirty="0">
                <a:solidFill>
                  <a:srgbClr val="F4F8FB"/>
                </a:solidFill>
                <a:latin typeface="Inter Display" pitchFamily="34" charset="0"/>
                <a:ea typeface="Inter Display" pitchFamily="34" charset="-122"/>
                <a:cs typeface="Inter Display" pitchFamily="34" charset="-120"/>
              </a:rPr>
              <a:t>4.072:1</a:t>
            </a:r>
            <a:endParaRPr lang="en-US" sz="2200" dirty="0"/>
          </a:p>
        </p:txBody>
      </p:sp>
      <p:sp>
        <p:nvSpPr>
          <p:cNvPr id="53" name="Text 51"/>
          <p:cNvSpPr/>
          <p:nvPr/>
        </p:nvSpPr>
        <p:spPr>
          <a:xfrm>
            <a:off x="3493008" y="2212848"/>
            <a:ext cx="2057400" cy="228600"/>
          </a:xfrm>
          <a:prstGeom prst="rect">
            <a:avLst/>
          </a:prstGeom>
          <a:noFill/>
          <a:ln/>
        </p:spPr>
        <p:txBody>
          <a:bodyPr wrap="square" lIns="0" tIns="0" rIns="0" bIns="0" rtlCol="0" anchor="ctr">
            <a:normAutofit/>
          </a:bodyPr>
          <a:lstStyle/>
          <a:p>
            <a:pPr marL="0" indent="0">
              <a:buNone/>
            </a:pPr>
            <a:r>
              <a:rPr lang="en-US" sz="1050" b="1" dirty="0">
                <a:solidFill>
                  <a:srgbClr val="38D9E6"/>
                </a:solidFill>
                <a:latin typeface="Inter" pitchFamily="34" charset="0"/>
                <a:ea typeface="Inter" pitchFamily="34" charset="-122"/>
                <a:cs typeface="Inter" pitchFamily="34" charset="-120"/>
              </a:rPr>
              <a:t>FPGA aggregate ratio</a:t>
            </a:r>
            <a:endParaRPr lang="en-US" sz="1050" dirty="0"/>
          </a:p>
        </p:txBody>
      </p:sp>
      <p:sp>
        <p:nvSpPr>
          <p:cNvPr id="54" name="Text 52"/>
          <p:cNvSpPr/>
          <p:nvPr/>
        </p:nvSpPr>
        <p:spPr>
          <a:xfrm>
            <a:off x="3493008" y="2368296"/>
            <a:ext cx="2057400" cy="146304"/>
          </a:xfrm>
          <a:prstGeom prst="rect">
            <a:avLst/>
          </a:prstGeom>
          <a:noFill/>
          <a:ln/>
        </p:spPr>
        <p:txBody>
          <a:bodyPr wrap="square" lIns="0" tIns="0" rIns="0" bIns="0" rtlCol="0" anchor="ctr">
            <a:normAutofit/>
          </a:bodyPr>
          <a:lstStyle/>
          <a:p>
            <a:pPr marL="0" indent="0">
              <a:buNone/>
            </a:pPr>
            <a:r>
              <a:rPr lang="en-US" sz="750" dirty="0">
                <a:solidFill>
                  <a:srgbClr val="A8B6C5"/>
                </a:solidFill>
                <a:latin typeface="Inter" pitchFamily="34" charset="0"/>
                <a:ea typeface="Inter" pitchFamily="34" charset="-122"/>
                <a:cs typeface="Inter" pitchFamily="34" charset="-120"/>
              </a:rPr>
              <a:t>2,639,243 compressed bytes</a:t>
            </a:r>
            <a:endParaRPr lang="en-US" sz="750" dirty="0"/>
          </a:p>
        </p:txBody>
      </p:sp>
      <p:sp>
        <p:nvSpPr>
          <p:cNvPr id="55" name="Shape 53"/>
          <p:cNvSpPr/>
          <p:nvPr/>
        </p:nvSpPr>
        <p:spPr>
          <a:xfrm>
            <a:off x="5888736" y="1682496"/>
            <a:ext cx="2496312" cy="941832"/>
          </a:xfrm>
          <a:prstGeom prst="roundRect">
            <a:avLst>
              <a:gd name="adj" fmla="val 7767"/>
            </a:avLst>
          </a:prstGeom>
          <a:solidFill>
            <a:srgbClr val="0D1C2D"/>
          </a:solidFill>
          <a:ln w="12700">
            <a:solidFill>
              <a:srgbClr val="24C9AA">
                <a:alpha val="45000"/>
              </a:srgbClr>
            </a:solidFill>
            <a:prstDash val="solid"/>
          </a:ln>
          <a:effectLst>
            <a:outerShdw algn="bl" rotWithShape="0">
              <a:srgbClr val="000000">
                <a:alpha val="0"/>
              </a:srgbClr>
            </a:outerShdw>
          </a:effectLst>
        </p:spPr>
        <p:txBody>
          <a:bodyPr/>
          <a:lstStyle/>
          <a:p>
            <a:endParaRPr lang="en-US"/>
          </a:p>
        </p:txBody>
      </p:sp>
      <p:sp>
        <p:nvSpPr>
          <p:cNvPr id="56" name="Shape 54"/>
          <p:cNvSpPr/>
          <p:nvPr/>
        </p:nvSpPr>
        <p:spPr>
          <a:xfrm>
            <a:off x="6035040" y="1828800"/>
            <a:ext cx="0" cy="649224"/>
          </a:xfrm>
          <a:prstGeom prst="line">
            <a:avLst/>
          </a:prstGeom>
          <a:noFill/>
          <a:ln w="44450">
            <a:solidFill>
              <a:srgbClr val="24C9AA"/>
            </a:solidFill>
            <a:prstDash val="solid"/>
          </a:ln>
        </p:spPr>
        <p:txBody>
          <a:bodyPr/>
          <a:lstStyle/>
          <a:p>
            <a:endParaRPr lang="en-US"/>
          </a:p>
        </p:txBody>
      </p:sp>
      <p:sp>
        <p:nvSpPr>
          <p:cNvPr id="57" name="Text 55"/>
          <p:cNvSpPr/>
          <p:nvPr/>
        </p:nvSpPr>
        <p:spPr>
          <a:xfrm>
            <a:off x="6199632" y="1819656"/>
            <a:ext cx="2057400" cy="347472"/>
          </a:xfrm>
          <a:prstGeom prst="rect">
            <a:avLst/>
          </a:prstGeom>
          <a:noFill/>
          <a:ln/>
        </p:spPr>
        <p:txBody>
          <a:bodyPr wrap="square" lIns="0" tIns="0" rIns="0" bIns="0" rtlCol="0" anchor="ctr">
            <a:normAutofit/>
          </a:bodyPr>
          <a:lstStyle/>
          <a:p>
            <a:pPr marL="0" indent="0">
              <a:buNone/>
            </a:pPr>
            <a:r>
              <a:rPr lang="en-US" sz="2200" b="1" dirty="0">
                <a:solidFill>
                  <a:srgbClr val="F4F8FB"/>
                </a:solidFill>
                <a:latin typeface="Inter Display" pitchFamily="34" charset="0"/>
                <a:ea typeface="Inter Display" pitchFamily="34" charset="-122"/>
                <a:cs typeface="Inter Display" pitchFamily="34" charset="-120"/>
              </a:rPr>
              <a:t>0.74%</a:t>
            </a:r>
            <a:endParaRPr lang="en-US" sz="2200" dirty="0"/>
          </a:p>
        </p:txBody>
      </p:sp>
      <p:sp>
        <p:nvSpPr>
          <p:cNvPr id="58" name="Text 56"/>
          <p:cNvSpPr/>
          <p:nvPr/>
        </p:nvSpPr>
        <p:spPr>
          <a:xfrm>
            <a:off x="6199632" y="2212848"/>
            <a:ext cx="2057400" cy="228600"/>
          </a:xfrm>
          <a:prstGeom prst="rect">
            <a:avLst/>
          </a:prstGeom>
          <a:noFill/>
          <a:ln/>
        </p:spPr>
        <p:txBody>
          <a:bodyPr wrap="square" lIns="0" tIns="0" rIns="0" bIns="0" rtlCol="0" anchor="ctr">
            <a:normAutofit/>
          </a:bodyPr>
          <a:lstStyle/>
          <a:p>
            <a:pPr marL="0" indent="0">
              <a:buNone/>
            </a:pPr>
            <a:r>
              <a:rPr lang="en-US" sz="1050" b="1" dirty="0">
                <a:solidFill>
                  <a:srgbClr val="24C9AA"/>
                </a:solidFill>
                <a:latin typeface="Inter" pitchFamily="34" charset="0"/>
                <a:ea typeface="Inter" pitchFamily="34" charset="-122"/>
                <a:cs typeface="Inter" pitchFamily="34" charset="-120"/>
              </a:rPr>
              <a:t>smaller FPGA output</a:t>
            </a:r>
            <a:endParaRPr lang="en-US" sz="1050" dirty="0"/>
          </a:p>
        </p:txBody>
      </p:sp>
      <p:sp>
        <p:nvSpPr>
          <p:cNvPr id="59" name="Text 57"/>
          <p:cNvSpPr/>
          <p:nvPr/>
        </p:nvSpPr>
        <p:spPr>
          <a:xfrm>
            <a:off x="6199632" y="2368296"/>
            <a:ext cx="2057400" cy="146304"/>
          </a:xfrm>
          <a:prstGeom prst="rect">
            <a:avLst/>
          </a:prstGeom>
          <a:noFill/>
          <a:ln/>
        </p:spPr>
        <p:txBody>
          <a:bodyPr wrap="square" lIns="0" tIns="0" rIns="0" bIns="0" rtlCol="0" anchor="ctr">
            <a:normAutofit/>
          </a:bodyPr>
          <a:lstStyle/>
          <a:p>
            <a:pPr marL="0" indent="0">
              <a:buNone/>
            </a:pPr>
            <a:r>
              <a:rPr lang="en-US" sz="750" dirty="0">
                <a:solidFill>
                  <a:srgbClr val="A8B6C5"/>
                </a:solidFill>
                <a:latin typeface="Inter" pitchFamily="34" charset="0"/>
                <a:ea typeface="Inter" pitchFamily="34" charset="-122"/>
                <a:cs typeface="Inter" pitchFamily="34" charset="-120"/>
              </a:rPr>
              <a:t>difference is small, not bit-identical</a:t>
            </a:r>
            <a:endParaRPr lang="en-US" sz="750" dirty="0"/>
          </a:p>
        </p:txBody>
      </p:sp>
      <p:sp>
        <p:nvSpPr>
          <p:cNvPr id="60" name="Shape 58"/>
          <p:cNvSpPr/>
          <p:nvPr/>
        </p:nvSpPr>
        <p:spPr>
          <a:xfrm>
            <a:off x="8595360" y="1682496"/>
            <a:ext cx="2679192" cy="941832"/>
          </a:xfrm>
          <a:prstGeom prst="roundRect">
            <a:avLst>
              <a:gd name="adj" fmla="val 7767"/>
            </a:avLst>
          </a:prstGeom>
          <a:solidFill>
            <a:srgbClr val="0D1C2D"/>
          </a:solidFill>
          <a:ln w="12700">
            <a:solidFill>
              <a:srgbClr val="49D486">
                <a:alpha val="45000"/>
              </a:srgbClr>
            </a:solidFill>
            <a:prstDash val="solid"/>
          </a:ln>
          <a:effectLst>
            <a:outerShdw algn="bl" rotWithShape="0">
              <a:srgbClr val="000000">
                <a:alpha val="0"/>
              </a:srgbClr>
            </a:outerShdw>
          </a:effectLst>
        </p:spPr>
        <p:txBody>
          <a:bodyPr/>
          <a:lstStyle/>
          <a:p>
            <a:endParaRPr lang="en-US"/>
          </a:p>
        </p:txBody>
      </p:sp>
      <p:sp>
        <p:nvSpPr>
          <p:cNvPr id="61" name="Shape 59"/>
          <p:cNvSpPr/>
          <p:nvPr/>
        </p:nvSpPr>
        <p:spPr>
          <a:xfrm>
            <a:off x="8741664" y="1828800"/>
            <a:ext cx="0" cy="649224"/>
          </a:xfrm>
          <a:prstGeom prst="line">
            <a:avLst/>
          </a:prstGeom>
          <a:noFill/>
          <a:ln w="44450">
            <a:solidFill>
              <a:srgbClr val="49D486"/>
            </a:solidFill>
            <a:prstDash val="solid"/>
          </a:ln>
        </p:spPr>
        <p:txBody>
          <a:bodyPr/>
          <a:lstStyle/>
          <a:p>
            <a:endParaRPr lang="en-US"/>
          </a:p>
        </p:txBody>
      </p:sp>
      <p:sp>
        <p:nvSpPr>
          <p:cNvPr id="62" name="Text 60"/>
          <p:cNvSpPr/>
          <p:nvPr/>
        </p:nvSpPr>
        <p:spPr>
          <a:xfrm>
            <a:off x="8906256" y="1819656"/>
            <a:ext cx="2240280" cy="347472"/>
          </a:xfrm>
          <a:prstGeom prst="rect">
            <a:avLst/>
          </a:prstGeom>
          <a:noFill/>
          <a:ln/>
        </p:spPr>
        <p:txBody>
          <a:bodyPr wrap="square" lIns="0" tIns="0" rIns="0" bIns="0" rtlCol="0" anchor="ctr">
            <a:normAutofit/>
          </a:bodyPr>
          <a:lstStyle/>
          <a:p>
            <a:pPr marL="0" indent="0">
              <a:buNone/>
            </a:pPr>
            <a:r>
              <a:rPr lang="en-US" sz="2200" b="1" dirty="0">
                <a:solidFill>
                  <a:srgbClr val="F4F8FB"/>
                </a:solidFill>
                <a:latin typeface="Inter Display" pitchFamily="34" charset="0"/>
                <a:ea typeface="Inter Display" pitchFamily="34" charset="-122"/>
                <a:cs typeface="Inter Display" pitchFamily="34" charset="-120"/>
              </a:rPr>
              <a:t>41 / 41</a:t>
            </a:r>
            <a:endParaRPr lang="en-US" sz="2200" dirty="0"/>
          </a:p>
        </p:txBody>
      </p:sp>
      <p:sp>
        <p:nvSpPr>
          <p:cNvPr id="63" name="Text 61"/>
          <p:cNvSpPr/>
          <p:nvPr/>
        </p:nvSpPr>
        <p:spPr>
          <a:xfrm>
            <a:off x="8906256" y="2212848"/>
            <a:ext cx="2240280" cy="228600"/>
          </a:xfrm>
          <a:prstGeom prst="rect">
            <a:avLst/>
          </a:prstGeom>
          <a:noFill/>
          <a:ln/>
        </p:spPr>
        <p:txBody>
          <a:bodyPr wrap="square" lIns="0" tIns="0" rIns="0" bIns="0" rtlCol="0" anchor="ctr">
            <a:normAutofit/>
          </a:bodyPr>
          <a:lstStyle/>
          <a:p>
            <a:pPr marL="0" indent="0">
              <a:buNone/>
            </a:pPr>
            <a:r>
              <a:rPr lang="en-US" sz="1050" b="1" dirty="0">
                <a:solidFill>
                  <a:srgbClr val="49D486"/>
                </a:solidFill>
                <a:latin typeface="Inter" pitchFamily="34" charset="0"/>
                <a:ea typeface="Inter" pitchFamily="34" charset="-122"/>
                <a:cs typeface="Inter" pitchFamily="34" charset="-120"/>
              </a:rPr>
              <a:t>successful status</a:t>
            </a:r>
            <a:endParaRPr lang="en-US" sz="1050" dirty="0"/>
          </a:p>
        </p:txBody>
      </p:sp>
      <p:sp>
        <p:nvSpPr>
          <p:cNvPr id="64" name="Text 62"/>
          <p:cNvSpPr/>
          <p:nvPr/>
        </p:nvSpPr>
        <p:spPr>
          <a:xfrm>
            <a:off x="8906256" y="2368296"/>
            <a:ext cx="2240280" cy="146304"/>
          </a:xfrm>
          <a:prstGeom prst="rect">
            <a:avLst/>
          </a:prstGeom>
          <a:noFill/>
          <a:ln/>
        </p:spPr>
        <p:txBody>
          <a:bodyPr wrap="square" lIns="0" tIns="0" rIns="0" bIns="0" rtlCol="0" anchor="ctr">
            <a:normAutofit/>
          </a:bodyPr>
          <a:lstStyle/>
          <a:p>
            <a:pPr marL="0" indent="0">
              <a:buNone/>
            </a:pPr>
            <a:r>
              <a:rPr lang="en-US" sz="750" dirty="0">
                <a:solidFill>
                  <a:srgbClr val="A8B6C5"/>
                </a:solidFill>
                <a:latin typeface="Inter" pitchFamily="34" charset="0"/>
                <a:ea typeface="Inter" pitchFamily="34" charset="-122"/>
                <a:cs typeface="Inter" pitchFamily="34" charset="-120"/>
              </a:rPr>
              <a:t>status = 0 for every image</a:t>
            </a:r>
            <a:endParaRPr lang="en-US" sz="750" dirty="0"/>
          </a:p>
        </p:txBody>
      </p:sp>
      <p:pic>
        <p:nvPicPr>
          <p:cNvPr id="6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5488" y="2852928"/>
            <a:ext cx="7589520" cy="3145536"/>
          </a:xfrm>
          <a:prstGeom prst="rect">
            <a:avLst/>
          </a:prstGeom>
        </p:spPr>
      </p:pic>
      <p:sp>
        <p:nvSpPr>
          <p:cNvPr id="66" name="Shape 63"/>
          <p:cNvSpPr/>
          <p:nvPr/>
        </p:nvSpPr>
        <p:spPr>
          <a:xfrm>
            <a:off x="8275320" y="2852928"/>
            <a:ext cx="3447288" cy="3145536"/>
          </a:xfrm>
          <a:prstGeom prst="roundRect">
            <a:avLst>
              <a:gd name="adj" fmla="val 2326"/>
            </a:avLst>
          </a:prstGeom>
          <a:solidFill>
            <a:srgbClr val="0D1C2D"/>
          </a:solidFill>
          <a:ln w="12700">
            <a:solidFill>
              <a:srgbClr val="22384E">
                <a:alpha val="80000"/>
              </a:srgbClr>
            </a:solidFill>
            <a:prstDash val="solid"/>
          </a:ln>
          <a:effectLst>
            <a:outerShdw algn="bl" rotWithShape="0">
              <a:srgbClr val="000000">
                <a:alpha val="0"/>
              </a:srgbClr>
            </a:outerShdw>
          </a:effectLst>
        </p:spPr>
        <p:txBody>
          <a:bodyPr/>
          <a:lstStyle/>
          <a:p>
            <a:endParaRPr lang="en-US"/>
          </a:p>
        </p:txBody>
      </p:sp>
      <p:sp>
        <p:nvSpPr>
          <p:cNvPr id="67" name="Text 64"/>
          <p:cNvSpPr/>
          <p:nvPr/>
        </p:nvSpPr>
        <p:spPr>
          <a:xfrm>
            <a:off x="8549640" y="3127248"/>
            <a:ext cx="2880360" cy="256032"/>
          </a:xfrm>
          <a:prstGeom prst="rect">
            <a:avLst/>
          </a:prstGeom>
          <a:noFill/>
          <a:ln/>
        </p:spPr>
        <p:txBody>
          <a:bodyPr wrap="square" lIns="0" tIns="0" rIns="0" bIns="0" rtlCol="0" anchor="ctr"/>
          <a:lstStyle/>
          <a:p>
            <a:pPr marL="0" indent="0">
              <a:buNone/>
            </a:pPr>
            <a:r>
              <a:rPr lang="en-US" sz="1600" b="1" dirty="0">
                <a:solidFill>
                  <a:srgbClr val="F4F8FB"/>
                </a:solidFill>
                <a:latin typeface="Inter Display" pitchFamily="34" charset="0"/>
                <a:ea typeface="Inter Display" pitchFamily="34" charset="-122"/>
                <a:cs typeface="Inter Display" pitchFamily="34" charset="-120"/>
              </a:rPr>
              <a:t>What the distribution means</a:t>
            </a:r>
            <a:endParaRPr lang="en-US" sz="1600" dirty="0"/>
          </a:p>
        </p:txBody>
      </p:sp>
      <p:sp>
        <p:nvSpPr>
          <p:cNvPr id="68" name="Shape 65"/>
          <p:cNvSpPr/>
          <p:nvPr/>
        </p:nvSpPr>
        <p:spPr>
          <a:xfrm>
            <a:off x="8540496" y="3611880"/>
            <a:ext cx="292608" cy="292608"/>
          </a:xfrm>
          <a:prstGeom prst="ellipse">
            <a:avLst/>
          </a:prstGeom>
          <a:solidFill>
            <a:srgbClr val="24C9AA">
              <a:alpha val="92000"/>
            </a:srgbClr>
          </a:solidFill>
          <a:ln w="12700">
            <a:solidFill>
              <a:srgbClr val="24C9AA">
                <a:alpha val="0"/>
              </a:srgbClr>
            </a:solidFill>
            <a:prstDash val="solid"/>
          </a:ln>
        </p:spPr>
        <p:txBody>
          <a:bodyPr/>
          <a:lstStyle/>
          <a:p>
            <a:endParaRPr lang="en-US"/>
          </a:p>
        </p:txBody>
      </p:sp>
      <p:sp>
        <p:nvSpPr>
          <p:cNvPr id="69" name="Text 66"/>
          <p:cNvSpPr/>
          <p:nvPr/>
        </p:nvSpPr>
        <p:spPr>
          <a:xfrm>
            <a:off x="8540496" y="3593592"/>
            <a:ext cx="292608" cy="274320"/>
          </a:xfrm>
          <a:prstGeom prst="rect">
            <a:avLst/>
          </a:prstGeom>
          <a:noFill/>
          <a:ln/>
        </p:spPr>
        <p:txBody>
          <a:bodyPr wrap="square" lIns="0" tIns="0" rIns="0" bIns="0" rtlCol="0" anchor="ctr"/>
          <a:lstStyle/>
          <a:p>
            <a:pPr marL="0" indent="0" algn="ctr">
              <a:buNone/>
            </a:pPr>
            <a:r>
              <a:rPr lang="en-US" sz="1400" b="1" dirty="0">
                <a:solidFill>
                  <a:srgbClr val="07111F"/>
                </a:solidFill>
                <a:latin typeface="Inter" pitchFamily="34" charset="0"/>
                <a:ea typeface="Inter" pitchFamily="34" charset="-122"/>
                <a:cs typeface="Inter" pitchFamily="34" charset="-120"/>
              </a:rPr>
              <a:t>•</a:t>
            </a:r>
            <a:endParaRPr lang="en-US" sz="1400" dirty="0"/>
          </a:p>
        </p:txBody>
      </p:sp>
      <p:sp>
        <p:nvSpPr>
          <p:cNvPr id="70" name="Text 67"/>
          <p:cNvSpPr/>
          <p:nvPr/>
        </p:nvSpPr>
        <p:spPr>
          <a:xfrm>
            <a:off x="8970264" y="3575304"/>
            <a:ext cx="2450592" cy="219456"/>
          </a:xfrm>
          <a:prstGeom prst="rect">
            <a:avLst/>
          </a:prstGeom>
          <a:noFill/>
          <a:ln/>
        </p:spPr>
        <p:txBody>
          <a:bodyPr wrap="square" lIns="0" tIns="0" rIns="0" bIns="0" rtlCol="0" anchor="ctr">
            <a:normAutofit/>
          </a:bodyPr>
          <a:lstStyle/>
          <a:p>
            <a:pPr marL="0" indent="0">
              <a:buNone/>
            </a:pPr>
            <a:r>
              <a:rPr lang="en-US" sz="1320" b="1" dirty="0">
                <a:solidFill>
                  <a:srgbClr val="F4F8FB"/>
                </a:solidFill>
                <a:latin typeface="Inter" pitchFamily="34" charset="0"/>
                <a:ea typeface="Inter" pitchFamily="34" charset="-122"/>
                <a:cs typeface="Inter" pitchFamily="34" charset="-120"/>
              </a:rPr>
              <a:t>Highly regular images</a:t>
            </a:r>
            <a:endParaRPr lang="en-US" sz="1320" dirty="0"/>
          </a:p>
        </p:txBody>
      </p:sp>
      <p:sp>
        <p:nvSpPr>
          <p:cNvPr id="71" name="Text 68"/>
          <p:cNvSpPr/>
          <p:nvPr/>
        </p:nvSpPr>
        <p:spPr>
          <a:xfrm>
            <a:off x="8970264" y="3822192"/>
            <a:ext cx="2450592" cy="402336"/>
          </a:xfrm>
          <a:prstGeom prst="rect">
            <a:avLst/>
          </a:prstGeom>
          <a:noFill/>
          <a:ln/>
        </p:spPr>
        <p:txBody>
          <a:bodyPr wrap="square" lIns="0" tIns="0" rIns="0" bIns="0" rtlCol="0" anchor="ctr">
            <a:normAutofit fontScale="92500"/>
          </a:bodyPr>
          <a:lstStyle/>
          <a:p>
            <a:pPr marL="0" indent="0">
              <a:buNone/>
            </a:pPr>
            <a:r>
              <a:rPr lang="en-US" sz="1050" dirty="0">
                <a:solidFill>
                  <a:srgbClr val="A8B6C5"/>
                </a:solidFill>
                <a:latin typeface="Inter" pitchFamily="34" charset="0"/>
                <a:ea typeface="Inter" pitchFamily="34" charset="-122"/>
                <a:cs typeface="Inter" pitchFamily="34" charset="-120"/>
              </a:rPr>
              <a:t>Flat and repetitive patterns reached 12.71:1 because quantisation produced long zero runs.</a:t>
            </a:r>
            <a:endParaRPr lang="en-US" sz="1050" dirty="0"/>
          </a:p>
        </p:txBody>
      </p:sp>
      <p:sp>
        <p:nvSpPr>
          <p:cNvPr id="72" name="Shape 69"/>
          <p:cNvSpPr/>
          <p:nvPr/>
        </p:nvSpPr>
        <p:spPr>
          <a:xfrm>
            <a:off x="8540496" y="4407408"/>
            <a:ext cx="292608" cy="292608"/>
          </a:xfrm>
          <a:prstGeom prst="ellipse">
            <a:avLst/>
          </a:prstGeom>
          <a:solidFill>
            <a:srgbClr val="668EFF">
              <a:alpha val="92000"/>
            </a:srgbClr>
          </a:solidFill>
          <a:ln w="12700">
            <a:solidFill>
              <a:srgbClr val="668EFF">
                <a:alpha val="0"/>
              </a:srgbClr>
            </a:solidFill>
            <a:prstDash val="solid"/>
          </a:ln>
        </p:spPr>
        <p:txBody>
          <a:bodyPr/>
          <a:lstStyle/>
          <a:p>
            <a:endParaRPr lang="en-US"/>
          </a:p>
        </p:txBody>
      </p:sp>
      <p:sp>
        <p:nvSpPr>
          <p:cNvPr id="73" name="Text 70"/>
          <p:cNvSpPr/>
          <p:nvPr/>
        </p:nvSpPr>
        <p:spPr>
          <a:xfrm>
            <a:off x="8540496" y="4389120"/>
            <a:ext cx="292608" cy="274320"/>
          </a:xfrm>
          <a:prstGeom prst="rect">
            <a:avLst/>
          </a:prstGeom>
          <a:noFill/>
          <a:ln/>
        </p:spPr>
        <p:txBody>
          <a:bodyPr wrap="square" lIns="0" tIns="0" rIns="0" bIns="0" rtlCol="0" anchor="ctr"/>
          <a:lstStyle/>
          <a:p>
            <a:pPr marL="0" indent="0" algn="ctr">
              <a:buNone/>
            </a:pPr>
            <a:r>
              <a:rPr lang="en-US" sz="1400" b="1" dirty="0">
                <a:solidFill>
                  <a:srgbClr val="07111F"/>
                </a:solidFill>
                <a:latin typeface="Inter" pitchFamily="34" charset="0"/>
                <a:ea typeface="Inter" pitchFamily="34" charset="-122"/>
                <a:cs typeface="Inter" pitchFamily="34" charset="-120"/>
              </a:rPr>
              <a:t>•</a:t>
            </a:r>
            <a:endParaRPr lang="en-US" sz="1400" dirty="0"/>
          </a:p>
        </p:txBody>
      </p:sp>
      <p:sp>
        <p:nvSpPr>
          <p:cNvPr id="74" name="Text 71"/>
          <p:cNvSpPr/>
          <p:nvPr/>
        </p:nvSpPr>
        <p:spPr>
          <a:xfrm>
            <a:off x="8970264" y="4370832"/>
            <a:ext cx="2450592" cy="219456"/>
          </a:xfrm>
          <a:prstGeom prst="rect">
            <a:avLst/>
          </a:prstGeom>
          <a:noFill/>
          <a:ln/>
        </p:spPr>
        <p:txBody>
          <a:bodyPr wrap="square" lIns="0" tIns="0" rIns="0" bIns="0" rtlCol="0" anchor="ctr">
            <a:normAutofit/>
          </a:bodyPr>
          <a:lstStyle/>
          <a:p>
            <a:pPr marL="0" indent="0">
              <a:buNone/>
            </a:pPr>
            <a:r>
              <a:rPr lang="en-US" sz="1320" b="1" dirty="0">
                <a:solidFill>
                  <a:srgbClr val="F4F8FB"/>
                </a:solidFill>
                <a:latin typeface="Inter" pitchFamily="34" charset="0"/>
                <a:ea typeface="Inter" pitchFamily="34" charset="-122"/>
                <a:cs typeface="Inter" pitchFamily="34" charset="-120"/>
              </a:rPr>
              <a:t>Natural images</a:t>
            </a:r>
            <a:endParaRPr lang="en-US" sz="1320" dirty="0"/>
          </a:p>
        </p:txBody>
      </p:sp>
      <p:sp>
        <p:nvSpPr>
          <p:cNvPr id="75" name="Text 72"/>
          <p:cNvSpPr/>
          <p:nvPr/>
        </p:nvSpPr>
        <p:spPr>
          <a:xfrm>
            <a:off x="8970264" y="4617720"/>
            <a:ext cx="2450592" cy="402336"/>
          </a:xfrm>
          <a:prstGeom prst="rect">
            <a:avLst/>
          </a:prstGeom>
          <a:noFill/>
          <a:ln/>
        </p:spPr>
        <p:txBody>
          <a:bodyPr wrap="square" lIns="0" tIns="0" rIns="0" bIns="0" rtlCol="0" anchor="ctr">
            <a:normAutofit/>
          </a:bodyPr>
          <a:lstStyle/>
          <a:p>
            <a:pPr marL="0" indent="0">
              <a:buNone/>
            </a:pPr>
            <a:r>
              <a:rPr lang="en-US" sz="1050" dirty="0">
                <a:solidFill>
                  <a:srgbClr val="A8B6C5"/>
                </a:solidFill>
                <a:latin typeface="Inter" pitchFamily="34" charset="0"/>
                <a:ea typeface="Inter" pitchFamily="34" charset="-122"/>
                <a:cs typeface="Inter" pitchFamily="34" charset="-120"/>
              </a:rPr>
              <a:t>The median result was 4.38:1, reflecting mixed smooth areas, edges and texture.</a:t>
            </a:r>
            <a:endParaRPr lang="en-US" sz="1050" dirty="0"/>
          </a:p>
        </p:txBody>
      </p:sp>
      <p:sp>
        <p:nvSpPr>
          <p:cNvPr id="76" name="Shape 73"/>
          <p:cNvSpPr/>
          <p:nvPr/>
        </p:nvSpPr>
        <p:spPr>
          <a:xfrm>
            <a:off x="8540496" y="5202936"/>
            <a:ext cx="292608" cy="292608"/>
          </a:xfrm>
          <a:prstGeom prst="ellipse">
            <a:avLst/>
          </a:prstGeom>
          <a:solidFill>
            <a:srgbClr val="FFA24C">
              <a:alpha val="92000"/>
            </a:srgbClr>
          </a:solidFill>
          <a:ln w="12700">
            <a:solidFill>
              <a:srgbClr val="FFA24C">
                <a:alpha val="0"/>
              </a:srgbClr>
            </a:solidFill>
            <a:prstDash val="solid"/>
          </a:ln>
        </p:spPr>
        <p:txBody>
          <a:bodyPr/>
          <a:lstStyle/>
          <a:p>
            <a:endParaRPr lang="en-US"/>
          </a:p>
        </p:txBody>
      </p:sp>
      <p:sp>
        <p:nvSpPr>
          <p:cNvPr id="77" name="Text 74"/>
          <p:cNvSpPr/>
          <p:nvPr/>
        </p:nvSpPr>
        <p:spPr>
          <a:xfrm>
            <a:off x="8540496" y="5184648"/>
            <a:ext cx="292608" cy="274320"/>
          </a:xfrm>
          <a:prstGeom prst="rect">
            <a:avLst/>
          </a:prstGeom>
          <a:noFill/>
          <a:ln/>
        </p:spPr>
        <p:txBody>
          <a:bodyPr wrap="square" lIns="0" tIns="0" rIns="0" bIns="0" rtlCol="0" anchor="ctr"/>
          <a:lstStyle/>
          <a:p>
            <a:pPr marL="0" indent="0" algn="ctr">
              <a:buNone/>
            </a:pPr>
            <a:r>
              <a:rPr lang="en-US" sz="1400" b="1" dirty="0">
                <a:solidFill>
                  <a:srgbClr val="07111F"/>
                </a:solidFill>
                <a:latin typeface="Inter" pitchFamily="34" charset="0"/>
                <a:ea typeface="Inter" pitchFamily="34" charset="-122"/>
                <a:cs typeface="Inter" pitchFamily="34" charset="-120"/>
              </a:rPr>
              <a:t>•</a:t>
            </a:r>
            <a:endParaRPr lang="en-US" sz="1400" dirty="0"/>
          </a:p>
        </p:txBody>
      </p:sp>
      <p:sp>
        <p:nvSpPr>
          <p:cNvPr id="78" name="Text 75"/>
          <p:cNvSpPr/>
          <p:nvPr/>
        </p:nvSpPr>
        <p:spPr>
          <a:xfrm>
            <a:off x="8970264" y="5166360"/>
            <a:ext cx="2450592" cy="219456"/>
          </a:xfrm>
          <a:prstGeom prst="rect">
            <a:avLst/>
          </a:prstGeom>
          <a:noFill/>
          <a:ln/>
        </p:spPr>
        <p:txBody>
          <a:bodyPr wrap="square" lIns="0" tIns="0" rIns="0" bIns="0" rtlCol="0" anchor="ctr">
            <a:normAutofit/>
          </a:bodyPr>
          <a:lstStyle/>
          <a:p>
            <a:pPr marL="0" indent="0">
              <a:buNone/>
            </a:pPr>
            <a:r>
              <a:rPr lang="en-US" sz="1320" b="1" dirty="0">
                <a:solidFill>
                  <a:srgbClr val="F4F8FB"/>
                </a:solidFill>
                <a:latin typeface="Inter" pitchFamily="34" charset="0"/>
                <a:ea typeface="Inter" pitchFamily="34" charset="-122"/>
                <a:cs typeface="Inter" pitchFamily="34" charset="-120"/>
              </a:rPr>
              <a:t>Random noise</a:t>
            </a:r>
            <a:endParaRPr lang="en-US" sz="1320" dirty="0"/>
          </a:p>
        </p:txBody>
      </p:sp>
      <p:sp>
        <p:nvSpPr>
          <p:cNvPr id="79" name="Text 76"/>
          <p:cNvSpPr/>
          <p:nvPr/>
        </p:nvSpPr>
        <p:spPr>
          <a:xfrm>
            <a:off x="8970264" y="5413248"/>
            <a:ext cx="2450592" cy="402336"/>
          </a:xfrm>
          <a:prstGeom prst="rect">
            <a:avLst/>
          </a:prstGeom>
          <a:noFill/>
          <a:ln/>
        </p:spPr>
        <p:txBody>
          <a:bodyPr wrap="square" lIns="0" tIns="0" rIns="0" bIns="0" rtlCol="0" anchor="ctr">
            <a:normAutofit fontScale="92500" lnSpcReduction="20000"/>
          </a:bodyPr>
          <a:lstStyle/>
          <a:p>
            <a:pPr marL="0" indent="0">
              <a:buNone/>
            </a:pPr>
            <a:r>
              <a:rPr lang="en-US" sz="1050" dirty="0">
                <a:solidFill>
                  <a:srgbClr val="A8B6C5"/>
                </a:solidFill>
                <a:latin typeface="Inter" pitchFamily="34" charset="0"/>
                <a:ea typeface="Inter" pitchFamily="34" charset="-122"/>
                <a:cs typeface="Inter" pitchFamily="34" charset="-120"/>
              </a:rPr>
              <a:t>fixed_seed_noise reached only 1.09:1 because most high-frequency coefficients remained non-zero.</a:t>
            </a:r>
            <a:endParaRPr lang="en-US" sz="1050" dirty="0"/>
          </a:p>
        </p:txBody>
      </p:sp>
      <p:sp>
        <p:nvSpPr>
          <p:cNvPr id="80" name="Shape 77"/>
          <p:cNvSpPr/>
          <p:nvPr/>
        </p:nvSpPr>
        <p:spPr>
          <a:xfrm>
            <a:off x="438912" y="6519672"/>
            <a:ext cx="11064240" cy="0"/>
          </a:xfrm>
          <a:prstGeom prst="line">
            <a:avLst/>
          </a:prstGeom>
          <a:noFill/>
          <a:ln w="10160">
            <a:solidFill>
              <a:srgbClr val="22384E">
                <a:alpha val="70000"/>
              </a:srgbClr>
            </a:solidFill>
            <a:prstDash val="solid"/>
          </a:ln>
        </p:spPr>
        <p:txBody>
          <a:bodyPr/>
          <a:lstStyle/>
          <a:p>
            <a:endParaRPr lang="en-US"/>
          </a:p>
        </p:txBody>
      </p:sp>
      <p:sp>
        <p:nvSpPr>
          <p:cNvPr id="82" name="Slide Number Placeholder 0"/>
          <p:cNvSpPr>
            <a:spLocks noGrp="1"/>
          </p:cNvSpPr>
          <p:nvPr>
            <p:ph type="sldNum" sz="quarter" idx="4294967295"/>
          </p:nvPr>
        </p:nvSpPr>
        <p:spPr>
          <a:xfrm>
            <a:off x="11430000" y="6473952"/>
            <a:ext cx="438912"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7890A4"/>
                </a:solidFill>
                <a:latin typeface="Inter"/>
                <a:ea typeface="Inter"/>
                <a:cs typeface="Inter"/>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9802368" y="0"/>
            <a:ext cx="2386584" cy="2971800"/>
          </a:xfrm>
          <a:prstGeom prst="ellipse">
            <a:avLst/>
          </a:prstGeom>
          <a:solidFill>
            <a:srgbClr val="38D9E6">
              <a:alpha val="8000"/>
            </a:srgbClr>
          </a:solidFill>
          <a:ln w="12700">
            <a:solidFill>
              <a:srgbClr val="38D9E6">
                <a:alpha val="0"/>
              </a:srgbClr>
            </a:solidFill>
            <a:prstDash val="solid"/>
          </a:ln>
        </p:spPr>
        <p:txBody>
          <a:bodyPr/>
          <a:lstStyle/>
          <a:p>
            <a:endParaRPr lang="en-US"/>
          </a:p>
        </p:txBody>
      </p:sp>
      <p:sp>
        <p:nvSpPr>
          <p:cNvPr id="3" name="Shape 1"/>
          <p:cNvSpPr/>
          <p:nvPr/>
        </p:nvSpPr>
        <p:spPr>
          <a:xfrm>
            <a:off x="0" y="5230368"/>
            <a:ext cx="2395728" cy="1627632"/>
          </a:xfrm>
          <a:prstGeom prst="ellipse">
            <a:avLst/>
          </a:prstGeom>
          <a:solidFill>
            <a:srgbClr val="668EFF">
              <a:alpha val="6000"/>
            </a:srgbClr>
          </a:solidFill>
          <a:ln w="12700">
            <a:solidFill>
              <a:srgbClr val="668EFF">
                <a:alpha val="0"/>
              </a:srgbClr>
            </a:solidFill>
            <a:prstDash val="solid"/>
          </a:ln>
        </p:spPr>
        <p:txBody>
          <a:bodyPr/>
          <a:lstStyle/>
          <a:p>
            <a:endParaRPr lang="en-US"/>
          </a:p>
        </p:txBody>
      </p:sp>
      <p:sp>
        <p:nvSpPr>
          <p:cNvPr id="4" name="Shape 2"/>
          <p:cNvSpPr/>
          <p:nvPr/>
        </p:nvSpPr>
        <p:spPr>
          <a:xfrm>
            <a:off x="457200" y="0"/>
            <a:ext cx="0" cy="6858000"/>
          </a:xfrm>
          <a:prstGeom prst="line">
            <a:avLst/>
          </a:prstGeom>
          <a:noFill/>
          <a:ln w="5080">
            <a:solidFill>
              <a:srgbClr val="22384E">
                <a:alpha val="6000"/>
              </a:srgbClr>
            </a:solidFill>
            <a:prstDash val="solid"/>
          </a:ln>
        </p:spPr>
        <p:txBody>
          <a:bodyPr/>
          <a:lstStyle/>
          <a:p>
            <a:endParaRPr lang="en-US"/>
          </a:p>
        </p:txBody>
      </p:sp>
      <p:sp>
        <p:nvSpPr>
          <p:cNvPr id="5" name="Shape 3"/>
          <p:cNvSpPr/>
          <p:nvPr/>
        </p:nvSpPr>
        <p:spPr>
          <a:xfrm>
            <a:off x="960120" y="0"/>
            <a:ext cx="0" cy="6858000"/>
          </a:xfrm>
          <a:prstGeom prst="line">
            <a:avLst/>
          </a:prstGeom>
          <a:noFill/>
          <a:ln w="5080">
            <a:solidFill>
              <a:srgbClr val="22384E">
                <a:alpha val="6000"/>
              </a:srgbClr>
            </a:solidFill>
            <a:prstDash val="solid"/>
          </a:ln>
        </p:spPr>
        <p:txBody>
          <a:bodyPr/>
          <a:lstStyle/>
          <a:p>
            <a:endParaRPr lang="en-US"/>
          </a:p>
        </p:txBody>
      </p:sp>
      <p:sp>
        <p:nvSpPr>
          <p:cNvPr id="6" name="Shape 4"/>
          <p:cNvSpPr/>
          <p:nvPr/>
        </p:nvSpPr>
        <p:spPr>
          <a:xfrm>
            <a:off x="1463040" y="0"/>
            <a:ext cx="0" cy="6858000"/>
          </a:xfrm>
          <a:prstGeom prst="line">
            <a:avLst/>
          </a:prstGeom>
          <a:noFill/>
          <a:ln w="5080">
            <a:solidFill>
              <a:srgbClr val="22384E">
                <a:alpha val="6000"/>
              </a:srgbClr>
            </a:solidFill>
            <a:prstDash val="solid"/>
          </a:ln>
        </p:spPr>
        <p:txBody>
          <a:bodyPr/>
          <a:lstStyle/>
          <a:p>
            <a:endParaRPr lang="en-US"/>
          </a:p>
        </p:txBody>
      </p:sp>
      <p:sp>
        <p:nvSpPr>
          <p:cNvPr id="7" name="Shape 5"/>
          <p:cNvSpPr/>
          <p:nvPr/>
        </p:nvSpPr>
        <p:spPr>
          <a:xfrm>
            <a:off x="1965960" y="0"/>
            <a:ext cx="0" cy="6858000"/>
          </a:xfrm>
          <a:prstGeom prst="line">
            <a:avLst/>
          </a:prstGeom>
          <a:noFill/>
          <a:ln w="5080">
            <a:solidFill>
              <a:srgbClr val="22384E">
                <a:alpha val="6000"/>
              </a:srgbClr>
            </a:solidFill>
            <a:prstDash val="solid"/>
          </a:ln>
        </p:spPr>
        <p:txBody>
          <a:bodyPr/>
          <a:lstStyle/>
          <a:p>
            <a:endParaRPr lang="en-US"/>
          </a:p>
        </p:txBody>
      </p:sp>
      <p:sp>
        <p:nvSpPr>
          <p:cNvPr id="8" name="Shape 6"/>
          <p:cNvSpPr/>
          <p:nvPr/>
        </p:nvSpPr>
        <p:spPr>
          <a:xfrm>
            <a:off x="2468880" y="0"/>
            <a:ext cx="0" cy="6858000"/>
          </a:xfrm>
          <a:prstGeom prst="line">
            <a:avLst/>
          </a:prstGeom>
          <a:noFill/>
          <a:ln w="5080">
            <a:solidFill>
              <a:srgbClr val="22384E">
                <a:alpha val="6000"/>
              </a:srgbClr>
            </a:solidFill>
            <a:prstDash val="solid"/>
          </a:ln>
        </p:spPr>
        <p:txBody>
          <a:bodyPr/>
          <a:lstStyle/>
          <a:p>
            <a:endParaRPr lang="en-US"/>
          </a:p>
        </p:txBody>
      </p:sp>
      <p:sp>
        <p:nvSpPr>
          <p:cNvPr id="9" name="Shape 7"/>
          <p:cNvSpPr/>
          <p:nvPr/>
        </p:nvSpPr>
        <p:spPr>
          <a:xfrm>
            <a:off x="2971800" y="0"/>
            <a:ext cx="0" cy="6858000"/>
          </a:xfrm>
          <a:prstGeom prst="line">
            <a:avLst/>
          </a:prstGeom>
          <a:noFill/>
          <a:ln w="5080">
            <a:solidFill>
              <a:srgbClr val="22384E">
                <a:alpha val="6000"/>
              </a:srgbClr>
            </a:solidFill>
            <a:prstDash val="solid"/>
          </a:ln>
        </p:spPr>
        <p:txBody>
          <a:bodyPr/>
          <a:lstStyle/>
          <a:p>
            <a:endParaRPr lang="en-US"/>
          </a:p>
        </p:txBody>
      </p:sp>
      <p:sp>
        <p:nvSpPr>
          <p:cNvPr id="10" name="Shape 8"/>
          <p:cNvSpPr/>
          <p:nvPr/>
        </p:nvSpPr>
        <p:spPr>
          <a:xfrm>
            <a:off x="3474720" y="0"/>
            <a:ext cx="0" cy="6858000"/>
          </a:xfrm>
          <a:prstGeom prst="line">
            <a:avLst/>
          </a:prstGeom>
          <a:noFill/>
          <a:ln w="5080">
            <a:solidFill>
              <a:srgbClr val="22384E">
                <a:alpha val="6000"/>
              </a:srgbClr>
            </a:solidFill>
            <a:prstDash val="solid"/>
          </a:ln>
        </p:spPr>
        <p:txBody>
          <a:bodyPr/>
          <a:lstStyle/>
          <a:p>
            <a:endParaRPr lang="en-US"/>
          </a:p>
        </p:txBody>
      </p:sp>
      <p:sp>
        <p:nvSpPr>
          <p:cNvPr id="11" name="Shape 9"/>
          <p:cNvSpPr/>
          <p:nvPr/>
        </p:nvSpPr>
        <p:spPr>
          <a:xfrm>
            <a:off x="3977640" y="0"/>
            <a:ext cx="0" cy="6858000"/>
          </a:xfrm>
          <a:prstGeom prst="line">
            <a:avLst/>
          </a:prstGeom>
          <a:noFill/>
          <a:ln w="5080">
            <a:solidFill>
              <a:srgbClr val="22384E">
                <a:alpha val="6000"/>
              </a:srgbClr>
            </a:solidFill>
            <a:prstDash val="solid"/>
          </a:ln>
        </p:spPr>
        <p:txBody>
          <a:bodyPr/>
          <a:lstStyle/>
          <a:p>
            <a:endParaRPr lang="en-US"/>
          </a:p>
        </p:txBody>
      </p:sp>
      <p:sp>
        <p:nvSpPr>
          <p:cNvPr id="12" name="Shape 10"/>
          <p:cNvSpPr/>
          <p:nvPr/>
        </p:nvSpPr>
        <p:spPr>
          <a:xfrm>
            <a:off x="4480560" y="0"/>
            <a:ext cx="0" cy="6858000"/>
          </a:xfrm>
          <a:prstGeom prst="line">
            <a:avLst/>
          </a:prstGeom>
          <a:noFill/>
          <a:ln w="5080">
            <a:solidFill>
              <a:srgbClr val="22384E">
                <a:alpha val="6000"/>
              </a:srgbClr>
            </a:solidFill>
            <a:prstDash val="solid"/>
          </a:ln>
        </p:spPr>
        <p:txBody>
          <a:bodyPr/>
          <a:lstStyle/>
          <a:p>
            <a:endParaRPr lang="en-US"/>
          </a:p>
        </p:txBody>
      </p:sp>
      <p:sp>
        <p:nvSpPr>
          <p:cNvPr id="13" name="Shape 11"/>
          <p:cNvSpPr/>
          <p:nvPr/>
        </p:nvSpPr>
        <p:spPr>
          <a:xfrm>
            <a:off x="4983480" y="0"/>
            <a:ext cx="0" cy="6858000"/>
          </a:xfrm>
          <a:prstGeom prst="line">
            <a:avLst/>
          </a:prstGeom>
          <a:noFill/>
          <a:ln w="5080">
            <a:solidFill>
              <a:srgbClr val="22384E">
                <a:alpha val="6000"/>
              </a:srgbClr>
            </a:solidFill>
            <a:prstDash val="solid"/>
          </a:ln>
        </p:spPr>
        <p:txBody>
          <a:bodyPr/>
          <a:lstStyle/>
          <a:p>
            <a:endParaRPr lang="en-US"/>
          </a:p>
        </p:txBody>
      </p:sp>
      <p:sp>
        <p:nvSpPr>
          <p:cNvPr id="14" name="Shape 12"/>
          <p:cNvSpPr/>
          <p:nvPr/>
        </p:nvSpPr>
        <p:spPr>
          <a:xfrm>
            <a:off x="5486400" y="0"/>
            <a:ext cx="0" cy="6858000"/>
          </a:xfrm>
          <a:prstGeom prst="line">
            <a:avLst/>
          </a:prstGeom>
          <a:noFill/>
          <a:ln w="5080">
            <a:solidFill>
              <a:srgbClr val="22384E">
                <a:alpha val="6000"/>
              </a:srgbClr>
            </a:solidFill>
            <a:prstDash val="solid"/>
          </a:ln>
        </p:spPr>
        <p:txBody>
          <a:bodyPr/>
          <a:lstStyle/>
          <a:p>
            <a:endParaRPr lang="en-US"/>
          </a:p>
        </p:txBody>
      </p:sp>
      <p:sp>
        <p:nvSpPr>
          <p:cNvPr id="15" name="Shape 13"/>
          <p:cNvSpPr/>
          <p:nvPr/>
        </p:nvSpPr>
        <p:spPr>
          <a:xfrm>
            <a:off x="5989320" y="0"/>
            <a:ext cx="0" cy="6858000"/>
          </a:xfrm>
          <a:prstGeom prst="line">
            <a:avLst/>
          </a:prstGeom>
          <a:noFill/>
          <a:ln w="5080">
            <a:solidFill>
              <a:srgbClr val="22384E">
                <a:alpha val="6000"/>
              </a:srgbClr>
            </a:solidFill>
            <a:prstDash val="solid"/>
          </a:ln>
        </p:spPr>
        <p:txBody>
          <a:bodyPr/>
          <a:lstStyle/>
          <a:p>
            <a:endParaRPr lang="en-US"/>
          </a:p>
        </p:txBody>
      </p:sp>
      <p:sp>
        <p:nvSpPr>
          <p:cNvPr id="16" name="Shape 14"/>
          <p:cNvSpPr/>
          <p:nvPr/>
        </p:nvSpPr>
        <p:spPr>
          <a:xfrm>
            <a:off x="6492240" y="0"/>
            <a:ext cx="0" cy="6858000"/>
          </a:xfrm>
          <a:prstGeom prst="line">
            <a:avLst/>
          </a:prstGeom>
          <a:noFill/>
          <a:ln w="5080">
            <a:solidFill>
              <a:srgbClr val="22384E">
                <a:alpha val="6000"/>
              </a:srgbClr>
            </a:solidFill>
            <a:prstDash val="solid"/>
          </a:ln>
        </p:spPr>
        <p:txBody>
          <a:bodyPr/>
          <a:lstStyle/>
          <a:p>
            <a:endParaRPr lang="en-US"/>
          </a:p>
        </p:txBody>
      </p:sp>
      <p:sp>
        <p:nvSpPr>
          <p:cNvPr id="17" name="Shape 15"/>
          <p:cNvSpPr/>
          <p:nvPr/>
        </p:nvSpPr>
        <p:spPr>
          <a:xfrm>
            <a:off x="6995160" y="0"/>
            <a:ext cx="0" cy="6858000"/>
          </a:xfrm>
          <a:prstGeom prst="line">
            <a:avLst/>
          </a:prstGeom>
          <a:noFill/>
          <a:ln w="5080">
            <a:solidFill>
              <a:srgbClr val="22384E">
                <a:alpha val="6000"/>
              </a:srgbClr>
            </a:solidFill>
            <a:prstDash val="solid"/>
          </a:ln>
        </p:spPr>
        <p:txBody>
          <a:bodyPr/>
          <a:lstStyle/>
          <a:p>
            <a:endParaRPr lang="en-US"/>
          </a:p>
        </p:txBody>
      </p:sp>
      <p:sp>
        <p:nvSpPr>
          <p:cNvPr id="18" name="Shape 16"/>
          <p:cNvSpPr/>
          <p:nvPr/>
        </p:nvSpPr>
        <p:spPr>
          <a:xfrm>
            <a:off x="7498080" y="0"/>
            <a:ext cx="0" cy="6858000"/>
          </a:xfrm>
          <a:prstGeom prst="line">
            <a:avLst/>
          </a:prstGeom>
          <a:noFill/>
          <a:ln w="5080">
            <a:solidFill>
              <a:srgbClr val="22384E">
                <a:alpha val="6000"/>
              </a:srgbClr>
            </a:solidFill>
            <a:prstDash val="solid"/>
          </a:ln>
        </p:spPr>
        <p:txBody>
          <a:bodyPr/>
          <a:lstStyle/>
          <a:p>
            <a:endParaRPr lang="en-US"/>
          </a:p>
        </p:txBody>
      </p:sp>
      <p:sp>
        <p:nvSpPr>
          <p:cNvPr id="19" name="Shape 17"/>
          <p:cNvSpPr/>
          <p:nvPr/>
        </p:nvSpPr>
        <p:spPr>
          <a:xfrm>
            <a:off x="8001000" y="0"/>
            <a:ext cx="0" cy="6858000"/>
          </a:xfrm>
          <a:prstGeom prst="line">
            <a:avLst/>
          </a:prstGeom>
          <a:noFill/>
          <a:ln w="5080">
            <a:solidFill>
              <a:srgbClr val="22384E">
                <a:alpha val="6000"/>
              </a:srgbClr>
            </a:solidFill>
            <a:prstDash val="solid"/>
          </a:ln>
        </p:spPr>
        <p:txBody>
          <a:bodyPr/>
          <a:lstStyle/>
          <a:p>
            <a:endParaRPr lang="en-US"/>
          </a:p>
        </p:txBody>
      </p:sp>
      <p:sp>
        <p:nvSpPr>
          <p:cNvPr id="20" name="Shape 18"/>
          <p:cNvSpPr/>
          <p:nvPr/>
        </p:nvSpPr>
        <p:spPr>
          <a:xfrm>
            <a:off x="8503920" y="0"/>
            <a:ext cx="0" cy="6858000"/>
          </a:xfrm>
          <a:prstGeom prst="line">
            <a:avLst/>
          </a:prstGeom>
          <a:noFill/>
          <a:ln w="5080">
            <a:solidFill>
              <a:srgbClr val="22384E">
                <a:alpha val="6000"/>
              </a:srgbClr>
            </a:solidFill>
            <a:prstDash val="solid"/>
          </a:ln>
        </p:spPr>
        <p:txBody>
          <a:bodyPr/>
          <a:lstStyle/>
          <a:p>
            <a:endParaRPr lang="en-US"/>
          </a:p>
        </p:txBody>
      </p:sp>
      <p:sp>
        <p:nvSpPr>
          <p:cNvPr id="21" name="Shape 19"/>
          <p:cNvSpPr/>
          <p:nvPr/>
        </p:nvSpPr>
        <p:spPr>
          <a:xfrm>
            <a:off x="9006840" y="0"/>
            <a:ext cx="0" cy="6858000"/>
          </a:xfrm>
          <a:prstGeom prst="line">
            <a:avLst/>
          </a:prstGeom>
          <a:noFill/>
          <a:ln w="5080">
            <a:solidFill>
              <a:srgbClr val="22384E">
                <a:alpha val="6000"/>
              </a:srgbClr>
            </a:solidFill>
            <a:prstDash val="solid"/>
          </a:ln>
        </p:spPr>
        <p:txBody>
          <a:bodyPr/>
          <a:lstStyle/>
          <a:p>
            <a:endParaRPr lang="en-US"/>
          </a:p>
        </p:txBody>
      </p:sp>
      <p:sp>
        <p:nvSpPr>
          <p:cNvPr id="22" name="Shape 20"/>
          <p:cNvSpPr/>
          <p:nvPr/>
        </p:nvSpPr>
        <p:spPr>
          <a:xfrm>
            <a:off x="9509760" y="0"/>
            <a:ext cx="0" cy="6858000"/>
          </a:xfrm>
          <a:prstGeom prst="line">
            <a:avLst/>
          </a:prstGeom>
          <a:noFill/>
          <a:ln w="5080">
            <a:solidFill>
              <a:srgbClr val="22384E">
                <a:alpha val="6000"/>
              </a:srgbClr>
            </a:solidFill>
            <a:prstDash val="solid"/>
          </a:ln>
        </p:spPr>
        <p:txBody>
          <a:bodyPr/>
          <a:lstStyle/>
          <a:p>
            <a:endParaRPr lang="en-US"/>
          </a:p>
        </p:txBody>
      </p:sp>
      <p:sp>
        <p:nvSpPr>
          <p:cNvPr id="23" name="Shape 21"/>
          <p:cNvSpPr/>
          <p:nvPr/>
        </p:nvSpPr>
        <p:spPr>
          <a:xfrm>
            <a:off x="10012680" y="0"/>
            <a:ext cx="0" cy="6858000"/>
          </a:xfrm>
          <a:prstGeom prst="line">
            <a:avLst/>
          </a:prstGeom>
          <a:noFill/>
          <a:ln w="5080">
            <a:solidFill>
              <a:srgbClr val="22384E">
                <a:alpha val="6000"/>
              </a:srgbClr>
            </a:solidFill>
            <a:prstDash val="solid"/>
          </a:ln>
        </p:spPr>
        <p:txBody>
          <a:bodyPr/>
          <a:lstStyle/>
          <a:p>
            <a:endParaRPr lang="en-US"/>
          </a:p>
        </p:txBody>
      </p:sp>
      <p:sp>
        <p:nvSpPr>
          <p:cNvPr id="24" name="Shape 22"/>
          <p:cNvSpPr/>
          <p:nvPr/>
        </p:nvSpPr>
        <p:spPr>
          <a:xfrm>
            <a:off x="10515600" y="0"/>
            <a:ext cx="0" cy="6858000"/>
          </a:xfrm>
          <a:prstGeom prst="line">
            <a:avLst/>
          </a:prstGeom>
          <a:noFill/>
          <a:ln w="5080">
            <a:solidFill>
              <a:srgbClr val="22384E">
                <a:alpha val="6000"/>
              </a:srgbClr>
            </a:solidFill>
            <a:prstDash val="solid"/>
          </a:ln>
        </p:spPr>
        <p:txBody>
          <a:bodyPr/>
          <a:lstStyle/>
          <a:p>
            <a:endParaRPr lang="en-US"/>
          </a:p>
        </p:txBody>
      </p:sp>
      <p:sp>
        <p:nvSpPr>
          <p:cNvPr id="25" name="Shape 23"/>
          <p:cNvSpPr/>
          <p:nvPr/>
        </p:nvSpPr>
        <p:spPr>
          <a:xfrm>
            <a:off x="11018520" y="0"/>
            <a:ext cx="0" cy="6858000"/>
          </a:xfrm>
          <a:prstGeom prst="line">
            <a:avLst/>
          </a:prstGeom>
          <a:noFill/>
          <a:ln w="5080">
            <a:solidFill>
              <a:srgbClr val="22384E">
                <a:alpha val="6000"/>
              </a:srgbClr>
            </a:solidFill>
            <a:prstDash val="solid"/>
          </a:ln>
        </p:spPr>
        <p:txBody>
          <a:bodyPr/>
          <a:lstStyle/>
          <a:p>
            <a:endParaRPr lang="en-US"/>
          </a:p>
        </p:txBody>
      </p:sp>
      <p:sp>
        <p:nvSpPr>
          <p:cNvPr id="26" name="Shape 24"/>
          <p:cNvSpPr/>
          <p:nvPr/>
        </p:nvSpPr>
        <p:spPr>
          <a:xfrm>
            <a:off x="11521440" y="0"/>
            <a:ext cx="0" cy="6858000"/>
          </a:xfrm>
          <a:prstGeom prst="line">
            <a:avLst/>
          </a:prstGeom>
          <a:noFill/>
          <a:ln w="5080">
            <a:solidFill>
              <a:srgbClr val="22384E">
                <a:alpha val="6000"/>
              </a:srgbClr>
            </a:solidFill>
            <a:prstDash val="solid"/>
          </a:ln>
        </p:spPr>
        <p:txBody>
          <a:bodyPr/>
          <a:lstStyle/>
          <a:p>
            <a:endParaRPr lang="en-US"/>
          </a:p>
        </p:txBody>
      </p:sp>
      <p:sp>
        <p:nvSpPr>
          <p:cNvPr id="27" name="Shape 25"/>
          <p:cNvSpPr/>
          <p:nvPr/>
        </p:nvSpPr>
        <p:spPr>
          <a:xfrm>
            <a:off x="0" y="320040"/>
            <a:ext cx="12191695" cy="0"/>
          </a:xfrm>
          <a:prstGeom prst="line">
            <a:avLst/>
          </a:prstGeom>
          <a:noFill/>
          <a:ln w="5080">
            <a:solidFill>
              <a:srgbClr val="22384E">
                <a:alpha val="5000"/>
              </a:srgbClr>
            </a:solidFill>
            <a:prstDash val="solid"/>
          </a:ln>
        </p:spPr>
        <p:txBody>
          <a:bodyPr/>
          <a:lstStyle/>
          <a:p>
            <a:endParaRPr lang="en-US"/>
          </a:p>
        </p:txBody>
      </p:sp>
      <p:sp>
        <p:nvSpPr>
          <p:cNvPr id="28" name="Shape 26"/>
          <p:cNvSpPr/>
          <p:nvPr/>
        </p:nvSpPr>
        <p:spPr>
          <a:xfrm>
            <a:off x="0" y="822960"/>
            <a:ext cx="12191695" cy="0"/>
          </a:xfrm>
          <a:prstGeom prst="line">
            <a:avLst/>
          </a:prstGeom>
          <a:noFill/>
          <a:ln w="5080">
            <a:solidFill>
              <a:srgbClr val="22384E">
                <a:alpha val="5000"/>
              </a:srgbClr>
            </a:solidFill>
            <a:prstDash val="solid"/>
          </a:ln>
        </p:spPr>
        <p:txBody>
          <a:bodyPr/>
          <a:lstStyle/>
          <a:p>
            <a:endParaRPr lang="en-US"/>
          </a:p>
        </p:txBody>
      </p:sp>
      <p:sp>
        <p:nvSpPr>
          <p:cNvPr id="29" name="Shape 27"/>
          <p:cNvSpPr/>
          <p:nvPr/>
        </p:nvSpPr>
        <p:spPr>
          <a:xfrm>
            <a:off x="0" y="1325880"/>
            <a:ext cx="12191695" cy="0"/>
          </a:xfrm>
          <a:prstGeom prst="line">
            <a:avLst/>
          </a:prstGeom>
          <a:noFill/>
          <a:ln w="5080">
            <a:solidFill>
              <a:srgbClr val="22384E">
                <a:alpha val="5000"/>
              </a:srgbClr>
            </a:solidFill>
            <a:prstDash val="solid"/>
          </a:ln>
        </p:spPr>
        <p:txBody>
          <a:bodyPr/>
          <a:lstStyle/>
          <a:p>
            <a:endParaRPr lang="en-US"/>
          </a:p>
        </p:txBody>
      </p:sp>
      <p:sp>
        <p:nvSpPr>
          <p:cNvPr id="30" name="Shape 28"/>
          <p:cNvSpPr/>
          <p:nvPr/>
        </p:nvSpPr>
        <p:spPr>
          <a:xfrm>
            <a:off x="0" y="1828800"/>
            <a:ext cx="12191695" cy="0"/>
          </a:xfrm>
          <a:prstGeom prst="line">
            <a:avLst/>
          </a:prstGeom>
          <a:noFill/>
          <a:ln w="5080">
            <a:solidFill>
              <a:srgbClr val="22384E">
                <a:alpha val="5000"/>
              </a:srgbClr>
            </a:solidFill>
            <a:prstDash val="solid"/>
          </a:ln>
        </p:spPr>
        <p:txBody>
          <a:bodyPr/>
          <a:lstStyle/>
          <a:p>
            <a:endParaRPr lang="en-US"/>
          </a:p>
        </p:txBody>
      </p:sp>
      <p:sp>
        <p:nvSpPr>
          <p:cNvPr id="31" name="Shape 29"/>
          <p:cNvSpPr/>
          <p:nvPr/>
        </p:nvSpPr>
        <p:spPr>
          <a:xfrm>
            <a:off x="0" y="2331720"/>
            <a:ext cx="12191695" cy="0"/>
          </a:xfrm>
          <a:prstGeom prst="line">
            <a:avLst/>
          </a:prstGeom>
          <a:noFill/>
          <a:ln w="5080">
            <a:solidFill>
              <a:srgbClr val="22384E">
                <a:alpha val="5000"/>
              </a:srgbClr>
            </a:solidFill>
            <a:prstDash val="solid"/>
          </a:ln>
        </p:spPr>
        <p:txBody>
          <a:bodyPr/>
          <a:lstStyle/>
          <a:p>
            <a:endParaRPr lang="en-US"/>
          </a:p>
        </p:txBody>
      </p:sp>
      <p:sp>
        <p:nvSpPr>
          <p:cNvPr id="32" name="Shape 30"/>
          <p:cNvSpPr/>
          <p:nvPr/>
        </p:nvSpPr>
        <p:spPr>
          <a:xfrm>
            <a:off x="0" y="2834640"/>
            <a:ext cx="12191695" cy="0"/>
          </a:xfrm>
          <a:prstGeom prst="line">
            <a:avLst/>
          </a:prstGeom>
          <a:noFill/>
          <a:ln w="5080">
            <a:solidFill>
              <a:srgbClr val="22384E">
                <a:alpha val="5000"/>
              </a:srgbClr>
            </a:solidFill>
            <a:prstDash val="solid"/>
          </a:ln>
        </p:spPr>
        <p:txBody>
          <a:bodyPr/>
          <a:lstStyle/>
          <a:p>
            <a:endParaRPr lang="en-US"/>
          </a:p>
        </p:txBody>
      </p:sp>
      <p:sp>
        <p:nvSpPr>
          <p:cNvPr id="33" name="Shape 31"/>
          <p:cNvSpPr/>
          <p:nvPr/>
        </p:nvSpPr>
        <p:spPr>
          <a:xfrm>
            <a:off x="0" y="3337560"/>
            <a:ext cx="12191695" cy="0"/>
          </a:xfrm>
          <a:prstGeom prst="line">
            <a:avLst/>
          </a:prstGeom>
          <a:noFill/>
          <a:ln w="5080">
            <a:solidFill>
              <a:srgbClr val="22384E">
                <a:alpha val="5000"/>
              </a:srgbClr>
            </a:solidFill>
            <a:prstDash val="solid"/>
          </a:ln>
        </p:spPr>
        <p:txBody>
          <a:bodyPr/>
          <a:lstStyle/>
          <a:p>
            <a:endParaRPr lang="en-US"/>
          </a:p>
        </p:txBody>
      </p:sp>
      <p:sp>
        <p:nvSpPr>
          <p:cNvPr id="34" name="Shape 32"/>
          <p:cNvSpPr/>
          <p:nvPr/>
        </p:nvSpPr>
        <p:spPr>
          <a:xfrm>
            <a:off x="0" y="3840480"/>
            <a:ext cx="12191695" cy="0"/>
          </a:xfrm>
          <a:prstGeom prst="line">
            <a:avLst/>
          </a:prstGeom>
          <a:noFill/>
          <a:ln w="5080">
            <a:solidFill>
              <a:srgbClr val="22384E">
                <a:alpha val="5000"/>
              </a:srgbClr>
            </a:solidFill>
            <a:prstDash val="solid"/>
          </a:ln>
        </p:spPr>
        <p:txBody>
          <a:bodyPr/>
          <a:lstStyle/>
          <a:p>
            <a:endParaRPr lang="en-US"/>
          </a:p>
        </p:txBody>
      </p:sp>
      <p:sp>
        <p:nvSpPr>
          <p:cNvPr id="35" name="Shape 33"/>
          <p:cNvSpPr/>
          <p:nvPr/>
        </p:nvSpPr>
        <p:spPr>
          <a:xfrm>
            <a:off x="0" y="4343400"/>
            <a:ext cx="12191695" cy="0"/>
          </a:xfrm>
          <a:prstGeom prst="line">
            <a:avLst/>
          </a:prstGeom>
          <a:noFill/>
          <a:ln w="5080">
            <a:solidFill>
              <a:srgbClr val="22384E">
                <a:alpha val="5000"/>
              </a:srgbClr>
            </a:solidFill>
            <a:prstDash val="solid"/>
          </a:ln>
        </p:spPr>
        <p:txBody>
          <a:bodyPr/>
          <a:lstStyle/>
          <a:p>
            <a:endParaRPr lang="en-US"/>
          </a:p>
        </p:txBody>
      </p:sp>
      <p:sp>
        <p:nvSpPr>
          <p:cNvPr id="36" name="Shape 34"/>
          <p:cNvSpPr/>
          <p:nvPr/>
        </p:nvSpPr>
        <p:spPr>
          <a:xfrm>
            <a:off x="0" y="4846320"/>
            <a:ext cx="12191695" cy="0"/>
          </a:xfrm>
          <a:prstGeom prst="line">
            <a:avLst/>
          </a:prstGeom>
          <a:noFill/>
          <a:ln w="5080">
            <a:solidFill>
              <a:srgbClr val="22384E">
                <a:alpha val="5000"/>
              </a:srgbClr>
            </a:solidFill>
            <a:prstDash val="solid"/>
          </a:ln>
        </p:spPr>
        <p:txBody>
          <a:bodyPr/>
          <a:lstStyle/>
          <a:p>
            <a:endParaRPr lang="en-US"/>
          </a:p>
        </p:txBody>
      </p:sp>
      <p:sp>
        <p:nvSpPr>
          <p:cNvPr id="37" name="Shape 35"/>
          <p:cNvSpPr/>
          <p:nvPr/>
        </p:nvSpPr>
        <p:spPr>
          <a:xfrm>
            <a:off x="0" y="5349240"/>
            <a:ext cx="12191695" cy="0"/>
          </a:xfrm>
          <a:prstGeom prst="line">
            <a:avLst/>
          </a:prstGeom>
          <a:noFill/>
          <a:ln w="5080">
            <a:solidFill>
              <a:srgbClr val="22384E">
                <a:alpha val="5000"/>
              </a:srgbClr>
            </a:solidFill>
            <a:prstDash val="solid"/>
          </a:ln>
        </p:spPr>
        <p:txBody>
          <a:bodyPr/>
          <a:lstStyle/>
          <a:p>
            <a:endParaRPr lang="en-US"/>
          </a:p>
        </p:txBody>
      </p:sp>
      <p:sp>
        <p:nvSpPr>
          <p:cNvPr id="38" name="Shape 36"/>
          <p:cNvSpPr/>
          <p:nvPr/>
        </p:nvSpPr>
        <p:spPr>
          <a:xfrm>
            <a:off x="0" y="5852160"/>
            <a:ext cx="12191695" cy="0"/>
          </a:xfrm>
          <a:prstGeom prst="line">
            <a:avLst/>
          </a:prstGeom>
          <a:noFill/>
          <a:ln w="5080">
            <a:solidFill>
              <a:srgbClr val="22384E">
                <a:alpha val="5000"/>
              </a:srgbClr>
            </a:solidFill>
            <a:prstDash val="solid"/>
          </a:ln>
        </p:spPr>
        <p:txBody>
          <a:bodyPr/>
          <a:lstStyle/>
          <a:p>
            <a:endParaRPr lang="en-US"/>
          </a:p>
        </p:txBody>
      </p:sp>
      <p:sp>
        <p:nvSpPr>
          <p:cNvPr id="39" name="Shape 37"/>
          <p:cNvSpPr/>
          <p:nvPr/>
        </p:nvSpPr>
        <p:spPr>
          <a:xfrm>
            <a:off x="0" y="6355080"/>
            <a:ext cx="12191695" cy="0"/>
          </a:xfrm>
          <a:prstGeom prst="line">
            <a:avLst/>
          </a:prstGeom>
          <a:noFill/>
          <a:ln w="5080">
            <a:solidFill>
              <a:srgbClr val="22384E">
                <a:alpha val="5000"/>
              </a:srgbClr>
            </a:solidFill>
            <a:prstDash val="solid"/>
          </a:ln>
        </p:spPr>
        <p:txBody>
          <a:bodyPr/>
          <a:lstStyle/>
          <a:p>
            <a:endParaRPr lang="en-US"/>
          </a:p>
        </p:txBody>
      </p:sp>
      <p:sp>
        <p:nvSpPr>
          <p:cNvPr id="40" name="Shape 38"/>
          <p:cNvSpPr/>
          <p:nvPr/>
        </p:nvSpPr>
        <p:spPr>
          <a:xfrm>
            <a:off x="0" y="6858000"/>
            <a:ext cx="12191695" cy="0"/>
          </a:xfrm>
          <a:prstGeom prst="line">
            <a:avLst/>
          </a:prstGeom>
          <a:noFill/>
          <a:ln w="5080">
            <a:solidFill>
              <a:srgbClr val="22384E">
                <a:alpha val="5000"/>
              </a:srgbClr>
            </a:solidFill>
            <a:prstDash val="solid"/>
          </a:ln>
        </p:spPr>
        <p:txBody>
          <a:bodyPr/>
          <a:lstStyle/>
          <a:p>
            <a:endParaRPr lang="en-US"/>
          </a:p>
        </p:txBody>
      </p:sp>
      <p:sp>
        <p:nvSpPr>
          <p:cNvPr id="41" name="Text 39"/>
          <p:cNvSpPr/>
          <p:nvPr/>
        </p:nvSpPr>
        <p:spPr>
          <a:xfrm>
            <a:off x="438912" y="256032"/>
            <a:ext cx="4114800" cy="201168"/>
          </a:xfrm>
          <a:prstGeom prst="rect">
            <a:avLst/>
          </a:prstGeom>
          <a:noFill/>
          <a:ln/>
        </p:spPr>
        <p:txBody>
          <a:bodyPr wrap="square" lIns="0" tIns="0" rIns="0" bIns="0" rtlCol="0" anchor="ctr"/>
          <a:lstStyle/>
          <a:p>
            <a:pPr marL="0" indent="0">
              <a:buNone/>
            </a:pPr>
            <a:r>
              <a:rPr lang="en-US" sz="950" b="1" kern="0" spc="170" dirty="0">
                <a:solidFill>
                  <a:srgbClr val="38D9E6"/>
                </a:solidFill>
                <a:latin typeface="Inter" pitchFamily="34" charset="0"/>
                <a:ea typeface="Inter" pitchFamily="34" charset="-122"/>
                <a:cs typeface="Inter" pitchFamily="34" charset="-120"/>
              </a:rPr>
              <a:t>RESULTS — PERFORMANCE</a:t>
            </a:r>
            <a:endParaRPr lang="en-US" sz="950" dirty="0"/>
          </a:p>
        </p:txBody>
      </p:sp>
      <p:sp>
        <p:nvSpPr>
          <p:cNvPr id="42" name="Shape 40"/>
          <p:cNvSpPr/>
          <p:nvPr/>
        </p:nvSpPr>
        <p:spPr>
          <a:xfrm>
            <a:off x="438912" y="539496"/>
            <a:ext cx="438912" cy="0"/>
          </a:xfrm>
          <a:prstGeom prst="line">
            <a:avLst/>
          </a:prstGeom>
          <a:noFill/>
          <a:ln w="44450">
            <a:solidFill>
              <a:srgbClr val="38D9E6"/>
            </a:solidFill>
            <a:prstDash val="solid"/>
            <a:headEnd type="none"/>
            <a:tailEnd type="none"/>
          </a:ln>
        </p:spPr>
        <p:txBody>
          <a:bodyPr/>
          <a:lstStyle/>
          <a:p>
            <a:endParaRPr lang="en-US"/>
          </a:p>
        </p:txBody>
      </p:sp>
      <p:sp>
        <p:nvSpPr>
          <p:cNvPr id="43" name="Text 41"/>
          <p:cNvSpPr/>
          <p:nvPr/>
        </p:nvSpPr>
        <p:spPr>
          <a:xfrm>
            <a:off x="438912" y="658368"/>
            <a:ext cx="11064240" cy="566928"/>
          </a:xfrm>
          <a:prstGeom prst="rect">
            <a:avLst/>
          </a:prstGeom>
          <a:noFill/>
          <a:ln/>
        </p:spPr>
        <p:txBody>
          <a:bodyPr wrap="square" lIns="0" tIns="0" rIns="0" bIns="0" rtlCol="0" anchor="ctr">
            <a:normAutofit/>
          </a:bodyPr>
          <a:lstStyle/>
          <a:p>
            <a:pPr marL="0" indent="0">
              <a:buNone/>
            </a:pPr>
            <a:r>
              <a:rPr lang="en-US" sz="2700" b="1" dirty="0">
                <a:solidFill>
                  <a:srgbClr val="F4F8FB"/>
                </a:solidFill>
                <a:latin typeface="Inter Display" pitchFamily="34" charset="0"/>
                <a:ea typeface="Inter Display" pitchFamily="34" charset="-122"/>
                <a:cs typeface="Inter Display" pitchFamily="34" charset="-120"/>
              </a:rPr>
              <a:t>The arithmetic accelerated, but the complete FPGA pipeline did not</a:t>
            </a:r>
            <a:endParaRPr lang="en-US" sz="2700" dirty="0"/>
          </a:p>
        </p:txBody>
      </p:sp>
      <p:sp>
        <p:nvSpPr>
          <p:cNvPr id="44" name="Text 42"/>
          <p:cNvSpPr/>
          <p:nvPr/>
        </p:nvSpPr>
        <p:spPr>
          <a:xfrm>
            <a:off x="457200" y="1225296"/>
            <a:ext cx="10881360" cy="292608"/>
          </a:xfrm>
          <a:prstGeom prst="rect">
            <a:avLst/>
          </a:prstGeom>
          <a:noFill/>
          <a:ln/>
        </p:spPr>
        <p:txBody>
          <a:bodyPr wrap="square" lIns="0" tIns="0" rIns="0" bIns="0" rtlCol="0" anchor="ctr">
            <a:normAutofit/>
          </a:bodyPr>
          <a:lstStyle/>
          <a:p>
            <a:pPr marL="0" indent="0">
              <a:buNone/>
            </a:pPr>
            <a:r>
              <a:rPr lang="en-US" sz="1250" dirty="0">
                <a:solidFill>
                  <a:srgbClr val="A8B6C5"/>
                </a:solidFill>
                <a:latin typeface="Inter" pitchFamily="34" charset="0"/>
                <a:ea typeface="Inter" pitchFamily="34" charset="-122"/>
                <a:cs typeface="Inter" pitchFamily="34" charset="-120"/>
              </a:rPr>
              <a:t>CPU and FPGA stage times reveal exactly where the gains were lost.</a:t>
            </a:r>
            <a:endParaRPr lang="en-US" sz="1250" dirty="0"/>
          </a:p>
        </p:txBody>
      </p:sp>
      <p:sp>
        <p:nvSpPr>
          <p:cNvPr id="45" name="Shape 43"/>
          <p:cNvSpPr/>
          <p:nvPr/>
        </p:nvSpPr>
        <p:spPr>
          <a:xfrm>
            <a:off x="475488" y="1719072"/>
            <a:ext cx="7973568" cy="4407408"/>
          </a:xfrm>
          <a:prstGeom prst="roundRect">
            <a:avLst>
              <a:gd name="adj" fmla="val 1660"/>
            </a:avLst>
          </a:prstGeom>
          <a:solidFill>
            <a:srgbClr val="0D1C2D"/>
          </a:solidFill>
          <a:ln w="12700">
            <a:solidFill>
              <a:srgbClr val="22384E">
                <a:alpha val="80000"/>
              </a:srgbClr>
            </a:solidFill>
            <a:prstDash val="solid"/>
          </a:ln>
          <a:effectLst>
            <a:outerShdw algn="bl" rotWithShape="0">
              <a:srgbClr val="000000">
                <a:alpha val="0"/>
              </a:srgbClr>
            </a:outerShdw>
          </a:effectLst>
        </p:spPr>
        <p:txBody>
          <a:bodyPr/>
          <a:lstStyle/>
          <a:p>
            <a:endParaRPr lang="en-US"/>
          </a:p>
        </p:txBody>
      </p:sp>
      <p:sp>
        <p:nvSpPr>
          <p:cNvPr id="46" name="Text 44"/>
          <p:cNvSpPr/>
          <p:nvPr/>
        </p:nvSpPr>
        <p:spPr>
          <a:xfrm>
            <a:off x="713232" y="1984248"/>
            <a:ext cx="5120640" cy="256032"/>
          </a:xfrm>
          <a:prstGeom prst="rect">
            <a:avLst/>
          </a:prstGeom>
          <a:noFill/>
          <a:ln/>
        </p:spPr>
        <p:txBody>
          <a:bodyPr wrap="square" lIns="0" tIns="0" rIns="0" bIns="0" rtlCol="0" anchor="ctr"/>
          <a:lstStyle/>
          <a:p>
            <a:pPr marL="0" indent="0">
              <a:buNone/>
            </a:pPr>
            <a:r>
              <a:rPr lang="en-US" sz="1700" b="1" dirty="0">
                <a:solidFill>
                  <a:srgbClr val="F4F8FB"/>
                </a:solidFill>
                <a:latin typeface="Inter Display" pitchFamily="34" charset="0"/>
                <a:ea typeface="Inter Display" pitchFamily="34" charset="-122"/>
                <a:cs typeface="Inter Display" pitchFamily="34" charset="-120"/>
              </a:rPr>
              <a:t>Average stage time per 512×512 image</a:t>
            </a:r>
            <a:endParaRPr lang="en-US" sz="1700" dirty="0"/>
          </a:p>
        </p:txBody>
      </p:sp>
      <p:sp>
        <p:nvSpPr>
          <p:cNvPr id="47" name="Text 45"/>
          <p:cNvSpPr/>
          <p:nvPr/>
        </p:nvSpPr>
        <p:spPr>
          <a:xfrm>
            <a:off x="722376" y="2313432"/>
            <a:ext cx="4389120" cy="182880"/>
          </a:xfrm>
          <a:prstGeom prst="rect">
            <a:avLst/>
          </a:prstGeom>
          <a:noFill/>
          <a:ln/>
        </p:spPr>
        <p:txBody>
          <a:bodyPr wrap="square" lIns="0" tIns="0" rIns="0" bIns="0" rtlCol="0" anchor="ctr"/>
          <a:lstStyle/>
          <a:p>
            <a:pPr marL="0" indent="0">
              <a:buNone/>
            </a:pPr>
            <a:r>
              <a:rPr lang="en-US" sz="920" dirty="0">
                <a:solidFill>
                  <a:srgbClr val="A8B6C5"/>
                </a:solidFill>
                <a:latin typeface="Inter" pitchFamily="34" charset="0"/>
                <a:ea typeface="Inter" pitchFamily="34" charset="-122"/>
                <a:cs typeface="Inter" pitchFamily="34" charset="-120"/>
              </a:rPr>
              <a:t>Longer bar = more time. Speedup above 1× is faster on FPGA.</a:t>
            </a:r>
            <a:endParaRPr lang="en-US" sz="920" dirty="0"/>
          </a:p>
        </p:txBody>
      </p:sp>
      <p:sp>
        <p:nvSpPr>
          <p:cNvPr id="48" name="Text 46"/>
          <p:cNvSpPr/>
          <p:nvPr/>
        </p:nvSpPr>
        <p:spPr>
          <a:xfrm>
            <a:off x="658368" y="2779776"/>
            <a:ext cx="1627632" cy="219456"/>
          </a:xfrm>
          <a:prstGeom prst="rect">
            <a:avLst/>
          </a:prstGeom>
          <a:noFill/>
          <a:ln/>
        </p:spPr>
        <p:txBody>
          <a:bodyPr wrap="square" lIns="0" tIns="0" rIns="0" bIns="0" rtlCol="0" anchor="ctr">
            <a:normAutofit/>
          </a:bodyPr>
          <a:lstStyle/>
          <a:p>
            <a:pPr marL="0" indent="0">
              <a:buNone/>
            </a:pPr>
            <a:r>
              <a:rPr lang="en-US" sz="1120" b="1" dirty="0">
                <a:solidFill>
                  <a:srgbClr val="F4F8FB"/>
                </a:solidFill>
                <a:latin typeface="Inter" pitchFamily="34" charset="0"/>
                <a:ea typeface="Inter" pitchFamily="34" charset="-122"/>
                <a:cs typeface="Inter" pitchFamily="34" charset="-120"/>
              </a:rPr>
              <a:t>Level shift</a:t>
            </a:r>
            <a:endParaRPr lang="en-US" sz="1120" dirty="0"/>
          </a:p>
        </p:txBody>
      </p:sp>
      <p:sp>
        <p:nvSpPr>
          <p:cNvPr id="49" name="Text 47"/>
          <p:cNvSpPr/>
          <p:nvPr/>
        </p:nvSpPr>
        <p:spPr>
          <a:xfrm>
            <a:off x="1984248" y="2724912"/>
            <a:ext cx="384048" cy="128016"/>
          </a:xfrm>
          <a:prstGeom prst="rect">
            <a:avLst/>
          </a:prstGeom>
          <a:noFill/>
          <a:ln/>
        </p:spPr>
        <p:txBody>
          <a:bodyPr wrap="square" lIns="0" tIns="0" rIns="0" bIns="0" rtlCol="0" anchor="ctr"/>
          <a:lstStyle/>
          <a:p>
            <a:pPr marL="0" indent="0" algn="r">
              <a:buNone/>
            </a:pPr>
            <a:r>
              <a:rPr lang="en-US" sz="750" b="1" dirty="0">
                <a:solidFill>
                  <a:srgbClr val="7F93A7"/>
                </a:solidFill>
                <a:latin typeface="Inter" pitchFamily="34" charset="0"/>
                <a:ea typeface="Inter" pitchFamily="34" charset="-122"/>
                <a:cs typeface="Inter" pitchFamily="34" charset="-120"/>
              </a:rPr>
              <a:t>CPU</a:t>
            </a:r>
            <a:endParaRPr lang="en-US" sz="750" dirty="0"/>
          </a:p>
        </p:txBody>
      </p:sp>
      <p:sp>
        <p:nvSpPr>
          <p:cNvPr id="50" name="Text 48"/>
          <p:cNvSpPr/>
          <p:nvPr/>
        </p:nvSpPr>
        <p:spPr>
          <a:xfrm>
            <a:off x="1984248" y="2999232"/>
            <a:ext cx="384048" cy="128016"/>
          </a:xfrm>
          <a:prstGeom prst="rect">
            <a:avLst/>
          </a:prstGeom>
          <a:noFill/>
          <a:ln/>
        </p:spPr>
        <p:txBody>
          <a:bodyPr wrap="square" lIns="0" tIns="0" rIns="0" bIns="0" rtlCol="0" anchor="ctr"/>
          <a:lstStyle/>
          <a:p>
            <a:pPr marL="0" indent="0" algn="r">
              <a:buNone/>
            </a:pPr>
            <a:r>
              <a:rPr lang="en-US" sz="750" b="1" dirty="0">
                <a:solidFill>
                  <a:srgbClr val="38D9E6"/>
                </a:solidFill>
                <a:latin typeface="Inter" pitchFamily="34" charset="0"/>
                <a:ea typeface="Inter" pitchFamily="34" charset="-122"/>
                <a:cs typeface="Inter" pitchFamily="34" charset="-120"/>
              </a:rPr>
              <a:t>FPGA</a:t>
            </a:r>
            <a:endParaRPr lang="en-US" sz="750" dirty="0"/>
          </a:p>
        </p:txBody>
      </p:sp>
      <p:sp>
        <p:nvSpPr>
          <p:cNvPr id="51" name="Shape 49"/>
          <p:cNvSpPr/>
          <p:nvPr/>
        </p:nvSpPr>
        <p:spPr>
          <a:xfrm>
            <a:off x="2423160" y="2706624"/>
            <a:ext cx="4315968" cy="164592"/>
          </a:xfrm>
          <a:prstGeom prst="roundRect">
            <a:avLst>
              <a:gd name="adj" fmla="val 50000"/>
            </a:avLst>
          </a:prstGeom>
          <a:solidFill>
            <a:srgbClr val="22384E">
              <a:alpha val="65000"/>
            </a:srgbClr>
          </a:solidFill>
          <a:ln w="12700">
            <a:solidFill>
              <a:srgbClr val="22384E">
                <a:alpha val="0"/>
              </a:srgbClr>
            </a:solidFill>
            <a:prstDash val="solid"/>
          </a:ln>
        </p:spPr>
        <p:txBody>
          <a:bodyPr/>
          <a:lstStyle/>
          <a:p>
            <a:endParaRPr lang="en-US"/>
          </a:p>
        </p:txBody>
      </p:sp>
      <p:sp>
        <p:nvSpPr>
          <p:cNvPr id="52" name="Shape 50"/>
          <p:cNvSpPr/>
          <p:nvPr/>
        </p:nvSpPr>
        <p:spPr>
          <a:xfrm>
            <a:off x="2423160" y="2706624"/>
            <a:ext cx="138830" cy="164592"/>
          </a:xfrm>
          <a:prstGeom prst="roundRect">
            <a:avLst>
              <a:gd name="adj" fmla="val 59278"/>
            </a:avLst>
          </a:prstGeom>
          <a:solidFill>
            <a:srgbClr val="7F93A7"/>
          </a:solidFill>
          <a:ln w="12700">
            <a:solidFill>
              <a:srgbClr val="7F93A7">
                <a:alpha val="0"/>
              </a:srgbClr>
            </a:solidFill>
            <a:prstDash val="solid"/>
          </a:ln>
        </p:spPr>
        <p:txBody>
          <a:bodyPr/>
          <a:lstStyle/>
          <a:p>
            <a:endParaRPr lang="en-US"/>
          </a:p>
        </p:txBody>
      </p:sp>
      <p:sp>
        <p:nvSpPr>
          <p:cNvPr id="53" name="Shape 51"/>
          <p:cNvSpPr/>
          <p:nvPr/>
        </p:nvSpPr>
        <p:spPr>
          <a:xfrm>
            <a:off x="2423160" y="2980944"/>
            <a:ext cx="4315968" cy="164592"/>
          </a:xfrm>
          <a:prstGeom prst="roundRect">
            <a:avLst>
              <a:gd name="adj" fmla="val 50000"/>
            </a:avLst>
          </a:prstGeom>
          <a:solidFill>
            <a:srgbClr val="22384E">
              <a:alpha val="65000"/>
            </a:srgbClr>
          </a:solidFill>
          <a:ln w="12700">
            <a:solidFill>
              <a:srgbClr val="22384E">
                <a:alpha val="0"/>
              </a:srgbClr>
            </a:solidFill>
            <a:prstDash val="solid"/>
          </a:ln>
        </p:spPr>
        <p:txBody>
          <a:bodyPr/>
          <a:lstStyle/>
          <a:p>
            <a:endParaRPr lang="en-US"/>
          </a:p>
        </p:txBody>
      </p:sp>
      <p:sp>
        <p:nvSpPr>
          <p:cNvPr id="54" name="Shape 52"/>
          <p:cNvSpPr/>
          <p:nvPr/>
        </p:nvSpPr>
        <p:spPr>
          <a:xfrm>
            <a:off x="2423160" y="2980944"/>
            <a:ext cx="186029" cy="164592"/>
          </a:xfrm>
          <a:prstGeom prst="roundRect">
            <a:avLst>
              <a:gd name="adj" fmla="val 50000"/>
            </a:avLst>
          </a:prstGeom>
          <a:solidFill>
            <a:srgbClr val="38D9E6"/>
          </a:solidFill>
          <a:ln w="12700">
            <a:solidFill>
              <a:srgbClr val="38D9E6">
                <a:alpha val="0"/>
              </a:srgbClr>
            </a:solidFill>
            <a:prstDash val="solid"/>
          </a:ln>
        </p:spPr>
        <p:txBody>
          <a:bodyPr/>
          <a:lstStyle/>
          <a:p>
            <a:endParaRPr lang="en-US"/>
          </a:p>
        </p:txBody>
      </p:sp>
      <p:sp>
        <p:nvSpPr>
          <p:cNvPr id="55" name="Text 53"/>
          <p:cNvSpPr/>
          <p:nvPr/>
        </p:nvSpPr>
        <p:spPr>
          <a:xfrm>
            <a:off x="6830568" y="2697480"/>
            <a:ext cx="694944" cy="164592"/>
          </a:xfrm>
          <a:prstGeom prst="rect">
            <a:avLst/>
          </a:prstGeom>
          <a:noFill/>
          <a:ln/>
        </p:spPr>
        <p:txBody>
          <a:bodyPr wrap="square" lIns="0" tIns="0" rIns="0" bIns="0" rtlCol="0" anchor="ctr"/>
          <a:lstStyle/>
          <a:p>
            <a:pPr marL="0" indent="0">
              <a:buNone/>
            </a:pPr>
            <a:r>
              <a:rPr lang="en-US" sz="850" dirty="0">
                <a:solidFill>
                  <a:srgbClr val="A8B6C5"/>
                </a:solidFill>
                <a:latin typeface="Inter" pitchFamily="34" charset="0"/>
                <a:ea typeface="Inter" pitchFamily="34" charset="-122"/>
                <a:cs typeface="Inter" pitchFamily="34" charset="-120"/>
              </a:rPr>
              <a:t>1.158 ms</a:t>
            </a:r>
            <a:endParaRPr lang="en-US" sz="850" dirty="0"/>
          </a:p>
        </p:txBody>
      </p:sp>
      <p:sp>
        <p:nvSpPr>
          <p:cNvPr id="56" name="Text 54"/>
          <p:cNvSpPr/>
          <p:nvPr/>
        </p:nvSpPr>
        <p:spPr>
          <a:xfrm>
            <a:off x="6830568" y="2971800"/>
            <a:ext cx="694944" cy="164592"/>
          </a:xfrm>
          <a:prstGeom prst="rect">
            <a:avLst/>
          </a:prstGeom>
          <a:noFill/>
          <a:ln/>
        </p:spPr>
        <p:txBody>
          <a:bodyPr wrap="square" lIns="0" tIns="0" rIns="0" bIns="0" rtlCol="0" anchor="ctr"/>
          <a:lstStyle/>
          <a:p>
            <a:pPr marL="0" indent="0">
              <a:buNone/>
            </a:pPr>
            <a:r>
              <a:rPr lang="en-US" sz="850" b="1" dirty="0">
                <a:solidFill>
                  <a:srgbClr val="F4F8FB"/>
                </a:solidFill>
                <a:latin typeface="Inter" pitchFamily="34" charset="0"/>
                <a:ea typeface="Inter" pitchFamily="34" charset="-122"/>
                <a:cs typeface="Inter" pitchFamily="34" charset="-120"/>
              </a:rPr>
              <a:t>1.552 ms</a:t>
            </a:r>
            <a:endParaRPr lang="en-US" sz="850" dirty="0"/>
          </a:p>
        </p:txBody>
      </p:sp>
      <p:sp>
        <p:nvSpPr>
          <p:cNvPr id="57" name="Shape 55"/>
          <p:cNvSpPr/>
          <p:nvPr/>
        </p:nvSpPr>
        <p:spPr>
          <a:xfrm>
            <a:off x="7543800" y="2825496"/>
            <a:ext cx="713232" cy="292608"/>
          </a:xfrm>
          <a:prstGeom prst="roundRect">
            <a:avLst>
              <a:gd name="adj" fmla="val 50000"/>
            </a:avLst>
          </a:prstGeom>
          <a:solidFill>
            <a:srgbClr val="0D1C2D"/>
          </a:solidFill>
          <a:ln w="10160">
            <a:solidFill>
              <a:srgbClr val="FFA24C">
                <a:alpha val="75000"/>
              </a:srgbClr>
            </a:solidFill>
            <a:prstDash val="solid"/>
          </a:ln>
        </p:spPr>
        <p:txBody>
          <a:bodyPr/>
          <a:lstStyle/>
          <a:p>
            <a:endParaRPr lang="en-US"/>
          </a:p>
        </p:txBody>
      </p:sp>
      <p:sp>
        <p:nvSpPr>
          <p:cNvPr id="58" name="Text 56"/>
          <p:cNvSpPr/>
          <p:nvPr/>
        </p:nvSpPr>
        <p:spPr>
          <a:xfrm>
            <a:off x="7616952" y="2889504"/>
            <a:ext cx="566928" cy="146304"/>
          </a:xfrm>
          <a:prstGeom prst="rect">
            <a:avLst/>
          </a:prstGeom>
          <a:noFill/>
          <a:ln/>
        </p:spPr>
        <p:txBody>
          <a:bodyPr wrap="square" lIns="0" tIns="0" rIns="0" bIns="0" rtlCol="0" anchor="ctr">
            <a:normAutofit/>
          </a:bodyPr>
          <a:lstStyle/>
          <a:p>
            <a:pPr marL="0" indent="0" algn="ctr">
              <a:buNone/>
            </a:pPr>
            <a:r>
              <a:rPr lang="en-US" sz="820" b="1" dirty="0">
                <a:solidFill>
                  <a:srgbClr val="FFA24C"/>
                </a:solidFill>
                <a:latin typeface="Inter" pitchFamily="34" charset="0"/>
                <a:ea typeface="Inter" pitchFamily="34" charset="-122"/>
                <a:cs typeface="Inter" pitchFamily="34" charset="-120"/>
              </a:rPr>
              <a:t>0.75×</a:t>
            </a:r>
            <a:endParaRPr lang="en-US" sz="820" dirty="0"/>
          </a:p>
        </p:txBody>
      </p:sp>
      <p:sp>
        <p:nvSpPr>
          <p:cNvPr id="59" name="Text 57"/>
          <p:cNvSpPr/>
          <p:nvPr/>
        </p:nvSpPr>
        <p:spPr>
          <a:xfrm>
            <a:off x="658368" y="3520440"/>
            <a:ext cx="1627632" cy="219456"/>
          </a:xfrm>
          <a:prstGeom prst="rect">
            <a:avLst/>
          </a:prstGeom>
          <a:noFill/>
          <a:ln/>
        </p:spPr>
        <p:txBody>
          <a:bodyPr wrap="square" lIns="0" tIns="0" rIns="0" bIns="0" rtlCol="0" anchor="ctr">
            <a:normAutofit/>
          </a:bodyPr>
          <a:lstStyle/>
          <a:p>
            <a:pPr marL="0" indent="0">
              <a:buNone/>
            </a:pPr>
            <a:r>
              <a:rPr lang="en-US" sz="1120" b="1" dirty="0">
                <a:solidFill>
                  <a:srgbClr val="F4F8FB"/>
                </a:solidFill>
                <a:latin typeface="Inter" pitchFamily="34" charset="0"/>
                <a:ea typeface="Inter" pitchFamily="34" charset="-122"/>
                <a:cs typeface="Inter" pitchFamily="34" charset="-120"/>
              </a:rPr>
              <a:t>2D DCT</a:t>
            </a:r>
            <a:endParaRPr lang="en-US" sz="1120" dirty="0"/>
          </a:p>
        </p:txBody>
      </p:sp>
      <p:sp>
        <p:nvSpPr>
          <p:cNvPr id="60" name="Text 58"/>
          <p:cNvSpPr/>
          <p:nvPr/>
        </p:nvSpPr>
        <p:spPr>
          <a:xfrm>
            <a:off x="1984248" y="3465576"/>
            <a:ext cx="384048" cy="128016"/>
          </a:xfrm>
          <a:prstGeom prst="rect">
            <a:avLst/>
          </a:prstGeom>
          <a:noFill/>
          <a:ln/>
        </p:spPr>
        <p:txBody>
          <a:bodyPr wrap="square" lIns="0" tIns="0" rIns="0" bIns="0" rtlCol="0" anchor="ctr"/>
          <a:lstStyle/>
          <a:p>
            <a:pPr marL="0" indent="0" algn="r">
              <a:buNone/>
            </a:pPr>
            <a:r>
              <a:rPr lang="en-US" sz="750" b="1" dirty="0">
                <a:solidFill>
                  <a:srgbClr val="7F93A7"/>
                </a:solidFill>
                <a:latin typeface="Inter" pitchFamily="34" charset="0"/>
                <a:ea typeface="Inter" pitchFamily="34" charset="-122"/>
                <a:cs typeface="Inter" pitchFamily="34" charset="-120"/>
              </a:rPr>
              <a:t>CPU</a:t>
            </a:r>
            <a:endParaRPr lang="en-US" sz="750" dirty="0"/>
          </a:p>
        </p:txBody>
      </p:sp>
      <p:sp>
        <p:nvSpPr>
          <p:cNvPr id="61" name="Text 59"/>
          <p:cNvSpPr/>
          <p:nvPr/>
        </p:nvSpPr>
        <p:spPr>
          <a:xfrm>
            <a:off x="1984248" y="3739896"/>
            <a:ext cx="384048" cy="128016"/>
          </a:xfrm>
          <a:prstGeom prst="rect">
            <a:avLst/>
          </a:prstGeom>
          <a:noFill/>
          <a:ln/>
        </p:spPr>
        <p:txBody>
          <a:bodyPr wrap="square" lIns="0" tIns="0" rIns="0" bIns="0" rtlCol="0" anchor="ctr"/>
          <a:lstStyle/>
          <a:p>
            <a:pPr marL="0" indent="0" algn="r">
              <a:buNone/>
            </a:pPr>
            <a:r>
              <a:rPr lang="en-US" sz="750" b="1" dirty="0">
                <a:solidFill>
                  <a:srgbClr val="668EFF"/>
                </a:solidFill>
                <a:latin typeface="Inter" pitchFamily="34" charset="0"/>
                <a:ea typeface="Inter" pitchFamily="34" charset="-122"/>
                <a:cs typeface="Inter" pitchFamily="34" charset="-120"/>
              </a:rPr>
              <a:t>FPGA</a:t>
            </a:r>
            <a:endParaRPr lang="en-US" sz="750" dirty="0"/>
          </a:p>
        </p:txBody>
      </p:sp>
      <p:sp>
        <p:nvSpPr>
          <p:cNvPr id="62" name="Shape 60"/>
          <p:cNvSpPr/>
          <p:nvPr/>
        </p:nvSpPr>
        <p:spPr>
          <a:xfrm>
            <a:off x="2423160" y="3447288"/>
            <a:ext cx="4315968" cy="164592"/>
          </a:xfrm>
          <a:prstGeom prst="roundRect">
            <a:avLst>
              <a:gd name="adj" fmla="val 50000"/>
            </a:avLst>
          </a:prstGeom>
          <a:solidFill>
            <a:srgbClr val="22384E">
              <a:alpha val="65000"/>
            </a:srgbClr>
          </a:solidFill>
          <a:ln w="12700">
            <a:solidFill>
              <a:srgbClr val="22384E">
                <a:alpha val="0"/>
              </a:srgbClr>
            </a:solidFill>
            <a:prstDash val="solid"/>
          </a:ln>
        </p:spPr>
        <p:txBody>
          <a:bodyPr/>
          <a:lstStyle/>
          <a:p>
            <a:endParaRPr lang="en-US"/>
          </a:p>
        </p:txBody>
      </p:sp>
      <p:sp>
        <p:nvSpPr>
          <p:cNvPr id="63" name="Shape 61"/>
          <p:cNvSpPr/>
          <p:nvPr/>
        </p:nvSpPr>
        <p:spPr>
          <a:xfrm>
            <a:off x="2423160" y="3447288"/>
            <a:ext cx="930331" cy="164592"/>
          </a:xfrm>
          <a:prstGeom prst="roundRect">
            <a:avLst>
              <a:gd name="adj" fmla="val 50000"/>
            </a:avLst>
          </a:prstGeom>
          <a:solidFill>
            <a:srgbClr val="7F93A7"/>
          </a:solidFill>
          <a:ln w="12700">
            <a:solidFill>
              <a:srgbClr val="7F93A7">
                <a:alpha val="0"/>
              </a:srgbClr>
            </a:solidFill>
            <a:prstDash val="solid"/>
          </a:ln>
        </p:spPr>
        <p:txBody>
          <a:bodyPr/>
          <a:lstStyle/>
          <a:p>
            <a:endParaRPr lang="en-US"/>
          </a:p>
        </p:txBody>
      </p:sp>
      <p:sp>
        <p:nvSpPr>
          <p:cNvPr id="64" name="Shape 62"/>
          <p:cNvSpPr/>
          <p:nvPr/>
        </p:nvSpPr>
        <p:spPr>
          <a:xfrm>
            <a:off x="2423160" y="3721608"/>
            <a:ext cx="4315968" cy="164592"/>
          </a:xfrm>
          <a:prstGeom prst="roundRect">
            <a:avLst>
              <a:gd name="adj" fmla="val 50000"/>
            </a:avLst>
          </a:prstGeom>
          <a:solidFill>
            <a:srgbClr val="22384E">
              <a:alpha val="65000"/>
            </a:srgbClr>
          </a:solidFill>
          <a:ln w="12700">
            <a:solidFill>
              <a:srgbClr val="22384E">
                <a:alpha val="0"/>
              </a:srgbClr>
            </a:solidFill>
            <a:prstDash val="solid"/>
          </a:ln>
        </p:spPr>
        <p:txBody>
          <a:bodyPr/>
          <a:lstStyle/>
          <a:p>
            <a:endParaRPr lang="en-US"/>
          </a:p>
        </p:txBody>
      </p:sp>
      <p:sp>
        <p:nvSpPr>
          <p:cNvPr id="65" name="Shape 63"/>
          <p:cNvSpPr/>
          <p:nvPr/>
        </p:nvSpPr>
        <p:spPr>
          <a:xfrm>
            <a:off x="2423160" y="3721608"/>
            <a:ext cx="762611" cy="164592"/>
          </a:xfrm>
          <a:prstGeom prst="roundRect">
            <a:avLst>
              <a:gd name="adj" fmla="val 50000"/>
            </a:avLst>
          </a:prstGeom>
          <a:solidFill>
            <a:srgbClr val="668EFF"/>
          </a:solidFill>
          <a:ln w="12700">
            <a:solidFill>
              <a:srgbClr val="668EFF">
                <a:alpha val="0"/>
              </a:srgbClr>
            </a:solidFill>
            <a:prstDash val="solid"/>
          </a:ln>
        </p:spPr>
        <p:txBody>
          <a:bodyPr/>
          <a:lstStyle/>
          <a:p>
            <a:endParaRPr lang="en-US"/>
          </a:p>
        </p:txBody>
      </p:sp>
      <p:sp>
        <p:nvSpPr>
          <p:cNvPr id="66" name="Text 64"/>
          <p:cNvSpPr/>
          <p:nvPr/>
        </p:nvSpPr>
        <p:spPr>
          <a:xfrm>
            <a:off x="6830568" y="3438144"/>
            <a:ext cx="694944" cy="164592"/>
          </a:xfrm>
          <a:prstGeom prst="rect">
            <a:avLst/>
          </a:prstGeom>
          <a:noFill/>
          <a:ln/>
        </p:spPr>
        <p:txBody>
          <a:bodyPr wrap="square" lIns="0" tIns="0" rIns="0" bIns="0" rtlCol="0" anchor="ctr"/>
          <a:lstStyle/>
          <a:p>
            <a:pPr marL="0" indent="0">
              <a:buNone/>
            </a:pPr>
            <a:r>
              <a:rPr lang="en-US" sz="850" dirty="0">
                <a:solidFill>
                  <a:srgbClr val="A8B6C5"/>
                </a:solidFill>
                <a:latin typeface="Inter" pitchFamily="34" charset="0"/>
                <a:ea typeface="Inter" pitchFamily="34" charset="-122"/>
                <a:cs typeface="Inter" pitchFamily="34" charset="-120"/>
              </a:rPr>
              <a:t>7.760 ms</a:t>
            </a:r>
            <a:endParaRPr lang="en-US" sz="850" dirty="0"/>
          </a:p>
        </p:txBody>
      </p:sp>
      <p:sp>
        <p:nvSpPr>
          <p:cNvPr id="67" name="Text 65"/>
          <p:cNvSpPr/>
          <p:nvPr/>
        </p:nvSpPr>
        <p:spPr>
          <a:xfrm>
            <a:off x="6830568" y="3712464"/>
            <a:ext cx="694944" cy="164592"/>
          </a:xfrm>
          <a:prstGeom prst="rect">
            <a:avLst/>
          </a:prstGeom>
          <a:noFill/>
          <a:ln/>
        </p:spPr>
        <p:txBody>
          <a:bodyPr wrap="square" lIns="0" tIns="0" rIns="0" bIns="0" rtlCol="0" anchor="ctr"/>
          <a:lstStyle/>
          <a:p>
            <a:pPr marL="0" indent="0">
              <a:buNone/>
            </a:pPr>
            <a:r>
              <a:rPr lang="en-US" sz="850" b="1" dirty="0">
                <a:solidFill>
                  <a:srgbClr val="F4F8FB"/>
                </a:solidFill>
                <a:latin typeface="Inter" pitchFamily="34" charset="0"/>
                <a:ea typeface="Inter" pitchFamily="34" charset="-122"/>
                <a:cs typeface="Inter" pitchFamily="34" charset="-120"/>
              </a:rPr>
              <a:t>6.361 ms</a:t>
            </a:r>
            <a:endParaRPr lang="en-US" sz="850" dirty="0"/>
          </a:p>
        </p:txBody>
      </p:sp>
      <p:sp>
        <p:nvSpPr>
          <p:cNvPr id="68" name="Shape 66"/>
          <p:cNvSpPr/>
          <p:nvPr/>
        </p:nvSpPr>
        <p:spPr>
          <a:xfrm>
            <a:off x="7543800" y="3566160"/>
            <a:ext cx="713232" cy="292608"/>
          </a:xfrm>
          <a:prstGeom prst="roundRect">
            <a:avLst>
              <a:gd name="adj" fmla="val 50000"/>
            </a:avLst>
          </a:prstGeom>
          <a:solidFill>
            <a:srgbClr val="0D1C2D"/>
          </a:solidFill>
          <a:ln w="10160">
            <a:solidFill>
              <a:srgbClr val="49D486">
                <a:alpha val="75000"/>
              </a:srgbClr>
            </a:solidFill>
            <a:prstDash val="solid"/>
          </a:ln>
        </p:spPr>
        <p:txBody>
          <a:bodyPr/>
          <a:lstStyle/>
          <a:p>
            <a:endParaRPr lang="en-US"/>
          </a:p>
        </p:txBody>
      </p:sp>
      <p:sp>
        <p:nvSpPr>
          <p:cNvPr id="69" name="Text 67"/>
          <p:cNvSpPr/>
          <p:nvPr/>
        </p:nvSpPr>
        <p:spPr>
          <a:xfrm>
            <a:off x="7616952" y="3630168"/>
            <a:ext cx="566928" cy="146304"/>
          </a:xfrm>
          <a:prstGeom prst="rect">
            <a:avLst/>
          </a:prstGeom>
          <a:noFill/>
          <a:ln/>
        </p:spPr>
        <p:txBody>
          <a:bodyPr wrap="square" lIns="0" tIns="0" rIns="0" bIns="0" rtlCol="0" anchor="ctr">
            <a:normAutofit/>
          </a:bodyPr>
          <a:lstStyle/>
          <a:p>
            <a:pPr marL="0" indent="0" algn="ctr">
              <a:buNone/>
            </a:pPr>
            <a:r>
              <a:rPr lang="en-US" sz="820" b="1" dirty="0">
                <a:solidFill>
                  <a:srgbClr val="49D486"/>
                </a:solidFill>
                <a:latin typeface="Inter" pitchFamily="34" charset="0"/>
                <a:ea typeface="Inter" pitchFamily="34" charset="-122"/>
                <a:cs typeface="Inter" pitchFamily="34" charset="-120"/>
              </a:rPr>
              <a:t>1.22×</a:t>
            </a:r>
            <a:endParaRPr lang="en-US" sz="820" dirty="0"/>
          </a:p>
        </p:txBody>
      </p:sp>
      <p:sp>
        <p:nvSpPr>
          <p:cNvPr id="70" name="Text 68"/>
          <p:cNvSpPr/>
          <p:nvPr/>
        </p:nvSpPr>
        <p:spPr>
          <a:xfrm>
            <a:off x="658368" y="4261104"/>
            <a:ext cx="1627632" cy="219456"/>
          </a:xfrm>
          <a:prstGeom prst="rect">
            <a:avLst/>
          </a:prstGeom>
          <a:noFill/>
          <a:ln/>
        </p:spPr>
        <p:txBody>
          <a:bodyPr wrap="square" lIns="0" tIns="0" rIns="0" bIns="0" rtlCol="0" anchor="ctr">
            <a:normAutofit/>
          </a:bodyPr>
          <a:lstStyle/>
          <a:p>
            <a:pPr marL="0" indent="0">
              <a:buNone/>
            </a:pPr>
            <a:r>
              <a:rPr lang="en-US" sz="1120" b="1" dirty="0">
                <a:solidFill>
                  <a:srgbClr val="F4F8FB"/>
                </a:solidFill>
                <a:latin typeface="Inter" pitchFamily="34" charset="0"/>
                <a:ea typeface="Inter" pitchFamily="34" charset="-122"/>
                <a:cs typeface="Inter" pitchFamily="34" charset="-120"/>
              </a:rPr>
              <a:t>Quantisation</a:t>
            </a:r>
            <a:endParaRPr lang="en-US" sz="1120" dirty="0"/>
          </a:p>
        </p:txBody>
      </p:sp>
      <p:sp>
        <p:nvSpPr>
          <p:cNvPr id="71" name="Text 69"/>
          <p:cNvSpPr/>
          <p:nvPr/>
        </p:nvSpPr>
        <p:spPr>
          <a:xfrm>
            <a:off x="1984248" y="4206240"/>
            <a:ext cx="384048" cy="128016"/>
          </a:xfrm>
          <a:prstGeom prst="rect">
            <a:avLst/>
          </a:prstGeom>
          <a:noFill/>
          <a:ln/>
        </p:spPr>
        <p:txBody>
          <a:bodyPr wrap="square" lIns="0" tIns="0" rIns="0" bIns="0" rtlCol="0" anchor="ctr"/>
          <a:lstStyle/>
          <a:p>
            <a:pPr marL="0" indent="0" algn="r">
              <a:buNone/>
            </a:pPr>
            <a:r>
              <a:rPr lang="en-US" sz="750" b="1" dirty="0">
                <a:solidFill>
                  <a:srgbClr val="7F93A7"/>
                </a:solidFill>
                <a:latin typeface="Inter" pitchFamily="34" charset="0"/>
                <a:ea typeface="Inter" pitchFamily="34" charset="-122"/>
                <a:cs typeface="Inter" pitchFamily="34" charset="-120"/>
              </a:rPr>
              <a:t>CPU</a:t>
            </a:r>
            <a:endParaRPr lang="en-US" sz="750" dirty="0"/>
          </a:p>
        </p:txBody>
      </p:sp>
      <p:sp>
        <p:nvSpPr>
          <p:cNvPr id="72" name="Text 70"/>
          <p:cNvSpPr/>
          <p:nvPr/>
        </p:nvSpPr>
        <p:spPr>
          <a:xfrm>
            <a:off x="1984248" y="4480560"/>
            <a:ext cx="384048" cy="128016"/>
          </a:xfrm>
          <a:prstGeom prst="rect">
            <a:avLst/>
          </a:prstGeom>
          <a:noFill/>
          <a:ln/>
        </p:spPr>
        <p:txBody>
          <a:bodyPr wrap="square" lIns="0" tIns="0" rIns="0" bIns="0" rtlCol="0" anchor="ctr"/>
          <a:lstStyle/>
          <a:p>
            <a:pPr marL="0" indent="0" algn="r">
              <a:buNone/>
            </a:pPr>
            <a:r>
              <a:rPr lang="en-US" sz="750" b="1" dirty="0">
                <a:solidFill>
                  <a:srgbClr val="49D486"/>
                </a:solidFill>
                <a:latin typeface="Inter" pitchFamily="34" charset="0"/>
                <a:ea typeface="Inter" pitchFamily="34" charset="-122"/>
                <a:cs typeface="Inter" pitchFamily="34" charset="-120"/>
              </a:rPr>
              <a:t>FPGA</a:t>
            </a:r>
            <a:endParaRPr lang="en-US" sz="750" dirty="0"/>
          </a:p>
        </p:txBody>
      </p:sp>
      <p:sp>
        <p:nvSpPr>
          <p:cNvPr id="73" name="Shape 71"/>
          <p:cNvSpPr/>
          <p:nvPr/>
        </p:nvSpPr>
        <p:spPr>
          <a:xfrm>
            <a:off x="2423160" y="4187952"/>
            <a:ext cx="4315968" cy="164592"/>
          </a:xfrm>
          <a:prstGeom prst="roundRect">
            <a:avLst>
              <a:gd name="adj" fmla="val 50000"/>
            </a:avLst>
          </a:prstGeom>
          <a:solidFill>
            <a:srgbClr val="22384E">
              <a:alpha val="65000"/>
            </a:srgbClr>
          </a:solidFill>
          <a:ln w="12700">
            <a:solidFill>
              <a:srgbClr val="22384E">
                <a:alpha val="0"/>
              </a:srgbClr>
            </a:solidFill>
            <a:prstDash val="solid"/>
          </a:ln>
        </p:spPr>
        <p:txBody>
          <a:bodyPr/>
          <a:lstStyle/>
          <a:p>
            <a:endParaRPr lang="en-US"/>
          </a:p>
        </p:txBody>
      </p:sp>
      <p:sp>
        <p:nvSpPr>
          <p:cNvPr id="74" name="Shape 72"/>
          <p:cNvSpPr/>
          <p:nvPr/>
        </p:nvSpPr>
        <p:spPr>
          <a:xfrm>
            <a:off x="2423160" y="4187952"/>
            <a:ext cx="926015" cy="164592"/>
          </a:xfrm>
          <a:prstGeom prst="roundRect">
            <a:avLst>
              <a:gd name="adj" fmla="val 50000"/>
            </a:avLst>
          </a:prstGeom>
          <a:solidFill>
            <a:srgbClr val="7F93A7"/>
          </a:solidFill>
          <a:ln w="12700">
            <a:solidFill>
              <a:srgbClr val="7F93A7">
                <a:alpha val="0"/>
              </a:srgbClr>
            </a:solidFill>
            <a:prstDash val="solid"/>
          </a:ln>
        </p:spPr>
        <p:txBody>
          <a:bodyPr/>
          <a:lstStyle/>
          <a:p>
            <a:endParaRPr lang="en-US"/>
          </a:p>
        </p:txBody>
      </p:sp>
      <p:sp>
        <p:nvSpPr>
          <p:cNvPr id="75" name="Shape 73"/>
          <p:cNvSpPr/>
          <p:nvPr/>
        </p:nvSpPr>
        <p:spPr>
          <a:xfrm>
            <a:off x="2423160" y="4462272"/>
            <a:ext cx="4315968" cy="164592"/>
          </a:xfrm>
          <a:prstGeom prst="roundRect">
            <a:avLst>
              <a:gd name="adj" fmla="val 50000"/>
            </a:avLst>
          </a:prstGeom>
          <a:solidFill>
            <a:srgbClr val="22384E">
              <a:alpha val="65000"/>
            </a:srgbClr>
          </a:solidFill>
          <a:ln w="12700">
            <a:solidFill>
              <a:srgbClr val="22384E">
                <a:alpha val="0"/>
              </a:srgbClr>
            </a:solidFill>
            <a:prstDash val="solid"/>
          </a:ln>
        </p:spPr>
        <p:txBody>
          <a:bodyPr/>
          <a:lstStyle/>
          <a:p>
            <a:endParaRPr lang="en-US"/>
          </a:p>
        </p:txBody>
      </p:sp>
      <p:sp>
        <p:nvSpPr>
          <p:cNvPr id="76" name="Shape 74"/>
          <p:cNvSpPr/>
          <p:nvPr/>
        </p:nvSpPr>
        <p:spPr>
          <a:xfrm>
            <a:off x="2423160" y="4462272"/>
            <a:ext cx="178781" cy="164592"/>
          </a:xfrm>
          <a:prstGeom prst="roundRect">
            <a:avLst>
              <a:gd name="adj" fmla="val 50000"/>
            </a:avLst>
          </a:prstGeom>
          <a:solidFill>
            <a:srgbClr val="49D486"/>
          </a:solidFill>
          <a:ln w="12700">
            <a:solidFill>
              <a:srgbClr val="49D486">
                <a:alpha val="0"/>
              </a:srgbClr>
            </a:solidFill>
            <a:prstDash val="solid"/>
          </a:ln>
        </p:spPr>
        <p:txBody>
          <a:bodyPr/>
          <a:lstStyle/>
          <a:p>
            <a:endParaRPr lang="en-US"/>
          </a:p>
        </p:txBody>
      </p:sp>
      <p:sp>
        <p:nvSpPr>
          <p:cNvPr id="77" name="Text 75"/>
          <p:cNvSpPr/>
          <p:nvPr/>
        </p:nvSpPr>
        <p:spPr>
          <a:xfrm>
            <a:off x="6830568" y="4178808"/>
            <a:ext cx="694944" cy="164592"/>
          </a:xfrm>
          <a:prstGeom prst="rect">
            <a:avLst/>
          </a:prstGeom>
          <a:noFill/>
          <a:ln/>
        </p:spPr>
        <p:txBody>
          <a:bodyPr wrap="square" lIns="0" tIns="0" rIns="0" bIns="0" rtlCol="0" anchor="ctr"/>
          <a:lstStyle/>
          <a:p>
            <a:pPr marL="0" indent="0">
              <a:buNone/>
            </a:pPr>
            <a:r>
              <a:rPr lang="en-US" sz="850" dirty="0">
                <a:solidFill>
                  <a:srgbClr val="A8B6C5"/>
                </a:solidFill>
                <a:latin typeface="Inter" pitchFamily="34" charset="0"/>
                <a:ea typeface="Inter" pitchFamily="34" charset="-122"/>
                <a:cs typeface="Inter" pitchFamily="34" charset="-120"/>
              </a:rPr>
              <a:t>7.724 ms</a:t>
            </a:r>
            <a:endParaRPr lang="en-US" sz="850" dirty="0"/>
          </a:p>
        </p:txBody>
      </p:sp>
      <p:sp>
        <p:nvSpPr>
          <p:cNvPr id="78" name="Text 76"/>
          <p:cNvSpPr/>
          <p:nvPr/>
        </p:nvSpPr>
        <p:spPr>
          <a:xfrm>
            <a:off x="6830568" y="4453128"/>
            <a:ext cx="694944" cy="164592"/>
          </a:xfrm>
          <a:prstGeom prst="rect">
            <a:avLst/>
          </a:prstGeom>
          <a:noFill/>
          <a:ln/>
        </p:spPr>
        <p:txBody>
          <a:bodyPr wrap="square" lIns="0" tIns="0" rIns="0" bIns="0" rtlCol="0" anchor="ctr"/>
          <a:lstStyle/>
          <a:p>
            <a:pPr marL="0" indent="0">
              <a:buNone/>
            </a:pPr>
            <a:r>
              <a:rPr lang="en-US" sz="850" b="1" dirty="0">
                <a:solidFill>
                  <a:srgbClr val="F4F8FB"/>
                </a:solidFill>
                <a:latin typeface="Inter" pitchFamily="34" charset="0"/>
                <a:ea typeface="Inter" pitchFamily="34" charset="-122"/>
                <a:cs typeface="Inter" pitchFamily="34" charset="-120"/>
              </a:rPr>
              <a:t>1.491 ms</a:t>
            </a:r>
            <a:endParaRPr lang="en-US" sz="850" dirty="0"/>
          </a:p>
        </p:txBody>
      </p:sp>
      <p:sp>
        <p:nvSpPr>
          <p:cNvPr id="79" name="Shape 77"/>
          <p:cNvSpPr/>
          <p:nvPr/>
        </p:nvSpPr>
        <p:spPr>
          <a:xfrm>
            <a:off x="7543800" y="4306824"/>
            <a:ext cx="713232" cy="292608"/>
          </a:xfrm>
          <a:prstGeom prst="roundRect">
            <a:avLst>
              <a:gd name="adj" fmla="val 50000"/>
            </a:avLst>
          </a:prstGeom>
          <a:solidFill>
            <a:srgbClr val="0D1C2D"/>
          </a:solidFill>
          <a:ln w="10160">
            <a:solidFill>
              <a:srgbClr val="49D486">
                <a:alpha val="75000"/>
              </a:srgbClr>
            </a:solidFill>
            <a:prstDash val="solid"/>
          </a:ln>
        </p:spPr>
        <p:txBody>
          <a:bodyPr/>
          <a:lstStyle/>
          <a:p>
            <a:endParaRPr lang="en-US"/>
          </a:p>
        </p:txBody>
      </p:sp>
      <p:sp>
        <p:nvSpPr>
          <p:cNvPr id="80" name="Text 78"/>
          <p:cNvSpPr/>
          <p:nvPr/>
        </p:nvSpPr>
        <p:spPr>
          <a:xfrm>
            <a:off x="7616952" y="4370832"/>
            <a:ext cx="566928" cy="146304"/>
          </a:xfrm>
          <a:prstGeom prst="rect">
            <a:avLst/>
          </a:prstGeom>
          <a:noFill/>
          <a:ln/>
        </p:spPr>
        <p:txBody>
          <a:bodyPr wrap="square" lIns="0" tIns="0" rIns="0" bIns="0" rtlCol="0" anchor="ctr">
            <a:normAutofit/>
          </a:bodyPr>
          <a:lstStyle/>
          <a:p>
            <a:pPr marL="0" indent="0" algn="ctr">
              <a:buNone/>
            </a:pPr>
            <a:r>
              <a:rPr lang="en-US" sz="820" b="1" dirty="0">
                <a:solidFill>
                  <a:srgbClr val="49D486"/>
                </a:solidFill>
                <a:latin typeface="Inter" pitchFamily="34" charset="0"/>
                <a:ea typeface="Inter" pitchFamily="34" charset="-122"/>
                <a:cs typeface="Inter" pitchFamily="34" charset="-120"/>
              </a:rPr>
              <a:t>5.18×</a:t>
            </a:r>
            <a:endParaRPr lang="en-US" sz="820" dirty="0"/>
          </a:p>
        </p:txBody>
      </p:sp>
      <p:sp>
        <p:nvSpPr>
          <p:cNvPr id="81" name="Text 79"/>
          <p:cNvSpPr/>
          <p:nvPr/>
        </p:nvSpPr>
        <p:spPr>
          <a:xfrm>
            <a:off x="658368" y="5001768"/>
            <a:ext cx="1627632" cy="219456"/>
          </a:xfrm>
          <a:prstGeom prst="rect">
            <a:avLst/>
          </a:prstGeom>
          <a:noFill/>
          <a:ln/>
        </p:spPr>
        <p:txBody>
          <a:bodyPr wrap="square" lIns="0" tIns="0" rIns="0" bIns="0" rtlCol="0" anchor="ctr">
            <a:normAutofit/>
          </a:bodyPr>
          <a:lstStyle/>
          <a:p>
            <a:pPr marL="0" indent="0">
              <a:buNone/>
            </a:pPr>
            <a:r>
              <a:rPr lang="en-US" sz="1120" b="1" dirty="0">
                <a:solidFill>
                  <a:srgbClr val="F4F8FB"/>
                </a:solidFill>
                <a:latin typeface="Inter" pitchFamily="34" charset="0"/>
                <a:ea typeface="Inter" pitchFamily="34" charset="-122"/>
                <a:cs typeface="Inter" pitchFamily="34" charset="-120"/>
              </a:rPr>
              <a:t>Zigzag + coding</a:t>
            </a:r>
            <a:endParaRPr lang="en-US" sz="1120" dirty="0"/>
          </a:p>
        </p:txBody>
      </p:sp>
      <p:sp>
        <p:nvSpPr>
          <p:cNvPr id="82" name="Text 80"/>
          <p:cNvSpPr/>
          <p:nvPr/>
        </p:nvSpPr>
        <p:spPr>
          <a:xfrm>
            <a:off x="1984248" y="4946904"/>
            <a:ext cx="384048" cy="128016"/>
          </a:xfrm>
          <a:prstGeom prst="rect">
            <a:avLst/>
          </a:prstGeom>
          <a:noFill/>
          <a:ln/>
        </p:spPr>
        <p:txBody>
          <a:bodyPr wrap="square" lIns="0" tIns="0" rIns="0" bIns="0" rtlCol="0" anchor="ctr"/>
          <a:lstStyle/>
          <a:p>
            <a:pPr marL="0" indent="0" algn="r">
              <a:buNone/>
            </a:pPr>
            <a:r>
              <a:rPr lang="en-US" sz="750" b="1" dirty="0">
                <a:solidFill>
                  <a:srgbClr val="7F93A7"/>
                </a:solidFill>
                <a:latin typeface="Inter" pitchFamily="34" charset="0"/>
                <a:ea typeface="Inter" pitchFamily="34" charset="-122"/>
                <a:cs typeface="Inter" pitchFamily="34" charset="-120"/>
              </a:rPr>
              <a:t>CPU</a:t>
            </a:r>
            <a:endParaRPr lang="en-US" sz="750" dirty="0"/>
          </a:p>
        </p:txBody>
      </p:sp>
      <p:sp>
        <p:nvSpPr>
          <p:cNvPr id="83" name="Text 81"/>
          <p:cNvSpPr/>
          <p:nvPr/>
        </p:nvSpPr>
        <p:spPr>
          <a:xfrm>
            <a:off x="1984248" y="5221224"/>
            <a:ext cx="384048" cy="128016"/>
          </a:xfrm>
          <a:prstGeom prst="rect">
            <a:avLst/>
          </a:prstGeom>
          <a:noFill/>
          <a:ln/>
        </p:spPr>
        <p:txBody>
          <a:bodyPr wrap="square" lIns="0" tIns="0" rIns="0" bIns="0" rtlCol="0" anchor="ctr"/>
          <a:lstStyle/>
          <a:p>
            <a:pPr marL="0" indent="0" algn="r">
              <a:buNone/>
            </a:pPr>
            <a:r>
              <a:rPr lang="en-US" sz="750" b="1" dirty="0">
                <a:solidFill>
                  <a:srgbClr val="FFA24C"/>
                </a:solidFill>
                <a:latin typeface="Inter" pitchFamily="34" charset="0"/>
                <a:ea typeface="Inter" pitchFamily="34" charset="-122"/>
                <a:cs typeface="Inter" pitchFamily="34" charset="-120"/>
              </a:rPr>
              <a:t>FPGA</a:t>
            </a:r>
            <a:endParaRPr lang="en-US" sz="750" dirty="0"/>
          </a:p>
        </p:txBody>
      </p:sp>
      <p:sp>
        <p:nvSpPr>
          <p:cNvPr id="84" name="Shape 82"/>
          <p:cNvSpPr/>
          <p:nvPr/>
        </p:nvSpPr>
        <p:spPr>
          <a:xfrm>
            <a:off x="2423160" y="4928616"/>
            <a:ext cx="4315968" cy="164592"/>
          </a:xfrm>
          <a:prstGeom prst="roundRect">
            <a:avLst>
              <a:gd name="adj" fmla="val 50000"/>
            </a:avLst>
          </a:prstGeom>
          <a:solidFill>
            <a:srgbClr val="22384E">
              <a:alpha val="65000"/>
            </a:srgbClr>
          </a:solidFill>
          <a:ln w="12700">
            <a:solidFill>
              <a:srgbClr val="22384E">
                <a:alpha val="0"/>
              </a:srgbClr>
            </a:solidFill>
            <a:prstDash val="solid"/>
          </a:ln>
        </p:spPr>
        <p:txBody>
          <a:bodyPr/>
          <a:lstStyle/>
          <a:p>
            <a:endParaRPr lang="en-US"/>
          </a:p>
        </p:txBody>
      </p:sp>
      <p:sp>
        <p:nvSpPr>
          <p:cNvPr id="85" name="Shape 83"/>
          <p:cNvSpPr/>
          <p:nvPr/>
        </p:nvSpPr>
        <p:spPr>
          <a:xfrm>
            <a:off x="2423160" y="4928616"/>
            <a:ext cx="1486851" cy="164592"/>
          </a:xfrm>
          <a:prstGeom prst="roundRect">
            <a:avLst>
              <a:gd name="adj" fmla="val 50000"/>
            </a:avLst>
          </a:prstGeom>
          <a:solidFill>
            <a:srgbClr val="7F93A7"/>
          </a:solidFill>
          <a:ln w="12700">
            <a:solidFill>
              <a:srgbClr val="7F93A7">
                <a:alpha val="0"/>
              </a:srgbClr>
            </a:solidFill>
            <a:prstDash val="solid"/>
          </a:ln>
        </p:spPr>
        <p:txBody>
          <a:bodyPr/>
          <a:lstStyle/>
          <a:p>
            <a:endParaRPr lang="en-US"/>
          </a:p>
        </p:txBody>
      </p:sp>
      <p:sp>
        <p:nvSpPr>
          <p:cNvPr id="86" name="Shape 84"/>
          <p:cNvSpPr/>
          <p:nvPr/>
        </p:nvSpPr>
        <p:spPr>
          <a:xfrm>
            <a:off x="2423160" y="5202936"/>
            <a:ext cx="4315968" cy="164592"/>
          </a:xfrm>
          <a:prstGeom prst="roundRect">
            <a:avLst>
              <a:gd name="adj" fmla="val 50000"/>
            </a:avLst>
          </a:prstGeom>
          <a:solidFill>
            <a:srgbClr val="22384E">
              <a:alpha val="65000"/>
            </a:srgbClr>
          </a:solidFill>
          <a:ln w="12700">
            <a:solidFill>
              <a:srgbClr val="22384E">
                <a:alpha val="0"/>
              </a:srgbClr>
            </a:solidFill>
            <a:prstDash val="solid"/>
          </a:ln>
        </p:spPr>
        <p:txBody>
          <a:bodyPr/>
          <a:lstStyle/>
          <a:p>
            <a:endParaRPr lang="en-US"/>
          </a:p>
        </p:txBody>
      </p:sp>
      <p:sp>
        <p:nvSpPr>
          <p:cNvPr id="87" name="Shape 85"/>
          <p:cNvSpPr/>
          <p:nvPr/>
        </p:nvSpPr>
        <p:spPr>
          <a:xfrm>
            <a:off x="2423160" y="5202936"/>
            <a:ext cx="3984998" cy="164592"/>
          </a:xfrm>
          <a:prstGeom prst="roundRect">
            <a:avLst>
              <a:gd name="adj" fmla="val 50000"/>
            </a:avLst>
          </a:prstGeom>
          <a:solidFill>
            <a:srgbClr val="FFA24C"/>
          </a:solidFill>
          <a:ln w="12700">
            <a:solidFill>
              <a:srgbClr val="FFA24C">
                <a:alpha val="0"/>
              </a:srgbClr>
            </a:solidFill>
            <a:prstDash val="solid"/>
          </a:ln>
        </p:spPr>
        <p:txBody>
          <a:bodyPr/>
          <a:lstStyle/>
          <a:p>
            <a:endParaRPr lang="en-US"/>
          </a:p>
        </p:txBody>
      </p:sp>
      <p:sp>
        <p:nvSpPr>
          <p:cNvPr id="88" name="Text 86"/>
          <p:cNvSpPr/>
          <p:nvPr/>
        </p:nvSpPr>
        <p:spPr>
          <a:xfrm>
            <a:off x="6830568" y="4919472"/>
            <a:ext cx="694944" cy="164592"/>
          </a:xfrm>
          <a:prstGeom prst="rect">
            <a:avLst/>
          </a:prstGeom>
          <a:noFill/>
          <a:ln/>
        </p:spPr>
        <p:txBody>
          <a:bodyPr wrap="square" lIns="0" tIns="0" rIns="0" bIns="0" rtlCol="0" anchor="ctr"/>
          <a:lstStyle/>
          <a:p>
            <a:pPr marL="0" indent="0">
              <a:buNone/>
            </a:pPr>
            <a:r>
              <a:rPr lang="en-US" sz="850" dirty="0">
                <a:solidFill>
                  <a:srgbClr val="A8B6C5"/>
                </a:solidFill>
                <a:latin typeface="Inter" pitchFamily="34" charset="0"/>
                <a:ea typeface="Inter" pitchFamily="34" charset="-122"/>
                <a:cs typeface="Inter" pitchFamily="34" charset="-120"/>
              </a:rPr>
              <a:t>12.402 ms</a:t>
            </a:r>
            <a:endParaRPr lang="en-US" sz="850" dirty="0"/>
          </a:p>
        </p:txBody>
      </p:sp>
      <p:sp>
        <p:nvSpPr>
          <p:cNvPr id="89" name="Text 87"/>
          <p:cNvSpPr/>
          <p:nvPr/>
        </p:nvSpPr>
        <p:spPr>
          <a:xfrm>
            <a:off x="6830568" y="5193792"/>
            <a:ext cx="694944" cy="164592"/>
          </a:xfrm>
          <a:prstGeom prst="rect">
            <a:avLst/>
          </a:prstGeom>
          <a:noFill/>
          <a:ln/>
        </p:spPr>
        <p:txBody>
          <a:bodyPr wrap="square" lIns="0" tIns="0" rIns="0" bIns="0" rtlCol="0" anchor="ctr"/>
          <a:lstStyle/>
          <a:p>
            <a:pPr marL="0" indent="0">
              <a:buNone/>
            </a:pPr>
            <a:r>
              <a:rPr lang="en-US" sz="850" b="1" dirty="0">
                <a:solidFill>
                  <a:srgbClr val="F4F8FB"/>
                </a:solidFill>
                <a:latin typeface="Inter" pitchFamily="34" charset="0"/>
                <a:ea typeface="Inter" pitchFamily="34" charset="-122"/>
                <a:cs typeface="Inter" pitchFamily="34" charset="-120"/>
              </a:rPr>
              <a:t>33.239 ms</a:t>
            </a:r>
            <a:endParaRPr lang="en-US" sz="850" dirty="0"/>
          </a:p>
        </p:txBody>
      </p:sp>
      <p:sp>
        <p:nvSpPr>
          <p:cNvPr id="90" name="Shape 88"/>
          <p:cNvSpPr/>
          <p:nvPr/>
        </p:nvSpPr>
        <p:spPr>
          <a:xfrm>
            <a:off x="7543800" y="5047488"/>
            <a:ext cx="713232" cy="292608"/>
          </a:xfrm>
          <a:prstGeom prst="roundRect">
            <a:avLst>
              <a:gd name="adj" fmla="val 50000"/>
            </a:avLst>
          </a:prstGeom>
          <a:solidFill>
            <a:srgbClr val="0D1C2D"/>
          </a:solidFill>
          <a:ln w="10160">
            <a:solidFill>
              <a:srgbClr val="FFA24C">
                <a:alpha val="75000"/>
              </a:srgbClr>
            </a:solidFill>
            <a:prstDash val="solid"/>
          </a:ln>
        </p:spPr>
        <p:txBody>
          <a:bodyPr/>
          <a:lstStyle/>
          <a:p>
            <a:endParaRPr lang="en-US"/>
          </a:p>
        </p:txBody>
      </p:sp>
      <p:sp>
        <p:nvSpPr>
          <p:cNvPr id="91" name="Text 89"/>
          <p:cNvSpPr/>
          <p:nvPr/>
        </p:nvSpPr>
        <p:spPr>
          <a:xfrm>
            <a:off x="7616952" y="5111496"/>
            <a:ext cx="566928" cy="146304"/>
          </a:xfrm>
          <a:prstGeom prst="rect">
            <a:avLst/>
          </a:prstGeom>
          <a:noFill/>
          <a:ln/>
        </p:spPr>
        <p:txBody>
          <a:bodyPr wrap="square" lIns="0" tIns="0" rIns="0" bIns="0" rtlCol="0" anchor="ctr">
            <a:normAutofit/>
          </a:bodyPr>
          <a:lstStyle/>
          <a:p>
            <a:pPr marL="0" indent="0" algn="ctr">
              <a:buNone/>
            </a:pPr>
            <a:r>
              <a:rPr lang="en-US" sz="820" b="1" dirty="0">
                <a:solidFill>
                  <a:srgbClr val="FFA24C"/>
                </a:solidFill>
                <a:latin typeface="Inter" pitchFamily="34" charset="0"/>
                <a:ea typeface="Inter" pitchFamily="34" charset="-122"/>
                <a:cs typeface="Inter" pitchFamily="34" charset="-120"/>
              </a:rPr>
              <a:t>0.37×</a:t>
            </a:r>
            <a:endParaRPr lang="en-US" sz="820" dirty="0"/>
          </a:p>
        </p:txBody>
      </p:sp>
      <p:sp>
        <p:nvSpPr>
          <p:cNvPr id="92" name="Text 90"/>
          <p:cNvSpPr/>
          <p:nvPr/>
        </p:nvSpPr>
        <p:spPr>
          <a:xfrm>
            <a:off x="713232" y="5742432"/>
            <a:ext cx="7269480" cy="164592"/>
          </a:xfrm>
          <a:prstGeom prst="rect">
            <a:avLst/>
          </a:prstGeom>
          <a:noFill/>
          <a:ln/>
        </p:spPr>
        <p:txBody>
          <a:bodyPr wrap="square" lIns="0" tIns="0" rIns="0" bIns="0" rtlCol="0" anchor="ctr"/>
          <a:lstStyle/>
          <a:p>
            <a:pPr marL="0" indent="0">
              <a:buNone/>
            </a:pPr>
            <a:r>
              <a:rPr lang="en-US" sz="900" dirty="0">
                <a:solidFill>
                  <a:srgbClr val="72879A"/>
                </a:solidFill>
                <a:latin typeface="Inter" pitchFamily="34" charset="0"/>
                <a:ea typeface="Inter" pitchFamily="34" charset="-122"/>
                <a:cs typeface="Inter" pitchFamily="34" charset="-120"/>
              </a:rPr>
              <a:t>CPU coding combines zigzag scan (3.530 ms) and RLE/bit encoding (8.872 ms).</a:t>
            </a:r>
            <a:endParaRPr lang="en-US" sz="900" dirty="0"/>
          </a:p>
        </p:txBody>
      </p:sp>
      <p:sp>
        <p:nvSpPr>
          <p:cNvPr id="93" name="Shape 91"/>
          <p:cNvSpPr/>
          <p:nvPr/>
        </p:nvSpPr>
        <p:spPr>
          <a:xfrm>
            <a:off x="8686800" y="1719072"/>
            <a:ext cx="3035808" cy="4407408"/>
          </a:xfrm>
          <a:prstGeom prst="roundRect">
            <a:avLst>
              <a:gd name="adj" fmla="val 2410"/>
            </a:avLst>
          </a:prstGeom>
          <a:solidFill>
            <a:srgbClr val="0D1C2D"/>
          </a:solidFill>
          <a:ln w="12700">
            <a:solidFill>
              <a:srgbClr val="FFA24C">
                <a:alpha val="70000"/>
              </a:srgbClr>
            </a:solidFill>
            <a:prstDash val="solid"/>
          </a:ln>
          <a:effectLst>
            <a:outerShdw algn="bl" rotWithShape="0">
              <a:srgbClr val="000000">
                <a:alpha val="0"/>
              </a:srgbClr>
            </a:outerShdw>
          </a:effectLst>
        </p:spPr>
        <p:txBody>
          <a:bodyPr/>
          <a:lstStyle/>
          <a:p>
            <a:endParaRPr lang="en-US"/>
          </a:p>
        </p:txBody>
      </p:sp>
      <p:sp>
        <p:nvSpPr>
          <p:cNvPr id="94" name="Text 92"/>
          <p:cNvSpPr/>
          <p:nvPr/>
        </p:nvSpPr>
        <p:spPr>
          <a:xfrm>
            <a:off x="8961120" y="1984248"/>
            <a:ext cx="2487168" cy="256032"/>
          </a:xfrm>
          <a:prstGeom prst="rect">
            <a:avLst/>
          </a:prstGeom>
          <a:noFill/>
          <a:ln/>
        </p:spPr>
        <p:txBody>
          <a:bodyPr wrap="square" lIns="0" tIns="0" rIns="0" bIns="0" rtlCol="0" anchor="ctr"/>
          <a:lstStyle/>
          <a:p>
            <a:pPr marL="0" indent="0">
              <a:buNone/>
            </a:pPr>
            <a:r>
              <a:rPr lang="en-US" sz="1700" b="1" dirty="0">
                <a:solidFill>
                  <a:srgbClr val="F4F8FB"/>
                </a:solidFill>
                <a:latin typeface="Inter Display" pitchFamily="34" charset="0"/>
                <a:ea typeface="Inter Display" pitchFamily="34" charset="-122"/>
                <a:cs typeface="Inter Display" pitchFamily="34" charset="-120"/>
              </a:rPr>
              <a:t>Whole-pipeline view</a:t>
            </a:r>
            <a:endParaRPr lang="en-US" sz="1700" dirty="0"/>
          </a:p>
        </p:txBody>
      </p:sp>
      <p:sp>
        <p:nvSpPr>
          <p:cNvPr id="95" name="Shape 93"/>
          <p:cNvSpPr/>
          <p:nvPr/>
        </p:nvSpPr>
        <p:spPr>
          <a:xfrm>
            <a:off x="8942832" y="2468880"/>
            <a:ext cx="2523744" cy="822960"/>
          </a:xfrm>
          <a:prstGeom prst="roundRect">
            <a:avLst>
              <a:gd name="adj" fmla="val 8889"/>
            </a:avLst>
          </a:prstGeom>
          <a:solidFill>
            <a:srgbClr val="0D1C2D"/>
          </a:solidFill>
          <a:ln w="12700">
            <a:solidFill>
              <a:srgbClr val="7F93A7">
                <a:alpha val="45000"/>
              </a:srgbClr>
            </a:solidFill>
            <a:prstDash val="solid"/>
          </a:ln>
          <a:effectLst>
            <a:outerShdw algn="bl" rotWithShape="0">
              <a:srgbClr val="000000">
                <a:alpha val="0"/>
              </a:srgbClr>
            </a:outerShdw>
          </a:effectLst>
        </p:spPr>
        <p:txBody>
          <a:bodyPr/>
          <a:lstStyle/>
          <a:p>
            <a:endParaRPr lang="en-US"/>
          </a:p>
        </p:txBody>
      </p:sp>
      <p:sp>
        <p:nvSpPr>
          <p:cNvPr id="96" name="Shape 94"/>
          <p:cNvSpPr/>
          <p:nvPr/>
        </p:nvSpPr>
        <p:spPr>
          <a:xfrm>
            <a:off x="9089136" y="2615184"/>
            <a:ext cx="0" cy="530352"/>
          </a:xfrm>
          <a:prstGeom prst="line">
            <a:avLst/>
          </a:prstGeom>
          <a:noFill/>
          <a:ln w="44450">
            <a:solidFill>
              <a:srgbClr val="7F93A7"/>
            </a:solidFill>
            <a:prstDash val="solid"/>
          </a:ln>
        </p:spPr>
        <p:txBody>
          <a:bodyPr/>
          <a:lstStyle/>
          <a:p>
            <a:endParaRPr lang="en-US"/>
          </a:p>
        </p:txBody>
      </p:sp>
      <p:sp>
        <p:nvSpPr>
          <p:cNvPr id="97" name="Text 95"/>
          <p:cNvSpPr/>
          <p:nvPr/>
        </p:nvSpPr>
        <p:spPr>
          <a:xfrm>
            <a:off x="9253728" y="2606040"/>
            <a:ext cx="2084832" cy="347472"/>
          </a:xfrm>
          <a:prstGeom prst="rect">
            <a:avLst/>
          </a:prstGeom>
          <a:noFill/>
          <a:ln/>
        </p:spPr>
        <p:txBody>
          <a:bodyPr wrap="square" lIns="0" tIns="0" rIns="0" bIns="0" rtlCol="0" anchor="ctr">
            <a:normAutofit/>
          </a:bodyPr>
          <a:lstStyle/>
          <a:p>
            <a:pPr marL="0" indent="0">
              <a:buNone/>
            </a:pPr>
            <a:r>
              <a:rPr lang="en-US" sz="2200" b="1" dirty="0">
                <a:solidFill>
                  <a:srgbClr val="F4F8FB"/>
                </a:solidFill>
                <a:latin typeface="Inter Display" pitchFamily="34" charset="0"/>
                <a:ea typeface="Inter Display" pitchFamily="34" charset="-122"/>
                <a:cs typeface="Inter Display" pitchFamily="34" charset="-120"/>
              </a:rPr>
              <a:t>33.26 ms</a:t>
            </a:r>
            <a:endParaRPr lang="en-US" sz="2200" dirty="0"/>
          </a:p>
        </p:txBody>
      </p:sp>
      <p:sp>
        <p:nvSpPr>
          <p:cNvPr id="98" name="Text 96"/>
          <p:cNvSpPr/>
          <p:nvPr/>
        </p:nvSpPr>
        <p:spPr>
          <a:xfrm>
            <a:off x="9253728" y="2999232"/>
            <a:ext cx="2084832" cy="228600"/>
          </a:xfrm>
          <a:prstGeom prst="rect">
            <a:avLst/>
          </a:prstGeom>
          <a:noFill/>
          <a:ln/>
        </p:spPr>
        <p:txBody>
          <a:bodyPr wrap="square" lIns="0" tIns="0" rIns="0" bIns="0" rtlCol="0" anchor="ctr">
            <a:normAutofit/>
          </a:bodyPr>
          <a:lstStyle/>
          <a:p>
            <a:pPr marL="0" indent="0">
              <a:buNone/>
            </a:pPr>
            <a:r>
              <a:rPr lang="en-US" sz="1050" b="1" dirty="0">
                <a:solidFill>
                  <a:srgbClr val="7F93A7"/>
                </a:solidFill>
                <a:latin typeface="Inter" pitchFamily="34" charset="0"/>
                <a:ea typeface="Inter" pitchFamily="34" charset="-122"/>
                <a:cs typeface="Inter" pitchFamily="34" charset="-120"/>
              </a:rPr>
              <a:t>CPU complete run</a:t>
            </a:r>
            <a:endParaRPr lang="en-US" sz="1050" dirty="0"/>
          </a:p>
        </p:txBody>
      </p:sp>
      <p:sp>
        <p:nvSpPr>
          <p:cNvPr id="99" name="Shape 97"/>
          <p:cNvSpPr/>
          <p:nvPr/>
        </p:nvSpPr>
        <p:spPr>
          <a:xfrm>
            <a:off x="8942832" y="3438144"/>
            <a:ext cx="2523744" cy="822960"/>
          </a:xfrm>
          <a:prstGeom prst="roundRect">
            <a:avLst>
              <a:gd name="adj" fmla="val 8889"/>
            </a:avLst>
          </a:prstGeom>
          <a:solidFill>
            <a:srgbClr val="0D1C2D"/>
          </a:solidFill>
          <a:ln w="12700">
            <a:solidFill>
              <a:srgbClr val="FFA24C">
                <a:alpha val="45000"/>
              </a:srgbClr>
            </a:solidFill>
            <a:prstDash val="solid"/>
          </a:ln>
          <a:effectLst>
            <a:outerShdw algn="bl" rotWithShape="0">
              <a:srgbClr val="000000">
                <a:alpha val="0"/>
              </a:srgbClr>
            </a:outerShdw>
          </a:effectLst>
        </p:spPr>
        <p:txBody>
          <a:bodyPr/>
          <a:lstStyle/>
          <a:p>
            <a:endParaRPr lang="en-US"/>
          </a:p>
        </p:txBody>
      </p:sp>
      <p:sp>
        <p:nvSpPr>
          <p:cNvPr id="100" name="Shape 98"/>
          <p:cNvSpPr/>
          <p:nvPr/>
        </p:nvSpPr>
        <p:spPr>
          <a:xfrm>
            <a:off x="9089136" y="3584448"/>
            <a:ext cx="0" cy="530352"/>
          </a:xfrm>
          <a:prstGeom prst="line">
            <a:avLst/>
          </a:prstGeom>
          <a:noFill/>
          <a:ln w="44450">
            <a:solidFill>
              <a:srgbClr val="FFA24C"/>
            </a:solidFill>
            <a:prstDash val="solid"/>
          </a:ln>
        </p:spPr>
        <p:txBody>
          <a:bodyPr/>
          <a:lstStyle/>
          <a:p>
            <a:endParaRPr lang="en-US"/>
          </a:p>
        </p:txBody>
      </p:sp>
      <p:sp>
        <p:nvSpPr>
          <p:cNvPr id="101" name="Text 99"/>
          <p:cNvSpPr/>
          <p:nvPr/>
        </p:nvSpPr>
        <p:spPr>
          <a:xfrm>
            <a:off x="9253728" y="3575304"/>
            <a:ext cx="2084832" cy="347472"/>
          </a:xfrm>
          <a:prstGeom prst="rect">
            <a:avLst/>
          </a:prstGeom>
          <a:noFill/>
          <a:ln/>
        </p:spPr>
        <p:txBody>
          <a:bodyPr wrap="square" lIns="0" tIns="0" rIns="0" bIns="0" rtlCol="0" anchor="ctr">
            <a:normAutofit/>
          </a:bodyPr>
          <a:lstStyle/>
          <a:p>
            <a:pPr marL="0" indent="0">
              <a:buNone/>
            </a:pPr>
            <a:r>
              <a:rPr lang="en-US" sz="2200" b="1" dirty="0">
                <a:solidFill>
                  <a:srgbClr val="F4F8FB"/>
                </a:solidFill>
                <a:latin typeface="Inter Display" pitchFamily="34" charset="0"/>
                <a:ea typeface="Inter Display" pitchFamily="34" charset="-122"/>
                <a:cs typeface="Inter Display" pitchFamily="34" charset="-120"/>
              </a:rPr>
              <a:t>42.65 ms</a:t>
            </a:r>
            <a:endParaRPr lang="en-US" sz="2200" dirty="0"/>
          </a:p>
        </p:txBody>
      </p:sp>
      <p:sp>
        <p:nvSpPr>
          <p:cNvPr id="102" name="Text 100"/>
          <p:cNvSpPr/>
          <p:nvPr/>
        </p:nvSpPr>
        <p:spPr>
          <a:xfrm>
            <a:off x="9253728" y="3968496"/>
            <a:ext cx="2084832" cy="228600"/>
          </a:xfrm>
          <a:prstGeom prst="rect">
            <a:avLst/>
          </a:prstGeom>
          <a:noFill/>
          <a:ln/>
        </p:spPr>
        <p:txBody>
          <a:bodyPr wrap="square" lIns="0" tIns="0" rIns="0" bIns="0" rtlCol="0" anchor="ctr">
            <a:normAutofit/>
          </a:bodyPr>
          <a:lstStyle/>
          <a:p>
            <a:pPr marL="0" indent="0">
              <a:buNone/>
            </a:pPr>
            <a:r>
              <a:rPr lang="en-US" sz="1050" b="1" dirty="0">
                <a:solidFill>
                  <a:srgbClr val="FFA24C"/>
                </a:solidFill>
                <a:latin typeface="Inter" pitchFamily="34" charset="0"/>
                <a:ea typeface="Inter" pitchFamily="34" charset="-122"/>
                <a:cs typeface="Inter" pitchFamily="34" charset="-120"/>
              </a:rPr>
              <a:t>FPGA kernel only</a:t>
            </a:r>
            <a:endParaRPr lang="en-US" sz="1050" dirty="0"/>
          </a:p>
        </p:txBody>
      </p:sp>
      <p:sp>
        <p:nvSpPr>
          <p:cNvPr id="103" name="Shape 101"/>
          <p:cNvSpPr/>
          <p:nvPr/>
        </p:nvSpPr>
        <p:spPr>
          <a:xfrm>
            <a:off x="8942832" y="4407408"/>
            <a:ext cx="2523744" cy="822960"/>
          </a:xfrm>
          <a:prstGeom prst="roundRect">
            <a:avLst>
              <a:gd name="adj" fmla="val 8889"/>
            </a:avLst>
          </a:prstGeom>
          <a:solidFill>
            <a:srgbClr val="0D1C2D"/>
          </a:solidFill>
          <a:ln w="12700">
            <a:solidFill>
              <a:srgbClr val="FF6B76">
                <a:alpha val="45000"/>
              </a:srgbClr>
            </a:solidFill>
            <a:prstDash val="solid"/>
          </a:ln>
          <a:effectLst>
            <a:outerShdw algn="bl" rotWithShape="0">
              <a:srgbClr val="000000">
                <a:alpha val="0"/>
              </a:srgbClr>
            </a:outerShdw>
          </a:effectLst>
        </p:spPr>
        <p:txBody>
          <a:bodyPr/>
          <a:lstStyle/>
          <a:p>
            <a:endParaRPr lang="en-US"/>
          </a:p>
        </p:txBody>
      </p:sp>
      <p:sp>
        <p:nvSpPr>
          <p:cNvPr id="104" name="Shape 102"/>
          <p:cNvSpPr/>
          <p:nvPr/>
        </p:nvSpPr>
        <p:spPr>
          <a:xfrm>
            <a:off x="9089136" y="4553712"/>
            <a:ext cx="0" cy="530352"/>
          </a:xfrm>
          <a:prstGeom prst="line">
            <a:avLst/>
          </a:prstGeom>
          <a:noFill/>
          <a:ln w="44450">
            <a:solidFill>
              <a:srgbClr val="FF6B76"/>
            </a:solidFill>
            <a:prstDash val="solid"/>
          </a:ln>
        </p:spPr>
        <p:txBody>
          <a:bodyPr/>
          <a:lstStyle/>
          <a:p>
            <a:endParaRPr lang="en-US"/>
          </a:p>
        </p:txBody>
      </p:sp>
      <p:sp>
        <p:nvSpPr>
          <p:cNvPr id="105" name="Text 103"/>
          <p:cNvSpPr/>
          <p:nvPr/>
        </p:nvSpPr>
        <p:spPr>
          <a:xfrm>
            <a:off x="9253728" y="4544568"/>
            <a:ext cx="2084832" cy="347472"/>
          </a:xfrm>
          <a:prstGeom prst="rect">
            <a:avLst/>
          </a:prstGeom>
          <a:noFill/>
          <a:ln/>
        </p:spPr>
        <p:txBody>
          <a:bodyPr wrap="square" lIns="0" tIns="0" rIns="0" bIns="0" rtlCol="0" anchor="ctr">
            <a:normAutofit/>
          </a:bodyPr>
          <a:lstStyle/>
          <a:p>
            <a:pPr marL="0" indent="0">
              <a:buNone/>
            </a:pPr>
            <a:r>
              <a:rPr lang="en-US" sz="2200" b="1" dirty="0">
                <a:solidFill>
                  <a:srgbClr val="F4F8FB"/>
                </a:solidFill>
                <a:latin typeface="Inter Display" pitchFamily="34" charset="0"/>
                <a:ea typeface="Inter Display" pitchFamily="34" charset="-122"/>
                <a:cs typeface="Inter Display" pitchFamily="34" charset="-120"/>
              </a:rPr>
              <a:t>48.08 ms</a:t>
            </a:r>
            <a:endParaRPr lang="en-US" sz="2200" dirty="0"/>
          </a:p>
        </p:txBody>
      </p:sp>
      <p:sp>
        <p:nvSpPr>
          <p:cNvPr id="106" name="Text 104"/>
          <p:cNvSpPr/>
          <p:nvPr/>
        </p:nvSpPr>
        <p:spPr>
          <a:xfrm>
            <a:off x="9253728" y="4937760"/>
            <a:ext cx="2084832" cy="228600"/>
          </a:xfrm>
          <a:prstGeom prst="rect">
            <a:avLst/>
          </a:prstGeom>
          <a:noFill/>
          <a:ln/>
        </p:spPr>
        <p:txBody>
          <a:bodyPr wrap="square" lIns="0" tIns="0" rIns="0" bIns="0" rtlCol="0" anchor="ctr">
            <a:normAutofit/>
          </a:bodyPr>
          <a:lstStyle/>
          <a:p>
            <a:pPr marL="0" indent="0">
              <a:buNone/>
            </a:pPr>
            <a:r>
              <a:rPr lang="en-US" sz="1050" b="1" dirty="0">
                <a:solidFill>
                  <a:srgbClr val="FF6B76"/>
                </a:solidFill>
                <a:latin typeface="Inter" pitchFamily="34" charset="0"/>
                <a:ea typeface="Inter" pitchFamily="34" charset="-122"/>
                <a:cs typeface="Inter" pitchFamily="34" charset="-120"/>
              </a:rPr>
              <a:t>estimated FPGA app path</a:t>
            </a:r>
            <a:endParaRPr lang="en-US" sz="1050" dirty="0"/>
          </a:p>
        </p:txBody>
      </p:sp>
      <p:sp>
        <p:nvSpPr>
          <p:cNvPr id="107" name="Shape 105"/>
          <p:cNvSpPr/>
          <p:nvPr/>
        </p:nvSpPr>
        <p:spPr>
          <a:xfrm>
            <a:off x="8961120" y="5422392"/>
            <a:ext cx="1060704" cy="292608"/>
          </a:xfrm>
          <a:prstGeom prst="roundRect">
            <a:avLst>
              <a:gd name="adj" fmla="val 50000"/>
            </a:avLst>
          </a:prstGeom>
          <a:solidFill>
            <a:srgbClr val="132943"/>
          </a:solidFill>
          <a:ln w="10160">
            <a:solidFill>
              <a:srgbClr val="FFA24C">
                <a:alpha val="75000"/>
              </a:srgbClr>
            </a:solidFill>
            <a:prstDash val="solid"/>
          </a:ln>
        </p:spPr>
        <p:txBody>
          <a:bodyPr/>
          <a:lstStyle/>
          <a:p>
            <a:endParaRPr lang="en-US"/>
          </a:p>
        </p:txBody>
      </p:sp>
      <p:sp>
        <p:nvSpPr>
          <p:cNvPr id="108" name="Text 106"/>
          <p:cNvSpPr/>
          <p:nvPr/>
        </p:nvSpPr>
        <p:spPr>
          <a:xfrm>
            <a:off x="9034272" y="5486400"/>
            <a:ext cx="914400" cy="146304"/>
          </a:xfrm>
          <a:prstGeom prst="rect">
            <a:avLst/>
          </a:prstGeom>
          <a:noFill/>
          <a:ln/>
        </p:spPr>
        <p:txBody>
          <a:bodyPr wrap="square" lIns="0" tIns="0" rIns="0" bIns="0" rtlCol="0" anchor="ctr">
            <a:normAutofit/>
          </a:bodyPr>
          <a:lstStyle/>
          <a:p>
            <a:pPr marL="0" indent="0" algn="ctr">
              <a:buNone/>
            </a:pPr>
            <a:r>
              <a:rPr lang="en-US" sz="820" b="1" dirty="0">
                <a:solidFill>
                  <a:srgbClr val="FFA24C"/>
                </a:solidFill>
                <a:latin typeface="Inter" pitchFamily="34" charset="0"/>
                <a:ea typeface="Inter" pitchFamily="34" charset="-122"/>
                <a:cs typeface="Inter" pitchFamily="34" charset="-120"/>
              </a:rPr>
              <a:t>0.78×</a:t>
            </a:r>
            <a:endParaRPr lang="en-US" sz="820" dirty="0"/>
          </a:p>
        </p:txBody>
      </p:sp>
      <p:sp>
        <p:nvSpPr>
          <p:cNvPr id="109" name="Text 107"/>
          <p:cNvSpPr/>
          <p:nvPr/>
        </p:nvSpPr>
        <p:spPr>
          <a:xfrm>
            <a:off x="10104120" y="5468112"/>
            <a:ext cx="1298448" cy="146304"/>
          </a:xfrm>
          <a:prstGeom prst="rect">
            <a:avLst/>
          </a:prstGeom>
          <a:noFill/>
          <a:ln/>
        </p:spPr>
        <p:txBody>
          <a:bodyPr wrap="square" lIns="0" tIns="0" rIns="0" bIns="0" rtlCol="0" anchor="ctr"/>
          <a:lstStyle/>
          <a:p>
            <a:pPr marL="0" indent="0">
              <a:buNone/>
            </a:pPr>
            <a:r>
              <a:rPr lang="en-US" sz="760" dirty="0">
                <a:solidFill>
                  <a:srgbClr val="A8B6C5"/>
                </a:solidFill>
                <a:latin typeface="Inter" pitchFamily="34" charset="0"/>
                <a:ea typeface="Inter" pitchFamily="34" charset="-122"/>
                <a:cs typeface="Inter" pitchFamily="34" charset="-120"/>
              </a:rPr>
              <a:t>kernel vs CPU total</a:t>
            </a:r>
            <a:endParaRPr lang="en-US" sz="760" dirty="0"/>
          </a:p>
        </p:txBody>
      </p:sp>
      <p:sp>
        <p:nvSpPr>
          <p:cNvPr id="110" name="Shape 108"/>
          <p:cNvSpPr/>
          <p:nvPr/>
        </p:nvSpPr>
        <p:spPr>
          <a:xfrm>
            <a:off x="8961120" y="5760720"/>
            <a:ext cx="1060704" cy="292608"/>
          </a:xfrm>
          <a:prstGeom prst="roundRect">
            <a:avLst>
              <a:gd name="adj" fmla="val 50000"/>
            </a:avLst>
          </a:prstGeom>
          <a:solidFill>
            <a:srgbClr val="132943"/>
          </a:solidFill>
          <a:ln w="10160">
            <a:solidFill>
              <a:srgbClr val="FF6B76">
                <a:alpha val="75000"/>
              </a:srgbClr>
            </a:solidFill>
            <a:prstDash val="solid"/>
          </a:ln>
        </p:spPr>
        <p:txBody>
          <a:bodyPr/>
          <a:lstStyle/>
          <a:p>
            <a:endParaRPr lang="en-US"/>
          </a:p>
        </p:txBody>
      </p:sp>
      <p:sp>
        <p:nvSpPr>
          <p:cNvPr id="111" name="Text 109"/>
          <p:cNvSpPr/>
          <p:nvPr/>
        </p:nvSpPr>
        <p:spPr>
          <a:xfrm>
            <a:off x="9034272" y="5824728"/>
            <a:ext cx="914400" cy="146304"/>
          </a:xfrm>
          <a:prstGeom prst="rect">
            <a:avLst/>
          </a:prstGeom>
          <a:noFill/>
          <a:ln/>
        </p:spPr>
        <p:txBody>
          <a:bodyPr wrap="square" lIns="0" tIns="0" rIns="0" bIns="0" rtlCol="0" anchor="ctr">
            <a:normAutofit/>
          </a:bodyPr>
          <a:lstStyle/>
          <a:p>
            <a:pPr marL="0" indent="0" algn="ctr">
              <a:buNone/>
            </a:pPr>
            <a:r>
              <a:rPr lang="en-US" sz="820" b="1" dirty="0">
                <a:solidFill>
                  <a:srgbClr val="FF6B76"/>
                </a:solidFill>
                <a:latin typeface="Inter" pitchFamily="34" charset="0"/>
                <a:ea typeface="Inter" pitchFamily="34" charset="-122"/>
                <a:cs typeface="Inter" pitchFamily="34" charset="-120"/>
              </a:rPr>
              <a:t>0.69×</a:t>
            </a:r>
            <a:endParaRPr lang="en-US" sz="820" dirty="0"/>
          </a:p>
        </p:txBody>
      </p:sp>
      <p:sp>
        <p:nvSpPr>
          <p:cNvPr id="112" name="Text 110"/>
          <p:cNvSpPr/>
          <p:nvPr/>
        </p:nvSpPr>
        <p:spPr>
          <a:xfrm>
            <a:off x="10104120" y="5806440"/>
            <a:ext cx="1298448" cy="146304"/>
          </a:xfrm>
          <a:prstGeom prst="rect">
            <a:avLst/>
          </a:prstGeom>
          <a:noFill/>
          <a:ln/>
        </p:spPr>
        <p:txBody>
          <a:bodyPr wrap="square" lIns="0" tIns="0" rIns="0" bIns="0" rtlCol="0" anchor="ctr"/>
          <a:lstStyle/>
          <a:p>
            <a:pPr marL="0" indent="0">
              <a:buNone/>
            </a:pPr>
            <a:r>
              <a:rPr lang="en-US" sz="760" dirty="0">
                <a:solidFill>
                  <a:srgbClr val="A8B6C5"/>
                </a:solidFill>
                <a:latin typeface="Inter" pitchFamily="34" charset="0"/>
                <a:ea typeface="Inter" pitchFamily="34" charset="-122"/>
                <a:cs typeface="Inter" pitchFamily="34" charset="-120"/>
              </a:rPr>
              <a:t>estimated app vs CPU</a:t>
            </a:r>
            <a:endParaRPr lang="en-US" sz="760" dirty="0"/>
          </a:p>
        </p:txBody>
      </p:sp>
      <p:sp>
        <p:nvSpPr>
          <p:cNvPr id="115" name="Shape 113"/>
          <p:cNvSpPr/>
          <p:nvPr/>
        </p:nvSpPr>
        <p:spPr>
          <a:xfrm>
            <a:off x="438912" y="6519672"/>
            <a:ext cx="11064240" cy="0"/>
          </a:xfrm>
          <a:prstGeom prst="line">
            <a:avLst/>
          </a:prstGeom>
          <a:noFill/>
          <a:ln w="10160">
            <a:solidFill>
              <a:srgbClr val="22384E">
                <a:alpha val="70000"/>
              </a:srgbClr>
            </a:solidFill>
            <a:prstDash val="solid"/>
          </a:ln>
        </p:spPr>
        <p:txBody>
          <a:bodyPr/>
          <a:lstStyle/>
          <a:p>
            <a:endParaRPr lang="en-US"/>
          </a:p>
        </p:txBody>
      </p:sp>
      <p:sp>
        <p:nvSpPr>
          <p:cNvPr id="117" name="Slide Number Placeholder 0"/>
          <p:cNvSpPr>
            <a:spLocks noGrp="1"/>
          </p:cNvSpPr>
          <p:nvPr>
            <p:ph type="sldNum" sz="quarter" idx="4294967295"/>
          </p:nvPr>
        </p:nvSpPr>
        <p:spPr>
          <a:xfrm>
            <a:off x="11430000" y="6473952"/>
            <a:ext cx="438912"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7890A4"/>
                </a:solidFill>
                <a:latin typeface="Inter"/>
                <a:ea typeface="Inter"/>
                <a:cs typeface="Inter"/>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9802368" y="0"/>
            <a:ext cx="2386584" cy="2971800"/>
          </a:xfrm>
          <a:prstGeom prst="ellipse">
            <a:avLst/>
          </a:prstGeom>
          <a:solidFill>
            <a:srgbClr val="38D9E6">
              <a:alpha val="8000"/>
            </a:srgbClr>
          </a:solidFill>
          <a:ln w="12700">
            <a:solidFill>
              <a:srgbClr val="38D9E6">
                <a:alpha val="0"/>
              </a:srgbClr>
            </a:solidFill>
            <a:prstDash val="solid"/>
          </a:ln>
        </p:spPr>
        <p:txBody>
          <a:bodyPr/>
          <a:lstStyle/>
          <a:p>
            <a:endParaRPr lang="en-US"/>
          </a:p>
        </p:txBody>
      </p:sp>
      <p:sp>
        <p:nvSpPr>
          <p:cNvPr id="3" name="Shape 1"/>
          <p:cNvSpPr/>
          <p:nvPr/>
        </p:nvSpPr>
        <p:spPr>
          <a:xfrm>
            <a:off x="0" y="5230368"/>
            <a:ext cx="2395728" cy="1627632"/>
          </a:xfrm>
          <a:prstGeom prst="ellipse">
            <a:avLst/>
          </a:prstGeom>
          <a:solidFill>
            <a:srgbClr val="668EFF">
              <a:alpha val="6000"/>
            </a:srgbClr>
          </a:solidFill>
          <a:ln w="12700">
            <a:solidFill>
              <a:srgbClr val="668EFF">
                <a:alpha val="0"/>
              </a:srgbClr>
            </a:solidFill>
            <a:prstDash val="solid"/>
          </a:ln>
        </p:spPr>
        <p:txBody>
          <a:bodyPr/>
          <a:lstStyle/>
          <a:p>
            <a:endParaRPr lang="en-US"/>
          </a:p>
        </p:txBody>
      </p:sp>
      <p:sp>
        <p:nvSpPr>
          <p:cNvPr id="4" name="Shape 2"/>
          <p:cNvSpPr/>
          <p:nvPr/>
        </p:nvSpPr>
        <p:spPr>
          <a:xfrm>
            <a:off x="457200" y="0"/>
            <a:ext cx="0" cy="6858000"/>
          </a:xfrm>
          <a:prstGeom prst="line">
            <a:avLst/>
          </a:prstGeom>
          <a:noFill/>
          <a:ln w="5080">
            <a:solidFill>
              <a:srgbClr val="22384E">
                <a:alpha val="6000"/>
              </a:srgbClr>
            </a:solidFill>
            <a:prstDash val="solid"/>
          </a:ln>
        </p:spPr>
        <p:txBody>
          <a:bodyPr/>
          <a:lstStyle/>
          <a:p>
            <a:endParaRPr lang="en-US"/>
          </a:p>
        </p:txBody>
      </p:sp>
      <p:sp>
        <p:nvSpPr>
          <p:cNvPr id="5" name="Shape 3"/>
          <p:cNvSpPr/>
          <p:nvPr/>
        </p:nvSpPr>
        <p:spPr>
          <a:xfrm>
            <a:off x="960120" y="0"/>
            <a:ext cx="0" cy="6858000"/>
          </a:xfrm>
          <a:prstGeom prst="line">
            <a:avLst/>
          </a:prstGeom>
          <a:noFill/>
          <a:ln w="5080">
            <a:solidFill>
              <a:srgbClr val="22384E">
                <a:alpha val="6000"/>
              </a:srgbClr>
            </a:solidFill>
            <a:prstDash val="solid"/>
          </a:ln>
        </p:spPr>
        <p:txBody>
          <a:bodyPr/>
          <a:lstStyle/>
          <a:p>
            <a:endParaRPr lang="en-US"/>
          </a:p>
        </p:txBody>
      </p:sp>
      <p:sp>
        <p:nvSpPr>
          <p:cNvPr id="6" name="Shape 4"/>
          <p:cNvSpPr/>
          <p:nvPr/>
        </p:nvSpPr>
        <p:spPr>
          <a:xfrm>
            <a:off x="1463040" y="0"/>
            <a:ext cx="0" cy="6858000"/>
          </a:xfrm>
          <a:prstGeom prst="line">
            <a:avLst/>
          </a:prstGeom>
          <a:noFill/>
          <a:ln w="5080">
            <a:solidFill>
              <a:srgbClr val="22384E">
                <a:alpha val="6000"/>
              </a:srgbClr>
            </a:solidFill>
            <a:prstDash val="solid"/>
          </a:ln>
        </p:spPr>
        <p:txBody>
          <a:bodyPr/>
          <a:lstStyle/>
          <a:p>
            <a:endParaRPr lang="en-US"/>
          </a:p>
        </p:txBody>
      </p:sp>
      <p:sp>
        <p:nvSpPr>
          <p:cNvPr id="7" name="Shape 5"/>
          <p:cNvSpPr/>
          <p:nvPr/>
        </p:nvSpPr>
        <p:spPr>
          <a:xfrm>
            <a:off x="1965960" y="0"/>
            <a:ext cx="0" cy="6858000"/>
          </a:xfrm>
          <a:prstGeom prst="line">
            <a:avLst/>
          </a:prstGeom>
          <a:noFill/>
          <a:ln w="5080">
            <a:solidFill>
              <a:srgbClr val="22384E">
                <a:alpha val="6000"/>
              </a:srgbClr>
            </a:solidFill>
            <a:prstDash val="solid"/>
          </a:ln>
        </p:spPr>
        <p:txBody>
          <a:bodyPr/>
          <a:lstStyle/>
          <a:p>
            <a:endParaRPr lang="en-US"/>
          </a:p>
        </p:txBody>
      </p:sp>
      <p:sp>
        <p:nvSpPr>
          <p:cNvPr id="8" name="Shape 6"/>
          <p:cNvSpPr/>
          <p:nvPr/>
        </p:nvSpPr>
        <p:spPr>
          <a:xfrm>
            <a:off x="2468880" y="0"/>
            <a:ext cx="0" cy="6858000"/>
          </a:xfrm>
          <a:prstGeom prst="line">
            <a:avLst/>
          </a:prstGeom>
          <a:noFill/>
          <a:ln w="5080">
            <a:solidFill>
              <a:srgbClr val="22384E">
                <a:alpha val="6000"/>
              </a:srgbClr>
            </a:solidFill>
            <a:prstDash val="solid"/>
          </a:ln>
        </p:spPr>
        <p:txBody>
          <a:bodyPr/>
          <a:lstStyle/>
          <a:p>
            <a:endParaRPr lang="en-US"/>
          </a:p>
        </p:txBody>
      </p:sp>
      <p:sp>
        <p:nvSpPr>
          <p:cNvPr id="9" name="Shape 7"/>
          <p:cNvSpPr/>
          <p:nvPr/>
        </p:nvSpPr>
        <p:spPr>
          <a:xfrm>
            <a:off x="2971800" y="0"/>
            <a:ext cx="0" cy="6858000"/>
          </a:xfrm>
          <a:prstGeom prst="line">
            <a:avLst/>
          </a:prstGeom>
          <a:noFill/>
          <a:ln w="5080">
            <a:solidFill>
              <a:srgbClr val="22384E">
                <a:alpha val="6000"/>
              </a:srgbClr>
            </a:solidFill>
            <a:prstDash val="solid"/>
          </a:ln>
        </p:spPr>
        <p:txBody>
          <a:bodyPr/>
          <a:lstStyle/>
          <a:p>
            <a:endParaRPr lang="en-US"/>
          </a:p>
        </p:txBody>
      </p:sp>
      <p:sp>
        <p:nvSpPr>
          <p:cNvPr id="10" name="Shape 8"/>
          <p:cNvSpPr/>
          <p:nvPr/>
        </p:nvSpPr>
        <p:spPr>
          <a:xfrm>
            <a:off x="3474720" y="0"/>
            <a:ext cx="0" cy="6858000"/>
          </a:xfrm>
          <a:prstGeom prst="line">
            <a:avLst/>
          </a:prstGeom>
          <a:noFill/>
          <a:ln w="5080">
            <a:solidFill>
              <a:srgbClr val="22384E">
                <a:alpha val="6000"/>
              </a:srgbClr>
            </a:solidFill>
            <a:prstDash val="solid"/>
          </a:ln>
        </p:spPr>
        <p:txBody>
          <a:bodyPr/>
          <a:lstStyle/>
          <a:p>
            <a:endParaRPr lang="en-US"/>
          </a:p>
        </p:txBody>
      </p:sp>
      <p:sp>
        <p:nvSpPr>
          <p:cNvPr id="11" name="Shape 9"/>
          <p:cNvSpPr/>
          <p:nvPr/>
        </p:nvSpPr>
        <p:spPr>
          <a:xfrm>
            <a:off x="3977640" y="0"/>
            <a:ext cx="0" cy="6858000"/>
          </a:xfrm>
          <a:prstGeom prst="line">
            <a:avLst/>
          </a:prstGeom>
          <a:noFill/>
          <a:ln w="5080">
            <a:solidFill>
              <a:srgbClr val="22384E">
                <a:alpha val="6000"/>
              </a:srgbClr>
            </a:solidFill>
            <a:prstDash val="solid"/>
          </a:ln>
        </p:spPr>
        <p:txBody>
          <a:bodyPr/>
          <a:lstStyle/>
          <a:p>
            <a:endParaRPr lang="en-US"/>
          </a:p>
        </p:txBody>
      </p:sp>
      <p:sp>
        <p:nvSpPr>
          <p:cNvPr id="12" name="Shape 10"/>
          <p:cNvSpPr/>
          <p:nvPr/>
        </p:nvSpPr>
        <p:spPr>
          <a:xfrm>
            <a:off x="4480560" y="0"/>
            <a:ext cx="0" cy="6858000"/>
          </a:xfrm>
          <a:prstGeom prst="line">
            <a:avLst/>
          </a:prstGeom>
          <a:noFill/>
          <a:ln w="5080">
            <a:solidFill>
              <a:srgbClr val="22384E">
                <a:alpha val="6000"/>
              </a:srgbClr>
            </a:solidFill>
            <a:prstDash val="solid"/>
          </a:ln>
        </p:spPr>
        <p:txBody>
          <a:bodyPr/>
          <a:lstStyle/>
          <a:p>
            <a:endParaRPr lang="en-US"/>
          </a:p>
        </p:txBody>
      </p:sp>
      <p:sp>
        <p:nvSpPr>
          <p:cNvPr id="13" name="Shape 11"/>
          <p:cNvSpPr/>
          <p:nvPr/>
        </p:nvSpPr>
        <p:spPr>
          <a:xfrm>
            <a:off x="4983480" y="0"/>
            <a:ext cx="0" cy="6858000"/>
          </a:xfrm>
          <a:prstGeom prst="line">
            <a:avLst/>
          </a:prstGeom>
          <a:noFill/>
          <a:ln w="5080">
            <a:solidFill>
              <a:srgbClr val="22384E">
                <a:alpha val="6000"/>
              </a:srgbClr>
            </a:solidFill>
            <a:prstDash val="solid"/>
          </a:ln>
        </p:spPr>
        <p:txBody>
          <a:bodyPr/>
          <a:lstStyle/>
          <a:p>
            <a:endParaRPr lang="en-US"/>
          </a:p>
        </p:txBody>
      </p:sp>
      <p:sp>
        <p:nvSpPr>
          <p:cNvPr id="14" name="Shape 12"/>
          <p:cNvSpPr/>
          <p:nvPr/>
        </p:nvSpPr>
        <p:spPr>
          <a:xfrm>
            <a:off x="5486400" y="0"/>
            <a:ext cx="0" cy="6858000"/>
          </a:xfrm>
          <a:prstGeom prst="line">
            <a:avLst/>
          </a:prstGeom>
          <a:noFill/>
          <a:ln w="5080">
            <a:solidFill>
              <a:srgbClr val="22384E">
                <a:alpha val="6000"/>
              </a:srgbClr>
            </a:solidFill>
            <a:prstDash val="solid"/>
          </a:ln>
        </p:spPr>
        <p:txBody>
          <a:bodyPr/>
          <a:lstStyle/>
          <a:p>
            <a:endParaRPr lang="en-US"/>
          </a:p>
        </p:txBody>
      </p:sp>
      <p:sp>
        <p:nvSpPr>
          <p:cNvPr id="15" name="Shape 13"/>
          <p:cNvSpPr/>
          <p:nvPr/>
        </p:nvSpPr>
        <p:spPr>
          <a:xfrm>
            <a:off x="5989320" y="0"/>
            <a:ext cx="0" cy="6858000"/>
          </a:xfrm>
          <a:prstGeom prst="line">
            <a:avLst/>
          </a:prstGeom>
          <a:noFill/>
          <a:ln w="5080">
            <a:solidFill>
              <a:srgbClr val="22384E">
                <a:alpha val="6000"/>
              </a:srgbClr>
            </a:solidFill>
            <a:prstDash val="solid"/>
          </a:ln>
        </p:spPr>
        <p:txBody>
          <a:bodyPr/>
          <a:lstStyle/>
          <a:p>
            <a:endParaRPr lang="en-US"/>
          </a:p>
        </p:txBody>
      </p:sp>
      <p:sp>
        <p:nvSpPr>
          <p:cNvPr id="16" name="Shape 14"/>
          <p:cNvSpPr/>
          <p:nvPr/>
        </p:nvSpPr>
        <p:spPr>
          <a:xfrm>
            <a:off x="6492240" y="0"/>
            <a:ext cx="0" cy="6858000"/>
          </a:xfrm>
          <a:prstGeom prst="line">
            <a:avLst/>
          </a:prstGeom>
          <a:noFill/>
          <a:ln w="5080">
            <a:solidFill>
              <a:srgbClr val="22384E">
                <a:alpha val="6000"/>
              </a:srgbClr>
            </a:solidFill>
            <a:prstDash val="solid"/>
          </a:ln>
        </p:spPr>
        <p:txBody>
          <a:bodyPr/>
          <a:lstStyle/>
          <a:p>
            <a:endParaRPr lang="en-US"/>
          </a:p>
        </p:txBody>
      </p:sp>
      <p:sp>
        <p:nvSpPr>
          <p:cNvPr id="17" name="Shape 15"/>
          <p:cNvSpPr/>
          <p:nvPr/>
        </p:nvSpPr>
        <p:spPr>
          <a:xfrm>
            <a:off x="6995160" y="0"/>
            <a:ext cx="0" cy="6858000"/>
          </a:xfrm>
          <a:prstGeom prst="line">
            <a:avLst/>
          </a:prstGeom>
          <a:noFill/>
          <a:ln w="5080">
            <a:solidFill>
              <a:srgbClr val="22384E">
                <a:alpha val="6000"/>
              </a:srgbClr>
            </a:solidFill>
            <a:prstDash val="solid"/>
          </a:ln>
        </p:spPr>
        <p:txBody>
          <a:bodyPr/>
          <a:lstStyle/>
          <a:p>
            <a:endParaRPr lang="en-US"/>
          </a:p>
        </p:txBody>
      </p:sp>
      <p:sp>
        <p:nvSpPr>
          <p:cNvPr id="18" name="Shape 16"/>
          <p:cNvSpPr/>
          <p:nvPr/>
        </p:nvSpPr>
        <p:spPr>
          <a:xfrm>
            <a:off x="7498080" y="0"/>
            <a:ext cx="0" cy="6858000"/>
          </a:xfrm>
          <a:prstGeom prst="line">
            <a:avLst/>
          </a:prstGeom>
          <a:noFill/>
          <a:ln w="5080">
            <a:solidFill>
              <a:srgbClr val="22384E">
                <a:alpha val="6000"/>
              </a:srgbClr>
            </a:solidFill>
            <a:prstDash val="solid"/>
          </a:ln>
        </p:spPr>
        <p:txBody>
          <a:bodyPr/>
          <a:lstStyle/>
          <a:p>
            <a:endParaRPr lang="en-US"/>
          </a:p>
        </p:txBody>
      </p:sp>
      <p:sp>
        <p:nvSpPr>
          <p:cNvPr id="19" name="Shape 17"/>
          <p:cNvSpPr/>
          <p:nvPr/>
        </p:nvSpPr>
        <p:spPr>
          <a:xfrm>
            <a:off x="8001000" y="0"/>
            <a:ext cx="0" cy="6858000"/>
          </a:xfrm>
          <a:prstGeom prst="line">
            <a:avLst/>
          </a:prstGeom>
          <a:noFill/>
          <a:ln w="5080">
            <a:solidFill>
              <a:srgbClr val="22384E">
                <a:alpha val="6000"/>
              </a:srgbClr>
            </a:solidFill>
            <a:prstDash val="solid"/>
          </a:ln>
        </p:spPr>
        <p:txBody>
          <a:bodyPr/>
          <a:lstStyle/>
          <a:p>
            <a:endParaRPr lang="en-US"/>
          </a:p>
        </p:txBody>
      </p:sp>
      <p:sp>
        <p:nvSpPr>
          <p:cNvPr id="20" name="Shape 18"/>
          <p:cNvSpPr/>
          <p:nvPr/>
        </p:nvSpPr>
        <p:spPr>
          <a:xfrm>
            <a:off x="8503920" y="0"/>
            <a:ext cx="0" cy="6858000"/>
          </a:xfrm>
          <a:prstGeom prst="line">
            <a:avLst/>
          </a:prstGeom>
          <a:noFill/>
          <a:ln w="5080">
            <a:solidFill>
              <a:srgbClr val="22384E">
                <a:alpha val="6000"/>
              </a:srgbClr>
            </a:solidFill>
            <a:prstDash val="solid"/>
          </a:ln>
        </p:spPr>
        <p:txBody>
          <a:bodyPr/>
          <a:lstStyle/>
          <a:p>
            <a:endParaRPr lang="en-US"/>
          </a:p>
        </p:txBody>
      </p:sp>
      <p:sp>
        <p:nvSpPr>
          <p:cNvPr id="21" name="Shape 19"/>
          <p:cNvSpPr/>
          <p:nvPr/>
        </p:nvSpPr>
        <p:spPr>
          <a:xfrm>
            <a:off x="9006840" y="0"/>
            <a:ext cx="0" cy="6858000"/>
          </a:xfrm>
          <a:prstGeom prst="line">
            <a:avLst/>
          </a:prstGeom>
          <a:noFill/>
          <a:ln w="5080">
            <a:solidFill>
              <a:srgbClr val="22384E">
                <a:alpha val="6000"/>
              </a:srgbClr>
            </a:solidFill>
            <a:prstDash val="solid"/>
          </a:ln>
        </p:spPr>
        <p:txBody>
          <a:bodyPr/>
          <a:lstStyle/>
          <a:p>
            <a:endParaRPr lang="en-US"/>
          </a:p>
        </p:txBody>
      </p:sp>
      <p:sp>
        <p:nvSpPr>
          <p:cNvPr id="22" name="Shape 20"/>
          <p:cNvSpPr/>
          <p:nvPr/>
        </p:nvSpPr>
        <p:spPr>
          <a:xfrm>
            <a:off x="9509760" y="0"/>
            <a:ext cx="0" cy="6858000"/>
          </a:xfrm>
          <a:prstGeom prst="line">
            <a:avLst/>
          </a:prstGeom>
          <a:noFill/>
          <a:ln w="5080">
            <a:solidFill>
              <a:srgbClr val="22384E">
                <a:alpha val="6000"/>
              </a:srgbClr>
            </a:solidFill>
            <a:prstDash val="solid"/>
          </a:ln>
        </p:spPr>
        <p:txBody>
          <a:bodyPr/>
          <a:lstStyle/>
          <a:p>
            <a:endParaRPr lang="en-US"/>
          </a:p>
        </p:txBody>
      </p:sp>
      <p:sp>
        <p:nvSpPr>
          <p:cNvPr id="23" name="Shape 21"/>
          <p:cNvSpPr/>
          <p:nvPr/>
        </p:nvSpPr>
        <p:spPr>
          <a:xfrm>
            <a:off x="10012680" y="0"/>
            <a:ext cx="0" cy="6858000"/>
          </a:xfrm>
          <a:prstGeom prst="line">
            <a:avLst/>
          </a:prstGeom>
          <a:noFill/>
          <a:ln w="5080">
            <a:solidFill>
              <a:srgbClr val="22384E">
                <a:alpha val="6000"/>
              </a:srgbClr>
            </a:solidFill>
            <a:prstDash val="solid"/>
          </a:ln>
        </p:spPr>
        <p:txBody>
          <a:bodyPr/>
          <a:lstStyle/>
          <a:p>
            <a:endParaRPr lang="en-US"/>
          </a:p>
        </p:txBody>
      </p:sp>
      <p:sp>
        <p:nvSpPr>
          <p:cNvPr id="24" name="Shape 22"/>
          <p:cNvSpPr/>
          <p:nvPr/>
        </p:nvSpPr>
        <p:spPr>
          <a:xfrm>
            <a:off x="10515600" y="0"/>
            <a:ext cx="0" cy="6858000"/>
          </a:xfrm>
          <a:prstGeom prst="line">
            <a:avLst/>
          </a:prstGeom>
          <a:noFill/>
          <a:ln w="5080">
            <a:solidFill>
              <a:srgbClr val="22384E">
                <a:alpha val="6000"/>
              </a:srgbClr>
            </a:solidFill>
            <a:prstDash val="solid"/>
          </a:ln>
        </p:spPr>
        <p:txBody>
          <a:bodyPr/>
          <a:lstStyle/>
          <a:p>
            <a:endParaRPr lang="en-US"/>
          </a:p>
        </p:txBody>
      </p:sp>
      <p:sp>
        <p:nvSpPr>
          <p:cNvPr id="25" name="Shape 23"/>
          <p:cNvSpPr/>
          <p:nvPr/>
        </p:nvSpPr>
        <p:spPr>
          <a:xfrm>
            <a:off x="11018520" y="0"/>
            <a:ext cx="0" cy="6858000"/>
          </a:xfrm>
          <a:prstGeom prst="line">
            <a:avLst/>
          </a:prstGeom>
          <a:noFill/>
          <a:ln w="5080">
            <a:solidFill>
              <a:srgbClr val="22384E">
                <a:alpha val="6000"/>
              </a:srgbClr>
            </a:solidFill>
            <a:prstDash val="solid"/>
          </a:ln>
        </p:spPr>
        <p:txBody>
          <a:bodyPr/>
          <a:lstStyle/>
          <a:p>
            <a:endParaRPr lang="en-US"/>
          </a:p>
        </p:txBody>
      </p:sp>
      <p:sp>
        <p:nvSpPr>
          <p:cNvPr id="26" name="Shape 24"/>
          <p:cNvSpPr/>
          <p:nvPr/>
        </p:nvSpPr>
        <p:spPr>
          <a:xfrm>
            <a:off x="11521440" y="0"/>
            <a:ext cx="0" cy="6858000"/>
          </a:xfrm>
          <a:prstGeom prst="line">
            <a:avLst/>
          </a:prstGeom>
          <a:noFill/>
          <a:ln w="5080">
            <a:solidFill>
              <a:srgbClr val="22384E">
                <a:alpha val="6000"/>
              </a:srgbClr>
            </a:solidFill>
            <a:prstDash val="solid"/>
          </a:ln>
        </p:spPr>
        <p:txBody>
          <a:bodyPr/>
          <a:lstStyle/>
          <a:p>
            <a:endParaRPr lang="en-US"/>
          </a:p>
        </p:txBody>
      </p:sp>
      <p:sp>
        <p:nvSpPr>
          <p:cNvPr id="27" name="Shape 25"/>
          <p:cNvSpPr/>
          <p:nvPr/>
        </p:nvSpPr>
        <p:spPr>
          <a:xfrm>
            <a:off x="0" y="320040"/>
            <a:ext cx="12191695" cy="0"/>
          </a:xfrm>
          <a:prstGeom prst="line">
            <a:avLst/>
          </a:prstGeom>
          <a:noFill/>
          <a:ln w="5080">
            <a:solidFill>
              <a:srgbClr val="22384E">
                <a:alpha val="5000"/>
              </a:srgbClr>
            </a:solidFill>
            <a:prstDash val="solid"/>
          </a:ln>
        </p:spPr>
        <p:txBody>
          <a:bodyPr/>
          <a:lstStyle/>
          <a:p>
            <a:endParaRPr lang="en-US"/>
          </a:p>
        </p:txBody>
      </p:sp>
      <p:sp>
        <p:nvSpPr>
          <p:cNvPr id="28" name="Shape 26"/>
          <p:cNvSpPr/>
          <p:nvPr/>
        </p:nvSpPr>
        <p:spPr>
          <a:xfrm>
            <a:off x="0" y="822960"/>
            <a:ext cx="12191695" cy="0"/>
          </a:xfrm>
          <a:prstGeom prst="line">
            <a:avLst/>
          </a:prstGeom>
          <a:noFill/>
          <a:ln w="5080">
            <a:solidFill>
              <a:srgbClr val="22384E">
                <a:alpha val="5000"/>
              </a:srgbClr>
            </a:solidFill>
            <a:prstDash val="solid"/>
          </a:ln>
        </p:spPr>
        <p:txBody>
          <a:bodyPr/>
          <a:lstStyle/>
          <a:p>
            <a:endParaRPr lang="en-US"/>
          </a:p>
        </p:txBody>
      </p:sp>
      <p:sp>
        <p:nvSpPr>
          <p:cNvPr id="29" name="Shape 27"/>
          <p:cNvSpPr/>
          <p:nvPr/>
        </p:nvSpPr>
        <p:spPr>
          <a:xfrm>
            <a:off x="0" y="1325880"/>
            <a:ext cx="12191695" cy="0"/>
          </a:xfrm>
          <a:prstGeom prst="line">
            <a:avLst/>
          </a:prstGeom>
          <a:noFill/>
          <a:ln w="5080">
            <a:solidFill>
              <a:srgbClr val="22384E">
                <a:alpha val="5000"/>
              </a:srgbClr>
            </a:solidFill>
            <a:prstDash val="solid"/>
          </a:ln>
        </p:spPr>
        <p:txBody>
          <a:bodyPr/>
          <a:lstStyle/>
          <a:p>
            <a:endParaRPr lang="en-US"/>
          </a:p>
        </p:txBody>
      </p:sp>
      <p:sp>
        <p:nvSpPr>
          <p:cNvPr id="30" name="Shape 28"/>
          <p:cNvSpPr/>
          <p:nvPr/>
        </p:nvSpPr>
        <p:spPr>
          <a:xfrm>
            <a:off x="0" y="1828800"/>
            <a:ext cx="12191695" cy="0"/>
          </a:xfrm>
          <a:prstGeom prst="line">
            <a:avLst/>
          </a:prstGeom>
          <a:noFill/>
          <a:ln w="5080">
            <a:solidFill>
              <a:srgbClr val="22384E">
                <a:alpha val="5000"/>
              </a:srgbClr>
            </a:solidFill>
            <a:prstDash val="solid"/>
          </a:ln>
        </p:spPr>
        <p:txBody>
          <a:bodyPr/>
          <a:lstStyle/>
          <a:p>
            <a:endParaRPr lang="en-US"/>
          </a:p>
        </p:txBody>
      </p:sp>
      <p:sp>
        <p:nvSpPr>
          <p:cNvPr id="31" name="Shape 29"/>
          <p:cNvSpPr/>
          <p:nvPr/>
        </p:nvSpPr>
        <p:spPr>
          <a:xfrm>
            <a:off x="0" y="2331720"/>
            <a:ext cx="12191695" cy="0"/>
          </a:xfrm>
          <a:prstGeom prst="line">
            <a:avLst/>
          </a:prstGeom>
          <a:noFill/>
          <a:ln w="5080">
            <a:solidFill>
              <a:srgbClr val="22384E">
                <a:alpha val="5000"/>
              </a:srgbClr>
            </a:solidFill>
            <a:prstDash val="solid"/>
          </a:ln>
        </p:spPr>
        <p:txBody>
          <a:bodyPr/>
          <a:lstStyle/>
          <a:p>
            <a:endParaRPr lang="en-US"/>
          </a:p>
        </p:txBody>
      </p:sp>
      <p:sp>
        <p:nvSpPr>
          <p:cNvPr id="32" name="Shape 30"/>
          <p:cNvSpPr/>
          <p:nvPr/>
        </p:nvSpPr>
        <p:spPr>
          <a:xfrm>
            <a:off x="0" y="2834640"/>
            <a:ext cx="12191695" cy="0"/>
          </a:xfrm>
          <a:prstGeom prst="line">
            <a:avLst/>
          </a:prstGeom>
          <a:noFill/>
          <a:ln w="5080">
            <a:solidFill>
              <a:srgbClr val="22384E">
                <a:alpha val="5000"/>
              </a:srgbClr>
            </a:solidFill>
            <a:prstDash val="solid"/>
          </a:ln>
        </p:spPr>
        <p:txBody>
          <a:bodyPr/>
          <a:lstStyle/>
          <a:p>
            <a:endParaRPr lang="en-US"/>
          </a:p>
        </p:txBody>
      </p:sp>
      <p:sp>
        <p:nvSpPr>
          <p:cNvPr id="33" name="Shape 31"/>
          <p:cNvSpPr/>
          <p:nvPr/>
        </p:nvSpPr>
        <p:spPr>
          <a:xfrm>
            <a:off x="0" y="3337560"/>
            <a:ext cx="12191695" cy="0"/>
          </a:xfrm>
          <a:prstGeom prst="line">
            <a:avLst/>
          </a:prstGeom>
          <a:noFill/>
          <a:ln w="5080">
            <a:solidFill>
              <a:srgbClr val="22384E">
                <a:alpha val="5000"/>
              </a:srgbClr>
            </a:solidFill>
            <a:prstDash val="solid"/>
          </a:ln>
        </p:spPr>
        <p:txBody>
          <a:bodyPr/>
          <a:lstStyle/>
          <a:p>
            <a:endParaRPr lang="en-US"/>
          </a:p>
        </p:txBody>
      </p:sp>
      <p:sp>
        <p:nvSpPr>
          <p:cNvPr id="34" name="Shape 32"/>
          <p:cNvSpPr/>
          <p:nvPr/>
        </p:nvSpPr>
        <p:spPr>
          <a:xfrm>
            <a:off x="0" y="3840480"/>
            <a:ext cx="12191695" cy="0"/>
          </a:xfrm>
          <a:prstGeom prst="line">
            <a:avLst/>
          </a:prstGeom>
          <a:noFill/>
          <a:ln w="5080">
            <a:solidFill>
              <a:srgbClr val="22384E">
                <a:alpha val="5000"/>
              </a:srgbClr>
            </a:solidFill>
            <a:prstDash val="solid"/>
          </a:ln>
        </p:spPr>
        <p:txBody>
          <a:bodyPr/>
          <a:lstStyle/>
          <a:p>
            <a:endParaRPr lang="en-US"/>
          </a:p>
        </p:txBody>
      </p:sp>
      <p:sp>
        <p:nvSpPr>
          <p:cNvPr id="35" name="Shape 33"/>
          <p:cNvSpPr/>
          <p:nvPr/>
        </p:nvSpPr>
        <p:spPr>
          <a:xfrm>
            <a:off x="0" y="4343400"/>
            <a:ext cx="12191695" cy="0"/>
          </a:xfrm>
          <a:prstGeom prst="line">
            <a:avLst/>
          </a:prstGeom>
          <a:noFill/>
          <a:ln w="5080">
            <a:solidFill>
              <a:srgbClr val="22384E">
                <a:alpha val="5000"/>
              </a:srgbClr>
            </a:solidFill>
            <a:prstDash val="solid"/>
          </a:ln>
        </p:spPr>
        <p:txBody>
          <a:bodyPr/>
          <a:lstStyle/>
          <a:p>
            <a:endParaRPr lang="en-US"/>
          </a:p>
        </p:txBody>
      </p:sp>
      <p:sp>
        <p:nvSpPr>
          <p:cNvPr id="36" name="Shape 34"/>
          <p:cNvSpPr/>
          <p:nvPr/>
        </p:nvSpPr>
        <p:spPr>
          <a:xfrm>
            <a:off x="0" y="4846320"/>
            <a:ext cx="12191695" cy="0"/>
          </a:xfrm>
          <a:prstGeom prst="line">
            <a:avLst/>
          </a:prstGeom>
          <a:noFill/>
          <a:ln w="5080">
            <a:solidFill>
              <a:srgbClr val="22384E">
                <a:alpha val="5000"/>
              </a:srgbClr>
            </a:solidFill>
            <a:prstDash val="solid"/>
          </a:ln>
        </p:spPr>
        <p:txBody>
          <a:bodyPr/>
          <a:lstStyle/>
          <a:p>
            <a:endParaRPr lang="en-US"/>
          </a:p>
        </p:txBody>
      </p:sp>
      <p:sp>
        <p:nvSpPr>
          <p:cNvPr id="37" name="Shape 35"/>
          <p:cNvSpPr/>
          <p:nvPr/>
        </p:nvSpPr>
        <p:spPr>
          <a:xfrm>
            <a:off x="0" y="5349240"/>
            <a:ext cx="12191695" cy="0"/>
          </a:xfrm>
          <a:prstGeom prst="line">
            <a:avLst/>
          </a:prstGeom>
          <a:noFill/>
          <a:ln w="5080">
            <a:solidFill>
              <a:srgbClr val="22384E">
                <a:alpha val="5000"/>
              </a:srgbClr>
            </a:solidFill>
            <a:prstDash val="solid"/>
          </a:ln>
        </p:spPr>
        <p:txBody>
          <a:bodyPr/>
          <a:lstStyle/>
          <a:p>
            <a:endParaRPr lang="en-US"/>
          </a:p>
        </p:txBody>
      </p:sp>
      <p:sp>
        <p:nvSpPr>
          <p:cNvPr id="38" name="Shape 36"/>
          <p:cNvSpPr/>
          <p:nvPr/>
        </p:nvSpPr>
        <p:spPr>
          <a:xfrm>
            <a:off x="0" y="5852160"/>
            <a:ext cx="12191695" cy="0"/>
          </a:xfrm>
          <a:prstGeom prst="line">
            <a:avLst/>
          </a:prstGeom>
          <a:noFill/>
          <a:ln w="5080">
            <a:solidFill>
              <a:srgbClr val="22384E">
                <a:alpha val="5000"/>
              </a:srgbClr>
            </a:solidFill>
            <a:prstDash val="solid"/>
          </a:ln>
        </p:spPr>
        <p:txBody>
          <a:bodyPr/>
          <a:lstStyle/>
          <a:p>
            <a:endParaRPr lang="en-US"/>
          </a:p>
        </p:txBody>
      </p:sp>
      <p:sp>
        <p:nvSpPr>
          <p:cNvPr id="39" name="Shape 37"/>
          <p:cNvSpPr/>
          <p:nvPr/>
        </p:nvSpPr>
        <p:spPr>
          <a:xfrm>
            <a:off x="0" y="6355080"/>
            <a:ext cx="12191695" cy="0"/>
          </a:xfrm>
          <a:prstGeom prst="line">
            <a:avLst/>
          </a:prstGeom>
          <a:noFill/>
          <a:ln w="5080">
            <a:solidFill>
              <a:srgbClr val="22384E">
                <a:alpha val="5000"/>
              </a:srgbClr>
            </a:solidFill>
            <a:prstDash val="solid"/>
          </a:ln>
        </p:spPr>
        <p:txBody>
          <a:bodyPr/>
          <a:lstStyle/>
          <a:p>
            <a:endParaRPr lang="en-US"/>
          </a:p>
        </p:txBody>
      </p:sp>
      <p:sp>
        <p:nvSpPr>
          <p:cNvPr id="40" name="Shape 38"/>
          <p:cNvSpPr/>
          <p:nvPr/>
        </p:nvSpPr>
        <p:spPr>
          <a:xfrm>
            <a:off x="0" y="6858000"/>
            <a:ext cx="12191695" cy="0"/>
          </a:xfrm>
          <a:prstGeom prst="line">
            <a:avLst/>
          </a:prstGeom>
          <a:noFill/>
          <a:ln w="5080">
            <a:solidFill>
              <a:srgbClr val="22384E">
                <a:alpha val="5000"/>
              </a:srgbClr>
            </a:solidFill>
            <a:prstDash val="solid"/>
          </a:ln>
        </p:spPr>
        <p:txBody>
          <a:bodyPr/>
          <a:lstStyle/>
          <a:p>
            <a:endParaRPr lang="en-US"/>
          </a:p>
        </p:txBody>
      </p:sp>
      <p:sp>
        <p:nvSpPr>
          <p:cNvPr id="41" name="Text 39"/>
          <p:cNvSpPr/>
          <p:nvPr/>
        </p:nvSpPr>
        <p:spPr>
          <a:xfrm>
            <a:off x="438912" y="256032"/>
            <a:ext cx="4114800" cy="201168"/>
          </a:xfrm>
          <a:prstGeom prst="rect">
            <a:avLst/>
          </a:prstGeom>
          <a:noFill/>
          <a:ln/>
        </p:spPr>
        <p:txBody>
          <a:bodyPr wrap="square" lIns="0" tIns="0" rIns="0" bIns="0" rtlCol="0" anchor="ctr"/>
          <a:lstStyle/>
          <a:p>
            <a:pPr marL="0" indent="0">
              <a:buNone/>
            </a:pPr>
            <a:r>
              <a:rPr lang="en-US" sz="950" b="1" kern="0" spc="170" dirty="0">
                <a:solidFill>
                  <a:srgbClr val="38D9E6"/>
                </a:solidFill>
                <a:latin typeface="Inter" pitchFamily="34" charset="0"/>
                <a:ea typeface="Inter" pitchFamily="34" charset="-122"/>
                <a:cs typeface="Inter" pitchFamily="34" charset="-120"/>
              </a:rPr>
              <a:t>DISCUSSION</a:t>
            </a:r>
            <a:endParaRPr lang="en-US" sz="950" dirty="0"/>
          </a:p>
        </p:txBody>
      </p:sp>
      <p:sp>
        <p:nvSpPr>
          <p:cNvPr id="42" name="Shape 40"/>
          <p:cNvSpPr/>
          <p:nvPr/>
        </p:nvSpPr>
        <p:spPr>
          <a:xfrm>
            <a:off x="438912" y="539496"/>
            <a:ext cx="438912" cy="0"/>
          </a:xfrm>
          <a:prstGeom prst="line">
            <a:avLst/>
          </a:prstGeom>
          <a:noFill/>
          <a:ln w="44450">
            <a:solidFill>
              <a:srgbClr val="38D9E6"/>
            </a:solidFill>
            <a:prstDash val="solid"/>
            <a:headEnd type="none"/>
            <a:tailEnd type="none"/>
          </a:ln>
        </p:spPr>
        <p:txBody>
          <a:bodyPr/>
          <a:lstStyle/>
          <a:p>
            <a:endParaRPr lang="en-US"/>
          </a:p>
        </p:txBody>
      </p:sp>
      <p:sp>
        <p:nvSpPr>
          <p:cNvPr id="43" name="Text 41"/>
          <p:cNvSpPr/>
          <p:nvPr/>
        </p:nvSpPr>
        <p:spPr>
          <a:xfrm>
            <a:off x="438912" y="658368"/>
            <a:ext cx="11064240" cy="566928"/>
          </a:xfrm>
          <a:prstGeom prst="rect">
            <a:avLst/>
          </a:prstGeom>
          <a:noFill/>
          <a:ln/>
        </p:spPr>
        <p:txBody>
          <a:bodyPr wrap="square" lIns="0" tIns="0" rIns="0" bIns="0" rtlCol="0" anchor="ctr">
            <a:normAutofit/>
          </a:bodyPr>
          <a:lstStyle/>
          <a:p>
            <a:pPr marL="0" indent="0">
              <a:buNone/>
            </a:pPr>
            <a:r>
              <a:rPr lang="en-US" sz="2700" b="1" dirty="0">
                <a:solidFill>
                  <a:srgbClr val="F4F8FB"/>
                </a:solidFill>
                <a:latin typeface="Inter Display" pitchFamily="34" charset="0"/>
                <a:ea typeface="Inter Display" pitchFamily="34" charset="-122"/>
                <a:cs typeface="Inter Display" pitchFamily="34" charset="-120"/>
              </a:rPr>
              <a:t>Why the packed encoder became the system bottleneck</a:t>
            </a:r>
            <a:endParaRPr lang="en-US" sz="2700" dirty="0"/>
          </a:p>
        </p:txBody>
      </p:sp>
      <p:sp>
        <p:nvSpPr>
          <p:cNvPr id="44" name="Text 42"/>
          <p:cNvSpPr/>
          <p:nvPr/>
        </p:nvSpPr>
        <p:spPr>
          <a:xfrm>
            <a:off x="457200" y="1225296"/>
            <a:ext cx="10881360" cy="292608"/>
          </a:xfrm>
          <a:prstGeom prst="rect">
            <a:avLst/>
          </a:prstGeom>
          <a:noFill/>
          <a:ln/>
        </p:spPr>
        <p:txBody>
          <a:bodyPr wrap="square" lIns="0" tIns="0" rIns="0" bIns="0" rtlCol="0" anchor="ctr">
            <a:normAutofit/>
          </a:bodyPr>
          <a:lstStyle/>
          <a:p>
            <a:pPr marL="0" indent="0">
              <a:buNone/>
            </a:pPr>
            <a:r>
              <a:rPr lang="en-US" sz="1250" dirty="0">
                <a:solidFill>
                  <a:srgbClr val="A8B6C5"/>
                </a:solidFill>
                <a:latin typeface="Inter" pitchFamily="34" charset="0"/>
                <a:ea typeface="Inter" pitchFamily="34" charset="-122"/>
                <a:cs typeface="Inter" pitchFamily="34" charset="-120"/>
              </a:rPr>
              <a:t>The more bytes an image produces, the longer the FPGA spends emitting its variable-length stream.</a:t>
            </a:r>
            <a:endParaRPr lang="en-US" sz="1250" dirty="0"/>
          </a:p>
        </p:txBody>
      </p:sp>
      <p:sp>
        <p:nvSpPr>
          <p:cNvPr id="45" name="Shape 43"/>
          <p:cNvSpPr/>
          <p:nvPr/>
        </p:nvSpPr>
        <p:spPr>
          <a:xfrm>
            <a:off x="475488" y="1719072"/>
            <a:ext cx="4069080" cy="4407408"/>
          </a:xfrm>
          <a:prstGeom prst="roundRect">
            <a:avLst>
              <a:gd name="adj" fmla="val 1798"/>
            </a:avLst>
          </a:prstGeom>
          <a:solidFill>
            <a:srgbClr val="0D1C2D"/>
          </a:solidFill>
          <a:ln w="12700">
            <a:solidFill>
              <a:srgbClr val="22384E">
                <a:alpha val="80000"/>
              </a:srgbClr>
            </a:solidFill>
            <a:prstDash val="solid"/>
          </a:ln>
          <a:effectLst>
            <a:outerShdw algn="bl" rotWithShape="0">
              <a:srgbClr val="000000">
                <a:alpha val="0"/>
              </a:srgbClr>
            </a:outerShdw>
          </a:effectLst>
        </p:spPr>
        <p:txBody>
          <a:bodyPr/>
          <a:lstStyle/>
          <a:p>
            <a:endParaRPr lang="en-US"/>
          </a:p>
        </p:txBody>
      </p:sp>
      <p:sp>
        <p:nvSpPr>
          <p:cNvPr id="46" name="Text 44"/>
          <p:cNvSpPr/>
          <p:nvPr/>
        </p:nvSpPr>
        <p:spPr>
          <a:xfrm>
            <a:off x="749808" y="1984248"/>
            <a:ext cx="3200400" cy="256032"/>
          </a:xfrm>
          <a:prstGeom prst="rect">
            <a:avLst/>
          </a:prstGeom>
          <a:noFill/>
          <a:ln/>
        </p:spPr>
        <p:txBody>
          <a:bodyPr wrap="square" lIns="0" tIns="0" rIns="0" bIns="0" rtlCol="0" anchor="ctr"/>
          <a:lstStyle/>
          <a:p>
            <a:pPr marL="0" indent="0">
              <a:buNone/>
            </a:pPr>
            <a:r>
              <a:rPr lang="en-US" sz="1700" b="1" dirty="0">
                <a:solidFill>
                  <a:srgbClr val="F4F8FB"/>
                </a:solidFill>
                <a:latin typeface="Inter Display" pitchFamily="34" charset="0"/>
                <a:ea typeface="Inter Display" pitchFamily="34" charset="-122"/>
                <a:cs typeface="Inter Display" pitchFamily="34" charset="-120"/>
              </a:rPr>
              <a:t>Compute-stage composition</a:t>
            </a:r>
            <a:endParaRPr lang="en-US" sz="1700" dirty="0"/>
          </a:p>
        </p:txBody>
      </p:sp>
      <p:sp>
        <p:nvSpPr>
          <p:cNvPr id="47" name="Text 45"/>
          <p:cNvSpPr/>
          <p:nvPr/>
        </p:nvSpPr>
        <p:spPr>
          <a:xfrm>
            <a:off x="749808" y="2304288"/>
            <a:ext cx="3246120" cy="182880"/>
          </a:xfrm>
          <a:prstGeom prst="rect">
            <a:avLst/>
          </a:prstGeom>
          <a:noFill/>
          <a:ln/>
        </p:spPr>
        <p:txBody>
          <a:bodyPr wrap="square" lIns="0" tIns="0" rIns="0" bIns="0" rtlCol="0" anchor="ctr">
            <a:normAutofit/>
          </a:bodyPr>
          <a:lstStyle/>
          <a:p>
            <a:pPr marL="0" indent="0">
              <a:buNone/>
            </a:pPr>
            <a:r>
              <a:rPr lang="en-US" sz="880" dirty="0">
                <a:solidFill>
                  <a:srgbClr val="A8B6C5"/>
                </a:solidFill>
                <a:latin typeface="Inter" pitchFamily="34" charset="0"/>
                <a:ea typeface="Inter" pitchFamily="34" charset="-122"/>
                <a:cs typeface="Inter" pitchFamily="34" charset="-120"/>
              </a:rPr>
              <a:t>Comparing only level shift, DCT, quantisation and coding</a:t>
            </a:r>
            <a:endParaRPr lang="en-US" sz="880" dirty="0"/>
          </a:p>
        </p:txBody>
      </p:sp>
      <p:sp>
        <p:nvSpPr>
          <p:cNvPr id="48" name="Text 46"/>
          <p:cNvSpPr/>
          <p:nvPr/>
        </p:nvSpPr>
        <p:spPr>
          <a:xfrm>
            <a:off x="749808" y="2862072"/>
            <a:ext cx="502920" cy="164592"/>
          </a:xfrm>
          <a:prstGeom prst="rect">
            <a:avLst/>
          </a:prstGeom>
          <a:noFill/>
          <a:ln/>
        </p:spPr>
        <p:txBody>
          <a:bodyPr wrap="square" lIns="0" tIns="0" rIns="0" bIns="0" rtlCol="0" anchor="ctr"/>
          <a:lstStyle/>
          <a:p>
            <a:pPr marL="0" indent="0">
              <a:buNone/>
            </a:pPr>
            <a:r>
              <a:rPr lang="en-US" sz="900" b="1" dirty="0">
                <a:solidFill>
                  <a:srgbClr val="7F93A7"/>
                </a:solidFill>
                <a:latin typeface="Inter" pitchFamily="34" charset="0"/>
                <a:ea typeface="Inter" pitchFamily="34" charset="-122"/>
                <a:cs typeface="Inter" pitchFamily="34" charset="-120"/>
              </a:rPr>
              <a:t>CPU</a:t>
            </a:r>
            <a:endParaRPr lang="en-US" sz="900" dirty="0"/>
          </a:p>
        </p:txBody>
      </p:sp>
      <p:sp>
        <p:nvSpPr>
          <p:cNvPr id="49" name="Shape 47"/>
          <p:cNvSpPr/>
          <p:nvPr/>
        </p:nvSpPr>
        <p:spPr>
          <a:xfrm>
            <a:off x="1298448" y="2779776"/>
            <a:ext cx="113019" cy="420624"/>
          </a:xfrm>
          <a:prstGeom prst="rect">
            <a:avLst/>
          </a:prstGeom>
          <a:solidFill>
            <a:srgbClr val="38D9E6"/>
          </a:solidFill>
          <a:ln w="6350">
            <a:solidFill>
              <a:srgbClr val="07111F">
                <a:alpha val="70000"/>
              </a:srgbClr>
            </a:solidFill>
            <a:prstDash val="solid"/>
          </a:ln>
        </p:spPr>
        <p:txBody>
          <a:bodyPr/>
          <a:lstStyle/>
          <a:p>
            <a:endParaRPr lang="en-US"/>
          </a:p>
        </p:txBody>
      </p:sp>
      <p:sp>
        <p:nvSpPr>
          <p:cNvPr id="50" name="Shape 48"/>
          <p:cNvSpPr/>
          <p:nvPr/>
        </p:nvSpPr>
        <p:spPr>
          <a:xfrm>
            <a:off x="1411467" y="2779776"/>
            <a:ext cx="757361" cy="420624"/>
          </a:xfrm>
          <a:prstGeom prst="rect">
            <a:avLst/>
          </a:prstGeom>
          <a:solidFill>
            <a:srgbClr val="668EFF"/>
          </a:solidFill>
          <a:ln w="6350">
            <a:solidFill>
              <a:srgbClr val="07111F">
                <a:alpha val="70000"/>
              </a:srgbClr>
            </a:solidFill>
            <a:prstDash val="solid"/>
          </a:ln>
        </p:spPr>
        <p:txBody>
          <a:bodyPr/>
          <a:lstStyle/>
          <a:p>
            <a:endParaRPr lang="en-US"/>
          </a:p>
        </p:txBody>
      </p:sp>
      <p:sp>
        <p:nvSpPr>
          <p:cNvPr id="51" name="Text 49"/>
          <p:cNvSpPr/>
          <p:nvPr/>
        </p:nvSpPr>
        <p:spPr>
          <a:xfrm>
            <a:off x="1411467" y="2889504"/>
            <a:ext cx="757361" cy="164592"/>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Inter" pitchFamily="34" charset="0"/>
                <a:ea typeface="Inter" pitchFamily="34" charset="-122"/>
                <a:cs typeface="Inter" pitchFamily="34" charset="-120"/>
              </a:rPr>
              <a:t>26.7%</a:t>
            </a:r>
            <a:endParaRPr lang="en-US" sz="850" dirty="0"/>
          </a:p>
        </p:txBody>
      </p:sp>
      <p:sp>
        <p:nvSpPr>
          <p:cNvPr id="52" name="Shape 50"/>
          <p:cNvSpPr/>
          <p:nvPr/>
        </p:nvSpPr>
        <p:spPr>
          <a:xfrm>
            <a:off x="2168828" y="2779776"/>
            <a:ext cx="753848" cy="420624"/>
          </a:xfrm>
          <a:prstGeom prst="rect">
            <a:avLst/>
          </a:prstGeom>
          <a:solidFill>
            <a:srgbClr val="49D486"/>
          </a:solidFill>
          <a:ln w="6350">
            <a:solidFill>
              <a:srgbClr val="07111F">
                <a:alpha val="70000"/>
              </a:srgbClr>
            </a:solidFill>
            <a:prstDash val="solid"/>
          </a:ln>
        </p:spPr>
        <p:txBody>
          <a:bodyPr/>
          <a:lstStyle/>
          <a:p>
            <a:endParaRPr lang="en-US"/>
          </a:p>
        </p:txBody>
      </p:sp>
      <p:sp>
        <p:nvSpPr>
          <p:cNvPr id="53" name="Text 51"/>
          <p:cNvSpPr/>
          <p:nvPr/>
        </p:nvSpPr>
        <p:spPr>
          <a:xfrm>
            <a:off x="2168828" y="2889504"/>
            <a:ext cx="753848" cy="164592"/>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Inter" pitchFamily="34" charset="0"/>
                <a:ea typeface="Inter" pitchFamily="34" charset="-122"/>
                <a:cs typeface="Inter" pitchFamily="34" charset="-120"/>
              </a:rPr>
              <a:t>26.6%</a:t>
            </a:r>
            <a:endParaRPr lang="en-US" sz="850" dirty="0"/>
          </a:p>
        </p:txBody>
      </p:sp>
      <p:sp>
        <p:nvSpPr>
          <p:cNvPr id="54" name="Shape 52"/>
          <p:cNvSpPr/>
          <p:nvPr/>
        </p:nvSpPr>
        <p:spPr>
          <a:xfrm>
            <a:off x="2922676" y="2779776"/>
            <a:ext cx="1210412" cy="420624"/>
          </a:xfrm>
          <a:prstGeom prst="rect">
            <a:avLst/>
          </a:prstGeom>
          <a:solidFill>
            <a:srgbClr val="FFA24C"/>
          </a:solidFill>
          <a:ln w="6350">
            <a:solidFill>
              <a:srgbClr val="07111F">
                <a:alpha val="70000"/>
              </a:srgbClr>
            </a:solidFill>
            <a:prstDash val="solid"/>
          </a:ln>
        </p:spPr>
        <p:txBody>
          <a:bodyPr/>
          <a:lstStyle/>
          <a:p>
            <a:endParaRPr lang="en-US"/>
          </a:p>
        </p:txBody>
      </p:sp>
      <p:sp>
        <p:nvSpPr>
          <p:cNvPr id="55" name="Text 53"/>
          <p:cNvSpPr/>
          <p:nvPr/>
        </p:nvSpPr>
        <p:spPr>
          <a:xfrm>
            <a:off x="2922676" y="2889504"/>
            <a:ext cx="1210412" cy="164592"/>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Inter" pitchFamily="34" charset="0"/>
                <a:ea typeface="Inter" pitchFamily="34" charset="-122"/>
                <a:cs typeface="Inter" pitchFamily="34" charset="-120"/>
              </a:rPr>
              <a:t>42.7%</a:t>
            </a:r>
            <a:endParaRPr lang="en-US" sz="850" dirty="0"/>
          </a:p>
        </p:txBody>
      </p:sp>
      <p:sp>
        <p:nvSpPr>
          <p:cNvPr id="56" name="Shape 54"/>
          <p:cNvSpPr/>
          <p:nvPr/>
        </p:nvSpPr>
        <p:spPr>
          <a:xfrm>
            <a:off x="1298448" y="2779776"/>
            <a:ext cx="2834640" cy="420624"/>
          </a:xfrm>
          <a:prstGeom prst="roundRect">
            <a:avLst>
              <a:gd name="adj" fmla="val 17391"/>
            </a:avLst>
          </a:prstGeom>
          <a:solidFill>
            <a:srgbClr val="0D1C2D">
              <a:alpha val="0"/>
            </a:srgbClr>
          </a:solidFill>
          <a:ln w="10160">
            <a:solidFill>
              <a:srgbClr val="22384E">
                <a:alpha val="75000"/>
              </a:srgbClr>
            </a:solidFill>
            <a:prstDash val="solid"/>
          </a:ln>
        </p:spPr>
        <p:txBody>
          <a:bodyPr/>
          <a:lstStyle/>
          <a:p>
            <a:endParaRPr lang="en-US"/>
          </a:p>
        </p:txBody>
      </p:sp>
      <p:sp>
        <p:nvSpPr>
          <p:cNvPr id="57" name="Text 55"/>
          <p:cNvSpPr/>
          <p:nvPr/>
        </p:nvSpPr>
        <p:spPr>
          <a:xfrm>
            <a:off x="749808" y="3611880"/>
            <a:ext cx="502920" cy="164592"/>
          </a:xfrm>
          <a:prstGeom prst="rect">
            <a:avLst/>
          </a:prstGeom>
          <a:noFill/>
          <a:ln/>
        </p:spPr>
        <p:txBody>
          <a:bodyPr wrap="square" lIns="0" tIns="0" rIns="0" bIns="0" rtlCol="0" anchor="ctr"/>
          <a:lstStyle/>
          <a:p>
            <a:pPr marL="0" indent="0">
              <a:buNone/>
            </a:pPr>
            <a:r>
              <a:rPr lang="en-US" sz="900" b="1" dirty="0">
                <a:solidFill>
                  <a:srgbClr val="38D9E6"/>
                </a:solidFill>
                <a:latin typeface="Inter" pitchFamily="34" charset="0"/>
                <a:ea typeface="Inter" pitchFamily="34" charset="-122"/>
                <a:cs typeface="Inter" pitchFamily="34" charset="-120"/>
              </a:rPr>
              <a:t>FPGA</a:t>
            </a:r>
            <a:endParaRPr lang="en-US" sz="900" dirty="0"/>
          </a:p>
        </p:txBody>
      </p:sp>
      <p:sp>
        <p:nvSpPr>
          <p:cNvPr id="58" name="Shape 56"/>
          <p:cNvSpPr/>
          <p:nvPr/>
        </p:nvSpPr>
        <p:spPr>
          <a:xfrm>
            <a:off x="1298448" y="3529584"/>
            <a:ext cx="103123" cy="420624"/>
          </a:xfrm>
          <a:prstGeom prst="rect">
            <a:avLst/>
          </a:prstGeom>
          <a:solidFill>
            <a:srgbClr val="38D9E6"/>
          </a:solidFill>
          <a:ln w="6350">
            <a:solidFill>
              <a:srgbClr val="07111F">
                <a:alpha val="70000"/>
              </a:srgbClr>
            </a:solidFill>
            <a:prstDash val="solid"/>
          </a:ln>
        </p:spPr>
        <p:txBody>
          <a:bodyPr/>
          <a:lstStyle/>
          <a:p>
            <a:endParaRPr lang="en-US"/>
          </a:p>
        </p:txBody>
      </p:sp>
      <p:sp>
        <p:nvSpPr>
          <p:cNvPr id="59" name="Shape 57"/>
          <p:cNvSpPr/>
          <p:nvPr/>
        </p:nvSpPr>
        <p:spPr>
          <a:xfrm>
            <a:off x="1401571" y="3529584"/>
            <a:ext cx="422743" cy="420624"/>
          </a:xfrm>
          <a:prstGeom prst="rect">
            <a:avLst/>
          </a:prstGeom>
          <a:solidFill>
            <a:srgbClr val="668EFF"/>
          </a:solidFill>
          <a:ln w="6350">
            <a:solidFill>
              <a:srgbClr val="07111F">
                <a:alpha val="70000"/>
              </a:srgbClr>
            </a:solidFill>
            <a:prstDash val="solid"/>
          </a:ln>
        </p:spPr>
        <p:txBody>
          <a:bodyPr/>
          <a:lstStyle/>
          <a:p>
            <a:endParaRPr lang="en-US"/>
          </a:p>
        </p:txBody>
      </p:sp>
      <p:sp>
        <p:nvSpPr>
          <p:cNvPr id="60" name="Shape 58"/>
          <p:cNvSpPr/>
          <p:nvPr/>
        </p:nvSpPr>
        <p:spPr>
          <a:xfrm>
            <a:off x="1824313" y="3529584"/>
            <a:ext cx="99105" cy="420624"/>
          </a:xfrm>
          <a:prstGeom prst="rect">
            <a:avLst/>
          </a:prstGeom>
          <a:solidFill>
            <a:srgbClr val="49D486"/>
          </a:solidFill>
          <a:ln w="6350">
            <a:solidFill>
              <a:srgbClr val="07111F">
                <a:alpha val="70000"/>
              </a:srgbClr>
            </a:solidFill>
            <a:prstDash val="solid"/>
          </a:ln>
        </p:spPr>
        <p:txBody>
          <a:bodyPr/>
          <a:lstStyle/>
          <a:p>
            <a:endParaRPr lang="en-US"/>
          </a:p>
        </p:txBody>
      </p:sp>
      <p:sp>
        <p:nvSpPr>
          <p:cNvPr id="61" name="Shape 59"/>
          <p:cNvSpPr/>
          <p:nvPr/>
        </p:nvSpPr>
        <p:spPr>
          <a:xfrm>
            <a:off x="1923418" y="3529584"/>
            <a:ext cx="2209027" cy="420624"/>
          </a:xfrm>
          <a:prstGeom prst="rect">
            <a:avLst/>
          </a:prstGeom>
          <a:solidFill>
            <a:srgbClr val="FFA24C"/>
          </a:solidFill>
          <a:ln w="6350">
            <a:solidFill>
              <a:srgbClr val="07111F">
                <a:alpha val="70000"/>
              </a:srgbClr>
            </a:solidFill>
            <a:prstDash val="solid"/>
          </a:ln>
        </p:spPr>
        <p:txBody>
          <a:bodyPr/>
          <a:lstStyle/>
          <a:p>
            <a:endParaRPr lang="en-US"/>
          </a:p>
        </p:txBody>
      </p:sp>
      <p:sp>
        <p:nvSpPr>
          <p:cNvPr id="62" name="Text 60"/>
          <p:cNvSpPr/>
          <p:nvPr/>
        </p:nvSpPr>
        <p:spPr>
          <a:xfrm>
            <a:off x="1923418" y="3639312"/>
            <a:ext cx="2209027" cy="164592"/>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Inter" pitchFamily="34" charset="0"/>
                <a:ea typeface="Inter" pitchFamily="34" charset="-122"/>
                <a:cs typeface="Inter" pitchFamily="34" charset="-120"/>
              </a:rPr>
              <a:t>77.9%</a:t>
            </a:r>
            <a:endParaRPr lang="en-US" sz="850" dirty="0"/>
          </a:p>
        </p:txBody>
      </p:sp>
      <p:sp>
        <p:nvSpPr>
          <p:cNvPr id="63" name="Shape 61"/>
          <p:cNvSpPr/>
          <p:nvPr/>
        </p:nvSpPr>
        <p:spPr>
          <a:xfrm>
            <a:off x="1298448" y="3529584"/>
            <a:ext cx="2834640" cy="420624"/>
          </a:xfrm>
          <a:prstGeom prst="roundRect">
            <a:avLst>
              <a:gd name="adj" fmla="val 17391"/>
            </a:avLst>
          </a:prstGeom>
          <a:solidFill>
            <a:srgbClr val="0D1C2D">
              <a:alpha val="0"/>
            </a:srgbClr>
          </a:solidFill>
          <a:ln w="10160">
            <a:solidFill>
              <a:srgbClr val="22384E">
                <a:alpha val="75000"/>
              </a:srgbClr>
            </a:solidFill>
            <a:prstDash val="solid"/>
          </a:ln>
        </p:spPr>
        <p:txBody>
          <a:bodyPr/>
          <a:lstStyle/>
          <a:p>
            <a:endParaRPr lang="en-US"/>
          </a:p>
        </p:txBody>
      </p:sp>
      <p:sp>
        <p:nvSpPr>
          <p:cNvPr id="64" name="Shape 62"/>
          <p:cNvSpPr/>
          <p:nvPr/>
        </p:nvSpPr>
        <p:spPr>
          <a:xfrm>
            <a:off x="768096" y="4160520"/>
            <a:ext cx="100584" cy="100584"/>
          </a:xfrm>
          <a:prstGeom prst="ellipse">
            <a:avLst/>
          </a:prstGeom>
          <a:solidFill>
            <a:srgbClr val="38D9E6"/>
          </a:solidFill>
          <a:ln w="12700">
            <a:solidFill>
              <a:srgbClr val="38D9E6">
                <a:alpha val="0"/>
              </a:srgbClr>
            </a:solidFill>
            <a:prstDash val="solid"/>
          </a:ln>
        </p:spPr>
        <p:txBody>
          <a:bodyPr/>
          <a:lstStyle/>
          <a:p>
            <a:endParaRPr lang="en-US"/>
          </a:p>
        </p:txBody>
      </p:sp>
      <p:sp>
        <p:nvSpPr>
          <p:cNvPr id="65" name="Text 63"/>
          <p:cNvSpPr/>
          <p:nvPr/>
        </p:nvSpPr>
        <p:spPr>
          <a:xfrm>
            <a:off x="905256" y="4123944"/>
            <a:ext cx="685800" cy="146304"/>
          </a:xfrm>
          <a:prstGeom prst="rect">
            <a:avLst/>
          </a:prstGeom>
          <a:noFill/>
          <a:ln/>
        </p:spPr>
        <p:txBody>
          <a:bodyPr wrap="square" lIns="0" tIns="0" rIns="0" bIns="0" rtlCol="0" anchor="ctr"/>
          <a:lstStyle/>
          <a:p>
            <a:pPr marL="0" indent="0">
              <a:buNone/>
            </a:pPr>
            <a:r>
              <a:rPr lang="en-US" sz="730" dirty="0">
                <a:solidFill>
                  <a:srgbClr val="A8B6C5"/>
                </a:solidFill>
                <a:latin typeface="Inter" pitchFamily="34" charset="0"/>
                <a:ea typeface="Inter" pitchFamily="34" charset="-122"/>
                <a:cs typeface="Inter" pitchFamily="34" charset="-120"/>
              </a:rPr>
              <a:t>load/shift</a:t>
            </a:r>
            <a:endParaRPr lang="en-US" sz="730" dirty="0"/>
          </a:p>
        </p:txBody>
      </p:sp>
      <p:sp>
        <p:nvSpPr>
          <p:cNvPr id="66" name="Shape 64"/>
          <p:cNvSpPr/>
          <p:nvPr/>
        </p:nvSpPr>
        <p:spPr>
          <a:xfrm>
            <a:off x="1764792" y="4160520"/>
            <a:ext cx="100584" cy="100584"/>
          </a:xfrm>
          <a:prstGeom prst="ellipse">
            <a:avLst/>
          </a:prstGeom>
          <a:solidFill>
            <a:srgbClr val="668EFF"/>
          </a:solidFill>
          <a:ln w="12700">
            <a:solidFill>
              <a:srgbClr val="668EFF">
                <a:alpha val="0"/>
              </a:srgbClr>
            </a:solidFill>
            <a:prstDash val="solid"/>
          </a:ln>
        </p:spPr>
        <p:txBody>
          <a:bodyPr/>
          <a:lstStyle/>
          <a:p>
            <a:endParaRPr lang="en-US"/>
          </a:p>
        </p:txBody>
      </p:sp>
      <p:sp>
        <p:nvSpPr>
          <p:cNvPr id="67" name="Text 65"/>
          <p:cNvSpPr/>
          <p:nvPr/>
        </p:nvSpPr>
        <p:spPr>
          <a:xfrm>
            <a:off x="1901952" y="4123944"/>
            <a:ext cx="411480" cy="146304"/>
          </a:xfrm>
          <a:prstGeom prst="rect">
            <a:avLst/>
          </a:prstGeom>
          <a:noFill/>
          <a:ln/>
        </p:spPr>
        <p:txBody>
          <a:bodyPr wrap="square" lIns="0" tIns="0" rIns="0" bIns="0" rtlCol="0" anchor="ctr"/>
          <a:lstStyle/>
          <a:p>
            <a:pPr marL="0" indent="0">
              <a:buNone/>
            </a:pPr>
            <a:r>
              <a:rPr lang="en-US" sz="730" dirty="0">
                <a:solidFill>
                  <a:srgbClr val="A8B6C5"/>
                </a:solidFill>
                <a:latin typeface="Inter" pitchFamily="34" charset="0"/>
                <a:ea typeface="Inter" pitchFamily="34" charset="-122"/>
                <a:cs typeface="Inter" pitchFamily="34" charset="-120"/>
              </a:rPr>
              <a:t>DCT</a:t>
            </a:r>
            <a:endParaRPr lang="en-US" sz="730" dirty="0"/>
          </a:p>
        </p:txBody>
      </p:sp>
      <p:sp>
        <p:nvSpPr>
          <p:cNvPr id="68" name="Shape 66"/>
          <p:cNvSpPr/>
          <p:nvPr/>
        </p:nvSpPr>
        <p:spPr>
          <a:xfrm>
            <a:off x="2487168" y="4160520"/>
            <a:ext cx="100584" cy="100584"/>
          </a:xfrm>
          <a:prstGeom prst="ellipse">
            <a:avLst/>
          </a:prstGeom>
          <a:solidFill>
            <a:srgbClr val="49D486"/>
          </a:solidFill>
          <a:ln w="12700">
            <a:solidFill>
              <a:srgbClr val="49D486">
                <a:alpha val="0"/>
              </a:srgbClr>
            </a:solidFill>
            <a:prstDash val="solid"/>
          </a:ln>
        </p:spPr>
        <p:txBody>
          <a:bodyPr/>
          <a:lstStyle/>
          <a:p>
            <a:endParaRPr lang="en-US"/>
          </a:p>
        </p:txBody>
      </p:sp>
      <p:sp>
        <p:nvSpPr>
          <p:cNvPr id="69" name="Text 67"/>
          <p:cNvSpPr/>
          <p:nvPr/>
        </p:nvSpPr>
        <p:spPr>
          <a:xfrm>
            <a:off x="2624328" y="4123944"/>
            <a:ext cx="621792" cy="146304"/>
          </a:xfrm>
          <a:prstGeom prst="rect">
            <a:avLst/>
          </a:prstGeom>
          <a:noFill/>
          <a:ln/>
        </p:spPr>
        <p:txBody>
          <a:bodyPr wrap="square" lIns="0" tIns="0" rIns="0" bIns="0" rtlCol="0" anchor="ctr"/>
          <a:lstStyle/>
          <a:p>
            <a:pPr marL="0" indent="0">
              <a:buNone/>
            </a:pPr>
            <a:r>
              <a:rPr lang="en-US" sz="730" dirty="0">
                <a:solidFill>
                  <a:srgbClr val="A8B6C5"/>
                </a:solidFill>
                <a:latin typeface="Inter" pitchFamily="34" charset="0"/>
                <a:ea typeface="Inter" pitchFamily="34" charset="-122"/>
                <a:cs typeface="Inter" pitchFamily="34" charset="-120"/>
              </a:rPr>
              <a:t>quantise</a:t>
            </a:r>
            <a:endParaRPr lang="en-US" sz="730" dirty="0"/>
          </a:p>
        </p:txBody>
      </p:sp>
      <p:sp>
        <p:nvSpPr>
          <p:cNvPr id="70" name="Shape 68"/>
          <p:cNvSpPr/>
          <p:nvPr/>
        </p:nvSpPr>
        <p:spPr>
          <a:xfrm>
            <a:off x="3419856" y="4160520"/>
            <a:ext cx="100584" cy="100584"/>
          </a:xfrm>
          <a:prstGeom prst="ellipse">
            <a:avLst/>
          </a:prstGeom>
          <a:solidFill>
            <a:srgbClr val="FFA24C"/>
          </a:solidFill>
          <a:ln w="12700">
            <a:solidFill>
              <a:srgbClr val="FFA24C">
                <a:alpha val="0"/>
              </a:srgbClr>
            </a:solidFill>
            <a:prstDash val="solid"/>
          </a:ln>
        </p:spPr>
        <p:txBody>
          <a:bodyPr/>
          <a:lstStyle/>
          <a:p>
            <a:endParaRPr lang="en-US"/>
          </a:p>
        </p:txBody>
      </p:sp>
      <p:sp>
        <p:nvSpPr>
          <p:cNvPr id="71" name="Text 69"/>
          <p:cNvSpPr/>
          <p:nvPr/>
        </p:nvSpPr>
        <p:spPr>
          <a:xfrm>
            <a:off x="3557016" y="4123944"/>
            <a:ext cx="566928" cy="146304"/>
          </a:xfrm>
          <a:prstGeom prst="rect">
            <a:avLst/>
          </a:prstGeom>
          <a:noFill/>
          <a:ln/>
        </p:spPr>
        <p:txBody>
          <a:bodyPr wrap="square" lIns="0" tIns="0" rIns="0" bIns="0" rtlCol="0" anchor="ctr"/>
          <a:lstStyle/>
          <a:p>
            <a:pPr marL="0" indent="0">
              <a:buNone/>
            </a:pPr>
            <a:r>
              <a:rPr lang="en-US" sz="730" dirty="0">
                <a:solidFill>
                  <a:srgbClr val="A8B6C5"/>
                </a:solidFill>
                <a:latin typeface="Inter" pitchFamily="34" charset="0"/>
                <a:ea typeface="Inter" pitchFamily="34" charset="-122"/>
                <a:cs typeface="Inter" pitchFamily="34" charset="-120"/>
              </a:rPr>
              <a:t>encode</a:t>
            </a:r>
            <a:endParaRPr lang="en-US" sz="730" dirty="0"/>
          </a:p>
        </p:txBody>
      </p:sp>
      <p:sp>
        <p:nvSpPr>
          <p:cNvPr id="72" name="Shape 70"/>
          <p:cNvSpPr/>
          <p:nvPr/>
        </p:nvSpPr>
        <p:spPr>
          <a:xfrm>
            <a:off x="749808" y="4526280"/>
            <a:ext cx="1554480" cy="868680"/>
          </a:xfrm>
          <a:prstGeom prst="roundRect">
            <a:avLst>
              <a:gd name="adj" fmla="val 8421"/>
            </a:avLst>
          </a:prstGeom>
          <a:solidFill>
            <a:srgbClr val="0D1C2D"/>
          </a:solidFill>
          <a:ln w="12700">
            <a:solidFill>
              <a:srgbClr val="FFA24C">
                <a:alpha val="45000"/>
              </a:srgbClr>
            </a:solidFill>
            <a:prstDash val="solid"/>
          </a:ln>
          <a:effectLst>
            <a:outerShdw algn="bl" rotWithShape="0">
              <a:srgbClr val="000000">
                <a:alpha val="0"/>
              </a:srgbClr>
            </a:outerShdw>
          </a:effectLst>
        </p:spPr>
        <p:txBody>
          <a:bodyPr/>
          <a:lstStyle/>
          <a:p>
            <a:endParaRPr lang="en-US"/>
          </a:p>
        </p:txBody>
      </p:sp>
      <p:sp>
        <p:nvSpPr>
          <p:cNvPr id="73" name="Shape 71"/>
          <p:cNvSpPr/>
          <p:nvPr/>
        </p:nvSpPr>
        <p:spPr>
          <a:xfrm>
            <a:off x="896112" y="4672584"/>
            <a:ext cx="0" cy="576072"/>
          </a:xfrm>
          <a:prstGeom prst="line">
            <a:avLst/>
          </a:prstGeom>
          <a:noFill/>
          <a:ln w="44450">
            <a:solidFill>
              <a:srgbClr val="FFA24C"/>
            </a:solidFill>
            <a:prstDash val="solid"/>
          </a:ln>
        </p:spPr>
        <p:txBody>
          <a:bodyPr/>
          <a:lstStyle/>
          <a:p>
            <a:endParaRPr lang="en-US"/>
          </a:p>
        </p:txBody>
      </p:sp>
      <p:sp>
        <p:nvSpPr>
          <p:cNvPr id="74" name="Text 72"/>
          <p:cNvSpPr/>
          <p:nvPr/>
        </p:nvSpPr>
        <p:spPr>
          <a:xfrm>
            <a:off x="1060704" y="4663440"/>
            <a:ext cx="1115568" cy="347472"/>
          </a:xfrm>
          <a:prstGeom prst="rect">
            <a:avLst/>
          </a:prstGeom>
          <a:noFill/>
          <a:ln/>
        </p:spPr>
        <p:txBody>
          <a:bodyPr wrap="square" lIns="0" tIns="0" rIns="0" bIns="0" rtlCol="0" anchor="ctr">
            <a:normAutofit/>
          </a:bodyPr>
          <a:lstStyle/>
          <a:p>
            <a:pPr marL="0" indent="0">
              <a:buNone/>
            </a:pPr>
            <a:r>
              <a:rPr lang="en-US" sz="2200" b="1" dirty="0">
                <a:solidFill>
                  <a:srgbClr val="F4F8FB"/>
                </a:solidFill>
                <a:latin typeface="Inter Display" pitchFamily="34" charset="0"/>
                <a:ea typeface="Inter Display" pitchFamily="34" charset="-122"/>
                <a:cs typeface="Inter Display" pitchFamily="34" charset="-120"/>
              </a:rPr>
              <a:t>77.9%</a:t>
            </a:r>
            <a:endParaRPr lang="en-US" sz="2200" dirty="0"/>
          </a:p>
        </p:txBody>
      </p:sp>
      <p:sp>
        <p:nvSpPr>
          <p:cNvPr id="75" name="Text 73"/>
          <p:cNvSpPr/>
          <p:nvPr/>
        </p:nvSpPr>
        <p:spPr>
          <a:xfrm>
            <a:off x="1060704" y="5056632"/>
            <a:ext cx="1115568" cy="228600"/>
          </a:xfrm>
          <a:prstGeom prst="rect">
            <a:avLst/>
          </a:prstGeom>
          <a:noFill/>
          <a:ln/>
        </p:spPr>
        <p:txBody>
          <a:bodyPr wrap="square" lIns="0" tIns="0" rIns="0" bIns="0" rtlCol="0" anchor="ctr">
            <a:normAutofit fontScale="85000" lnSpcReduction="10000"/>
          </a:bodyPr>
          <a:lstStyle/>
          <a:p>
            <a:pPr marL="0" indent="0">
              <a:buNone/>
            </a:pPr>
            <a:r>
              <a:rPr lang="en-US" sz="1050" b="1" dirty="0">
                <a:solidFill>
                  <a:srgbClr val="FFA24C"/>
                </a:solidFill>
                <a:latin typeface="Inter" pitchFamily="34" charset="0"/>
                <a:ea typeface="Inter" pitchFamily="34" charset="-122"/>
                <a:cs typeface="Inter" pitchFamily="34" charset="-120"/>
              </a:rPr>
              <a:t>FPGA kernel in encode</a:t>
            </a:r>
            <a:endParaRPr lang="en-US" sz="1050" dirty="0"/>
          </a:p>
        </p:txBody>
      </p:sp>
      <p:sp>
        <p:nvSpPr>
          <p:cNvPr id="76" name="Shape 74"/>
          <p:cNvSpPr/>
          <p:nvPr/>
        </p:nvSpPr>
        <p:spPr>
          <a:xfrm>
            <a:off x="2487168" y="4526280"/>
            <a:ext cx="1554480" cy="868680"/>
          </a:xfrm>
          <a:prstGeom prst="roundRect">
            <a:avLst>
              <a:gd name="adj" fmla="val 8421"/>
            </a:avLst>
          </a:prstGeom>
          <a:solidFill>
            <a:srgbClr val="0D1C2D"/>
          </a:solidFill>
          <a:ln w="12700">
            <a:solidFill>
              <a:srgbClr val="24C9AA">
                <a:alpha val="45000"/>
              </a:srgbClr>
            </a:solidFill>
            <a:prstDash val="solid"/>
          </a:ln>
          <a:effectLst>
            <a:outerShdw algn="bl" rotWithShape="0">
              <a:srgbClr val="000000">
                <a:alpha val="0"/>
              </a:srgbClr>
            </a:outerShdw>
          </a:effectLst>
        </p:spPr>
        <p:txBody>
          <a:bodyPr/>
          <a:lstStyle/>
          <a:p>
            <a:endParaRPr lang="en-US"/>
          </a:p>
        </p:txBody>
      </p:sp>
      <p:sp>
        <p:nvSpPr>
          <p:cNvPr id="77" name="Shape 75"/>
          <p:cNvSpPr/>
          <p:nvPr/>
        </p:nvSpPr>
        <p:spPr>
          <a:xfrm>
            <a:off x="2633472" y="4672584"/>
            <a:ext cx="0" cy="576072"/>
          </a:xfrm>
          <a:prstGeom prst="line">
            <a:avLst/>
          </a:prstGeom>
          <a:noFill/>
          <a:ln w="44450">
            <a:solidFill>
              <a:srgbClr val="24C9AA"/>
            </a:solidFill>
            <a:prstDash val="solid"/>
          </a:ln>
        </p:spPr>
        <p:txBody>
          <a:bodyPr/>
          <a:lstStyle/>
          <a:p>
            <a:endParaRPr lang="en-US"/>
          </a:p>
        </p:txBody>
      </p:sp>
      <p:sp>
        <p:nvSpPr>
          <p:cNvPr id="78" name="Text 76"/>
          <p:cNvSpPr/>
          <p:nvPr/>
        </p:nvSpPr>
        <p:spPr>
          <a:xfrm>
            <a:off x="2798064" y="4663440"/>
            <a:ext cx="1115568" cy="347472"/>
          </a:xfrm>
          <a:prstGeom prst="rect">
            <a:avLst/>
          </a:prstGeom>
          <a:noFill/>
          <a:ln/>
        </p:spPr>
        <p:txBody>
          <a:bodyPr wrap="square" lIns="0" tIns="0" rIns="0" bIns="0" rtlCol="0" anchor="ctr">
            <a:normAutofit/>
          </a:bodyPr>
          <a:lstStyle/>
          <a:p>
            <a:pPr marL="0" indent="0">
              <a:buNone/>
            </a:pPr>
            <a:r>
              <a:rPr lang="en-US" sz="2200" b="1" dirty="0">
                <a:solidFill>
                  <a:srgbClr val="F4F8FB"/>
                </a:solidFill>
                <a:latin typeface="Inter Display" pitchFamily="34" charset="0"/>
                <a:ea typeface="Inter Display" pitchFamily="34" charset="-122"/>
                <a:cs typeface="Inter Display" pitchFamily="34" charset="-120"/>
              </a:rPr>
              <a:t>0.03%</a:t>
            </a:r>
            <a:endParaRPr lang="en-US" sz="2200" dirty="0"/>
          </a:p>
        </p:txBody>
      </p:sp>
      <p:sp>
        <p:nvSpPr>
          <p:cNvPr id="79" name="Text 77"/>
          <p:cNvSpPr/>
          <p:nvPr/>
        </p:nvSpPr>
        <p:spPr>
          <a:xfrm>
            <a:off x="2798064" y="5056632"/>
            <a:ext cx="1115568" cy="228600"/>
          </a:xfrm>
          <a:prstGeom prst="rect">
            <a:avLst/>
          </a:prstGeom>
          <a:noFill/>
          <a:ln/>
        </p:spPr>
        <p:txBody>
          <a:bodyPr wrap="square" lIns="0" tIns="0" rIns="0" bIns="0" rtlCol="0" anchor="ctr">
            <a:normAutofit fontScale="85000" lnSpcReduction="10000"/>
          </a:bodyPr>
          <a:lstStyle/>
          <a:p>
            <a:pPr marL="0" indent="0">
              <a:buNone/>
            </a:pPr>
            <a:r>
              <a:rPr lang="en-US" sz="1050" b="1" dirty="0">
                <a:solidFill>
                  <a:srgbClr val="24C9AA"/>
                </a:solidFill>
                <a:latin typeface="Inter" pitchFamily="34" charset="0"/>
                <a:ea typeface="Inter" pitchFamily="34" charset="-122"/>
                <a:cs typeface="Inter" pitchFamily="34" charset="-120"/>
              </a:rPr>
              <a:t>mean min–max spread</a:t>
            </a:r>
            <a:endParaRPr lang="en-US" sz="1050" dirty="0"/>
          </a:p>
        </p:txBody>
      </p:sp>
      <p:sp>
        <p:nvSpPr>
          <p:cNvPr id="80" name="Text 78"/>
          <p:cNvSpPr/>
          <p:nvPr/>
        </p:nvSpPr>
        <p:spPr>
          <a:xfrm>
            <a:off x="758952" y="5605272"/>
            <a:ext cx="3273552" cy="292608"/>
          </a:xfrm>
          <a:prstGeom prst="rect">
            <a:avLst/>
          </a:prstGeom>
          <a:noFill/>
          <a:ln/>
        </p:spPr>
        <p:txBody>
          <a:bodyPr wrap="square" lIns="0" tIns="0" rIns="0" bIns="0" rtlCol="0" anchor="ctr">
            <a:normAutofit/>
          </a:bodyPr>
          <a:lstStyle/>
          <a:p>
            <a:pPr marL="0" indent="0" algn="ctr">
              <a:buNone/>
            </a:pPr>
            <a:r>
              <a:rPr lang="en-US" sz="940" b="1" dirty="0">
                <a:solidFill>
                  <a:srgbClr val="F4F8FB"/>
                </a:solidFill>
                <a:latin typeface="Inter" pitchFamily="34" charset="0"/>
                <a:ea typeface="Inter" pitchFamily="34" charset="-122"/>
                <a:cs typeface="Inter" pitchFamily="34" charset="-120"/>
              </a:rPr>
              <a:t>The timing is stable. The bottleneck is architectural, not measurement noise.</a:t>
            </a:r>
            <a:endParaRPr lang="en-US" sz="940" dirty="0"/>
          </a:p>
        </p:txBody>
      </p:sp>
      <p:pic>
        <p:nvPicPr>
          <p:cNvPr id="81"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54880" y="1719072"/>
            <a:ext cx="6967728" cy="4069080"/>
          </a:xfrm>
          <a:prstGeom prst="rect">
            <a:avLst/>
          </a:prstGeom>
        </p:spPr>
      </p:pic>
      <p:sp>
        <p:nvSpPr>
          <p:cNvPr id="82" name="Shape 79"/>
          <p:cNvSpPr/>
          <p:nvPr/>
        </p:nvSpPr>
        <p:spPr>
          <a:xfrm>
            <a:off x="4754880" y="5907024"/>
            <a:ext cx="6967728" cy="393192"/>
          </a:xfrm>
          <a:prstGeom prst="roundRect">
            <a:avLst>
              <a:gd name="adj" fmla="val 18605"/>
            </a:avLst>
          </a:prstGeom>
          <a:solidFill>
            <a:srgbClr val="FFA24C"/>
          </a:solidFill>
          <a:ln w="12700">
            <a:solidFill>
              <a:srgbClr val="FFA24C">
                <a:alpha val="0"/>
              </a:srgbClr>
            </a:solidFill>
            <a:prstDash val="solid"/>
          </a:ln>
        </p:spPr>
        <p:txBody>
          <a:bodyPr/>
          <a:lstStyle/>
          <a:p>
            <a:endParaRPr lang="en-US"/>
          </a:p>
        </p:txBody>
      </p:sp>
      <p:sp>
        <p:nvSpPr>
          <p:cNvPr id="83" name="Text 80"/>
          <p:cNvSpPr/>
          <p:nvPr/>
        </p:nvSpPr>
        <p:spPr>
          <a:xfrm>
            <a:off x="4965192" y="6007608"/>
            <a:ext cx="6547104" cy="155448"/>
          </a:xfrm>
          <a:prstGeom prst="rect">
            <a:avLst/>
          </a:prstGeom>
          <a:noFill/>
          <a:ln/>
        </p:spPr>
        <p:txBody>
          <a:bodyPr wrap="square" lIns="0" tIns="0" rIns="0" bIns="0" rtlCol="0" anchor="ctr">
            <a:normAutofit/>
          </a:bodyPr>
          <a:lstStyle/>
          <a:p>
            <a:pPr marL="0" indent="0" algn="ctr">
              <a:buNone/>
            </a:pPr>
            <a:r>
              <a:rPr lang="en-US" sz="850" b="1" dirty="0">
                <a:solidFill>
                  <a:srgbClr val="07111F"/>
                </a:solidFill>
                <a:latin typeface="Inter" pitchFamily="34" charset="0"/>
                <a:ea typeface="Inter" pitchFamily="34" charset="-122"/>
                <a:cs typeface="Inter" pitchFamily="34" charset="-120"/>
              </a:rPr>
              <a:t>Compressed size explains encoding time almost perfectly (r = 0.9995): more symbols and bytes create more serial packing work.</a:t>
            </a:r>
            <a:endParaRPr lang="en-US" sz="850" dirty="0"/>
          </a:p>
        </p:txBody>
      </p:sp>
      <p:sp>
        <p:nvSpPr>
          <p:cNvPr id="84" name="Shape 81"/>
          <p:cNvSpPr/>
          <p:nvPr/>
        </p:nvSpPr>
        <p:spPr>
          <a:xfrm>
            <a:off x="438912" y="6519672"/>
            <a:ext cx="11064240" cy="0"/>
          </a:xfrm>
          <a:prstGeom prst="line">
            <a:avLst/>
          </a:prstGeom>
          <a:noFill/>
          <a:ln w="10160">
            <a:solidFill>
              <a:srgbClr val="22384E">
                <a:alpha val="70000"/>
              </a:srgbClr>
            </a:solidFill>
            <a:prstDash val="solid"/>
          </a:ln>
        </p:spPr>
        <p:txBody>
          <a:bodyPr/>
          <a:lstStyle/>
          <a:p>
            <a:endParaRPr lang="en-US"/>
          </a:p>
        </p:txBody>
      </p:sp>
      <p:sp>
        <p:nvSpPr>
          <p:cNvPr id="86" name="Slide Number Placeholder 0"/>
          <p:cNvSpPr>
            <a:spLocks noGrp="1"/>
          </p:cNvSpPr>
          <p:nvPr>
            <p:ph type="sldNum" sz="quarter" idx="4294967295"/>
          </p:nvPr>
        </p:nvSpPr>
        <p:spPr>
          <a:xfrm>
            <a:off x="11430000" y="6473952"/>
            <a:ext cx="438912"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7890A4"/>
                </a:solidFill>
                <a:latin typeface="Inter"/>
                <a:ea typeface="Inter"/>
                <a:cs typeface="Inter"/>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9802368" y="0"/>
            <a:ext cx="2386584" cy="2971800"/>
          </a:xfrm>
          <a:prstGeom prst="ellipse">
            <a:avLst/>
          </a:prstGeom>
          <a:solidFill>
            <a:srgbClr val="38D9E6">
              <a:alpha val="8000"/>
            </a:srgbClr>
          </a:solidFill>
          <a:ln w="12700">
            <a:solidFill>
              <a:srgbClr val="38D9E6">
                <a:alpha val="0"/>
              </a:srgbClr>
            </a:solidFill>
            <a:prstDash val="solid"/>
          </a:ln>
        </p:spPr>
        <p:txBody>
          <a:bodyPr/>
          <a:lstStyle/>
          <a:p>
            <a:endParaRPr lang="en-US"/>
          </a:p>
        </p:txBody>
      </p:sp>
      <p:sp>
        <p:nvSpPr>
          <p:cNvPr id="3" name="Shape 1"/>
          <p:cNvSpPr/>
          <p:nvPr/>
        </p:nvSpPr>
        <p:spPr>
          <a:xfrm>
            <a:off x="0" y="5230368"/>
            <a:ext cx="2395728" cy="1627632"/>
          </a:xfrm>
          <a:prstGeom prst="ellipse">
            <a:avLst/>
          </a:prstGeom>
          <a:solidFill>
            <a:srgbClr val="668EFF">
              <a:alpha val="6000"/>
            </a:srgbClr>
          </a:solidFill>
          <a:ln w="12700">
            <a:solidFill>
              <a:srgbClr val="668EFF">
                <a:alpha val="0"/>
              </a:srgbClr>
            </a:solidFill>
            <a:prstDash val="solid"/>
          </a:ln>
        </p:spPr>
        <p:txBody>
          <a:bodyPr/>
          <a:lstStyle/>
          <a:p>
            <a:endParaRPr lang="en-US"/>
          </a:p>
        </p:txBody>
      </p:sp>
      <p:sp>
        <p:nvSpPr>
          <p:cNvPr id="4" name="Shape 2"/>
          <p:cNvSpPr/>
          <p:nvPr/>
        </p:nvSpPr>
        <p:spPr>
          <a:xfrm>
            <a:off x="457200" y="0"/>
            <a:ext cx="0" cy="6858000"/>
          </a:xfrm>
          <a:prstGeom prst="line">
            <a:avLst/>
          </a:prstGeom>
          <a:noFill/>
          <a:ln w="5080">
            <a:solidFill>
              <a:srgbClr val="22384E">
                <a:alpha val="6000"/>
              </a:srgbClr>
            </a:solidFill>
            <a:prstDash val="solid"/>
          </a:ln>
        </p:spPr>
        <p:txBody>
          <a:bodyPr/>
          <a:lstStyle/>
          <a:p>
            <a:endParaRPr lang="en-US"/>
          </a:p>
        </p:txBody>
      </p:sp>
      <p:sp>
        <p:nvSpPr>
          <p:cNvPr id="5" name="Shape 3"/>
          <p:cNvSpPr/>
          <p:nvPr/>
        </p:nvSpPr>
        <p:spPr>
          <a:xfrm>
            <a:off x="960120" y="0"/>
            <a:ext cx="0" cy="6858000"/>
          </a:xfrm>
          <a:prstGeom prst="line">
            <a:avLst/>
          </a:prstGeom>
          <a:noFill/>
          <a:ln w="5080">
            <a:solidFill>
              <a:srgbClr val="22384E">
                <a:alpha val="6000"/>
              </a:srgbClr>
            </a:solidFill>
            <a:prstDash val="solid"/>
          </a:ln>
        </p:spPr>
        <p:txBody>
          <a:bodyPr/>
          <a:lstStyle/>
          <a:p>
            <a:endParaRPr lang="en-US"/>
          </a:p>
        </p:txBody>
      </p:sp>
      <p:sp>
        <p:nvSpPr>
          <p:cNvPr id="6" name="Shape 4"/>
          <p:cNvSpPr/>
          <p:nvPr/>
        </p:nvSpPr>
        <p:spPr>
          <a:xfrm>
            <a:off x="1463040" y="0"/>
            <a:ext cx="0" cy="6858000"/>
          </a:xfrm>
          <a:prstGeom prst="line">
            <a:avLst/>
          </a:prstGeom>
          <a:noFill/>
          <a:ln w="5080">
            <a:solidFill>
              <a:srgbClr val="22384E">
                <a:alpha val="6000"/>
              </a:srgbClr>
            </a:solidFill>
            <a:prstDash val="solid"/>
          </a:ln>
        </p:spPr>
        <p:txBody>
          <a:bodyPr/>
          <a:lstStyle/>
          <a:p>
            <a:endParaRPr lang="en-US"/>
          </a:p>
        </p:txBody>
      </p:sp>
      <p:sp>
        <p:nvSpPr>
          <p:cNvPr id="7" name="Shape 5"/>
          <p:cNvSpPr/>
          <p:nvPr/>
        </p:nvSpPr>
        <p:spPr>
          <a:xfrm>
            <a:off x="1965960" y="0"/>
            <a:ext cx="0" cy="6858000"/>
          </a:xfrm>
          <a:prstGeom prst="line">
            <a:avLst/>
          </a:prstGeom>
          <a:noFill/>
          <a:ln w="5080">
            <a:solidFill>
              <a:srgbClr val="22384E">
                <a:alpha val="6000"/>
              </a:srgbClr>
            </a:solidFill>
            <a:prstDash val="solid"/>
          </a:ln>
        </p:spPr>
        <p:txBody>
          <a:bodyPr/>
          <a:lstStyle/>
          <a:p>
            <a:endParaRPr lang="en-US"/>
          </a:p>
        </p:txBody>
      </p:sp>
      <p:sp>
        <p:nvSpPr>
          <p:cNvPr id="8" name="Shape 6"/>
          <p:cNvSpPr/>
          <p:nvPr/>
        </p:nvSpPr>
        <p:spPr>
          <a:xfrm>
            <a:off x="2468880" y="0"/>
            <a:ext cx="0" cy="6858000"/>
          </a:xfrm>
          <a:prstGeom prst="line">
            <a:avLst/>
          </a:prstGeom>
          <a:noFill/>
          <a:ln w="5080">
            <a:solidFill>
              <a:srgbClr val="22384E">
                <a:alpha val="6000"/>
              </a:srgbClr>
            </a:solidFill>
            <a:prstDash val="solid"/>
          </a:ln>
        </p:spPr>
        <p:txBody>
          <a:bodyPr/>
          <a:lstStyle/>
          <a:p>
            <a:endParaRPr lang="en-US"/>
          </a:p>
        </p:txBody>
      </p:sp>
      <p:sp>
        <p:nvSpPr>
          <p:cNvPr id="9" name="Shape 7"/>
          <p:cNvSpPr/>
          <p:nvPr/>
        </p:nvSpPr>
        <p:spPr>
          <a:xfrm>
            <a:off x="2971800" y="0"/>
            <a:ext cx="0" cy="6858000"/>
          </a:xfrm>
          <a:prstGeom prst="line">
            <a:avLst/>
          </a:prstGeom>
          <a:noFill/>
          <a:ln w="5080">
            <a:solidFill>
              <a:srgbClr val="22384E">
                <a:alpha val="6000"/>
              </a:srgbClr>
            </a:solidFill>
            <a:prstDash val="solid"/>
          </a:ln>
        </p:spPr>
        <p:txBody>
          <a:bodyPr/>
          <a:lstStyle/>
          <a:p>
            <a:endParaRPr lang="en-US"/>
          </a:p>
        </p:txBody>
      </p:sp>
      <p:sp>
        <p:nvSpPr>
          <p:cNvPr id="10" name="Shape 8"/>
          <p:cNvSpPr/>
          <p:nvPr/>
        </p:nvSpPr>
        <p:spPr>
          <a:xfrm>
            <a:off x="3474720" y="0"/>
            <a:ext cx="0" cy="6858000"/>
          </a:xfrm>
          <a:prstGeom prst="line">
            <a:avLst/>
          </a:prstGeom>
          <a:noFill/>
          <a:ln w="5080">
            <a:solidFill>
              <a:srgbClr val="22384E">
                <a:alpha val="6000"/>
              </a:srgbClr>
            </a:solidFill>
            <a:prstDash val="solid"/>
          </a:ln>
        </p:spPr>
        <p:txBody>
          <a:bodyPr/>
          <a:lstStyle/>
          <a:p>
            <a:endParaRPr lang="en-US"/>
          </a:p>
        </p:txBody>
      </p:sp>
      <p:sp>
        <p:nvSpPr>
          <p:cNvPr id="11" name="Shape 9"/>
          <p:cNvSpPr/>
          <p:nvPr/>
        </p:nvSpPr>
        <p:spPr>
          <a:xfrm>
            <a:off x="3977640" y="0"/>
            <a:ext cx="0" cy="6858000"/>
          </a:xfrm>
          <a:prstGeom prst="line">
            <a:avLst/>
          </a:prstGeom>
          <a:noFill/>
          <a:ln w="5080">
            <a:solidFill>
              <a:srgbClr val="22384E">
                <a:alpha val="6000"/>
              </a:srgbClr>
            </a:solidFill>
            <a:prstDash val="solid"/>
          </a:ln>
        </p:spPr>
        <p:txBody>
          <a:bodyPr/>
          <a:lstStyle/>
          <a:p>
            <a:endParaRPr lang="en-US"/>
          </a:p>
        </p:txBody>
      </p:sp>
      <p:sp>
        <p:nvSpPr>
          <p:cNvPr id="12" name="Shape 10"/>
          <p:cNvSpPr/>
          <p:nvPr/>
        </p:nvSpPr>
        <p:spPr>
          <a:xfrm>
            <a:off x="4480560" y="0"/>
            <a:ext cx="0" cy="6858000"/>
          </a:xfrm>
          <a:prstGeom prst="line">
            <a:avLst/>
          </a:prstGeom>
          <a:noFill/>
          <a:ln w="5080">
            <a:solidFill>
              <a:srgbClr val="22384E">
                <a:alpha val="6000"/>
              </a:srgbClr>
            </a:solidFill>
            <a:prstDash val="solid"/>
          </a:ln>
        </p:spPr>
        <p:txBody>
          <a:bodyPr/>
          <a:lstStyle/>
          <a:p>
            <a:endParaRPr lang="en-US"/>
          </a:p>
        </p:txBody>
      </p:sp>
      <p:sp>
        <p:nvSpPr>
          <p:cNvPr id="13" name="Shape 11"/>
          <p:cNvSpPr/>
          <p:nvPr/>
        </p:nvSpPr>
        <p:spPr>
          <a:xfrm>
            <a:off x="4983480" y="0"/>
            <a:ext cx="0" cy="6858000"/>
          </a:xfrm>
          <a:prstGeom prst="line">
            <a:avLst/>
          </a:prstGeom>
          <a:noFill/>
          <a:ln w="5080">
            <a:solidFill>
              <a:srgbClr val="22384E">
                <a:alpha val="6000"/>
              </a:srgbClr>
            </a:solidFill>
            <a:prstDash val="solid"/>
          </a:ln>
        </p:spPr>
        <p:txBody>
          <a:bodyPr/>
          <a:lstStyle/>
          <a:p>
            <a:endParaRPr lang="en-US"/>
          </a:p>
        </p:txBody>
      </p:sp>
      <p:sp>
        <p:nvSpPr>
          <p:cNvPr id="14" name="Shape 12"/>
          <p:cNvSpPr/>
          <p:nvPr/>
        </p:nvSpPr>
        <p:spPr>
          <a:xfrm>
            <a:off x="5486400" y="0"/>
            <a:ext cx="0" cy="6858000"/>
          </a:xfrm>
          <a:prstGeom prst="line">
            <a:avLst/>
          </a:prstGeom>
          <a:noFill/>
          <a:ln w="5080">
            <a:solidFill>
              <a:srgbClr val="22384E">
                <a:alpha val="6000"/>
              </a:srgbClr>
            </a:solidFill>
            <a:prstDash val="solid"/>
          </a:ln>
        </p:spPr>
        <p:txBody>
          <a:bodyPr/>
          <a:lstStyle/>
          <a:p>
            <a:endParaRPr lang="en-US"/>
          </a:p>
        </p:txBody>
      </p:sp>
      <p:sp>
        <p:nvSpPr>
          <p:cNvPr id="15" name="Shape 13"/>
          <p:cNvSpPr/>
          <p:nvPr/>
        </p:nvSpPr>
        <p:spPr>
          <a:xfrm>
            <a:off x="5989320" y="0"/>
            <a:ext cx="0" cy="6858000"/>
          </a:xfrm>
          <a:prstGeom prst="line">
            <a:avLst/>
          </a:prstGeom>
          <a:noFill/>
          <a:ln w="5080">
            <a:solidFill>
              <a:srgbClr val="22384E">
                <a:alpha val="6000"/>
              </a:srgbClr>
            </a:solidFill>
            <a:prstDash val="solid"/>
          </a:ln>
        </p:spPr>
        <p:txBody>
          <a:bodyPr/>
          <a:lstStyle/>
          <a:p>
            <a:endParaRPr lang="en-US"/>
          </a:p>
        </p:txBody>
      </p:sp>
      <p:sp>
        <p:nvSpPr>
          <p:cNvPr id="16" name="Shape 14"/>
          <p:cNvSpPr/>
          <p:nvPr/>
        </p:nvSpPr>
        <p:spPr>
          <a:xfrm>
            <a:off x="6492240" y="0"/>
            <a:ext cx="0" cy="6858000"/>
          </a:xfrm>
          <a:prstGeom prst="line">
            <a:avLst/>
          </a:prstGeom>
          <a:noFill/>
          <a:ln w="5080">
            <a:solidFill>
              <a:srgbClr val="22384E">
                <a:alpha val="6000"/>
              </a:srgbClr>
            </a:solidFill>
            <a:prstDash val="solid"/>
          </a:ln>
        </p:spPr>
        <p:txBody>
          <a:bodyPr/>
          <a:lstStyle/>
          <a:p>
            <a:endParaRPr lang="en-US"/>
          </a:p>
        </p:txBody>
      </p:sp>
      <p:sp>
        <p:nvSpPr>
          <p:cNvPr id="17" name="Shape 15"/>
          <p:cNvSpPr/>
          <p:nvPr/>
        </p:nvSpPr>
        <p:spPr>
          <a:xfrm>
            <a:off x="6995160" y="0"/>
            <a:ext cx="0" cy="6858000"/>
          </a:xfrm>
          <a:prstGeom prst="line">
            <a:avLst/>
          </a:prstGeom>
          <a:noFill/>
          <a:ln w="5080">
            <a:solidFill>
              <a:srgbClr val="22384E">
                <a:alpha val="6000"/>
              </a:srgbClr>
            </a:solidFill>
            <a:prstDash val="solid"/>
          </a:ln>
        </p:spPr>
        <p:txBody>
          <a:bodyPr/>
          <a:lstStyle/>
          <a:p>
            <a:endParaRPr lang="en-US"/>
          </a:p>
        </p:txBody>
      </p:sp>
      <p:sp>
        <p:nvSpPr>
          <p:cNvPr id="18" name="Shape 16"/>
          <p:cNvSpPr/>
          <p:nvPr/>
        </p:nvSpPr>
        <p:spPr>
          <a:xfrm>
            <a:off x="7498080" y="0"/>
            <a:ext cx="0" cy="6858000"/>
          </a:xfrm>
          <a:prstGeom prst="line">
            <a:avLst/>
          </a:prstGeom>
          <a:noFill/>
          <a:ln w="5080">
            <a:solidFill>
              <a:srgbClr val="22384E">
                <a:alpha val="6000"/>
              </a:srgbClr>
            </a:solidFill>
            <a:prstDash val="solid"/>
          </a:ln>
        </p:spPr>
        <p:txBody>
          <a:bodyPr/>
          <a:lstStyle/>
          <a:p>
            <a:endParaRPr lang="en-US"/>
          </a:p>
        </p:txBody>
      </p:sp>
      <p:sp>
        <p:nvSpPr>
          <p:cNvPr id="19" name="Shape 17"/>
          <p:cNvSpPr/>
          <p:nvPr/>
        </p:nvSpPr>
        <p:spPr>
          <a:xfrm>
            <a:off x="8001000" y="0"/>
            <a:ext cx="0" cy="6858000"/>
          </a:xfrm>
          <a:prstGeom prst="line">
            <a:avLst/>
          </a:prstGeom>
          <a:noFill/>
          <a:ln w="5080">
            <a:solidFill>
              <a:srgbClr val="22384E">
                <a:alpha val="6000"/>
              </a:srgbClr>
            </a:solidFill>
            <a:prstDash val="solid"/>
          </a:ln>
        </p:spPr>
        <p:txBody>
          <a:bodyPr/>
          <a:lstStyle/>
          <a:p>
            <a:endParaRPr lang="en-US"/>
          </a:p>
        </p:txBody>
      </p:sp>
      <p:sp>
        <p:nvSpPr>
          <p:cNvPr id="20" name="Shape 18"/>
          <p:cNvSpPr/>
          <p:nvPr/>
        </p:nvSpPr>
        <p:spPr>
          <a:xfrm>
            <a:off x="8503920" y="0"/>
            <a:ext cx="0" cy="6858000"/>
          </a:xfrm>
          <a:prstGeom prst="line">
            <a:avLst/>
          </a:prstGeom>
          <a:noFill/>
          <a:ln w="5080">
            <a:solidFill>
              <a:srgbClr val="22384E">
                <a:alpha val="6000"/>
              </a:srgbClr>
            </a:solidFill>
            <a:prstDash val="solid"/>
          </a:ln>
        </p:spPr>
        <p:txBody>
          <a:bodyPr/>
          <a:lstStyle/>
          <a:p>
            <a:endParaRPr lang="en-US"/>
          </a:p>
        </p:txBody>
      </p:sp>
      <p:sp>
        <p:nvSpPr>
          <p:cNvPr id="21" name="Shape 19"/>
          <p:cNvSpPr/>
          <p:nvPr/>
        </p:nvSpPr>
        <p:spPr>
          <a:xfrm>
            <a:off x="9006840" y="0"/>
            <a:ext cx="0" cy="6858000"/>
          </a:xfrm>
          <a:prstGeom prst="line">
            <a:avLst/>
          </a:prstGeom>
          <a:noFill/>
          <a:ln w="5080">
            <a:solidFill>
              <a:srgbClr val="22384E">
                <a:alpha val="6000"/>
              </a:srgbClr>
            </a:solidFill>
            <a:prstDash val="solid"/>
          </a:ln>
        </p:spPr>
        <p:txBody>
          <a:bodyPr/>
          <a:lstStyle/>
          <a:p>
            <a:endParaRPr lang="en-US"/>
          </a:p>
        </p:txBody>
      </p:sp>
      <p:sp>
        <p:nvSpPr>
          <p:cNvPr id="22" name="Shape 20"/>
          <p:cNvSpPr/>
          <p:nvPr/>
        </p:nvSpPr>
        <p:spPr>
          <a:xfrm>
            <a:off x="9509760" y="0"/>
            <a:ext cx="0" cy="6858000"/>
          </a:xfrm>
          <a:prstGeom prst="line">
            <a:avLst/>
          </a:prstGeom>
          <a:noFill/>
          <a:ln w="5080">
            <a:solidFill>
              <a:srgbClr val="22384E">
                <a:alpha val="6000"/>
              </a:srgbClr>
            </a:solidFill>
            <a:prstDash val="solid"/>
          </a:ln>
        </p:spPr>
        <p:txBody>
          <a:bodyPr/>
          <a:lstStyle/>
          <a:p>
            <a:endParaRPr lang="en-US"/>
          </a:p>
        </p:txBody>
      </p:sp>
      <p:sp>
        <p:nvSpPr>
          <p:cNvPr id="23" name="Shape 21"/>
          <p:cNvSpPr/>
          <p:nvPr/>
        </p:nvSpPr>
        <p:spPr>
          <a:xfrm>
            <a:off x="10012680" y="0"/>
            <a:ext cx="0" cy="6858000"/>
          </a:xfrm>
          <a:prstGeom prst="line">
            <a:avLst/>
          </a:prstGeom>
          <a:noFill/>
          <a:ln w="5080">
            <a:solidFill>
              <a:srgbClr val="22384E">
                <a:alpha val="6000"/>
              </a:srgbClr>
            </a:solidFill>
            <a:prstDash val="solid"/>
          </a:ln>
        </p:spPr>
        <p:txBody>
          <a:bodyPr/>
          <a:lstStyle/>
          <a:p>
            <a:endParaRPr lang="en-US"/>
          </a:p>
        </p:txBody>
      </p:sp>
      <p:sp>
        <p:nvSpPr>
          <p:cNvPr id="24" name="Shape 22"/>
          <p:cNvSpPr/>
          <p:nvPr/>
        </p:nvSpPr>
        <p:spPr>
          <a:xfrm>
            <a:off x="10515600" y="0"/>
            <a:ext cx="0" cy="6858000"/>
          </a:xfrm>
          <a:prstGeom prst="line">
            <a:avLst/>
          </a:prstGeom>
          <a:noFill/>
          <a:ln w="5080">
            <a:solidFill>
              <a:srgbClr val="22384E">
                <a:alpha val="6000"/>
              </a:srgbClr>
            </a:solidFill>
            <a:prstDash val="solid"/>
          </a:ln>
        </p:spPr>
        <p:txBody>
          <a:bodyPr/>
          <a:lstStyle/>
          <a:p>
            <a:endParaRPr lang="en-US"/>
          </a:p>
        </p:txBody>
      </p:sp>
      <p:sp>
        <p:nvSpPr>
          <p:cNvPr id="25" name="Shape 23"/>
          <p:cNvSpPr/>
          <p:nvPr/>
        </p:nvSpPr>
        <p:spPr>
          <a:xfrm>
            <a:off x="11018520" y="0"/>
            <a:ext cx="0" cy="6858000"/>
          </a:xfrm>
          <a:prstGeom prst="line">
            <a:avLst/>
          </a:prstGeom>
          <a:noFill/>
          <a:ln w="5080">
            <a:solidFill>
              <a:srgbClr val="22384E">
                <a:alpha val="6000"/>
              </a:srgbClr>
            </a:solidFill>
            <a:prstDash val="solid"/>
          </a:ln>
        </p:spPr>
        <p:txBody>
          <a:bodyPr/>
          <a:lstStyle/>
          <a:p>
            <a:endParaRPr lang="en-US"/>
          </a:p>
        </p:txBody>
      </p:sp>
      <p:sp>
        <p:nvSpPr>
          <p:cNvPr id="26" name="Shape 24"/>
          <p:cNvSpPr/>
          <p:nvPr/>
        </p:nvSpPr>
        <p:spPr>
          <a:xfrm>
            <a:off x="11521440" y="0"/>
            <a:ext cx="0" cy="6858000"/>
          </a:xfrm>
          <a:prstGeom prst="line">
            <a:avLst/>
          </a:prstGeom>
          <a:noFill/>
          <a:ln w="5080">
            <a:solidFill>
              <a:srgbClr val="22384E">
                <a:alpha val="6000"/>
              </a:srgbClr>
            </a:solidFill>
            <a:prstDash val="solid"/>
          </a:ln>
        </p:spPr>
        <p:txBody>
          <a:bodyPr/>
          <a:lstStyle/>
          <a:p>
            <a:endParaRPr lang="en-US"/>
          </a:p>
        </p:txBody>
      </p:sp>
      <p:sp>
        <p:nvSpPr>
          <p:cNvPr id="27" name="Shape 25"/>
          <p:cNvSpPr/>
          <p:nvPr/>
        </p:nvSpPr>
        <p:spPr>
          <a:xfrm>
            <a:off x="0" y="320040"/>
            <a:ext cx="12191695" cy="0"/>
          </a:xfrm>
          <a:prstGeom prst="line">
            <a:avLst/>
          </a:prstGeom>
          <a:noFill/>
          <a:ln w="5080">
            <a:solidFill>
              <a:srgbClr val="22384E">
                <a:alpha val="5000"/>
              </a:srgbClr>
            </a:solidFill>
            <a:prstDash val="solid"/>
          </a:ln>
        </p:spPr>
        <p:txBody>
          <a:bodyPr/>
          <a:lstStyle/>
          <a:p>
            <a:endParaRPr lang="en-US"/>
          </a:p>
        </p:txBody>
      </p:sp>
      <p:sp>
        <p:nvSpPr>
          <p:cNvPr id="28" name="Shape 26"/>
          <p:cNvSpPr/>
          <p:nvPr/>
        </p:nvSpPr>
        <p:spPr>
          <a:xfrm>
            <a:off x="0" y="822960"/>
            <a:ext cx="12191695" cy="0"/>
          </a:xfrm>
          <a:prstGeom prst="line">
            <a:avLst/>
          </a:prstGeom>
          <a:noFill/>
          <a:ln w="5080">
            <a:solidFill>
              <a:srgbClr val="22384E">
                <a:alpha val="5000"/>
              </a:srgbClr>
            </a:solidFill>
            <a:prstDash val="solid"/>
          </a:ln>
        </p:spPr>
        <p:txBody>
          <a:bodyPr/>
          <a:lstStyle/>
          <a:p>
            <a:endParaRPr lang="en-US"/>
          </a:p>
        </p:txBody>
      </p:sp>
      <p:sp>
        <p:nvSpPr>
          <p:cNvPr id="29" name="Shape 27"/>
          <p:cNvSpPr/>
          <p:nvPr/>
        </p:nvSpPr>
        <p:spPr>
          <a:xfrm>
            <a:off x="0" y="1325880"/>
            <a:ext cx="12191695" cy="0"/>
          </a:xfrm>
          <a:prstGeom prst="line">
            <a:avLst/>
          </a:prstGeom>
          <a:noFill/>
          <a:ln w="5080">
            <a:solidFill>
              <a:srgbClr val="22384E">
                <a:alpha val="5000"/>
              </a:srgbClr>
            </a:solidFill>
            <a:prstDash val="solid"/>
          </a:ln>
        </p:spPr>
        <p:txBody>
          <a:bodyPr/>
          <a:lstStyle/>
          <a:p>
            <a:endParaRPr lang="en-US"/>
          </a:p>
        </p:txBody>
      </p:sp>
      <p:sp>
        <p:nvSpPr>
          <p:cNvPr id="30" name="Shape 28"/>
          <p:cNvSpPr/>
          <p:nvPr/>
        </p:nvSpPr>
        <p:spPr>
          <a:xfrm>
            <a:off x="0" y="1828800"/>
            <a:ext cx="12191695" cy="0"/>
          </a:xfrm>
          <a:prstGeom prst="line">
            <a:avLst/>
          </a:prstGeom>
          <a:noFill/>
          <a:ln w="5080">
            <a:solidFill>
              <a:srgbClr val="22384E">
                <a:alpha val="5000"/>
              </a:srgbClr>
            </a:solidFill>
            <a:prstDash val="solid"/>
          </a:ln>
        </p:spPr>
        <p:txBody>
          <a:bodyPr/>
          <a:lstStyle/>
          <a:p>
            <a:endParaRPr lang="en-US"/>
          </a:p>
        </p:txBody>
      </p:sp>
      <p:sp>
        <p:nvSpPr>
          <p:cNvPr id="31" name="Shape 29"/>
          <p:cNvSpPr/>
          <p:nvPr/>
        </p:nvSpPr>
        <p:spPr>
          <a:xfrm>
            <a:off x="0" y="2331720"/>
            <a:ext cx="12191695" cy="0"/>
          </a:xfrm>
          <a:prstGeom prst="line">
            <a:avLst/>
          </a:prstGeom>
          <a:noFill/>
          <a:ln w="5080">
            <a:solidFill>
              <a:srgbClr val="22384E">
                <a:alpha val="5000"/>
              </a:srgbClr>
            </a:solidFill>
            <a:prstDash val="solid"/>
          </a:ln>
        </p:spPr>
        <p:txBody>
          <a:bodyPr/>
          <a:lstStyle/>
          <a:p>
            <a:endParaRPr lang="en-US"/>
          </a:p>
        </p:txBody>
      </p:sp>
      <p:sp>
        <p:nvSpPr>
          <p:cNvPr id="32" name="Shape 30"/>
          <p:cNvSpPr/>
          <p:nvPr/>
        </p:nvSpPr>
        <p:spPr>
          <a:xfrm>
            <a:off x="0" y="2834640"/>
            <a:ext cx="12191695" cy="0"/>
          </a:xfrm>
          <a:prstGeom prst="line">
            <a:avLst/>
          </a:prstGeom>
          <a:noFill/>
          <a:ln w="5080">
            <a:solidFill>
              <a:srgbClr val="22384E">
                <a:alpha val="5000"/>
              </a:srgbClr>
            </a:solidFill>
            <a:prstDash val="solid"/>
          </a:ln>
        </p:spPr>
        <p:txBody>
          <a:bodyPr/>
          <a:lstStyle/>
          <a:p>
            <a:endParaRPr lang="en-US"/>
          </a:p>
        </p:txBody>
      </p:sp>
      <p:sp>
        <p:nvSpPr>
          <p:cNvPr id="33" name="Shape 31"/>
          <p:cNvSpPr/>
          <p:nvPr/>
        </p:nvSpPr>
        <p:spPr>
          <a:xfrm>
            <a:off x="0" y="3337560"/>
            <a:ext cx="12191695" cy="0"/>
          </a:xfrm>
          <a:prstGeom prst="line">
            <a:avLst/>
          </a:prstGeom>
          <a:noFill/>
          <a:ln w="5080">
            <a:solidFill>
              <a:srgbClr val="22384E">
                <a:alpha val="5000"/>
              </a:srgbClr>
            </a:solidFill>
            <a:prstDash val="solid"/>
          </a:ln>
        </p:spPr>
        <p:txBody>
          <a:bodyPr/>
          <a:lstStyle/>
          <a:p>
            <a:endParaRPr lang="en-US"/>
          </a:p>
        </p:txBody>
      </p:sp>
      <p:sp>
        <p:nvSpPr>
          <p:cNvPr id="34" name="Shape 32"/>
          <p:cNvSpPr/>
          <p:nvPr/>
        </p:nvSpPr>
        <p:spPr>
          <a:xfrm>
            <a:off x="0" y="3840480"/>
            <a:ext cx="12191695" cy="0"/>
          </a:xfrm>
          <a:prstGeom prst="line">
            <a:avLst/>
          </a:prstGeom>
          <a:noFill/>
          <a:ln w="5080">
            <a:solidFill>
              <a:srgbClr val="22384E">
                <a:alpha val="5000"/>
              </a:srgbClr>
            </a:solidFill>
            <a:prstDash val="solid"/>
          </a:ln>
        </p:spPr>
        <p:txBody>
          <a:bodyPr/>
          <a:lstStyle/>
          <a:p>
            <a:endParaRPr lang="en-US"/>
          </a:p>
        </p:txBody>
      </p:sp>
      <p:sp>
        <p:nvSpPr>
          <p:cNvPr id="35" name="Shape 33"/>
          <p:cNvSpPr/>
          <p:nvPr/>
        </p:nvSpPr>
        <p:spPr>
          <a:xfrm>
            <a:off x="0" y="4343400"/>
            <a:ext cx="12191695" cy="0"/>
          </a:xfrm>
          <a:prstGeom prst="line">
            <a:avLst/>
          </a:prstGeom>
          <a:noFill/>
          <a:ln w="5080">
            <a:solidFill>
              <a:srgbClr val="22384E">
                <a:alpha val="5000"/>
              </a:srgbClr>
            </a:solidFill>
            <a:prstDash val="solid"/>
          </a:ln>
        </p:spPr>
        <p:txBody>
          <a:bodyPr/>
          <a:lstStyle/>
          <a:p>
            <a:endParaRPr lang="en-US"/>
          </a:p>
        </p:txBody>
      </p:sp>
      <p:sp>
        <p:nvSpPr>
          <p:cNvPr id="36" name="Shape 34"/>
          <p:cNvSpPr/>
          <p:nvPr/>
        </p:nvSpPr>
        <p:spPr>
          <a:xfrm>
            <a:off x="0" y="4846320"/>
            <a:ext cx="12191695" cy="0"/>
          </a:xfrm>
          <a:prstGeom prst="line">
            <a:avLst/>
          </a:prstGeom>
          <a:noFill/>
          <a:ln w="5080">
            <a:solidFill>
              <a:srgbClr val="22384E">
                <a:alpha val="5000"/>
              </a:srgbClr>
            </a:solidFill>
            <a:prstDash val="solid"/>
          </a:ln>
        </p:spPr>
        <p:txBody>
          <a:bodyPr/>
          <a:lstStyle/>
          <a:p>
            <a:endParaRPr lang="en-US"/>
          </a:p>
        </p:txBody>
      </p:sp>
      <p:sp>
        <p:nvSpPr>
          <p:cNvPr id="37" name="Shape 35"/>
          <p:cNvSpPr/>
          <p:nvPr/>
        </p:nvSpPr>
        <p:spPr>
          <a:xfrm>
            <a:off x="0" y="5349240"/>
            <a:ext cx="12191695" cy="0"/>
          </a:xfrm>
          <a:prstGeom prst="line">
            <a:avLst/>
          </a:prstGeom>
          <a:noFill/>
          <a:ln w="5080">
            <a:solidFill>
              <a:srgbClr val="22384E">
                <a:alpha val="5000"/>
              </a:srgbClr>
            </a:solidFill>
            <a:prstDash val="solid"/>
          </a:ln>
        </p:spPr>
        <p:txBody>
          <a:bodyPr/>
          <a:lstStyle/>
          <a:p>
            <a:endParaRPr lang="en-US"/>
          </a:p>
        </p:txBody>
      </p:sp>
      <p:sp>
        <p:nvSpPr>
          <p:cNvPr id="38" name="Shape 36"/>
          <p:cNvSpPr/>
          <p:nvPr/>
        </p:nvSpPr>
        <p:spPr>
          <a:xfrm>
            <a:off x="0" y="5852160"/>
            <a:ext cx="12191695" cy="0"/>
          </a:xfrm>
          <a:prstGeom prst="line">
            <a:avLst/>
          </a:prstGeom>
          <a:noFill/>
          <a:ln w="5080">
            <a:solidFill>
              <a:srgbClr val="22384E">
                <a:alpha val="5000"/>
              </a:srgbClr>
            </a:solidFill>
            <a:prstDash val="solid"/>
          </a:ln>
        </p:spPr>
        <p:txBody>
          <a:bodyPr/>
          <a:lstStyle/>
          <a:p>
            <a:endParaRPr lang="en-US"/>
          </a:p>
        </p:txBody>
      </p:sp>
      <p:sp>
        <p:nvSpPr>
          <p:cNvPr id="39" name="Shape 37"/>
          <p:cNvSpPr/>
          <p:nvPr/>
        </p:nvSpPr>
        <p:spPr>
          <a:xfrm>
            <a:off x="0" y="6355080"/>
            <a:ext cx="12191695" cy="0"/>
          </a:xfrm>
          <a:prstGeom prst="line">
            <a:avLst/>
          </a:prstGeom>
          <a:noFill/>
          <a:ln w="5080">
            <a:solidFill>
              <a:srgbClr val="22384E">
                <a:alpha val="5000"/>
              </a:srgbClr>
            </a:solidFill>
            <a:prstDash val="solid"/>
          </a:ln>
        </p:spPr>
        <p:txBody>
          <a:bodyPr/>
          <a:lstStyle/>
          <a:p>
            <a:endParaRPr lang="en-US"/>
          </a:p>
        </p:txBody>
      </p:sp>
      <p:sp>
        <p:nvSpPr>
          <p:cNvPr id="40" name="Shape 38"/>
          <p:cNvSpPr/>
          <p:nvPr/>
        </p:nvSpPr>
        <p:spPr>
          <a:xfrm>
            <a:off x="0" y="6858000"/>
            <a:ext cx="12191695" cy="0"/>
          </a:xfrm>
          <a:prstGeom prst="line">
            <a:avLst/>
          </a:prstGeom>
          <a:noFill/>
          <a:ln w="5080">
            <a:solidFill>
              <a:srgbClr val="22384E">
                <a:alpha val="5000"/>
              </a:srgbClr>
            </a:solidFill>
            <a:prstDash val="solid"/>
          </a:ln>
        </p:spPr>
        <p:txBody>
          <a:bodyPr/>
          <a:lstStyle/>
          <a:p>
            <a:endParaRPr lang="en-US"/>
          </a:p>
        </p:txBody>
      </p:sp>
      <p:sp>
        <p:nvSpPr>
          <p:cNvPr id="41" name="Text 39"/>
          <p:cNvSpPr/>
          <p:nvPr/>
        </p:nvSpPr>
        <p:spPr>
          <a:xfrm>
            <a:off x="438912" y="256032"/>
            <a:ext cx="4114800" cy="201168"/>
          </a:xfrm>
          <a:prstGeom prst="rect">
            <a:avLst/>
          </a:prstGeom>
          <a:noFill/>
          <a:ln/>
        </p:spPr>
        <p:txBody>
          <a:bodyPr wrap="square" lIns="0" tIns="0" rIns="0" bIns="0" rtlCol="0" anchor="ctr"/>
          <a:lstStyle/>
          <a:p>
            <a:pPr marL="0" indent="0">
              <a:buNone/>
            </a:pPr>
            <a:r>
              <a:rPr lang="en-US" sz="950" b="1" kern="0" spc="170" dirty="0">
                <a:solidFill>
                  <a:srgbClr val="38D9E6"/>
                </a:solidFill>
                <a:latin typeface="Inter" pitchFamily="34" charset="0"/>
                <a:ea typeface="Inter" pitchFamily="34" charset="-122"/>
                <a:cs typeface="Inter" pitchFamily="34" charset="-120"/>
              </a:rPr>
              <a:t>CONCLUSION</a:t>
            </a:r>
            <a:endParaRPr lang="en-US" sz="950" dirty="0"/>
          </a:p>
        </p:txBody>
      </p:sp>
      <p:sp>
        <p:nvSpPr>
          <p:cNvPr id="42" name="Shape 40"/>
          <p:cNvSpPr/>
          <p:nvPr/>
        </p:nvSpPr>
        <p:spPr>
          <a:xfrm>
            <a:off x="438912" y="539496"/>
            <a:ext cx="438912" cy="0"/>
          </a:xfrm>
          <a:prstGeom prst="line">
            <a:avLst/>
          </a:prstGeom>
          <a:noFill/>
          <a:ln w="44450">
            <a:solidFill>
              <a:srgbClr val="38D9E6"/>
            </a:solidFill>
            <a:prstDash val="solid"/>
            <a:headEnd type="none"/>
            <a:tailEnd type="none"/>
          </a:ln>
        </p:spPr>
        <p:txBody>
          <a:bodyPr/>
          <a:lstStyle/>
          <a:p>
            <a:endParaRPr lang="en-US"/>
          </a:p>
        </p:txBody>
      </p:sp>
      <p:sp>
        <p:nvSpPr>
          <p:cNvPr id="43" name="Text 41"/>
          <p:cNvSpPr/>
          <p:nvPr/>
        </p:nvSpPr>
        <p:spPr>
          <a:xfrm>
            <a:off x="438912" y="658368"/>
            <a:ext cx="11064240" cy="566928"/>
          </a:xfrm>
          <a:prstGeom prst="rect">
            <a:avLst/>
          </a:prstGeom>
          <a:noFill/>
          <a:ln/>
        </p:spPr>
        <p:txBody>
          <a:bodyPr wrap="square" lIns="0" tIns="0" rIns="0" bIns="0" rtlCol="0" anchor="ctr">
            <a:normAutofit/>
          </a:bodyPr>
          <a:lstStyle/>
          <a:p>
            <a:pPr marL="0" indent="0">
              <a:buNone/>
            </a:pPr>
            <a:r>
              <a:rPr lang="en-US" sz="2700" b="1" dirty="0">
                <a:solidFill>
                  <a:srgbClr val="F4F8FB"/>
                </a:solidFill>
                <a:latin typeface="Inter Display" pitchFamily="34" charset="0"/>
                <a:ea typeface="Inter Display" pitchFamily="34" charset="-122"/>
                <a:cs typeface="Inter Display" pitchFamily="34" charset="-120"/>
              </a:rPr>
              <a:t>What worked, what did not — and what we would change next</a:t>
            </a:r>
            <a:endParaRPr lang="en-US" sz="2700" dirty="0"/>
          </a:p>
        </p:txBody>
      </p:sp>
      <p:sp>
        <p:nvSpPr>
          <p:cNvPr id="44" name="Text 42"/>
          <p:cNvSpPr/>
          <p:nvPr/>
        </p:nvSpPr>
        <p:spPr>
          <a:xfrm>
            <a:off x="457200" y="1225296"/>
            <a:ext cx="10881360" cy="292608"/>
          </a:xfrm>
          <a:prstGeom prst="rect">
            <a:avLst/>
          </a:prstGeom>
          <a:noFill/>
          <a:ln/>
        </p:spPr>
        <p:txBody>
          <a:bodyPr wrap="square" lIns="0" tIns="0" rIns="0" bIns="0" rtlCol="0" anchor="ctr">
            <a:normAutofit/>
          </a:bodyPr>
          <a:lstStyle/>
          <a:p>
            <a:pPr marL="0" indent="0">
              <a:buNone/>
            </a:pPr>
            <a:r>
              <a:rPr lang="en-US" sz="1250" dirty="0">
                <a:solidFill>
                  <a:srgbClr val="A8B6C5"/>
                </a:solidFill>
                <a:latin typeface="Inter" pitchFamily="34" charset="0"/>
                <a:ea typeface="Inter" pitchFamily="34" charset="-122"/>
                <a:cs typeface="Inter" pitchFamily="34" charset="-120"/>
              </a:rPr>
              <a:t>The project’s main lesson is that end-to-end acceleration depends on the slowest stage after optimisation.</a:t>
            </a:r>
            <a:endParaRPr lang="en-US" sz="1250" dirty="0"/>
          </a:p>
        </p:txBody>
      </p:sp>
      <p:sp>
        <p:nvSpPr>
          <p:cNvPr id="45" name="Shape 43"/>
          <p:cNvSpPr/>
          <p:nvPr/>
        </p:nvSpPr>
        <p:spPr>
          <a:xfrm>
            <a:off x="475488" y="1719072"/>
            <a:ext cx="3547872" cy="3291840"/>
          </a:xfrm>
          <a:prstGeom prst="roundRect">
            <a:avLst>
              <a:gd name="adj" fmla="val 2222"/>
            </a:avLst>
          </a:prstGeom>
          <a:solidFill>
            <a:srgbClr val="0D1C2D"/>
          </a:solidFill>
          <a:ln w="12700">
            <a:solidFill>
              <a:srgbClr val="49D486">
                <a:alpha val="75000"/>
              </a:srgbClr>
            </a:solidFill>
            <a:prstDash val="solid"/>
          </a:ln>
          <a:effectLst>
            <a:outerShdw algn="bl" rotWithShape="0">
              <a:srgbClr val="000000">
                <a:alpha val="0"/>
              </a:srgbClr>
            </a:outerShdw>
          </a:effectLst>
        </p:spPr>
        <p:txBody>
          <a:bodyPr/>
          <a:lstStyle/>
          <a:p>
            <a:endParaRPr lang="en-US"/>
          </a:p>
        </p:txBody>
      </p:sp>
      <p:sp>
        <p:nvSpPr>
          <p:cNvPr id="46" name="Text 44"/>
          <p:cNvSpPr/>
          <p:nvPr/>
        </p:nvSpPr>
        <p:spPr>
          <a:xfrm>
            <a:off x="768096" y="1993392"/>
            <a:ext cx="2011680" cy="274320"/>
          </a:xfrm>
          <a:prstGeom prst="rect">
            <a:avLst/>
          </a:prstGeom>
          <a:noFill/>
          <a:ln/>
        </p:spPr>
        <p:txBody>
          <a:bodyPr wrap="square" lIns="0" tIns="0" rIns="0" bIns="0" rtlCol="0" anchor="ctr"/>
          <a:lstStyle/>
          <a:p>
            <a:pPr marL="0" indent="0">
              <a:buNone/>
            </a:pPr>
            <a:r>
              <a:rPr lang="en-US" sz="1800" b="1" dirty="0">
                <a:solidFill>
                  <a:srgbClr val="49D486"/>
                </a:solidFill>
                <a:latin typeface="Inter Display" pitchFamily="34" charset="0"/>
                <a:ea typeface="Inter Display" pitchFamily="34" charset="-122"/>
                <a:cs typeface="Inter Display" pitchFamily="34" charset="-120"/>
              </a:rPr>
              <a:t>What worked</a:t>
            </a:r>
            <a:endParaRPr lang="en-US" sz="1800" dirty="0"/>
          </a:p>
        </p:txBody>
      </p:sp>
      <p:sp>
        <p:nvSpPr>
          <p:cNvPr id="47" name="Shape 45"/>
          <p:cNvSpPr/>
          <p:nvPr/>
        </p:nvSpPr>
        <p:spPr>
          <a:xfrm>
            <a:off x="768096" y="2523744"/>
            <a:ext cx="292608" cy="292608"/>
          </a:xfrm>
          <a:prstGeom prst="ellipse">
            <a:avLst/>
          </a:prstGeom>
          <a:solidFill>
            <a:srgbClr val="49D486">
              <a:alpha val="92000"/>
            </a:srgbClr>
          </a:solidFill>
          <a:ln w="12700">
            <a:solidFill>
              <a:srgbClr val="49D486">
                <a:alpha val="0"/>
              </a:srgbClr>
            </a:solidFill>
            <a:prstDash val="solid"/>
          </a:ln>
        </p:spPr>
        <p:txBody>
          <a:bodyPr/>
          <a:lstStyle/>
          <a:p>
            <a:endParaRPr lang="en-US"/>
          </a:p>
        </p:txBody>
      </p:sp>
      <p:sp>
        <p:nvSpPr>
          <p:cNvPr id="48" name="Text 46"/>
          <p:cNvSpPr/>
          <p:nvPr/>
        </p:nvSpPr>
        <p:spPr>
          <a:xfrm>
            <a:off x="768096" y="2505456"/>
            <a:ext cx="292608" cy="274320"/>
          </a:xfrm>
          <a:prstGeom prst="rect">
            <a:avLst/>
          </a:prstGeom>
          <a:noFill/>
          <a:ln/>
        </p:spPr>
        <p:txBody>
          <a:bodyPr wrap="square" lIns="0" tIns="0" rIns="0" bIns="0" rtlCol="0" anchor="ctr"/>
          <a:lstStyle/>
          <a:p>
            <a:pPr marL="0" indent="0" algn="ctr">
              <a:buNone/>
            </a:pPr>
            <a:r>
              <a:rPr lang="en-US" sz="1000" b="1" dirty="0">
                <a:solidFill>
                  <a:srgbClr val="07111F"/>
                </a:solidFill>
                <a:latin typeface="Inter" pitchFamily="34" charset="0"/>
                <a:ea typeface="Inter" pitchFamily="34" charset="-122"/>
                <a:cs typeface="Inter" pitchFamily="34" charset="-120"/>
              </a:rPr>
              <a:t>✓</a:t>
            </a:r>
            <a:endParaRPr lang="en-US" sz="1000" dirty="0"/>
          </a:p>
        </p:txBody>
      </p:sp>
      <p:sp>
        <p:nvSpPr>
          <p:cNvPr id="49" name="Text 47"/>
          <p:cNvSpPr/>
          <p:nvPr/>
        </p:nvSpPr>
        <p:spPr>
          <a:xfrm>
            <a:off x="1197864" y="2487168"/>
            <a:ext cx="2459736" cy="219456"/>
          </a:xfrm>
          <a:prstGeom prst="rect">
            <a:avLst/>
          </a:prstGeom>
          <a:noFill/>
          <a:ln/>
        </p:spPr>
        <p:txBody>
          <a:bodyPr wrap="square" lIns="0" tIns="0" rIns="0" bIns="0" rtlCol="0" anchor="ctr">
            <a:normAutofit/>
          </a:bodyPr>
          <a:lstStyle/>
          <a:p>
            <a:pPr marL="0" indent="0">
              <a:buNone/>
            </a:pPr>
            <a:r>
              <a:rPr lang="en-US" sz="1320" b="1" dirty="0">
                <a:solidFill>
                  <a:srgbClr val="F4F8FB"/>
                </a:solidFill>
                <a:latin typeface="Inter" pitchFamily="34" charset="0"/>
                <a:ea typeface="Inter" pitchFamily="34" charset="-122"/>
                <a:cs typeface="Inter" pitchFamily="34" charset="-120"/>
              </a:rPr>
              <a:t>Complete FPGA pipeline</a:t>
            </a:r>
            <a:endParaRPr lang="en-US" sz="1320" dirty="0"/>
          </a:p>
        </p:txBody>
      </p:sp>
      <p:sp>
        <p:nvSpPr>
          <p:cNvPr id="50" name="Text 48"/>
          <p:cNvSpPr/>
          <p:nvPr/>
        </p:nvSpPr>
        <p:spPr>
          <a:xfrm>
            <a:off x="1197864" y="2734056"/>
            <a:ext cx="2459736" cy="402336"/>
          </a:xfrm>
          <a:prstGeom prst="rect">
            <a:avLst/>
          </a:prstGeom>
          <a:noFill/>
          <a:ln/>
        </p:spPr>
        <p:txBody>
          <a:bodyPr wrap="square" lIns="0" tIns="0" rIns="0" bIns="0" rtlCol="0" anchor="ctr">
            <a:normAutofit/>
          </a:bodyPr>
          <a:lstStyle/>
          <a:p>
            <a:pPr marL="0" indent="0">
              <a:buNone/>
            </a:pPr>
            <a:r>
              <a:rPr lang="en-US" sz="1050" dirty="0">
                <a:solidFill>
                  <a:srgbClr val="A8B6C5"/>
                </a:solidFill>
                <a:latin typeface="Inter" pitchFamily="34" charset="0"/>
                <a:ea typeface="Inter" pitchFamily="34" charset="-122"/>
                <a:cs typeface="Inter" pitchFamily="34" charset="-120"/>
              </a:rPr>
              <a:t>All 41 images completed with successful status and a custom packed output.</a:t>
            </a:r>
            <a:endParaRPr lang="en-US" sz="1050" dirty="0"/>
          </a:p>
        </p:txBody>
      </p:sp>
      <p:sp>
        <p:nvSpPr>
          <p:cNvPr id="51" name="Shape 49"/>
          <p:cNvSpPr/>
          <p:nvPr/>
        </p:nvSpPr>
        <p:spPr>
          <a:xfrm>
            <a:off x="768096" y="3300984"/>
            <a:ext cx="292608" cy="292608"/>
          </a:xfrm>
          <a:prstGeom prst="ellipse">
            <a:avLst/>
          </a:prstGeom>
          <a:solidFill>
            <a:srgbClr val="49D486">
              <a:alpha val="92000"/>
            </a:srgbClr>
          </a:solidFill>
          <a:ln w="12700">
            <a:solidFill>
              <a:srgbClr val="49D486">
                <a:alpha val="0"/>
              </a:srgbClr>
            </a:solidFill>
            <a:prstDash val="solid"/>
          </a:ln>
        </p:spPr>
        <p:txBody>
          <a:bodyPr/>
          <a:lstStyle/>
          <a:p>
            <a:endParaRPr lang="en-US"/>
          </a:p>
        </p:txBody>
      </p:sp>
      <p:sp>
        <p:nvSpPr>
          <p:cNvPr id="52" name="Text 50"/>
          <p:cNvSpPr/>
          <p:nvPr/>
        </p:nvSpPr>
        <p:spPr>
          <a:xfrm>
            <a:off x="768096" y="3282696"/>
            <a:ext cx="292608" cy="274320"/>
          </a:xfrm>
          <a:prstGeom prst="rect">
            <a:avLst/>
          </a:prstGeom>
          <a:noFill/>
          <a:ln/>
        </p:spPr>
        <p:txBody>
          <a:bodyPr wrap="square" lIns="0" tIns="0" rIns="0" bIns="0" rtlCol="0" anchor="ctr"/>
          <a:lstStyle/>
          <a:p>
            <a:pPr marL="0" indent="0" algn="ctr">
              <a:buNone/>
            </a:pPr>
            <a:r>
              <a:rPr lang="en-US" sz="1000" b="1" dirty="0">
                <a:solidFill>
                  <a:srgbClr val="07111F"/>
                </a:solidFill>
                <a:latin typeface="Inter" pitchFamily="34" charset="0"/>
                <a:ea typeface="Inter" pitchFamily="34" charset="-122"/>
                <a:cs typeface="Inter" pitchFamily="34" charset="-120"/>
              </a:rPr>
              <a:t>✓</a:t>
            </a:r>
            <a:endParaRPr lang="en-US" sz="1000" dirty="0"/>
          </a:p>
        </p:txBody>
      </p:sp>
      <p:sp>
        <p:nvSpPr>
          <p:cNvPr id="53" name="Text 51"/>
          <p:cNvSpPr/>
          <p:nvPr/>
        </p:nvSpPr>
        <p:spPr>
          <a:xfrm>
            <a:off x="1197864" y="3264408"/>
            <a:ext cx="2459736" cy="219456"/>
          </a:xfrm>
          <a:prstGeom prst="rect">
            <a:avLst/>
          </a:prstGeom>
          <a:noFill/>
          <a:ln/>
        </p:spPr>
        <p:txBody>
          <a:bodyPr wrap="square" lIns="0" tIns="0" rIns="0" bIns="0" rtlCol="0" anchor="ctr">
            <a:normAutofit/>
          </a:bodyPr>
          <a:lstStyle/>
          <a:p>
            <a:pPr marL="0" indent="0">
              <a:buNone/>
            </a:pPr>
            <a:r>
              <a:rPr lang="en-US" sz="1320" b="1" dirty="0">
                <a:solidFill>
                  <a:srgbClr val="F4F8FB"/>
                </a:solidFill>
                <a:latin typeface="Inter" pitchFamily="34" charset="0"/>
                <a:ea typeface="Inter" pitchFamily="34" charset="-122"/>
                <a:cs typeface="Inter" pitchFamily="34" charset="-120"/>
              </a:rPr>
              <a:t>Arithmetic acceleration</a:t>
            </a:r>
            <a:endParaRPr lang="en-US" sz="1320" dirty="0"/>
          </a:p>
        </p:txBody>
      </p:sp>
      <p:sp>
        <p:nvSpPr>
          <p:cNvPr id="54" name="Text 52"/>
          <p:cNvSpPr/>
          <p:nvPr/>
        </p:nvSpPr>
        <p:spPr>
          <a:xfrm>
            <a:off x="1197864" y="3511296"/>
            <a:ext cx="2459736" cy="402336"/>
          </a:xfrm>
          <a:prstGeom prst="rect">
            <a:avLst/>
          </a:prstGeom>
          <a:noFill/>
          <a:ln/>
        </p:spPr>
        <p:txBody>
          <a:bodyPr wrap="square" lIns="0" tIns="0" rIns="0" bIns="0" rtlCol="0" anchor="ctr">
            <a:normAutofit/>
          </a:bodyPr>
          <a:lstStyle/>
          <a:p>
            <a:pPr marL="0" indent="0">
              <a:buNone/>
            </a:pPr>
            <a:r>
              <a:rPr lang="en-US" sz="1050" dirty="0">
                <a:solidFill>
                  <a:srgbClr val="A8B6C5"/>
                </a:solidFill>
                <a:latin typeface="Inter" pitchFamily="34" charset="0"/>
                <a:ea typeface="Inter" pitchFamily="34" charset="-122"/>
                <a:cs typeface="Inter" pitchFamily="34" charset="-120"/>
              </a:rPr>
              <a:t>DCT improved by 1.22× and quantisation by 5.18×.</a:t>
            </a:r>
            <a:endParaRPr lang="en-US" sz="1050" dirty="0"/>
          </a:p>
        </p:txBody>
      </p:sp>
      <p:sp>
        <p:nvSpPr>
          <p:cNvPr id="55" name="Shape 53"/>
          <p:cNvSpPr/>
          <p:nvPr/>
        </p:nvSpPr>
        <p:spPr>
          <a:xfrm>
            <a:off x="768096" y="4078224"/>
            <a:ext cx="292608" cy="292608"/>
          </a:xfrm>
          <a:prstGeom prst="ellipse">
            <a:avLst/>
          </a:prstGeom>
          <a:solidFill>
            <a:srgbClr val="49D486">
              <a:alpha val="92000"/>
            </a:srgbClr>
          </a:solidFill>
          <a:ln w="12700">
            <a:solidFill>
              <a:srgbClr val="49D486">
                <a:alpha val="0"/>
              </a:srgbClr>
            </a:solidFill>
            <a:prstDash val="solid"/>
          </a:ln>
        </p:spPr>
        <p:txBody>
          <a:bodyPr/>
          <a:lstStyle/>
          <a:p>
            <a:endParaRPr lang="en-US"/>
          </a:p>
        </p:txBody>
      </p:sp>
      <p:sp>
        <p:nvSpPr>
          <p:cNvPr id="56" name="Text 54"/>
          <p:cNvSpPr/>
          <p:nvPr/>
        </p:nvSpPr>
        <p:spPr>
          <a:xfrm>
            <a:off x="768096" y="4059936"/>
            <a:ext cx="292608" cy="274320"/>
          </a:xfrm>
          <a:prstGeom prst="rect">
            <a:avLst/>
          </a:prstGeom>
          <a:noFill/>
          <a:ln/>
        </p:spPr>
        <p:txBody>
          <a:bodyPr wrap="square" lIns="0" tIns="0" rIns="0" bIns="0" rtlCol="0" anchor="ctr"/>
          <a:lstStyle/>
          <a:p>
            <a:pPr marL="0" indent="0" algn="ctr">
              <a:buNone/>
            </a:pPr>
            <a:r>
              <a:rPr lang="en-US" sz="1000" b="1" dirty="0">
                <a:solidFill>
                  <a:srgbClr val="07111F"/>
                </a:solidFill>
                <a:latin typeface="Inter" pitchFamily="34" charset="0"/>
                <a:ea typeface="Inter" pitchFamily="34" charset="-122"/>
                <a:cs typeface="Inter" pitchFamily="34" charset="-120"/>
              </a:rPr>
              <a:t>✓</a:t>
            </a:r>
            <a:endParaRPr lang="en-US" sz="1000" dirty="0"/>
          </a:p>
        </p:txBody>
      </p:sp>
      <p:sp>
        <p:nvSpPr>
          <p:cNvPr id="57" name="Text 55"/>
          <p:cNvSpPr/>
          <p:nvPr/>
        </p:nvSpPr>
        <p:spPr>
          <a:xfrm>
            <a:off x="1197864" y="4041648"/>
            <a:ext cx="2459736" cy="219456"/>
          </a:xfrm>
          <a:prstGeom prst="rect">
            <a:avLst/>
          </a:prstGeom>
          <a:noFill/>
          <a:ln/>
        </p:spPr>
        <p:txBody>
          <a:bodyPr wrap="square" lIns="0" tIns="0" rIns="0" bIns="0" rtlCol="0" anchor="ctr">
            <a:normAutofit/>
          </a:bodyPr>
          <a:lstStyle/>
          <a:p>
            <a:pPr marL="0" indent="0">
              <a:buNone/>
            </a:pPr>
            <a:r>
              <a:rPr lang="en-US" sz="1320" b="1" dirty="0">
                <a:solidFill>
                  <a:srgbClr val="F4F8FB"/>
                </a:solidFill>
                <a:latin typeface="Inter" pitchFamily="34" charset="0"/>
                <a:ea typeface="Inter" pitchFamily="34" charset="-122"/>
                <a:cs typeface="Inter" pitchFamily="34" charset="-120"/>
              </a:rPr>
              <a:t>Compression retained</a:t>
            </a:r>
            <a:endParaRPr lang="en-US" sz="1320" dirty="0"/>
          </a:p>
        </p:txBody>
      </p:sp>
      <p:sp>
        <p:nvSpPr>
          <p:cNvPr id="58" name="Text 56"/>
          <p:cNvSpPr/>
          <p:nvPr/>
        </p:nvSpPr>
        <p:spPr>
          <a:xfrm>
            <a:off x="1197864" y="4288536"/>
            <a:ext cx="2459736" cy="402336"/>
          </a:xfrm>
          <a:prstGeom prst="rect">
            <a:avLst/>
          </a:prstGeom>
          <a:noFill/>
          <a:ln/>
        </p:spPr>
        <p:txBody>
          <a:bodyPr wrap="square" lIns="0" tIns="0" rIns="0" bIns="0" rtlCol="0" anchor="ctr">
            <a:normAutofit/>
          </a:bodyPr>
          <a:lstStyle/>
          <a:p>
            <a:pPr marL="0" indent="0">
              <a:buNone/>
            </a:pPr>
            <a:r>
              <a:rPr lang="en-US" sz="1050" dirty="0">
                <a:solidFill>
                  <a:srgbClr val="A8B6C5"/>
                </a:solidFill>
                <a:latin typeface="Inter" pitchFamily="34" charset="0"/>
                <a:ea typeface="Inter" pitchFamily="34" charset="-122"/>
                <a:cs typeface="Inter" pitchFamily="34" charset="-120"/>
              </a:rPr>
              <a:t>Aggregate ratio remained close: 4.042:1 CPU versus 4.072:1 FPGA.</a:t>
            </a:r>
            <a:endParaRPr lang="en-US" sz="1050" dirty="0"/>
          </a:p>
        </p:txBody>
      </p:sp>
      <p:sp>
        <p:nvSpPr>
          <p:cNvPr id="59" name="Shape 57"/>
          <p:cNvSpPr/>
          <p:nvPr/>
        </p:nvSpPr>
        <p:spPr>
          <a:xfrm>
            <a:off x="4325112" y="1719072"/>
            <a:ext cx="3547872" cy="3291840"/>
          </a:xfrm>
          <a:prstGeom prst="roundRect">
            <a:avLst>
              <a:gd name="adj" fmla="val 2222"/>
            </a:avLst>
          </a:prstGeom>
          <a:solidFill>
            <a:srgbClr val="0D1C2D"/>
          </a:solidFill>
          <a:ln w="12700">
            <a:solidFill>
              <a:srgbClr val="FFA24C">
                <a:alpha val="75000"/>
              </a:srgbClr>
            </a:solidFill>
            <a:prstDash val="solid"/>
          </a:ln>
          <a:effectLst>
            <a:outerShdw algn="bl" rotWithShape="0">
              <a:srgbClr val="000000">
                <a:alpha val="0"/>
              </a:srgbClr>
            </a:outerShdw>
          </a:effectLst>
        </p:spPr>
        <p:txBody>
          <a:bodyPr/>
          <a:lstStyle/>
          <a:p>
            <a:endParaRPr lang="en-US"/>
          </a:p>
        </p:txBody>
      </p:sp>
      <p:sp>
        <p:nvSpPr>
          <p:cNvPr id="60" name="Text 58"/>
          <p:cNvSpPr/>
          <p:nvPr/>
        </p:nvSpPr>
        <p:spPr>
          <a:xfrm>
            <a:off x="4617720" y="1993392"/>
            <a:ext cx="2011680" cy="274320"/>
          </a:xfrm>
          <a:prstGeom prst="rect">
            <a:avLst/>
          </a:prstGeom>
          <a:noFill/>
          <a:ln/>
        </p:spPr>
        <p:txBody>
          <a:bodyPr wrap="square" lIns="0" tIns="0" rIns="0" bIns="0" rtlCol="0" anchor="ctr"/>
          <a:lstStyle/>
          <a:p>
            <a:pPr marL="0" indent="0">
              <a:buNone/>
            </a:pPr>
            <a:r>
              <a:rPr lang="en-US" sz="1800" b="1" dirty="0">
                <a:solidFill>
                  <a:srgbClr val="FFA24C"/>
                </a:solidFill>
                <a:latin typeface="Inter Display" pitchFamily="34" charset="0"/>
                <a:ea typeface="Inter Display" pitchFamily="34" charset="-122"/>
                <a:cs typeface="Inter Display" pitchFamily="34" charset="-120"/>
              </a:rPr>
              <a:t>What did not</a:t>
            </a:r>
            <a:endParaRPr lang="en-US" sz="1800" dirty="0"/>
          </a:p>
        </p:txBody>
      </p:sp>
      <p:sp>
        <p:nvSpPr>
          <p:cNvPr id="61" name="Shape 59"/>
          <p:cNvSpPr/>
          <p:nvPr/>
        </p:nvSpPr>
        <p:spPr>
          <a:xfrm>
            <a:off x="4617720" y="2523744"/>
            <a:ext cx="292608" cy="292608"/>
          </a:xfrm>
          <a:prstGeom prst="ellipse">
            <a:avLst/>
          </a:prstGeom>
          <a:solidFill>
            <a:srgbClr val="FFA24C">
              <a:alpha val="92000"/>
            </a:srgbClr>
          </a:solidFill>
          <a:ln w="12700">
            <a:solidFill>
              <a:srgbClr val="FFA24C">
                <a:alpha val="0"/>
              </a:srgbClr>
            </a:solidFill>
            <a:prstDash val="solid"/>
          </a:ln>
        </p:spPr>
        <p:txBody>
          <a:bodyPr/>
          <a:lstStyle/>
          <a:p>
            <a:endParaRPr lang="en-US"/>
          </a:p>
        </p:txBody>
      </p:sp>
      <p:sp>
        <p:nvSpPr>
          <p:cNvPr id="62" name="Text 60"/>
          <p:cNvSpPr/>
          <p:nvPr/>
        </p:nvSpPr>
        <p:spPr>
          <a:xfrm>
            <a:off x="4617720" y="2505456"/>
            <a:ext cx="292608" cy="274320"/>
          </a:xfrm>
          <a:prstGeom prst="rect">
            <a:avLst/>
          </a:prstGeom>
          <a:noFill/>
          <a:ln/>
        </p:spPr>
        <p:txBody>
          <a:bodyPr wrap="square" lIns="0" tIns="0" rIns="0" bIns="0" rtlCol="0" anchor="ctr"/>
          <a:lstStyle/>
          <a:p>
            <a:pPr marL="0" indent="0" algn="ctr">
              <a:buNone/>
            </a:pPr>
            <a:r>
              <a:rPr lang="en-US" sz="1000" b="1" dirty="0">
                <a:solidFill>
                  <a:srgbClr val="07111F"/>
                </a:solidFill>
                <a:latin typeface="Inter" pitchFamily="34" charset="0"/>
                <a:ea typeface="Inter" pitchFamily="34" charset="-122"/>
                <a:cs typeface="Inter" pitchFamily="34" charset="-120"/>
              </a:rPr>
              <a:t>!</a:t>
            </a:r>
            <a:endParaRPr lang="en-US" sz="1000" dirty="0"/>
          </a:p>
        </p:txBody>
      </p:sp>
      <p:sp>
        <p:nvSpPr>
          <p:cNvPr id="63" name="Text 61"/>
          <p:cNvSpPr/>
          <p:nvPr/>
        </p:nvSpPr>
        <p:spPr>
          <a:xfrm>
            <a:off x="5047488" y="2487168"/>
            <a:ext cx="2459736" cy="219456"/>
          </a:xfrm>
          <a:prstGeom prst="rect">
            <a:avLst/>
          </a:prstGeom>
          <a:noFill/>
          <a:ln/>
        </p:spPr>
        <p:txBody>
          <a:bodyPr wrap="square" lIns="0" tIns="0" rIns="0" bIns="0" rtlCol="0" anchor="ctr">
            <a:normAutofit/>
          </a:bodyPr>
          <a:lstStyle/>
          <a:p>
            <a:pPr marL="0" indent="0">
              <a:buNone/>
            </a:pPr>
            <a:r>
              <a:rPr lang="en-US" sz="1320" b="1" dirty="0">
                <a:solidFill>
                  <a:srgbClr val="F4F8FB"/>
                </a:solidFill>
                <a:latin typeface="Inter" pitchFamily="34" charset="0"/>
                <a:ea typeface="Inter" pitchFamily="34" charset="-122"/>
                <a:cs typeface="Inter" pitchFamily="34" charset="-120"/>
              </a:rPr>
              <a:t>No full-system speedup</a:t>
            </a:r>
            <a:endParaRPr lang="en-US" sz="1320" dirty="0"/>
          </a:p>
        </p:txBody>
      </p:sp>
      <p:sp>
        <p:nvSpPr>
          <p:cNvPr id="64" name="Text 62"/>
          <p:cNvSpPr/>
          <p:nvPr/>
        </p:nvSpPr>
        <p:spPr>
          <a:xfrm>
            <a:off x="5047488" y="2734056"/>
            <a:ext cx="2459736" cy="402336"/>
          </a:xfrm>
          <a:prstGeom prst="rect">
            <a:avLst/>
          </a:prstGeom>
          <a:noFill/>
          <a:ln/>
        </p:spPr>
        <p:txBody>
          <a:bodyPr wrap="square" lIns="0" tIns="0" rIns="0" bIns="0" rtlCol="0" anchor="ctr">
            <a:normAutofit/>
          </a:bodyPr>
          <a:lstStyle/>
          <a:p>
            <a:pPr marL="0" indent="0">
              <a:buNone/>
            </a:pPr>
            <a:r>
              <a:rPr lang="en-US" sz="1050" dirty="0">
                <a:solidFill>
                  <a:srgbClr val="A8B6C5"/>
                </a:solidFill>
                <a:latin typeface="Inter" pitchFamily="34" charset="0"/>
                <a:ea typeface="Inter" pitchFamily="34" charset="-122"/>
                <a:cs typeface="Inter" pitchFamily="34" charset="-120"/>
              </a:rPr>
              <a:t>42.65 ms kernel-only versus 33.26 ms for the CPU complete run.</a:t>
            </a:r>
            <a:endParaRPr lang="en-US" sz="1050" dirty="0"/>
          </a:p>
        </p:txBody>
      </p:sp>
      <p:sp>
        <p:nvSpPr>
          <p:cNvPr id="65" name="Shape 63"/>
          <p:cNvSpPr/>
          <p:nvPr/>
        </p:nvSpPr>
        <p:spPr>
          <a:xfrm>
            <a:off x="4617720" y="3300984"/>
            <a:ext cx="292608" cy="292608"/>
          </a:xfrm>
          <a:prstGeom prst="ellipse">
            <a:avLst/>
          </a:prstGeom>
          <a:solidFill>
            <a:srgbClr val="FFA24C">
              <a:alpha val="92000"/>
            </a:srgbClr>
          </a:solidFill>
          <a:ln w="12700">
            <a:solidFill>
              <a:srgbClr val="FFA24C">
                <a:alpha val="0"/>
              </a:srgbClr>
            </a:solidFill>
            <a:prstDash val="solid"/>
          </a:ln>
        </p:spPr>
        <p:txBody>
          <a:bodyPr/>
          <a:lstStyle/>
          <a:p>
            <a:endParaRPr lang="en-US"/>
          </a:p>
        </p:txBody>
      </p:sp>
      <p:sp>
        <p:nvSpPr>
          <p:cNvPr id="66" name="Text 64"/>
          <p:cNvSpPr/>
          <p:nvPr/>
        </p:nvSpPr>
        <p:spPr>
          <a:xfrm>
            <a:off x="4617720" y="3282696"/>
            <a:ext cx="292608" cy="274320"/>
          </a:xfrm>
          <a:prstGeom prst="rect">
            <a:avLst/>
          </a:prstGeom>
          <a:noFill/>
          <a:ln/>
        </p:spPr>
        <p:txBody>
          <a:bodyPr wrap="square" lIns="0" tIns="0" rIns="0" bIns="0" rtlCol="0" anchor="ctr"/>
          <a:lstStyle/>
          <a:p>
            <a:pPr marL="0" indent="0" algn="ctr">
              <a:buNone/>
            </a:pPr>
            <a:r>
              <a:rPr lang="en-US" sz="1000" b="1" dirty="0">
                <a:solidFill>
                  <a:srgbClr val="07111F"/>
                </a:solidFill>
                <a:latin typeface="Inter" pitchFamily="34" charset="0"/>
                <a:ea typeface="Inter" pitchFamily="34" charset="-122"/>
                <a:cs typeface="Inter" pitchFamily="34" charset="-120"/>
              </a:rPr>
              <a:t>!</a:t>
            </a:r>
            <a:endParaRPr lang="en-US" sz="1000" dirty="0"/>
          </a:p>
        </p:txBody>
      </p:sp>
      <p:sp>
        <p:nvSpPr>
          <p:cNvPr id="67" name="Text 65"/>
          <p:cNvSpPr/>
          <p:nvPr/>
        </p:nvSpPr>
        <p:spPr>
          <a:xfrm>
            <a:off x="5047488" y="3264408"/>
            <a:ext cx="2459736" cy="219456"/>
          </a:xfrm>
          <a:prstGeom prst="rect">
            <a:avLst/>
          </a:prstGeom>
          <a:noFill/>
          <a:ln/>
        </p:spPr>
        <p:txBody>
          <a:bodyPr wrap="square" lIns="0" tIns="0" rIns="0" bIns="0" rtlCol="0" anchor="ctr">
            <a:normAutofit/>
          </a:bodyPr>
          <a:lstStyle/>
          <a:p>
            <a:pPr marL="0" indent="0">
              <a:buNone/>
            </a:pPr>
            <a:r>
              <a:rPr lang="en-US" sz="1320" b="1" dirty="0">
                <a:solidFill>
                  <a:srgbClr val="F4F8FB"/>
                </a:solidFill>
                <a:latin typeface="Inter" pitchFamily="34" charset="0"/>
                <a:ea typeface="Inter" pitchFamily="34" charset="-122"/>
                <a:cs typeface="Inter" pitchFamily="34" charset="-120"/>
              </a:rPr>
              <a:t>Serial packed encoding</a:t>
            </a:r>
            <a:endParaRPr lang="en-US" sz="1320" dirty="0"/>
          </a:p>
        </p:txBody>
      </p:sp>
      <p:sp>
        <p:nvSpPr>
          <p:cNvPr id="68" name="Text 66"/>
          <p:cNvSpPr/>
          <p:nvPr/>
        </p:nvSpPr>
        <p:spPr>
          <a:xfrm>
            <a:off x="5047488" y="3511296"/>
            <a:ext cx="2459736" cy="402336"/>
          </a:xfrm>
          <a:prstGeom prst="rect">
            <a:avLst/>
          </a:prstGeom>
          <a:noFill/>
          <a:ln/>
        </p:spPr>
        <p:txBody>
          <a:bodyPr wrap="square" lIns="0" tIns="0" rIns="0" bIns="0" rtlCol="0" anchor="ctr">
            <a:normAutofit/>
          </a:bodyPr>
          <a:lstStyle/>
          <a:p>
            <a:pPr marL="0" indent="0">
              <a:buNone/>
            </a:pPr>
            <a:r>
              <a:rPr lang="en-US" sz="1050" dirty="0">
                <a:solidFill>
                  <a:srgbClr val="A8B6C5"/>
                </a:solidFill>
                <a:latin typeface="Inter" pitchFamily="34" charset="0"/>
                <a:ea typeface="Inter" pitchFamily="34" charset="-122"/>
                <a:cs typeface="Inter" pitchFamily="34" charset="-120"/>
              </a:rPr>
              <a:t>Variable-length output consumed 77.9% of kernel time.</a:t>
            </a:r>
            <a:endParaRPr lang="en-US" sz="1050" dirty="0"/>
          </a:p>
        </p:txBody>
      </p:sp>
      <p:sp>
        <p:nvSpPr>
          <p:cNvPr id="69" name="Shape 67"/>
          <p:cNvSpPr/>
          <p:nvPr/>
        </p:nvSpPr>
        <p:spPr>
          <a:xfrm>
            <a:off x="4617720" y="4078224"/>
            <a:ext cx="292608" cy="292608"/>
          </a:xfrm>
          <a:prstGeom prst="ellipse">
            <a:avLst/>
          </a:prstGeom>
          <a:solidFill>
            <a:srgbClr val="FFA24C">
              <a:alpha val="92000"/>
            </a:srgbClr>
          </a:solidFill>
          <a:ln w="12700">
            <a:solidFill>
              <a:srgbClr val="FFA24C">
                <a:alpha val="0"/>
              </a:srgbClr>
            </a:solidFill>
            <a:prstDash val="solid"/>
          </a:ln>
        </p:spPr>
        <p:txBody>
          <a:bodyPr/>
          <a:lstStyle/>
          <a:p>
            <a:endParaRPr lang="en-US"/>
          </a:p>
        </p:txBody>
      </p:sp>
      <p:sp>
        <p:nvSpPr>
          <p:cNvPr id="70" name="Text 68"/>
          <p:cNvSpPr/>
          <p:nvPr/>
        </p:nvSpPr>
        <p:spPr>
          <a:xfrm>
            <a:off x="4617720" y="4059936"/>
            <a:ext cx="292608" cy="274320"/>
          </a:xfrm>
          <a:prstGeom prst="rect">
            <a:avLst/>
          </a:prstGeom>
          <a:noFill/>
          <a:ln/>
        </p:spPr>
        <p:txBody>
          <a:bodyPr wrap="square" lIns="0" tIns="0" rIns="0" bIns="0" rtlCol="0" anchor="ctr"/>
          <a:lstStyle/>
          <a:p>
            <a:pPr marL="0" indent="0" algn="ctr">
              <a:buNone/>
            </a:pPr>
            <a:r>
              <a:rPr lang="en-US" sz="1000" b="1" dirty="0">
                <a:solidFill>
                  <a:srgbClr val="07111F"/>
                </a:solidFill>
                <a:latin typeface="Inter" pitchFamily="34" charset="0"/>
                <a:ea typeface="Inter" pitchFamily="34" charset="-122"/>
                <a:cs typeface="Inter" pitchFamily="34" charset="-120"/>
              </a:rPr>
              <a:t>!</a:t>
            </a:r>
            <a:endParaRPr lang="en-US" sz="1000" dirty="0"/>
          </a:p>
        </p:txBody>
      </p:sp>
      <p:sp>
        <p:nvSpPr>
          <p:cNvPr id="71" name="Text 69"/>
          <p:cNvSpPr/>
          <p:nvPr/>
        </p:nvSpPr>
        <p:spPr>
          <a:xfrm>
            <a:off x="5047488" y="4041648"/>
            <a:ext cx="2459736" cy="219456"/>
          </a:xfrm>
          <a:prstGeom prst="rect">
            <a:avLst/>
          </a:prstGeom>
          <a:noFill/>
          <a:ln/>
        </p:spPr>
        <p:txBody>
          <a:bodyPr wrap="square" lIns="0" tIns="0" rIns="0" bIns="0" rtlCol="0" anchor="ctr">
            <a:normAutofit/>
          </a:bodyPr>
          <a:lstStyle/>
          <a:p>
            <a:pPr marL="0" indent="0">
              <a:buNone/>
            </a:pPr>
            <a:r>
              <a:rPr lang="en-US" sz="1320" b="1" dirty="0">
                <a:solidFill>
                  <a:srgbClr val="F4F8FB"/>
                </a:solidFill>
                <a:latin typeface="Inter" pitchFamily="34" charset="0"/>
                <a:ea typeface="Inter" pitchFamily="34" charset="-122"/>
                <a:cs typeface="Inter" pitchFamily="34" charset="-120"/>
              </a:rPr>
              <a:t>Limited parallel workload</a:t>
            </a:r>
            <a:endParaRPr lang="en-US" sz="1320" dirty="0"/>
          </a:p>
        </p:txBody>
      </p:sp>
      <p:sp>
        <p:nvSpPr>
          <p:cNvPr id="72" name="Text 70"/>
          <p:cNvSpPr/>
          <p:nvPr/>
        </p:nvSpPr>
        <p:spPr>
          <a:xfrm>
            <a:off x="5047488" y="4288536"/>
            <a:ext cx="2459736" cy="402336"/>
          </a:xfrm>
          <a:prstGeom prst="rect">
            <a:avLst/>
          </a:prstGeom>
          <a:noFill/>
          <a:ln/>
        </p:spPr>
        <p:txBody>
          <a:bodyPr wrap="square" lIns="0" tIns="0" rIns="0" bIns="0" rtlCol="0" anchor="ctr">
            <a:normAutofit/>
          </a:bodyPr>
          <a:lstStyle/>
          <a:p>
            <a:pPr marL="0" indent="0">
              <a:buNone/>
            </a:pPr>
            <a:r>
              <a:rPr lang="en-US" sz="1050" dirty="0">
                <a:solidFill>
                  <a:srgbClr val="A8B6C5"/>
                </a:solidFill>
                <a:latin typeface="Inter" pitchFamily="34" charset="0"/>
                <a:ea typeface="Inter" pitchFamily="34" charset="-122"/>
                <a:cs typeface="Inter" pitchFamily="34" charset="-120"/>
              </a:rPr>
              <a:t>One block stream and fixed output loops constrained throughput.</a:t>
            </a:r>
            <a:endParaRPr lang="en-US" sz="1050" dirty="0"/>
          </a:p>
        </p:txBody>
      </p:sp>
      <p:sp>
        <p:nvSpPr>
          <p:cNvPr id="73" name="Shape 71"/>
          <p:cNvSpPr/>
          <p:nvPr/>
        </p:nvSpPr>
        <p:spPr>
          <a:xfrm>
            <a:off x="8174736" y="1719072"/>
            <a:ext cx="3547872" cy="3291840"/>
          </a:xfrm>
          <a:prstGeom prst="roundRect">
            <a:avLst>
              <a:gd name="adj" fmla="val 2222"/>
            </a:avLst>
          </a:prstGeom>
          <a:solidFill>
            <a:srgbClr val="0D1C2D"/>
          </a:solidFill>
          <a:ln w="12700">
            <a:solidFill>
              <a:srgbClr val="38D9E6">
                <a:alpha val="75000"/>
              </a:srgbClr>
            </a:solidFill>
            <a:prstDash val="solid"/>
          </a:ln>
          <a:effectLst>
            <a:outerShdw algn="bl" rotWithShape="0">
              <a:srgbClr val="000000">
                <a:alpha val="0"/>
              </a:srgbClr>
            </a:outerShdw>
          </a:effectLst>
        </p:spPr>
        <p:txBody>
          <a:bodyPr/>
          <a:lstStyle/>
          <a:p>
            <a:endParaRPr lang="en-US"/>
          </a:p>
        </p:txBody>
      </p:sp>
      <p:sp>
        <p:nvSpPr>
          <p:cNvPr id="74" name="Text 72"/>
          <p:cNvSpPr/>
          <p:nvPr/>
        </p:nvSpPr>
        <p:spPr>
          <a:xfrm>
            <a:off x="8467344" y="1993392"/>
            <a:ext cx="2103120" cy="274320"/>
          </a:xfrm>
          <a:prstGeom prst="rect">
            <a:avLst/>
          </a:prstGeom>
          <a:noFill/>
          <a:ln/>
        </p:spPr>
        <p:txBody>
          <a:bodyPr wrap="square" lIns="0" tIns="0" rIns="0" bIns="0" rtlCol="0" anchor="ctr"/>
          <a:lstStyle/>
          <a:p>
            <a:pPr marL="0" indent="0">
              <a:buNone/>
            </a:pPr>
            <a:r>
              <a:rPr lang="en-US" sz="1800" b="1" dirty="0">
                <a:solidFill>
                  <a:srgbClr val="38D9E6"/>
                </a:solidFill>
                <a:latin typeface="Inter Display" pitchFamily="34" charset="0"/>
                <a:ea typeface="Inter Display" pitchFamily="34" charset="-122"/>
                <a:cs typeface="Inter Display" pitchFamily="34" charset="-120"/>
              </a:rPr>
              <a:t>Given more time</a:t>
            </a:r>
            <a:endParaRPr lang="en-US" sz="1800" dirty="0"/>
          </a:p>
        </p:txBody>
      </p:sp>
      <p:sp>
        <p:nvSpPr>
          <p:cNvPr id="75" name="Shape 73"/>
          <p:cNvSpPr/>
          <p:nvPr/>
        </p:nvSpPr>
        <p:spPr>
          <a:xfrm>
            <a:off x="8467344" y="2523744"/>
            <a:ext cx="292608" cy="292608"/>
          </a:xfrm>
          <a:prstGeom prst="ellipse">
            <a:avLst/>
          </a:prstGeom>
          <a:solidFill>
            <a:srgbClr val="38D9E6">
              <a:alpha val="92000"/>
            </a:srgbClr>
          </a:solidFill>
          <a:ln w="12700">
            <a:solidFill>
              <a:srgbClr val="38D9E6">
                <a:alpha val="0"/>
              </a:srgbClr>
            </a:solidFill>
            <a:prstDash val="solid"/>
          </a:ln>
        </p:spPr>
        <p:txBody>
          <a:bodyPr/>
          <a:lstStyle/>
          <a:p>
            <a:endParaRPr lang="en-US"/>
          </a:p>
        </p:txBody>
      </p:sp>
      <p:sp>
        <p:nvSpPr>
          <p:cNvPr id="76" name="Text 74"/>
          <p:cNvSpPr/>
          <p:nvPr/>
        </p:nvSpPr>
        <p:spPr>
          <a:xfrm>
            <a:off x="8467344" y="2505456"/>
            <a:ext cx="292608" cy="274320"/>
          </a:xfrm>
          <a:prstGeom prst="rect">
            <a:avLst/>
          </a:prstGeom>
          <a:noFill/>
          <a:ln/>
        </p:spPr>
        <p:txBody>
          <a:bodyPr wrap="square" lIns="0" tIns="0" rIns="0" bIns="0" rtlCol="0" anchor="ctr"/>
          <a:lstStyle/>
          <a:p>
            <a:pPr marL="0" indent="0" algn="ctr">
              <a:buNone/>
            </a:pPr>
            <a:r>
              <a:rPr lang="en-US" sz="1000" b="1" dirty="0">
                <a:solidFill>
                  <a:srgbClr val="07111F"/>
                </a:solidFill>
                <a:latin typeface="Inter" pitchFamily="34" charset="0"/>
                <a:ea typeface="Inter" pitchFamily="34" charset="-122"/>
                <a:cs typeface="Inter" pitchFamily="34" charset="-120"/>
              </a:rPr>
              <a:t>1</a:t>
            </a:r>
            <a:endParaRPr lang="en-US" sz="1000" dirty="0"/>
          </a:p>
        </p:txBody>
      </p:sp>
      <p:sp>
        <p:nvSpPr>
          <p:cNvPr id="77" name="Text 75"/>
          <p:cNvSpPr/>
          <p:nvPr/>
        </p:nvSpPr>
        <p:spPr>
          <a:xfrm>
            <a:off x="8897112" y="2487168"/>
            <a:ext cx="2459736" cy="219456"/>
          </a:xfrm>
          <a:prstGeom prst="rect">
            <a:avLst/>
          </a:prstGeom>
          <a:noFill/>
          <a:ln/>
        </p:spPr>
        <p:txBody>
          <a:bodyPr wrap="square" lIns="0" tIns="0" rIns="0" bIns="0" rtlCol="0" anchor="ctr">
            <a:normAutofit/>
          </a:bodyPr>
          <a:lstStyle/>
          <a:p>
            <a:pPr marL="0" indent="0">
              <a:buNone/>
            </a:pPr>
            <a:r>
              <a:rPr lang="en-US" sz="1320" b="1" dirty="0">
                <a:solidFill>
                  <a:srgbClr val="F4F8FB"/>
                </a:solidFill>
                <a:latin typeface="Inter" pitchFamily="34" charset="0"/>
                <a:ea typeface="Inter" pitchFamily="34" charset="-122"/>
                <a:cs typeface="Inter" pitchFamily="34" charset="-120"/>
              </a:rPr>
              <a:t>Redesign the writer</a:t>
            </a:r>
            <a:endParaRPr lang="en-US" sz="1320" dirty="0"/>
          </a:p>
        </p:txBody>
      </p:sp>
      <p:sp>
        <p:nvSpPr>
          <p:cNvPr id="78" name="Text 76"/>
          <p:cNvSpPr/>
          <p:nvPr/>
        </p:nvSpPr>
        <p:spPr>
          <a:xfrm>
            <a:off x="8897112" y="2734056"/>
            <a:ext cx="2459736" cy="402336"/>
          </a:xfrm>
          <a:prstGeom prst="rect">
            <a:avLst/>
          </a:prstGeom>
          <a:noFill/>
          <a:ln/>
        </p:spPr>
        <p:txBody>
          <a:bodyPr wrap="square" lIns="0" tIns="0" rIns="0" bIns="0" rtlCol="0" anchor="ctr">
            <a:normAutofit/>
          </a:bodyPr>
          <a:lstStyle/>
          <a:p>
            <a:pPr marL="0" indent="0">
              <a:buNone/>
            </a:pPr>
            <a:r>
              <a:rPr lang="en-US" sz="1050" dirty="0">
                <a:solidFill>
                  <a:srgbClr val="A8B6C5"/>
                </a:solidFill>
                <a:latin typeface="Inter" pitchFamily="34" charset="0"/>
                <a:ea typeface="Inter" pitchFamily="34" charset="-122"/>
                <a:cs typeface="Inter" pitchFamily="34" charset="-120"/>
              </a:rPr>
              <a:t>Use a byte reservoir and emit whole codewords rather than one bit at a time.</a:t>
            </a:r>
            <a:endParaRPr lang="en-US" sz="1050" dirty="0"/>
          </a:p>
        </p:txBody>
      </p:sp>
      <p:sp>
        <p:nvSpPr>
          <p:cNvPr id="79" name="Shape 77"/>
          <p:cNvSpPr/>
          <p:nvPr/>
        </p:nvSpPr>
        <p:spPr>
          <a:xfrm>
            <a:off x="8467344" y="3300984"/>
            <a:ext cx="292608" cy="292608"/>
          </a:xfrm>
          <a:prstGeom prst="ellipse">
            <a:avLst/>
          </a:prstGeom>
          <a:solidFill>
            <a:srgbClr val="38D9E6">
              <a:alpha val="92000"/>
            </a:srgbClr>
          </a:solidFill>
          <a:ln w="12700">
            <a:solidFill>
              <a:srgbClr val="38D9E6">
                <a:alpha val="0"/>
              </a:srgbClr>
            </a:solidFill>
            <a:prstDash val="solid"/>
          </a:ln>
        </p:spPr>
        <p:txBody>
          <a:bodyPr/>
          <a:lstStyle/>
          <a:p>
            <a:endParaRPr lang="en-US"/>
          </a:p>
        </p:txBody>
      </p:sp>
      <p:sp>
        <p:nvSpPr>
          <p:cNvPr id="80" name="Text 78"/>
          <p:cNvSpPr/>
          <p:nvPr/>
        </p:nvSpPr>
        <p:spPr>
          <a:xfrm>
            <a:off x="8467344" y="3282696"/>
            <a:ext cx="292608" cy="274320"/>
          </a:xfrm>
          <a:prstGeom prst="rect">
            <a:avLst/>
          </a:prstGeom>
          <a:noFill/>
          <a:ln/>
        </p:spPr>
        <p:txBody>
          <a:bodyPr wrap="square" lIns="0" tIns="0" rIns="0" bIns="0" rtlCol="0" anchor="ctr"/>
          <a:lstStyle/>
          <a:p>
            <a:pPr marL="0" indent="0" algn="ctr">
              <a:buNone/>
            </a:pPr>
            <a:r>
              <a:rPr lang="en-US" sz="1000" b="1" dirty="0">
                <a:solidFill>
                  <a:srgbClr val="07111F"/>
                </a:solidFill>
                <a:latin typeface="Inter" pitchFamily="34" charset="0"/>
                <a:ea typeface="Inter" pitchFamily="34" charset="-122"/>
                <a:cs typeface="Inter" pitchFamily="34" charset="-120"/>
              </a:rPr>
              <a:t>2</a:t>
            </a:r>
            <a:endParaRPr lang="en-US" sz="1000" dirty="0"/>
          </a:p>
        </p:txBody>
      </p:sp>
      <p:sp>
        <p:nvSpPr>
          <p:cNvPr id="81" name="Text 79"/>
          <p:cNvSpPr/>
          <p:nvPr/>
        </p:nvSpPr>
        <p:spPr>
          <a:xfrm>
            <a:off x="8897112" y="3264408"/>
            <a:ext cx="2459736" cy="219456"/>
          </a:xfrm>
          <a:prstGeom prst="rect">
            <a:avLst/>
          </a:prstGeom>
          <a:noFill/>
          <a:ln/>
        </p:spPr>
        <p:txBody>
          <a:bodyPr wrap="square" lIns="0" tIns="0" rIns="0" bIns="0" rtlCol="0" anchor="ctr">
            <a:normAutofit/>
          </a:bodyPr>
          <a:lstStyle/>
          <a:p>
            <a:pPr marL="0" indent="0">
              <a:buNone/>
            </a:pPr>
            <a:r>
              <a:rPr lang="en-US" sz="1320" b="1" dirty="0">
                <a:solidFill>
                  <a:srgbClr val="F4F8FB"/>
                </a:solidFill>
                <a:latin typeface="Inter" pitchFamily="34" charset="0"/>
                <a:ea typeface="Inter" pitchFamily="34" charset="-122"/>
                <a:cs typeface="Inter" pitchFamily="34" charset="-120"/>
              </a:rPr>
              <a:t>Move only valid output</a:t>
            </a:r>
            <a:endParaRPr lang="en-US" sz="1320" dirty="0"/>
          </a:p>
        </p:txBody>
      </p:sp>
      <p:sp>
        <p:nvSpPr>
          <p:cNvPr id="82" name="Text 80"/>
          <p:cNvSpPr/>
          <p:nvPr/>
        </p:nvSpPr>
        <p:spPr>
          <a:xfrm>
            <a:off x="8897112" y="3511296"/>
            <a:ext cx="2459736" cy="402336"/>
          </a:xfrm>
          <a:prstGeom prst="rect">
            <a:avLst/>
          </a:prstGeom>
          <a:noFill/>
          <a:ln/>
        </p:spPr>
        <p:txBody>
          <a:bodyPr wrap="square" lIns="0" tIns="0" rIns="0" bIns="0" rtlCol="0" anchor="ctr">
            <a:normAutofit/>
          </a:bodyPr>
          <a:lstStyle/>
          <a:p>
            <a:pPr marL="0" indent="0">
              <a:buNone/>
            </a:pPr>
            <a:r>
              <a:rPr lang="en-US" sz="1050" dirty="0">
                <a:solidFill>
                  <a:srgbClr val="A8B6C5"/>
                </a:solidFill>
                <a:latin typeface="Inter" pitchFamily="34" charset="0"/>
                <a:ea typeface="Inter" pitchFamily="34" charset="-122"/>
                <a:cs typeface="Inter" pitchFamily="34" charset="-120"/>
              </a:rPr>
              <a:t>Create a compact contiguous AC stream; avoid fixed-slot byte transfers.</a:t>
            </a:r>
            <a:endParaRPr lang="en-US" sz="1050" dirty="0"/>
          </a:p>
        </p:txBody>
      </p:sp>
      <p:sp>
        <p:nvSpPr>
          <p:cNvPr id="83" name="Shape 81"/>
          <p:cNvSpPr/>
          <p:nvPr/>
        </p:nvSpPr>
        <p:spPr>
          <a:xfrm>
            <a:off x="8467344" y="4078224"/>
            <a:ext cx="292608" cy="292608"/>
          </a:xfrm>
          <a:prstGeom prst="ellipse">
            <a:avLst/>
          </a:prstGeom>
          <a:solidFill>
            <a:srgbClr val="38D9E6">
              <a:alpha val="92000"/>
            </a:srgbClr>
          </a:solidFill>
          <a:ln w="12700">
            <a:solidFill>
              <a:srgbClr val="38D9E6">
                <a:alpha val="0"/>
              </a:srgbClr>
            </a:solidFill>
            <a:prstDash val="solid"/>
          </a:ln>
        </p:spPr>
        <p:txBody>
          <a:bodyPr/>
          <a:lstStyle/>
          <a:p>
            <a:endParaRPr lang="en-US"/>
          </a:p>
        </p:txBody>
      </p:sp>
      <p:sp>
        <p:nvSpPr>
          <p:cNvPr id="84" name="Text 82"/>
          <p:cNvSpPr/>
          <p:nvPr/>
        </p:nvSpPr>
        <p:spPr>
          <a:xfrm>
            <a:off x="8467344" y="4059936"/>
            <a:ext cx="292608" cy="274320"/>
          </a:xfrm>
          <a:prstGeom prst="rect">
            <a:avLst/>
          </a:prstGeom>
          <a:noFill/>
          <a:ln/>
        </p:spPr>
        <p:txBody>
          <a:bodyPr wrap="square" lIns="0" tIns="0" rIns="0" bIns="0" rtlCol="0" anchor="ctr"/>
          <a:lstStyle/>
          <a:p>
            <a:pPr marL="0" indent="0" algn="ctr">
              <a:buNone/>
            </a:pPr>
            <a:r>
              <a:rPr lang="en-US" sz="1000" b="1" dirty="0">
                <a:solidFill>
                  <a:srgbClr val="07111F"/>
                </a:solidFill>
                <a:latin typeface="Inter" pitchFamily="34" charset="0"/>
                <a:ea typeface="Inter" pitchFamily="34" charset="-122"/>
                <a:cs typeface="Inter" pitchFamily="34" charset="-120"/>
              </a:rPr>
              <a:t>3</a:t>
            </a:r>
            <a:endParaRPr lang="en-US" sz="1000" dirty="0"/>
          </a:p>
        </p:txBody>
      </p:sp>
      <p:sp>
        <p:nvSpPr>
          <p:cNvPr id="85" name="Text 83"/>
          <p:cNvSpPr/>
          <p:nvPr/>
        </p:nvSpPr>
        <p:spPr>
          <a:xfrm>
            <a:off x="8897112" y="4041648"/>
            <a:ext cx="2459736" cy="219456"/>
          </a:xfrm>
          <a:prstGeom prst="rect">
            <a:avLst/>
          </a:prstGeom>
          <a:noFill/>
          <a:ln/>
        </p:spPr>
        <p:txBody>
          <a:bodyPr wrap="square" lIns="0" tIns="0" rIns="0" bIns="0" rtlCol="0" anchor="ctr">
            <a:normAutofit/>
          </a:bodyPr>
          <a:lstStyle/>
          <a:p>
            <a:pPr marL="0" indent="0">
              <a:buNone/>
            </a:pPr>
            <a:r>
              <a:rPr lang="en-US" sz="1320" b="1" dirty="0">
                <a:solidFill>
                  <a:srgbClr val="F4F8FB"/>
                </a:solidFill>
                <a:latin typeface="Inter" pitchFamily="34" charset="0"/>
                <a:ea typeface="Inter" pitchFamily="34" charset="-122"/>
                <a:cs typeface="Inter" pitchFamily="34" charset="-120"/>
              </a:rPr>
              <a:t>Exploit coarse parallelism</a:t>
            </a:r>
            <a:endParaRPr lang="en-US" sz="1320" dirty="0"/>
          </a:p>
        </p:txBody>
      </p:sp>
      <p:sp>
        <p:nvSpPr>
          <p:cNvPr id="86" name="Text 84"/>
          <p:cNvSpPr/>
          <p:nvPr/>
        </p:nvSpPr>
        <p:spPr>
          <a:xfrm>
            <a:off x="8897112" y="4288536"/>
            <a:ext cx="2459736" cy="402336"/>
          </a:xfrm>
          <a:prstGeom prst="rect">
            <a:avLst/>
          </a:prstGeom>
          <a:noFill/>
          <a:ln/>
        </p:spPr>
        <p:txBody>
          <a:bodyPr wrap="square" lIns="0" tIns="0" rIns="0" bIns="0" rtlCol="0" anchor="ctr">
            <a:normAutofit/>
          </a:bodyPr>
          <a:lstStyle/>
          <a:p>
            <a:pPr marL="0" indent="0">
              <a:buNone/>
            </a:pPr>
            <a:r>
              <a:rPr lang="en-US" sz="1050" dirty="0">
                <a:solidFill>
                  <a:srgbClr val="A8B6C5"/>
                </a:solidFill>
                <a:latin typeface="Inter" pitchFamily="34" charset="0"/>
                <a:ea typeface="Inter" pitchFamily="34" charset="-122"/>
                <a:cs typeface="Inter" pitchFamily="34" charset="-120"/>
              </a:rPr>
              <a:t>Add DATAFLOW, multiple block/CU lanes and batch images to amortise transfers.</a:t>
            </a:r>
            <a:endParaRPr lang="en-US" sz="1050" dirty="0"/>
          </a:p>
        </p:txBody>
      </p:sp>
      <p:sp>
        <p:nvSpPr>
          <p:cNvPr id="87" name="Text 85"/>
          <p:cNvSpPr/>
          <p:nvPr/>
        </p:nvSpPr>
        <p:spPr>
          <a:xfrm>
            <a:off x="512064" y="5272050"/>
            <a:ext cx="4389120" cy="256032"/>
          </a:xfrm>
          <a:prstGeom prst="rect">
            <a:avLst/>
          </a:prstGeom>
          <a:noFill/>
          <a:ln/>
        </p:spPr>
        <p:txBody>
          <a:bodyPr wrap="square" lIns="0" tIns="0" rIns="0" bIns="0" rtlCol="0" anchor="ctr"/>
          <a:lstStyle/>
          <a:p>
            <a:pPr marL="0" indent="0">
              <a:buNone/>
            </a:pPr>
            <a:r>
              <a:rPr lang="en-US" sz="1700" b="1" dirty="0">
                <a:solidFill>
                  <a:srgbClr val="F4F8FB"/>
                </a:solidFill>
                <a:latin typeface="Inter Display" pitchFamily="34" charset="0"/>
                <a:ea typeface="Inter Display" pitchFamily="34" charset="-122"/>
                <a:cs typeface="Inter Display" pitchFamily="34" charset="-120"/>
              </a:rPr>
              <a:t>Next-iteration roadmap</a:t>
            </a:r>
            <a:endParaRPr lang="en-US" sz="1700" dirty="0"/>
          </a:p>
        </p:txBody>
      </p:sp>
      <p:sp>
        <p:nvSpPr>
          <p:cNvPr id="88" name="Shape 86"/>
          <p:cNvSpPr/>
          <p:nvPr/>
        </p:nvSpPr>
        <p:spPr>
          <a:xfrm>
            <a:off x="512064" y="5610378"/>
            <a:ext cx="2029968" cy="530352"/>
          </a:xfrm>
          <a:prstGeom prst="roundRect">
            <a:avLst>
              <a:gd name="adj" fmla="val 13793"/>
            </a:avLst>
          </a:prstGeom>
          <a:solidFill>
            <a:srgbClr val="0D1C2D"/>
          </a:solidFill>
          <a:ln w="12700">
            <a:solidFill>
              <a:srgbClr val="FFA24C">
                <a:alpha val="50000"/>
              </a:srgbClr>
            </a:solidFill>
            <a:prstDash val="solid"/>
          </a:ln>
        </p:spPr>
        <p:txBody>
          <a:bodyPr/>
          <a:lstStyle/>
          <a:p>
            <a:endParaRPr lang="en-US"/>
          </a:p>
        </p:txBody>
      </p:sp>
      <p:sp>
        <p:nvSpPr>
          <p:cNvPr id="89" name="Text 87"/>
          <p:cNvSpPr/>
          <p:nvPr/>
        </p:nvSpPr>
        <p:spPr>
          <a:xfrm>
            <a:off x="621792" y="5824728"/>
            <a:ext cx="329184" cy="146304"/>
          </a:xfrm>
          <a:prstGeom prst="rect">
            <a:avLst/>
          </a:prstGeom>
          <a:noFill/>
          <a:ln/>
        </p:spPr>
        <p:txBody>
          <a:bodyPr wrap="square" lIns="0" tIns="0" rIns="0" bIns="0" rtlCol="0" anchor="ctr"/>
          <a:lstStyle/>
          <a:p>
            <a:pPr marL="0" indent="0">
              <a:buNone/>
            </a:pPr>
            <a:r>
              <a:rPr lang="en-US" sz="950" b="1" dirty="0">
                <a:solidFill>
                  <a:srgbClr val="FFA24C"/>
                </a:solidFill>
                <a:latin typeface="Inter Display" pitchFamily="34" charset="0"/>
                <a:ea typeface="Inter Display" pitchFamily="34" charset="-122"/>
                <a:cs typeface="Inter Display" pitchFamily="34" charset="-120"/>
              </a:rPr>
              <a:t>01</a:t>
            </a:r>
            <a:endParaRPr lang="en-US" sz="950" dirty="0"/>
          </a:p>
        </p:txBody>
      </p:sp>
      <p:sp>
        <p:nvSpPr>
          <p:cNvPr id="90" name="Text 88"/>
          <p:cNvSpPr/>
          <p:nvPr/>
        </p:nvSpPr>
        <p:spPr>
          <a:xfrm>
            <a:off x="987552" y="5797296"/>
            <a:ext cx="1426464" cy="182880"/>
          </a:xfrm>
          <a:prstGeom prst="rect">
            <a:avLst/>
          </a:prstGeom>
          <a:noFill/>
          <a:ln/>
        </p:spPr>
        <p:txBody>
          <a:bodyPr wrap="square" lIns="0" tIns="0" rIns="0" bIns="0" rtlCol="0" anchor="ctr">
            <a:normAutofit/>
          </a:bodyPr>
          <a:lstStyle/>
          <a:p>
            <a:pPr marL="0" indent="0">
              <a:buNone/>
            </a:pPr>
            <a:r>
              <a:rPr lang="en-US" sz="840" b="1" dirty="0">
                <a:solidFill>
                  <a:srgbClr val="F4F8FB"/>
                </a:solidFill>
                <a:latin typeface="Inter" pitchFamily="34" charset="0"/>
                <a:ea typeface="Inter" pitchFamily="34" charset="-122"/>
                <a:cs typeface="Inter" pitchFamily="34" charset="-120"/>
              </a:rPr>
              <a:t>Byte-reservoir coder</a:t>
            </a:r>
            <a:endParaRPr lang="en-US" sz="840" dirty="0"/>
          </a:p>
        </p:txBody>
      </p:sp>
      <p:sp>
        <p:nvSpPr>
          <p:cNvPr id="91" name="Shape 89"/>
          <p:cNvSpPr/>
          <p:nvPr/>
        </p:nvSpPr>
        <p:spPr>
          <a:xfrm>
            <a:off x="2779776" y="5610378"/>
            <a:ext cx="2029968" cy="530352"/>
          </a:xfrm>
          <a:prstGeom prst="roundRect">
            <a:avLst>
              <a:gd name="adj" fmla="val 13793"/>
            </a:avLst>
          </a:prstGeom>
          <a:solidFill>
            <a:srgbClr val="0D1C2D"/>
          </a:solidFill>
          <a:ln w="12700">
            <a:solidFill>
              <a:srgbClr val="24C9AA">
                <a:alpha val="50000"/>
              </a:srgbClr>
            </a:solidFill>
            <a:prstDash val="solid"/>
          </a:ln>
        </p:spPr>
        <p:txBody>
          <a:bodyPr/>
          <a:lstStyle/>
          <a:p>
            <a:endParaRPr lang="en-US"/>
          </a:p>
        </p:txBody>
      </p:sp>
      <p:sp>
        <p:nvSpPr>
          <p:cNvPr id="92" name="Text 90"/>
          <p:cNvSpPr/>
          <p:nvPr/>
        </p:nvSpPr>
        <p:spPr>
          <a:xfrm>
            <a:off x="2889504" y="5824728"/>
            <a:ext cx="329184" cy="146304"/>
          </a:xfrm>
          <a:prstGeom prst="rect">
            <a:avLst/>
          </a:prstGeom>
          <a:noFill/>
          <a:ln/>
        </p:spPr>
        <p:txBody>
          <a:bodyPr wrap="square" lIns="0" tIns="0" rIns="0" bIns="0" rtlCol="0" anchor="ctr"/>
          <a:lstStyle/>
          <a:p>
            <a:pPr marL="0" indent="0">
              <a:buNone/>
            </a:pPr>
            <a:r>
              <a:rPr lang="en-US" sz="950" b="1" dirty="0">
                <a:solidFill>
                  <a:srgbClr val="24C9AA"/>
                </a:solidFill>
                <a:latin typeface="Inter Display" pitchFamily="34" charset="0"/>
                <a:ea typeface="Inter Display" pitchFamily="34" charset="-122"/>
                <a:cs typeface="Inter Display" pitchFamily="34" charset="-120"/>
              </a:rPr>
              <a:t>02</a:t>
            </a:r>
            <a:endParaRPr lang="en-US" sz="950" dirty="0"/>
          </a:p>
        </p:txBody>
      </p:sp>
      <p:sp>
        <p:nvSpPr>
          <p:cNvPr id="93" name="Text 91"/>
          <p:cNvSpPr/>
          <p:nvPr/>
        </p:nvSpPr>
        <p:spPr>
          <a:xfrm>
            <a:off x="3255264" y="5797296"/>
            <a:ext cx="1426464" cy="182880"/>
          </a:xfrm>
          <a:prstGeom prst="rect">
            <a:avLst/>
          </a:prstGeom>
          <a:noFill/>
          <a:ln/>
        </p:spPr>
        <p:txBody>
          <a:bodyPr wrap="square" lIns="0" tIns="0" rIns="0" bIns="0" rtlCol="0" anchor="ctr">
            <a:normAutofit/>
          </a:bodyPr>
          <a:lstStyle/>
          <a:p>
            <a:pPr marL="0" indent="0">
              <a:buNone/>
            </a:pPr>
            <a:r>
              <a:rPr lang="en-US" sz="840" b="1" dirty="0">
                <a:solidFill>
                  <a:srgbClr val="F4F8FB"/>
                </a:solidFill>
                <a:latin typeface="Inter" pitchFamily="34" charset="0"/>
                <a:ea typeface="Inter" pitchFamily="34" charset="-122"/>
                <a:cs typeface="Inter" pitchFamily="34" charset="-120"/>
              </a:rPr>
              <a:t>Compact output stream</a:t>
            </a:r>
            <a:endParaRPr lang="en-US" sz="840" dirty="0"/>
          </a:p>
        </p:txBody>
      </p:sp>
      <p:sp>
        <p:nvSpPr>
          <p:cNvPr id="94" name="Shape 92"/>
          <p:cNvSpPr/>
          <p:nvPr/>
        </p:nvSpPr>
        <p:spPr>
          <a:xfrm>
            <a:off x="5047488" y="5610378"/>
            <a:ext cx="2029968" cy="530352"/>
          </a:xfrm>
          <a:prstGeom prst="roundRect">
            <a:avLst>
              <a:gd name="adj" fmla="val 13793"/>
            </a:avLst>
          </a:prstGeom>
          <a:solidFill>
            <a:srgbClr val="0D1C2D"/>
          </a:solidFill>
          <a:ln w="12700">
            <a:solidFill>
              <a:srgbClr val="668EFF">
                <a:alpha val="50000"/>
              </a:srgbClr>
            </a:solidFill>
            <a:prstDash val="solid"/>
          </a:ln>
        </p:spPr>
        <p:txBody>
          <a:bodyPr/>
          <a:lstStyle/>
          <a:p>
            <a:endParaRPr lang="en-US"/>
          </a:p>
        </p:txBody>
      </p:sp>
      <p:sp>
        <p:nvSpPr>
          <p:cNvPr id="95" name="Text 93"/>
          <p:cNvSpPr/>
          <p:nvPr/>
        </p:nvSpPr>
        <p:spPr>
          <a:xfrm>
            <a:off x="5157216" y="5824728"/>
            <a:ext cx="329184" cy="146304"/>
          </a:xfrm>
          <a:prstGeom prst="rect">
            <a:avLst/>
          </a:prstGeom>
          <a:noFill/>
          <a:ln/>
        </p:spPr>
        <p:txBody>
          <a:bodyPr wrap="square" lIns="0" tIns="0" rIns="0" bIns="0" rtlCol="0" anchor="ctr"/>
          <a:lstStyle/>
          <a:p>
            <a:pPr marL="0" indent="0">
              <a:buNone/>
            </a:pPr>
            <a:r>
              <a:rPr lang="en-US" sz="950" b="1" dirty="0">
                <a:solidFill>
                  <a:srgbClr val="668EFF"/>
                </a:solidFill>
                <a:latin typeface="Inter Display" pitchFamily="34" charset="0"/>
                <a:ea typeface="Inter Display" pitchFamily="34" charset="-122"/>
                <a:cs typeface="Inter Display" pitchFamily="34" charset="-120"/>
              </a:rPr>
              <a:t>03</a:t>
            </a:r>
            <a:endParaRPr lang="en-US" sz="950" dirty="0"/>
          </a:p>
        </p:txBody>
      </p:sp>
      <p:sp>
        <p:nvSpPr>
          <p:cNvPr id="96" name="Text 94"/>
          <p:cNvSpPr/>
          <p:nvPr/>
        </p:nvSpPr>
        <p:spPr>
          <a:xfrm>
            <a:off x="5522976" y="5797296"/>
            <a:ext cx="1426464" cy="182880"/>
          </a:xfrm>
          <a:prstGeom prst="rect">
            <a:avLst/>
          </a:prstGeom>
          <a:noFill/>
          <a:ln/>
        </p:spPr>
        <p:txBody>
          <a:bodyPr wrap="square" lIns="0" tIns="0" rIns="0" bIns="0" rtlCol="0" anchor="ctr">
            <a:normAutofit/>
          </a:bodyPr>
          <a:lstStyle/>
          <a:p>
            <a:pPr marL="0" indent="0">
              <a:buNone/>
            </a:pPr>
            <a:r>
              <a:rPr lang="en-US" sz="840" b="1" dirty="0">
                <a:solidFill>
                  <a:srgbClr val="F4F8FB"/>
                </a:solidFill>
                <a:latin typeface="Inter" pitchFamily="34" charset="0"/>
                <a:ea typeface="Inter" pitchFamily="34" charset="-122"/>
                <a:cs typeface="Inter" pitchFamily="34" charset="-120"/>
              </a:rPr>
              <a:t>DATAFLOW between stages</a:t>
            </a:r>
            <a:endParaRPr lang="en-US" sz="840" dirty="0"/>
          </a:p>
        </p:txBody>
      </p:sp>
      <p:sp>
        <p:nvSpPr>
          <p:cNvPr id="97" name="Shape 95"/>
          <p:cNvSpPr/>
          <p:nvPr/>
        </p:nvSpPr>
        <p:spPr>
          <a:xfrm>
            <a:off x="7315200" y="5610378"/>
            <a:ext cx="2029968" cy="530352"/>
          </a:xfrm>
          <a:prstGeom prst="roundRect">
            <a:avLst>
              <a:gd name="adj" fmla="val 13793"/>
            </a:avLst>
          </a:prstGeom>
          <a:solidFill>
            <a:srgbClr val="0D1C2D"/>
          </a:solidFill>
          <a:ln w="12700">
            <a:solidFill>
              <a:srgbClr val="38D9E6">
                <a:alpha val="50000"/>
              </a:srgbClr>
            </a:solidFill>
            <a:prstDash val="solid"/>
          </a:ln>
        </p:spPr>
        <p:txBody>
          <a:bodyPr/>
          <a:lstStyle/>
          <a:p>
            <a:endParaRPr lang="en-US"/>
          </a:p>
        </p:txBody>
      </p:sp>
      <p:sp>
        <p:nvSpPr>
          <p:cNvPr id="98" name="Text 96"/>
          <p:cNvSpPr/>
          <p:nvPr/>
        </p:nvSpPr>
        <p:spPr>
          <a:xfrm>
            <a:off x="7424928" y="5824728"/>
            <a:ext cx="329184" cy="146304"/>
          </a:xfrm>
          <a:prstGeom prst="rect">
            <a:avLst/>
          </a:prstGeom>
          <a:noFill/>
          <a:ln/>
        </p:spPr>
        <p:txBody>
          <a:bodyPr wrap="square" lIns="0" tIns="0" rIns="0" bIns="0" rtlCol="0" anchor="ctr"/>
          <a:lstStyle/>
          <a:p>
            <a:pPr marL="0" indent="0">
              <a:buNone/>
            </a:pPr>
            <a:r>
              <a:rPr lang="en-US" sz="950" b="1" dirty="0">
                <a:solidFill>
                  <a:srgbClr val="38D9E6"/>
                </a:solidFill>
                <a:latin typeface="Inter Display" pitchFamily="34" charset="0"/>
                <a:ea typeface="Inter Display" pitchFamily="34" charset="-122"/>
                <a:cs typeface="Inter Display" pitchFamily="34" charset="-120"/>
              </a:rPr>
              <a:t>04</a:t>
            </a:r>
            <a:endParaRPr lang="en-US" sz="950" dirty="0"/>
          </a:p>
        </p:txBody>
      </p:sp>
      <p:sp>
        <p:nvSpPr>
          <p:cNvPr id="99" name="Text 97"/>
          <p:cNvSpPr/>
          <p:nvPr/>
        </p:nvSpPr>
        <p:spPr>
          <a:xfrm>
            <a:off x="7790688" y="5797296"/>
            <a:ext cx="1426464" cy="182880"/>
          </a:xfrm>
          <a:prstGeom prst="rect">
            <a:avLst/>
          </a:prstGeom>
          <a:noFill/>
          <a:ln/>
        </p:spPr>
        <p:txBody>
          <a:bodyPr wrap="square" lIns="0" tIns="0" rIns="0" bIns="0" rtlCol="0" anchor="ctr">
            <a:normAutofit/>
          </a:bodyPr>
          <a:lstStyle/>
          <a:p>
            <a:pPr marL="0" indent="0">
              <a:buNone/>
            </a:pPr>
            <a:r>
              <a:rPr lang="en-US" sz="840" b="1" dirty="0">
                <a:solidFill>
                  <a:srgbClr val="F4F8FB"/>
                </a:solidFill>
                <a:latin typeface="Inter" pitchFamily="34" charset="0"/>
                <a:ea typeface="Inter" pitchFamily="34" charset="-122"/>
                <a:cs typeface="Inter" pitchFamily="34" charset="-120"/>
              </a:rPr>
              <a:t>Parallel blocks / CUs</a:t>
            </a:r>
            <a:endParaRPr lang="en-US" sz="840" dirty="0"/>
          </a:p>
        </p:txBody>
      </p:sp>
      <p:sp>
        <p:nvSpPr>
          <p:cNvPr id="100" name="Shape 98"/>
          <p:cNvSpPr/>
          <p:nvPr/>
        </p:nvSpPr>
        <p:spPr>
          <a:xfrm>
            <a:off x="9582912" y="5610378"/>
            <a:ext cx="2029968" cy="530352"/>
          </a:xfrm>
          <a:prstGeom prst="roundRect">
            <a:avLst>
              <a:gd name="adj" fmla="val 13793"/>
            </a:avLst>
          </a:prstGeom>
          <a:solidFill>
            <a:srgbClr val="0D1C2D"/>
          </a:solidFill>
          <a:ln w="12700">
            <a:solidFill>
              <a:srgbClr val="49D486">
                <a:alpha val="50000"/>
              </a:srgbClr>
            </a:solidFill>
            <a:prstDash val="solid"/>
          </a:ln>
        </p:spPr>
        <p:txBody>
          <a:bodyPr/>
          <a:lstStyle/>
          <a:p>
            <a:endParaRPr lang="en-US"/>
          </a:p>
        </p:txBody>
      </p:sp>
      <p:sp>
        <p:nvSpPr>
          <p:cNvPr id="101" name="Text 99"/>
          <p:cNvSpPr/>
          <p:nvPr/>
        </p:nvSpPr>
        <p:spPr>
          <a:xfrm>
            <a:off x="9692640" y="5824728"/>
            <a:ext cx="329184" cy="146304"/>
          </a:xfrm>
          <a:prstGeom prst="rect">
            <a:avLst/>
          </a:prstGeom>
          <a:noFill/>
          <a:ln/>
        </p:spPr>
        <p:txBody>
          <a:bodyPr wrap="square" lIns="0" tIns="0" rIns="0" bIns="0" rtlCol="0" anchor="ctr"/>
          <a:lstStyle/>
          <a:p>
            <a:pPr marL="0" indent="0">
              <a:buNone/>
            </a:pPr>
            <a:r>
              <a:rPr lang="en-US" sz="950" b="1" dirty="0">
                <a:solidFill>
                  <a:srgbClr val="49D486"/>
                </a:solidFill>
                <a:latin typeface="Inter Display" pitchFamily="34" charset="0"/>
                <a:ea typeface="Inter Display" pitchFamily="34" charset="-122"/>
                <a:cs typeface="Inter Display" pitchFamily="34" charset="-120"/>
              </a:rPr>
              <a:t>05</a:t>
            </a:r>
            <a:endParaRPr lang="en-US" sz="950" dirty="0"/>
          </a:p>
        </p:txBody>
      </p:sp>
      <p:sp>
        <p:nvSpPr>
          <p:cNvPr id="102" name="Text 100"/>
          <p:cNvSpPr/>
          <p:nvPr/>
        </p:nvSpPr>
        <p:spPr>
          <a:xfrm>
            <a:off x="10058400" y="5797296"/>
            <a:ext cx="1426464" cy="182880"/>
          </a:xfrm>
          <a:prstGeom prst="rect">
            <a:avLst/>
          </a:prstGeom>
          <a:noFill/>
          <a:ln/>
        </p:spPr>
        <p:txBody>
          <a:bodyPr wrap="square" lIns="0" tIns="0" rIns="0" bIns="0" rtlCol="0" anchor="ctr">
            <a:normAutofit/>
          </a:bodyPr>
          <a:lstStyle/>
          <a:p>
            <a:pPr marL="0" indent="0">
              <a:buNone/>
            </a:pPr>
            <a:r>
              <a:rPr lang="en-US" sz="840" b="1" dirty="0">
                <a:solidFill>
                  <a:srgbClr val="F4F8FB"/>
                </a:solidFill>
                <a:latin typeface="Inter" pitchFamily="34" charset="0"/>
                <a:ea typeface="Inter" pitchFamily="34" charset="-122"/>
                <a:cs typeface="Inter" pitchFamily="34" charset="-120"/>
              </a:rPr>
              <a:t>Post-route power + timing</a:t>
            </a:r>
            <a:endParaRPr lang="en-US" sz="840" dirty="0"/>
          </a:p>
        </p:txBody>
      </p:sp>
      <p:sp>
        <p:nvSpPr>
          <p:cNvPr id="103" name="Shape 101"/>
          <p:cNvSpPr/>
          <p:nvPr/>
        </p:nvSpPr>
        <p:spPr>
          <a:xfrm>
            <a:off x="475488" y="6236208"/>
            <a:ext cx="11247104" cy="237744"/>
          </a:xfrm>
          <a:prstGeom prst="roundRect">
            <a:avLst>
              <a:gd name="adj" fmla="val 50000"/>
            </a:avLst>
          </a:prstGeom>
          <a:solidFill>
            <a:srgbClr val="38D9E6"/>
          </a:solidFill>
          <a:ln w="12700">
            <a:solidFill>
              <a:srgbClr val="38D9E6">
                <a:alpha val="0"/>
              </a:srgbClr>
            </a:solidFill>
            <a:prstDash val="solid"/>
          </a:ln>
        </p:spPr>
        <p:txBody>
          <a:bodyPr/>
          <a:lstStyle/>
          <a:p>
            <a:endParaRPr lang="en-US"/>
          </a:p>
        </p:txBody>
      </p:sp>
      <p:sp>
        <p:nvSpPr>
          <p:cNvPr id="104" name="Text 102"/>
          <p:cNvSpPr/>
          <p:nvPr/>
        </p:nvSpPr>
        <p:spPr>
          <a:xfrm>
            <a:off x="658368" y="6265926"/>
            <a:ext cx="10881345" cy="208026"/>
          </a:xfrm>
          <a:prstGeom prst="rect">
            <a:avLst/>
          </a:prstGeom>
          <a:noFill/>
          <a:ln/>
        </p:spPr>
        <p:txBody>
          <a:bodyPr wrap="square" lIns="0" tIns="0" rIns="0" bIns="0" rtlCol="0" anchor="ctr">
            <a:normAutofit/>
          </a:bodyPr>
          <a:lstStyle/>
          <a:p>
            <a:pPr marL="0" indent="0" algn="ctr">
              <a:buNone/>
            </a:pPr>
            <a:r>
              <a:rPr lang="en-US" sz="1000" b="1" dirty="0">
                <a:solidFill>
                  <a:srgbClr val="07111F"/>
                </a:solidFill>
                <a:latin typeface="Inter" pitchFamily="34" charset="0"/>
                <a:ea typeface="Inter" pitchFamily="34" charset="-122"/>
                <a:cs typeface="Inter" pitchFamily="34" charset="-120"/>
              </a:rPr>
              <a:t>Final takeaway: accelerating the obvious arithmetic is not enough — the architecture must be designed around the bottleneck that remains.</a:t>
            </a:r>
            <a:endParaRPr lang="en-US" sz="1000" dirty="0"/>
          </a:p>
        </p:txBody>
      </p:sp>
      <p:sp>
        <p:nvSpPr>
          <p:cNvPr id="105" name="Shape 103"/>
          <p:cNvSpPr/>
          <p:nvPr/>
        </p:nvSpPr>
        <p:spPr>
          <a:xfrm>
            <a:off x="438912" y="6519672"/>
            <a:ext cx="11064240" cy="0"/>
          </a:xfrm>
          <a:prstGeom prst="line">
            <a:avLst/>
          </a:prstGeom>
          <a:noFill/>
          <a:ln w="10160">
            <a:solidFill>
              <a:srgbClr val="22384E">
                <a:alpha val="70000"/>
              </a:srgbClr>
            </a:solidFill>
            <a:prstDash val="solid"/>
          </a:ln>
        </p:spPr>
        <p:txBody>
          <a:bodyPr/>
          <a:lstStyle/>
          <a:p>
            <a:endParaRPr lang="en-US"/>
          </a:p>
        </p:txBody>
      </p:sp>
      <p:sp>
        <p:nvSpPr>
          <p:cNvPr id="107" name="Slide Number Placeholder 0"/>
          <p:cNvSpPr>
            <a:spLocks noGrp="1"/>
          </p:cNvSpPr>
          <p:nvPr>
            <p:ph type="sldNum" sz="quarter" idx="4294967295"/>
          </p:nvPr>
        </p:nvSpPr>
        <p:spPr>
          <a:xfrm>
            <a:off x="11430000" y="6473952"/>
            <a:ext cx="438912"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7890A4"/>
                </a:solidFill>
                <a:latin typeface="Inter"/>
                <a:ea typeface="Inter"/>
                <a:cs typeface="Inter"/>
              </a:defRPr>
            </a:lvl1pPr>
          </a:lstStyle>
          <a:p>
            <a:pPr algn="r"/>
            <a:fld id="{F7021451-1387-4CA6-816F-3879F97B5CBC}" type="slidenum">
              <a:rPr lang="en-US" b="0"/>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306</TotalTime>
  <Words>4082</Words>
  <Application>Microsoft Macintosh PowerPoint</Application>
  <PresentationFormat>Widescreen</PresentationFormat>
  <Paragraphs>355</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Inter</vt:lpstr>
      <vt:lpstr>Inter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UNSW COMP4601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FPGA Acceleration of JPEG-Style Grayscale Image Compression</dc:title>
  <dc:subject>FPGA acceleration of JPEG-style grayscale image compression on Kria KV260</dc:subject>
  <dc:creator>COMP4601 Project Team</dc:creator>
  <cp:lastModifiedBy>Shriya Malik</cp:lastModifiedBy>
  <cp:revision>4</cp:revision>
  <dcterms:created xsi:type="dcterms:W3CDTF">2026-08-04T22:55:46Z</dcterms:created>
  <dcterms:modified xsi:type="dcterms:W3CDTF">2026-08-05T04:14:50Z</dcterms:modified>
</cp:coreProperties>
</file>